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352" r:id="rId2"/>
    <p:sldId id="256" r:id="rId3"/>
    <p:sldId id="412" r:id="rId4"/>
    <p:sldId id="421" r:id="rId5"/>
    <p:sldId id="367" r:id="rId6"/>
    <p:sldId id="368" r:id="rId7"/>
    <p:sldId id="422" r:id="rId8"/>
    <p:sldId id="380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70" r:id="rId24"/>
    <p:sldId id="471" r:id="rId25"/>
    <p:sldId id="390" r:id="rId26"/>
    <p:sldId id="437" r:id="rId27"/>
    <p:sldId id="438" r:id="rId28"/>
    <p:sldId id="439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0" r:id="rId40"/>
    <p:sldId id="472" r:id="rId41"/>
    <p:sldId id="473" r:id="rId42"/>
    <p:sldId id="477" r:id="rId43"/>
    <p:sldId id="474" r:id="rId44"/>
    <p:sldId id="475" r:id="rId45"/>
    <p:sldId id="476" r:id="rId46"/>
    <p:sldId id="266" r:id="rId47"/>
    <p:sldId id="267" r:id="rId48"/>
    <p:sldId id="268" r:id="rId49"/>
    <p:sldId id="270" r:id="rId50"/>
    <p:sldId id="271" r:id="rId51"/>
    <p:sldId id="272" r:id="rId52"/>
    <p:sldId id="478" r:id="rId53"/>
    <p:sldId id="407" r:id="rId54"/>
    <p:sldId id="416" r:id="rId55"/>
    <p:sldId id="418" r:id="rId56"/>
    <p:sldId id="452" r:id="rId57"/>
    <p:sldId id="457" r:id="rId58"/>
    <p:sldId id="453" r:id="rId59"/>
    <p:sldId id="454" r:id="rId60"/>
    <p:sldId id="455" r:id="rId61"/>
    <p:sldId id="456" r:id="rId62"/>
    <p:sldId id="460" r:id="rId63"/>
    <p:sldId id="462" r:id="rId64"/>
    <p:sldId id="466" r:id="rId65"/>
    <p:sldId id="463" r:id="rId66"/>
    <p:sldId id="467" r:id="rId67"/>
    <p:sldId id="464" r:id="rId68"/>
    <p:sldId id="468" r:id="rId69"/>
    <p:sldId id="469" r:id="rId70"/>
    <p:sldId id="465" r:id="rId71"/>
    <p:sldId id="458" r:id="rId72"/>
    <p:sldId id="459" r:id="rId73"/>
    <p:sldId id="461" r:id="rId74"/>
    <p:sldId id="417" r:id="rId75"/>
    <p:sldId id="420" r:id="rId76"/>
  </p:sldIdLst>
  <p:sldSz cx="18288000" cy="10287000"/>
  <p:notesSz cx="6858000" cy="9144000"/>
  <p:embeddedFontLst>
    <p:embeddedFont>
      <p:font typeface="TDTD강굴림" panose="020B0600000101010101" charset="-127"/>
      <p:regular r:id="rId79"/>
    </p:embeddedFont>
    <p:embeddedFont>
      <p:font typeface="Cambria Math" panose="02040503050406030204" pitchFamily="18" charset="0"/>
      <p:regular r:id="rId80"/>
    </p:embeddedFont>
    <p:embeddedFont>
      <p:font typeface="맑은 고딕" panose="020B0503020000020004" pitchFamily="50" charset="-127"/>
      <p:regular r:id="rId81"/>
      <p:bold r:id="rId8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5E79AC"/>
    <a:srgbClr val="FFFF99"/>
    <a:srgbClr val="FFFFFF"/>
    <a:srgbClr val="E46C0A"/>
    <a:srgbClr val="254061"/>
    <a:srgbClr val="517BAD"/>
    <a:srgbClr val="AB4845"/>
    <a:srgbClr val="FFC000"/>
    <a:srgbClr val="3D5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9" autoAdjust="0"/>
    <p:restoredTop sz="94358" autoAdjust="0"/>
  </p:normalViewPr>
  <p:slideViewPr>
    <p:cSldViewPr>
      <p:cViewPr varScale="1">
        <p:scale>
          <a:sx n="70" d="100"/>
          <a:sy n="70" d="100"/>
        </p:scale>
        <p:origin x="11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font" Target="fonts/font3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76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81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7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395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20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952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24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503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030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254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255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663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0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884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93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648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02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64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055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340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823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0681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3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121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586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5052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3782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281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892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8726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64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872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7559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891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7964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315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5445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5512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279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62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5868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558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4494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4205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6722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95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3507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9318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0016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08075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9389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4571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4050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7793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0651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019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2233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5297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42315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853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30534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7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png"/><Relationship Id="rId4" Type="http://schemas.openxmlformats.org/officeDocument/2006/relationships/image" Target="../media/image4.emf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12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6.png"/><Relationship Id="rId4" Type="http://schemas.openxmlformats.org/officeDocument/2006/relationships/image" Target="../media/image11.emf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3.png"/><Relationship Id="rId4" Type="http://schemas.openxmlformats.org/officeDocument/2006/relationships/image" Target="../media/image18.emf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9.png"/><Relationship Id="rId4" Type="http://schemas.openxmlformats.org/officeDocument/2006/relationships/image" Target="../media/image24.emf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2.emf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5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5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6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6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3.png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6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7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75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8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8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6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8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46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0.e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89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92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75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95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image" Target="../media/image102.e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oleObject" Target="../embeddings/oleObject8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9.emf"/><Relationship Id="rId11" Type="http://schemas.openxmlformats.org/officeDocument/2006/relationships/image" Target="../media/image101.emf"/><Relationship Id="rId5" Type="http://schemas.openxmlformats.org/officeDocument/2006/relationships/oleObject" Target="../embeddings/oleObject80.bin"/><Relationship Id="rId15" Type="http://schemas.openxmlformats.org/officeDocument/2006/relationships/image" Target="../media/image103.emf"/><Relationship Id="rId10" Type="http://schemas.openxmlformats.org/officeDocument/2006/relationships/oleObject" Target="../embeddings/oleObject82.bin"/><Relationship Id="rId4" Type="http://schemas.openxmlformats.org/officeDocument/2006/relationships/image" Target="../media/image98.emf"/><Relationship Id="rId9" Type="http://schemas.openxmlformats.org/officeDocument/2006/relationships/image" Target="../media/image101.png"/><Relationship Id="rId14" Type="http://schemas.openxmlformats.org/officeDocument/2006/relationships/oleObject" Target="../embeddings/oleObject84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105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1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9.e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111.emf"/><Relationship Id="rId4" Type="http://schemas.openxmlformats.org/officeDocument/2006/relationships/image" Target="../media/image108.emf"/><Relationship Id="rId9" Type="http://schemas.openxmlformats.org/officeDocument/2006/relationships/oleObject" Target="../embeddings/oleObject9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13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115.emf"/><Relationship Id="rId7" Type="http://schemas.openxmlformats.org/officeDocument/2006/relationships/image" Target="../media/image117.e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19.emf"/><Relationship Id="rId5" Type="http://schemas.openxmlformats.org/officeDocument/2006/relationships/image" Target="../media/image116.e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1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7" Type="http://schemas.openxmlformats.org/officeDocument/2006/relationships/image" Target="../media/image122.e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10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emf"/><Relationship Id="rId4" Type="http://schemas.openxmlformats.org/officeDocument/2006/relationships/oleObject" Target="../embeddings/oleObject10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29.emf"/><Relationship Id="rId5" Type="http://schemas.openxmlformats.org/officeDocument/2006/relationships/image" Target="../media/image126.e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28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7" Type="http://schemas.openxmlformats.org/officeDocument/2006/relationships/image" Target="../media/image132.e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131.emf"/><Relationship Id="rId4" Type="http://schemas.openxmlformats.org/officeDocument/2006/relationships/oleObject" Target="../embeddings/oleObject11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emf"/><Relationship Id="rId4" Type="http://schemas.openxmlformats.org/officeDocument/2006/relationships/oleObject" Target="../embeddings/oleObject114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6.e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35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0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49CB741-6186-65B6-FCDE-42BC101EC52C}"/>
              </a:ext>
            </a:extLst>
          </p:cNvPr>
          <p:cNvSpPr txBox="1"/>
          <p:nvPr/>
        </p:nvSpPr>
        <p:spPr>
          <a:xfrm>
            <a:off x="800100" y="3162300"/>
            <a:ext cx="16687800" cy="147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r>
              <a:rPr lang="en-US" sz="72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Exp7 (IGO grain size)</a:t>
            </a:r>
            <a:endParaRPr lang="en-US" sz="32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994F69-25B6-43D2-89D9-63F1CF0EEAB1}"/>
              </a:ext>
            </a:extLst>
          </p:cNvPr>
          <p:cNvSpPr txBox="1"/>
          <p:nvPr/>
        </p:nvSpPr>
        <p:spPr>
          <a:xfrm>
            <a:off x="418698" y="375386"/>
            <a:ext cx="17455416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600" dirty="0"/>
              <a:t>연구진행방향 </a:t>
            </a:r>
            <a:r>
              <a:rPr lang="en-US" altLang="ko-KR" sz="3600" dirty="0"/>
              <a:t>– </a:t>
            </a:r>
            <a:r>
              <a:rPr lang="ko-KR" altLang="en-US" sz="3600" dirty="0"/>
              <a:t>올해 안</a:t>
            </a:r>
            <a:r>
              <a:rPr lang="en-US" altLang="ko-KR" sz="3600" dirty="0"/>
              <a:t>, </a:t>
            </a:r>
            <a:r>
              <a:rPr lang="ko-KR" altLang="en-US" sz="3600" dirty="0">
                <a:solidFill>
                  <a:srgbClr val="FF0000"/>
                </a:solidFill>
              </a:rPr>
              <a:t>결정성 </a:t>
            </a:r>
            <a:r>
              <a:rPr lang="en-US" altLang="ko-KR" sz="3600" dirty="0">
                <a:solidFill>
                  <a:srgbClr val="FF0000"/>
                </a:solidFill>
              </a:rPr>
              <a:t>size &lt;transfer curve</a:t>
            </a:r>
            <a:r>
              <a:rPr lang="ko-KR" altLang="en-US" sz="3600" dirty="0">
                <a:solidFill>
                  <a:srgbClr val="FF0000"/>
                </a:solidFill>
              </a:rPr>
              <a:t>만 찍으면 될 듯</a:t>
            </a:r>
            <a:r>
              <a:rPr lang="en-US" altLang="ko-KR" sz="3600" dirty="0"/>
              <a:t>. </a:t>
            </a:r>
            <a:r>
              <a:rPr lang="ko-KR" altLang="en-US" sz="3600" dirty="0"/>
              <a:t>데이터 셋은 정리하고 </a:t>
            </a:r>
            <a:r>
              <a:rPr lang="ko-KR" altLang="en-US" sz="3600" dirty="0" err="1"/>
              <a:t>보내드리기</a:t>
            </a:r>
            <a:r>
              <a:rPr lang="en-US" altLang="ko-KR" sz="3600" dirty="0"/>
              <a:t>&gt;</a:t>
            </a:r>
          </a:p>
          <a:p>
            <a:pPr marL="685800" indent="-685800">
              <a:buFontTx/>
              <a:buChar char="-"/>
            </a:pPr>
            <a:r>
              <a:rPr lang="ko-KR" altLang="en-US" sz="3600" dirty="0"/>
              <a:t>자체적으로</a:t>
            </a:r>
            <a:r>
              <a:rPr lang="en-US" altLang="ko-KR" sz="3600" dirty="0"/>
              <a:t>? </a:t>
            </a:r>
            <a:r>
              <a:rPr lang="ko-KR" altLang="en-US" sz="3600" dirty="0" err="1"/>
              <a:t>정해진게</a:t>
            </a:r>
            <a:r>
              <a:rPr lang="ko-KR" altLang="en-US" sz="3600" dirty="0"/>
              <a:t> </a:t>
            </a:r>
            <a:r>
              <a:rPr lang="en-US" altLang="ko-KR" sz="3600" dirty="0"/>
              <a:t>X.</a:t>
            </a:r>
          </a:p>
          <a:p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1-1) In2O3 or IGO (solution process)  Test  EBSD, in-situ XRD</a:t>
            </a:r>
          </a:p>
          <a:p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&lt;</a:t>
            </a:r>
            <a:r>
              <a:rPr lang="ko-KR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일단 </a:t>
            </a:r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In</a:t>
            </a:r>
            <a:r>
              <a:rPr lang="ko-KR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말고 </a:t>
            </a:r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IGO </a:t>
            </a:r>
            <a:r>
              <a:rPr lang="ko-KR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비율 스플릿 </a:t>
            </a:r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9:1~5:1, </a:t>
            </a:r>
            <a:r>
              <a:rPr lang="ko-KR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온도는 똑같이</a:t>
            </a:r>
            <a:r>
              <a:rPr lang="en-US" altLang="ko-KR" sz="3600" dirty="0">
                <a:solidFill>
                  <a:srgbClr val="FF0000"/>
                </a:solidFill>
                <a:sym typeface="Wingdings" panose="05000000000000000000" pitchFamily="2" charset="2"/>
              </a:rPr>
              <a:t>&gt;</a:t>
            </a:r>
          </a:p>
          <a:p>
            <a:r>
              <a:rPr lang="en-US" altLang="ko-KR" sz="3600" dirty="0"/>
              <a:t>1-2)IGO + Al (sol-gel)</a:t>
            </a:r>
          </a:p>
          <a:p>
            <a:r>
              <a:rPr lang="en-US" altLang="ko-KR" sz="3600" dirty="0"/>
              <a:t>&lt;</a:t>
            </a:r>
            <a:r>
              <a:rPr lang="ko-KR" altLang="en-US" sz="3600" dirty="0"/>
              <a:t>일단 논문 있는지 찾아보기</a:t>
            </a:r>
            <a:r>
              <a:rPr lang="en-US" altLang="ko-KR" sz="3600" dirty="0"/>
              <a:t>, 1~3mol% </a:t>
            </a:r>
            <a:r>
              <a:rPr lang="ko-KR" altLang="en-US" sz="3600" dirty="0"/>
              <a:t>정도일듯</a:t>
            </a:r>
            <a:r>
              <a:rPr lang="en-US" altLang="ko-KR" sz="3600" dirty="0"/>
              <a:t>?&gt;</a:t>
            </a:r>
          </a:p>
          <a:p>
            <a:r>
              <a:rPr lang="en-US" altLang="ko-KR" sz="3600" dirty="0"/>
              <a:t>1-3)SPT IGZO, IGO annealing temperature </a:t>
            </a:r>
            <a:r>
              <a:rPr lang="en-US" altLang="ko-KR" sz="3600" dirty="0">
                <a:sym typeface="Wingdings" panose="05000000000000000000" pitchFamily="2" charset="2"/>
              </a:rPr>
              <a:t> Grain</a:t>
            </a:r>
            <a:r>
              <a:rPr lang="ko-KR" altLang="en-US" sz="3600" dirty="0">
                <a:sym typeface="Wingdings" panose="05000000000000000000" pitchFamily="2" charset="2"/>
              </a:rPr>
              <a:t> </a:t>
            </a:r>
            <a:r>
              <a:rPr lang="en-US" altLang="ko-KR" sz="3600" dirty="0">
                <a:sym typeface="Wingdings" panose="05000000000000000000" pitchFamily="2" charset="2"/>
              </a:rPr>
              <a:t>size</a:t>
            </a:r>
            <a:r>
              <a:rPr lang="ko-KR" altLang="en-US" sz="3600" dirty="0">
                <a:sym typeface="Wingdings" panose="05000000000000000000" pitchFamily="2" charset="2"/>
              </a:rPr>
              <a:t> </a:t>
            </a:r>
            <a:r>
              <a:rPr lang="en-US" altLang="ko-KR" sz="3600" dirty="0">
                <a:sym typeface="Wingdings" panose="05000000000000000000" pitchFamily="2" charset="2"/>
              </a:rPr>
              <a:t>effect</a:t>
            </a:r>
          </a:p>
          <a:p>
            <a:r>
              <a:rPr lang="en-US" altLang="ko-KR" sz="3600" dirty="0">
                <a:sym typeface="Wingdings" panose="05000000000000000000" pitchFamily="2" charset="2"/>
              </a:rPr>
              <a:t>&lt;200</a:t>
            </a:r>
            <a:r>
              <a:rPr lang="ko-KR" altLang="en-US" sz="3600" dirty="0">
                <a:sym typeface="Wingdings" panose="05000000000000000000" pitchFamily="2" charset="2"/>
              </a:rPr>
              <a:t>도부터 </a:t>
            </a:r>
            <a:r>
              <a:rPr lang="en-US" altLang="ko-KR" sz="3600" dirty="0">
                <a:sym typeface="Wingdings" panose="05000000000000000000" pitchFamily="2" charset="2"/>
              </a:rPr>
              <a:t>100</a:t>
            </a:r>
            <a:r>
              <a:rPr lang="ko-KR" altLang="en-US" sz="3600" dirty="0">
                <a:sym typeface="Wingdings" panose="05000000000000000000" pitchFamily="2" charset="2"/>
              </a:rPr>
              <a:t>도 단위로 </a:t>
            </a:r>
            <a:r>
              <a:rPr lang="en-US" altLang="ko-KR" sz="3600" dirty="0">
                <a:sym typeface="Wingdings" panose="05000000000000000000" pitchFamily="2" charset="2"/>
              </a:rPr>
              <a:t>IGZO</a:t>
            </a:r>
            <a:r>
              <a:rPr lang="ko-KR" altLang="en-US" sz="3600" dirty="0">
                <a:sym typeface="Wingdings" panose="05000000000000000000" pitchFamily="2" charset="2"/>
              </a:rPr>
              <a:t>만 일단</a:t>
            </a:r>
            <a:r>
              <a:rPr lang="en-US" altLang="ko-KR" sz="3600" dirty="0">
                <a:sym typeface="Wingdings" panose="05000000000000000000" pitchFamily="2" charset="2"/>
              </a:rPr>
              <a:t>&gt;</a:t>
            </a:r>
          </a:p>
          <a:p>
            <a:endParaRPr lang="en-US" altLang="ko-KR" sz="3600" dirty="0"/>
          </a:p>
          <a:p>
            <a:r>
              <a:rPr lang="en-US" altLang="ko-KR" sz="3600" dirty="0"/>
              <a:t>2. </a:t>
            </a:r>
            <a:r>
              <a:rPr lang="ko-KR" altLang="en-US" sz="3600" dirty="0"/>
              <a:t>연구 아이템</a:t>
            </a:r>
            <a:endParaRPr lang="en-US" altLang="ko-KR" sz="3600" dirty="0"/>
          </a:p>
          <a:p>
            <a:r>
              <a:rPr lang="en-US" altLang="ko-KR" sz="3600" dirty="0">
                <a:solidFill>
                  <a:srgbClr val="FF0000"/>
                </a:solidFill>
              </a:rPr>
              <a:t>3. </a:t>
            </a:r>
            <a:r>
              <a:rPr lang="ko-KR" altLang="en-US" sz="3600" dirty="0">
                <a:solidFill>
                  <a:srgbClr val="FF0000"/>
                </a:solidFill>
              </a:rPr>
              <a:t>실험 셋업 </a:t>
            </a:r>
            <a:r>
              <a:rPr lang="en-US" altLang="ko-KR" sz="3600" dirty="0">
                <a:solidFill>
                  <a:srgbClr val="FF0000"/>
                </a:solidFill>
              </a:rPr>
              <a:t>(</a:t>
            </a:r>
            <a:r>
              <a:rPr lang="ko-KR" altLang="en-US" sz="3600" dirty="0">
                <a:solidFill>
                  <a:srgbClr val="FF0000"/>
                </a:solidFill>
              </a:rPr>
              <a:t>구매 건</a:t>
            </a:r>
            <a:r>
              <a:rPr lang="en-US" altLang="ko-KR" sz="3600" dirty="0">
                <a:solidFill>
                  <a:srgbClr val="FF0000"/>
                </a:solidFill>
              </a:rPr>
              <a:t>)</a:t>
            </a:r>
          </a:p>
          <a:p>
            <a:pPr marL="685800" indent="-685800">
              <a:buFontTx/>
              <a:buChar char="-"/>
            </a:pPr>
            <a:r>
              <a:rPr lang="ko-KR" altLang="en-US" sz="3600" dirty="0" err="1">
                <a:solidFill>
                  <a:srgbClr val="FF0000"/>
                </a:solidFill>
              </a:rPr>
              <a:t>큐브셀</a:t>
            </a:r>
            <a:r>
              <a:rPr lang="ko-KR" altLang="en-US" sz="3600" dirty="0">
                <a:solidFill>
                  <a:srgbClr val="FF0000"/>
                </a:solidFill>
              </a:rPr>
              <a:t> </a:t>
            </a:r>
            <a:r>
              <a:rPr lang="en-US" altLang="ko-KR" sz="3600" dirty="0">
                <a:solidFill>
                  <a:srgbClr val="FF0000"/>
                </a:solidFill>
              </a:rPr>
              <a:t>(</a:t>
            </a:r>
            <a:r>
              <a:rPr lang="ko-KR" altLang="en-US" sz="3600" dirty="0">
                <a:solidFill>
                  <a:srgbClr val="FF0000"/>
                </a:solidFill>
              </a:rPr>
              <a:t>김현재 교수님 연구실 소개받았다 전화</a:t>
            </a:r>
            <a:r>
              <a:rPr lang="en-US" altLang="ko-KR" sz="3600" dirty="0">
                <a:solidFill>
                  <a:srgbClr val="FF0000"/>
                </a:solidFill>
              </a:rPr>
              <a:t>)</a:t>
            </a:r>
          </a:p>
          <a:p>
            <a:pPr marL="685800" indent="-685800">
              <a:buFontTx/>
              <a:buChar char="-"/>
            </a:pPr>
            <a:endParaRPr lang="en-US" altLang="ko-KR" sz="3600" dirty="0"/>
          </a:p>
          <a:p>
            <a:r>
              <a:rPr lang="en-US" altLang="ko-KR" sz="3600" dirty="0"/>
              <a:t>4. </a:t>
            </a:r>
            <a:r>
              <a:rPr lang="ko-KR" altLang="en-US" sz="3600" dirty="0"/>
              <a:t>인력</a:t>
            </a:r>
            <a:r>
              <a:rPr lang="en-US" altLang="ko-KR" sz="3600" dirty="0"/>
              <a:t>? </a:t>
            </a:r>
            <a:r>
              <a:rPr lang="ko-KR" altLang="en-US" sz="3600" dirty="0"/>
              <a:t>비용</a:t>
            </a:r>
            <a:r>
              <a:rPr lang="en-US" altLang="ko-KR" sz="3600" dirty="0"/>
              <a:t>? </a:t>
            </a:r>
            <a:r>
              <a:rPr lang="en-US" altLang="ko-KR" sz="3600" dirty="0"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sym typeface="Wingdings" panose="05000000000000000000" pitchFamily="2" charset="2"/>
              </a:rPr>
              <a:t>민수 혼자 감당 가능 </a:t>
            </a:r>
            <a:r>
              <a:rPr lang="en-US" altLang="ko-KR" sz="3600" dirty="0">
                <a:sym typeface="Wingdings" panose="05000000000000000000" pitchFamily="2" charset="2"/>
              </a:rPr>
              <a:t>(</a:t>
            </a:r>
            <a:r>
              <a:rPr lang="ko-KR" altLang="en-US" sz="3600" dirty="0">
                <a:sym typeface="Wingdings" panose="05000000000000000000" pitchFamily="2" charset="2"/>
              </a:rPr>
              <a:t>강원대가 가끔 도와주기</a:t>
            </a:r>
            <a:r>
              <a:rPr lang="en-US" altLang="ko-KR" sz="3600" dirty="0">
                <a:sym typeface="Wingdings" panose="05000000000000000000" pitchFamily="2" charset="2"/>
              </a:rPr>
              <a:t>) / </a:t>
            </a:r>
            <a:r>
              <a:rPr lang="ko-KR" altLang="en-US" sz="3600" dirty="0">
                <a:sym typeface="Wingdings" panose="05000000000000000000" pitchFamily="2" charset="2"/>
              </a:rPr>
              <a:t>비용 감당 가능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157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8FF22D-1949-4B12-776C-97B9FBC6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89C2A-95E8-68FA-4800-5AC115B2E042}"/>
              </a:ext>
            </a:extLst>
          </p:cNvPr>
          <p:cNvSpPr txBox="1"/>
          <p:nvPr/>
        </p:nvSpPr>
        <p:spPr>
          <a:xfrm>
            <a:off x="914400" y="1943100"/>
            <a:ext cx="164592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* 260604 </a:t>
            </a:r>
            <a:r>
              <a:rPr lang="ko-KR" altLang="en-US" sz="2800" dirty="0"/>
              <a:t>미팅 결론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IGO </a:t>
            </a:r>
            <a:r>
              <a:rPr lang="ko-KR" altLang="en-US" dirty="0" err="1"/>
              <a:t>스퍼터</a:t>
            </a:r>
            <a:r>
              <a:rPr lang="ko-KR" altLang="en-US" dirty="0"/>
              <a:t> 타겟은 여름방학 동안 세팅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IGO</a:t>
            </a:r>
            <a:r>
              <a:rPr lang="en-US" altLang="ko-KR" dirty="0"/>
              <a:t>(1:1)</a:t>
            </a:r>
            <a:r>
              <a:rPr lang="ko-KR" altLang="en-US" dirty="0"/>
              <a:t> 온도</a:t>
            </a:r>
            <a:r>
              <a:rPr lang="en-US" altLang="ko-KR" dirty="0"/>
              <a:t>(200~800</a:t>
            </a:r>
            <a:r>
              <a:rPr lang="ko-KR" altLang="en-US" dirty="0"/>
              <a:t>도</a:t>
            </a:r>
            <a:r>
              <a:rPr lang="en-US" altLang="ko-KR" dirty="0"/>
              <a:t>)</a:t>
            </a:r>
            <a:r>
              <a:rPr lang="ko-KR" altLang="en-US" dirty="0"/>
              <a:t>, 두께</a:t>
            </a:r>
            <a:r>
              <a:rPr lang="en-US" altLang="ko-KR" dirty="0"/>
              <a:t>(0.1M, 0.2M)</a:t>
            </a:r>
            <a:r>
              <a:rPr lang="ko-KR" altLang="en-US" dirty="0"/>
              <a:t> 스플릿 -&gt; </a:t>
            </a:r>
            <a:r>
              <a:rPr lang="ko-KR" altLang="en-US" dirty="0" err="1"/>
              <a:t>AFM으로</a:t>
            </a:r>
            <a:r>
              <a:rPr lang="ko-KR" altLang="en-US" dirty="0"/>
              <a:t> 그레인 사이즈를 보긴 해야 함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일단 실험부터 </a:t>
            </a:r>
            <a:r>
              <a:rPr lang="ko-KR" altLang="en-US" dirty="0" err="1">
                <a:sym typeface="Wingdings" panose="05000000000000000000" pitchFamily="2" charset="2"/>
              </a:rPr>
              <a:t>해봐야할</a:t>
            </a:r>
            <a:r>
              <a:rPr lang="ko-KR" altLang="en-US" dirty="0">
                <a:sym typeface="Wingdings" panose="05000000000000000000" pitchFamily="2" charset="2"/>
              </a:rPr>
              <a:t> 듯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실험 잘 되면 용액공정으로 </a:t>
            </a:r>
            <a:r>
              <a:rPr lang="en-US" altLang="ko-KR" dirty="0">
                <a:sym typeface="Wingdings" panose="05000000000000000000" pitchFamily="2" charset="2"/>
              </a:rPr>
              <a:t>Array </a:t>
            </a:r>
            <a:r>
              <a:rPr lang="ko-KR" altLang="en-US" dirty="0">
                <a:sym typeface="Wingdings" panose="05000000000000000000" pitchFamily="2" charset="2"/>
              </a:rPr>
              <a:t>공정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생체 신호를 기준으로 </a:t>
            </a:r>
            <a:r>
              <a:rPr lang="en-US" altLang="ko-KR" dirty="0">
                <a:sym typeface="Wingdings" panose="05000000000000000000" pitchFamily="2" charset="2"/>
              </a:rPr>
              <a:t>PPC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Long-Short term </a:t>
            </a:r>
            <a:r>
              <a:rPr lang="ko-KR" altLang="en-US" dirty="0">
                <a:sym typeface="Wingdings" panose="05000000000000000000" pitchFamily="2" charset="2"/>
              </a:rPr>
              <a:t>분류</a:t>
            </a:r>
            <a:r>
              <a:rPr lang="en-US" altLang="ko-KR" dirty="0">
                <a:sym typeface="Wingdings" panose="05000000000000000000" pitchFamily="2" charset="2"/>
              </a:rPr>
              <a:t>) / TCAD</a:t>
            </a:r>
            <a:r>
              <a:rPr lang="ko-KR" altLang="en-US" dirty="0">
                <a:sym typeface="Wingdings" panose="05000000000000000000" pitchFamily="2" charset="2"/>
              </a:rPr>
              <a:t>로 소자 분석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   </a:t>
            </a:r>
            <a:r>
              <a:rPr lang="ko-KR" altLang="en-US" dirty="0">
                <a:sym typeface="Wingdings" panose="05000000000000000000" pitchFamily="2" charset="2"/>
              </a:rPr>
              <a:t>소자 온도 </a:t>
            </a:r>
            <a:r>
              <a:rPr lang="ko-KR" altLang="en-US" dirty="0" err="1">
                <a:sym typeface="Wingdings" panose="05000000000000000000" pitchFamily="2" charset="2"/>
              </a:rPr>
              <a:t>스플릿은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200’C </a:t>
            </a:r>
            <a:r>
              <a:rPr lang="ko-KR" altLang="en-US" dirty="0">
                <a:sym typeface="Wingdings" panose="05000000000000000000" pitchFamily="2" charset="2"/>
              </a:rPr>
              <a:t>부터 </a:t>
            </a:r>
            <a:r>
              <a:rPr lang="en-US" altLang="ko-KR" dirty="0">
                <a:sym typeface="Wingdings" panose="05000000000000000000" pitchFamily="2" charset="2"/>
              </a:rPr>
              <a:t>100’C</a:t>
            </a:r>
            <a:r>
              <a:rPr lang="ko-KR" altLang="en-US" dirty="0">
                <a:sym typeface="Wingdings" panose="05000000000000000000" pitchFamily="2" charset="2"/>
              </a:rPr>
              <a:t>씩 올리고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만약 </a:t>
            </a:r>
            <a:r>
              <a:rPr lang="ko-KR" altLang="en-US" dirty="0" err="1">
                <a:sym typeface="Wingdings" panose="05000000000000000000" pitchFamily="2" charset="2"/>
              </a:rPr>
              <a:t>경향있는</a:t>
            </a:r>
            <a:r>
              <a:rPr lang="ko-KR" altLang="en-US" dirty="0">
                <a:sym typeface="Wingdings" panose="05000000000000000000" pitchFamily="2" charset="2"/>
              </a:rPr>
              <a:t> 부분이 있으면 </a:t>
            </a:r>
            <a:r>
              <a:rPr lang="en-US" altLang="ko-KR" dirty="0">
                <a:sym typeface="Wingdings" panose="05000000000000000000" pitchFamily="2" charset="2"/>
              </a:rPr>
              <a:t>50‘C </a:t>
            </a:r>
            <a:r>
              <a:rPr lang="ko-KR" altLang="en-US" dirty="0">
                <a:sym typeface="Wingdings" panose="05000000000000000000" pitchFamily="2" charset="2"/>
              </a:rPr>
              <a:t>단위로 다시 스플릿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   </a:t>
            </a:r>
            <a:r>
              <a:rPr lang="ko-KR" altLang="en-US" dirty="0">
                <a:sym typeface="Wingdings" panose="05000000000000000000" pitchFamily="2" charset="2"/>
              </a:rPr>
              <a:t>만약 실험 결과가 잘 나오면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용액공정으로</a:t>
            </a:r>
            <a:r>
              <a:rPr lang="en-US" altLang="ko-KR" dirty="0">
                <a:sym typeface="Wingdings" panose="05000000000000000000" pitchFamily="2" charset="2"/>
              </a:rPr>
              <a:t> IGZO</a:t>
            </a:r>
            <a:r>
              <a:rPr lang="ko-KR" altLang="en-US" dirty="0">
                <a:sym typeface="Wingdings" panose="05000000000000000000" pitchFamily="2" charset="2"/>
              </a:rPr>
              <a:t>까지 하는 방향으로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용매가 유기 -&gt; </a:t>
            </a:r>
            <a:r>
              <a:rPr lang="ko-KR" altLang="en-US" dirty="0" err="1"/>
              <a:t>FTIR을</a:t>
            </a:r>
            <a:r>
              <a:rPr lang="ko-KR" altLang="en-US" dirty="0"/>
              <a:t> 활용할 수도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- 2T0C DRAM</a:t>
            </a:r>
            <a:r>
              <a:rPr lang="ko-KR" altLang="en-US" dirty="0"/>
              <a:t>에서는 </a:t>
            </a:r>
            <a:r>
              <a:rPr lang="en-US" altLang="ko-KR" dirty="0"/>
              <a:t>800~1000</a:t>
            </a:r>
            <a:r>
              <a:rPr lang="ko-KR" altLang="en-US" dirty="0"/>
              <a:t>도에서 공정이 </a:t>
            </a:r>
            <a:r>
              <a:rPr lang="ko-KR" altLang="en-US" dirty="0" err="1"/>
              <a:t>일어남</a:t>
            </a:r>
            <a:r>
              <a:rPr lang="en-US" altLang="ko-KR" dirty="0"/>
              <a:t>, </a:t>
            </a:r>
            <a:r>
              <a:rPr lang="ko-KR" altLang="en-US" dirty="0"/>
              <a:t>추후 </a:t>
            </a:r>
            <a:r>
              <a:rPr lang="en-US" altLang="ko-KR" dirty="0"/>
              <a:t>800</a:t>
            </a:r>
            <a:r>
              <a:rPr lang="ko-KR" altLang="en-US" dirty="0"/>
              <a:t>도 이상의 온도가 포스트 </a:t>
            </a:r>
            <a:r>
              <a:rPr lang="ko-KR" altLang="en-US" dirty="0" err="1"/>
              <a:t>어닐링으로</a:t>
            </a:r>
            <a:r>
              <a:rPr lang="ko-KR" altLang="en-US" dirty="0"/>
              <a:t> </a:t>
            </a:r>
            <a:r>
              <a:rPr lang="ko-KR" altLang="en-US" dirty="0" err="1"/>
              <a:t>맞아버림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산화물이 추후 공정에서 </a:t>
            </a:r>
            <a:r>
              <a:rPr lang="en-US" altLang="ko-KR" dirty="0">
                <a:sym typeface="Wingdings" panose="05000000000000000000" pitchFamily="2" charset="2"/>
              </a:rPr>
              <a:t>800</a:t>
            </a:r>
            <a:r>
              <a:rPr lang="ko-KR" altLang="en-US" dirty="0">
                <a:sym typeface="Wingdings" panose="05000000000000000000" pitchFamily="2" charset="2"/>
              </a:rPr>
              <a:t>도 이상을 </a:t>
            </a:r>
            <a:r>
              <a:rPr lang="ko-KR" altLang="en-US" dirty="0" err="1">
                <a:sym typeface="Wingdings" panose="05000000000000000000" pitchFamily="2" charset="2"/>
              </a:rPr>
              <a:t>버텨야한다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IGO </a:t>
            </a:r>
            <a:r>
              <a:rPr lang="ko-KR" altLang="en-US" dirty="0">
                <a:sym typeface="Wingdings" panose="05000000000000000000" pitchFamily="2" charset="2"/>
              </a:rPr>
              <a:t>보단 </a:t>
            </a:r>
            <a:r>
              <a:rPr lang="en-US" altLang="ko-KR" dirty="0">
                <a:sym typeface="Wingdings" panose="05000000000000000000" pitchFamily="2" charset="2"/>
              </a:rPr>
              <a:t>IGZO</a:t>
            </a:r>
            <a:r>
              <a:rPr lang="ko-KR" altLang="en-US" dirty="0">
                <a:sym typeface="Wingdings" panose="05000000000000000000" pitchFamily="2" charset="2"/>
              </a:rPr>
              <a:t>를 활용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사측에서는 온도가 올라갈수록 그레인 사이즈가 바뀌어서 </a:t>
            </a:r>
            <a:r>
              <a:rPr lang="ko-KR" altLang="en-US" dirty="0" err="1">
                <a:sym typeface="Wingdings" panose="05000000000000000000" pitchFamily="2" charset="2"/>
              </a:rPr>
              <a:t>스테빌리티에</a:t>
            </a:r>
            <a:r>
              <a:rPr lang="ko-KR" altLang="en-US" dirty="0">
                <a:sym typeface="Wingdings" panose="05000000000000000000" pitchFamily="2" charset="2"/>
              </a:rPr>
              <a:t> 문제가 생겨서 </a:t>
            </a:r>
            <a:r>
              <a:rPr lang="ko-KR" altLang="en-US" dirty="0" err="1">
                <a:sym typeface="Wingdings" panose="05000000000000000000" pitchFamily="2" charset="2"/>
              </a:rPr>
              <a:t>고온에서도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amorphous</a:t>
            </a:r>
            <a:r>
              <a:rPr lang="ko-KR" altLang="en-US" dirty="0">
                <a:sym typeface="Wingdings" panose="05000000000000000000" pitchFamily="2" charset="2"/>
              </a:rPr>
              <a:t>를 유지하는 </a:t>
            </a:r>
            <a:r>
              <a:rPr lang="en-US" altLang="ko-KR" dirty="0">
                <a:sym typeface="Wingdings" panose="05000000000000000000" pitchFamily="2" charset="2"/>
              </a:rPr>
              <a:t>TFT</a:t>
            </a:r>
            <a:r>
              <a:rPr lang="ko-KR" altLang="en-US" dirty="0">
                <a:sym typeface="Wingdings" panose="05000000000000000000" pitchFamily="2" charset="2"/>
              </a:rPr>
              <a:t>를 만들거나 </a:t>
            </a:r>
            <a:r>
              <a:rPr lang="en-US" altLang="ko-KR" dirty="0">
                <a:sym typeface="Wingdings" panose="05000000000000000000" pitchFamily="2" charset="2"/>
              </a:rPr>
              <a:t>200</a:t>
            </a:r>
            <a:r>
              <a:rPr lang="ko-KR" altLang="en-US" dirty="0">
                <a:sym typeface="Wingdings" panose="05000000000000000000" pitchFamily="2" charset="2"/>
              </a:rPr>
              <a:t>도에서 </a:t>
            </a:r>
            <a:r>
              <a:rPr lang="en-US" altLang="ko-KR" dirty="0">
                <a:sym typeface="Wingdings" panose="05000000000000000000" pitchFamily="2" charset="2"/>
              </a:rPr>
              <a:t>grain size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ko-KR" altLang="en-US" dirty="0" err="1">
                <a:sym typeface="Wingdings" panose="05000000000000000000" pitchFamily="2" charset="2"/>
              </a:rPr>
              <a:t>픽스되는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ko-KR" altLang="en-US" dirty="0">
                <a:sym typeface="Wingdings" panose="05000000000000000000" pitchFamily="2" charset="2"/>
              </a:rPr>
              <a:t>칩 </a:t>
            </a:r>
            <a:r>
              <a:rPr lang="ko-KR" altLang="en-US" dirty="0" err="1">
                <a:sym typeface="Wingdings" panose="05000000000000000000" pitchFamily="2" charset="2"/>
              </a:rPr>
              <a:t>메타로가면</a:t>
            </a:r>
            <a:r>
              <a:rPr lang="ko-KR" altLang="en-US" dirty="0">
                <a:sym typeface="Wingdings" panose="05000000000000000000" pitchFamily="2" charset="2"/>
              </a:rPr>
              <a:t> 실리콘 위로 </a:t>
            </a:r>
            <a:r>
              <a:rPr lang="en-US" altLang="ko-KR" dirty="0">
                <a:sym typeface="Wingdings" panose="05000000000000000000" pitchFamily="2" charset="2"/>
              </a:rPr>
              <a:t>CMOS image sensor</a:t>
            </a:r>
            <a:r>
              <a:rPr lang="ko-KR" altLang="en-US" dirty="0">
                <a:sym typeface="Wingdings" panose="05000000000000000000" pitchFamily="2" charset="2"/>
              </a:rPr>
              <a:t>로 들어갈 확률이 높음 </a:t>
            </a:r>
            <a:r>
              <a:rPr lang="en-US" altLang="ko-KR" dirty="0">
                <a:sym typeface="Wingdings" panose="05000000000000000000" pitchFamily="2" charset="2"/>
              </a:rPr>
              <a:t> 800</a:t>
            </a:r>
            <a:r>
              <a:rPr lang="ko-KR" altLang="en-US" dirty="0">
                <a:sym typeface="Wingdings" panose="05000000000000000000" pitchFamily="2" charset="2"/>
              </a:rPr>
              <a:t>도까지 온도를 평가하는 것이 좋을 것 같음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ko-KR" altLang="en-US" dirty="0">
                <a:sym typeface="Wingdings" panose="05000000000000000000" pitchFamily="2" charset="2"/>
              </a:rPr>
              <a:t>측정 방식을 </a:t>
            </a:r>
            <a:r>
              <a:rPr lang="ko-KR" altLang="en-US" dirty="0" err="1">
                <a:sym typeface="Wingdings" panose="05000000000000000000" pitchFamily="2" charset="2"/>
              </a:rPr>
              <a:t>정해야할</a:t>
            </a:r>
            <a:r>
              <a:rPr lang="ko-KR" altLang="en-US" dirty="0">
                <a:sym typeface="Wingdings" panose="05000000000000000000" pitchFamily="2" charset="2"/>
              </a:rPr>
              <a:t> 듯</a:t>
            </a:r>
            <a:r>
              <a:rPr lang="en-US" altLang="ko-KR" dirty="0">
                <a:sym typeface="Wingdings" panose="05000000000000000000" pitchFamily="2" charset="2"/>
              </a:rPr>
              <a:t>. Vg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en-US" altLang="ko-KR" dirty="0">
                <a:sym typeface="Wingdings" panose="05000000000000000000" pitchFamily="2" charset="2"/>
              </a:rPr>
              <a:t>Turn on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Flat band</a:t>
            </a:r>
            <a:r>
              <a:rPr lang="ko-KR" altLang="en-US" dirty="0">
                <a:sym typeface="Wingdings" panose="05000000000000000000" pitchFamily="2" charset="2"/>
              </a:rPr>
              <a:t>를 고려해서 소자마다 다르게 </a:t>
            </a:r>
            <a:r>
              <a:rPr lang="en-US" altLang="ko-KR" dirty="0">
                <a:sym typeface="Wingdings" panose="05000000000000000000" pitchFamily="2" charset="2"/>
              </a:rPr>
              <a:t>Vg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ko-KR" altLang="en-US" dirty="0" err="1">
                <a:sym typeface="Wingdings" panose="05000000000000000000" pitchFamily="2" charset="2"/>
              </a:rPr>
              <a:t>줘야할</a:t>
            </a:r>
            <a:r>
              <a:rPr lang="ko-KR" altLang="en-US" dirty="0">
                <a:sym typeface="Wingdings" panose="05000000000000000000" pitchFamily="2" charset="2"/>
              </a:rPr>
              <a:t> 지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ko-KR" altLang="en-US" dirty="0">
                <a:sym typeface="Wingdings" panose="05000000000000000000" pitchFamily="2" charset="2"/>
              </a:rPr>
              <a:t>광원</a:t>
            </a:r>
            <a:r>
              <a:rPr lang="en-US" altLang="ko-KR" dirty="0">
                <a:sym typeface="Wingdings" panose="05000000000000000000" pitchFamily="2" charset="2"/>
              </a:rPr>
              <a:t>: LED</a:t>
            </a:r>
            <a:r>
              <a:rPr lang="ko-KR" altLang="en-US" dirty="0">
                <a:sym typeface="Wingdings" panose="05000000000000000000" pitchFamily="2" charset="2"/>
              </a:rPr>
              <a:t>로 </a:t>
            </a:r>
            <a:r>
              <a:rPr lang="en-US" altLang="ko-KR" dirty="0">
                <a:sym typeface="Wingdings" panose="05000000000000000000" pitchFamily="2" charset="2"/>
              </a:rPr>
              <a:t>Blue</a:t>
            </a:r>
            <a:r>
              <a:rPr lang="ko-KR" altLang="en-US" dirty="0">
                <a:sym typeface="Wingdings" panose="05000000000000000000" pitchFamily="2" charset="2"/>
              </a:rPr>
              <a:t>로 </a:t>
            </a:r>
            <a:r>
              <a:rPr lang="ko-KR" altLang="en-US" dirty="0" err="1">
                <a:sym typeface="Wingdings" panose="05000000000000000000" pitchFamily="2" charset="2"/>
              </a:rPr>
              <a:t>각보고</a:t>
            </a:r>
            <a:r>
              <a:rPr lang="ko-KR" altLang="en-US" dirty="0">
                <a:sym typeface="Wingdings" panose="05000000000000000000" pitchFamily="2" charset="2"/>
              </a:rPr>
              <a:t> 레이저로 </a:t>
            </a:r>
            <a:r>
              <a:rPr lang="ko-KR" altLang="en-US" dirty="0" err="1">
                <a:sym typeface="Wingdings" panose="05000000000000000000" pitchFamily="2" charset="2"/>
              </a:rPr>
              <a:t>파장대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스플릿해서</a:t>
            </a:r>
            <a:r>
              <a:rPr lang="ko-KR" altLang="en-US" dirty="0">
                <a:sym typeface="Wingdings" panose="05000000000000000000" pitchFamily="2" charset="2"/>
              </a:rPr>
              <a:t> 논문화</a:t>
            </a:r>
            <a:r>
              <a:rPr lang="en-US" altLang="ko-KR" dirty="0">
                <a:sym typeface="Wingdings" panose="05000000000000000000" pitchFamily="2" charset="2"/>
              </a:rPr>
              <a:t>? LED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Blue</a:t>
            </a:r>
            <a:r>
              <a:rPr lang="ko-KR" altLang="en-US" dirty="0">
                <a:sym typeface="Wingdings" panose="05000000000000000000" pitchFamily="2" charset="2"/>
              </a:rPr>
              <a:t>로만 데이터 뽑아도 괜찮을지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61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8FF22D-1949-4B12-776C-97B9FBC6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89C2A-95E8-68FA-4800-5AC115B2E042}"/>
              </a:ext>
            </a:extLst>
          </p:cNvPr>
          <p:cNvSpPr txBox="1"/>
          <p:nvPr/>
        </p:nvSpPr>
        <p:spPr>
          <a:xfrm>
            <a:off x="914400" y="1943100"/>
            <a:ext cx="164592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* 260615 </a:t>
            </a:r>
            <a:r>
              <a:rPr lang="ko-KR" altLang="en-US" sz="2800" dirty="0"/>
              <a:t>미팅 결론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PSC peak</a:t>
            </a:r>
            <a:r>
              <a:rPr lang="ko-KR" altLang="en-US" dirty="0"/>
              <a:t>를 </a:t>
            </a:r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, </a:t>
            </a:r>
            <a:r>
              <a:rPr lang="ko-KR" altLang="en-US" dirty="0" err="1"/>
              <a:t>몇초</a:t>
            </a:r>
            <a:r>
              <a:rPr lang="ko-KR" altLang="en-US" dirty="0"/>
              <a:t> 이후의 잔여 광전류를 </a:t>
            </a:r>
            <a:r>
              <a:rPr lang="en-US" altLang="ko-KR" dirty="0"/>
              <a:t>y</a:t>
            </a:r>
            <a:r>
              <a:rPr lang="ko-KR" altLang="en-US" dirty="0"/>
              <a:t>축으로 해서 그래프를 한번 그려서 경향성을 </a:t>
            </a:r>
            <a:r>
              <a:rPr lang="ko-KR" altLang="en-US" dirty="0" err="1"/>
              <a:t>봐야할</a:t>
            </a:r>
            <a:r>
              <a:rPr lang="ko-KR" altLang="en-US" dirty="0"/>
              <a:t> 듯</a:t>
            </a:r>
            <a:r>
              <a:rPr lang="en-US" altLang="ko-KR" dirty="0"/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Decay time </a:t>
            </a:r>
            <a:r>
              <a:rPr lang="ko-KR" altLang="en-US" dirty="0">
                <a:sym typeface="Wingdings" panose="05000000000000000000" pitchFamily="2" charset="2"/>
              </a:rPr>
              <a:t>그래프 파이썬 이용해서 그리기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/>
              <a:t>Decay time</a:t>
            </a:r>
            <a:r>
              <a:rPr lang="ko-KR" altLang="en-US" dirty="0"/>
              <a:t>은 </a:t>
            </a:r>
            <a:r>
              <a:rPr lang="en-US" altLang="ko-KR" dirty="0"/>
              <a:t>peak </a:t>
            </a:r>
            <a:r>
              <a:rPr lang="ko-KR" altLang="en-US" dirty="0"/>
              <a:t>대비 </a:t>
            </a:r>
            <a:r>
              <a:rPr lang="en-US" altLang="ko-KR" dirty="0"/>
              <a:t>36% </a:t>
            </a:r>
            <a:r>
              <a:rPr lang="ko-KR" altLang="en-US" dirty="0"/>
              <a:t>정도로 떨어지기까지의 </a:t>
            </a:r>
            <a:r>
              <a:rPr lang="en-US" altLang="ko-KR" dirty="0"/>
              <a:t>time)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- Decay time</a:t>
            </a:r>
            <a:r>
              <a:rPr lang="ko-KR" altLang="en-US" dirty="0">
                <a:sym typeface="Wingdings" panose="05000000000000000000" pitchFamily="2" charset="2"/>
              </a:rPr>
              <a:t>이 </a:t>
            </a:r>
            <a:r>
              <a:rPr lang="ko-KR" altLang="en-US" dirty="0" err="1">
                <a:sym typeface="Wingdings" panose="05000000000000000000" pitchFamily="2" charset="2"/>
              </a:rPr>
              <a:t>광전류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36%</a:t>
            </a:r>
            <a:r>
              <a:rPr lang="ko-KR" altLang="en-US" dirty="0">
                <a:sym typeface="Wingdings" panose="05000000000000000000" pitchFamily="2" charset="2"/>
              </a:rPr>
              <a:t>까지 기다려버리면 너무 오래 </a:t>
            </a:r>
            <a:r>
              <a:rPr lang="ko-KR" altLang="en-US" dirty="0" err="1">
                <a:sym typeface="Wingdings" panose="05000000000000000000" pitchFamily="2" charset="2"/>
              </a:rPr>
              <a:t>기다려야할</a:t>
            </a:r>
            <a:r>
              <a:rPr lang="ko-KR" altLang="en-US" dirty="0">
                <a:sym typeface="Wingdings" panose="05000000000000000000" pitchFamily="2" charset="2"/>
              </a:rPr>
              <a:t> 수도 있음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그래서 </a:t>
            </a:r>
            <a:r>
              <a:rPr lang="en-US" altLang="ko-KR" dirty="0">
                <a:sym typeface="Wingdings" panose="05000000000000000000" pitchFamily="2" charset="2"/>
              </a:rPr>
              <a:t>linear fitting</a:t>
            </a:r>
            <a:r>
              <a:rPr lang="ko-KR" altLang="en-US" dirty="0">
                <a:sym typeface="Wingdings" panose="05000000000000000000" pitchFamily="2" charset="2"/>
              </a:rPr>
              <a:t>하거나 </a:t>
            </a:r>
            <a:r>
              <a:rPr lang="en-US" altLang="ko-KR" dirty="0">
                <a:sym typeface="Wingdings" panose="05000000000000000000" pitchFamily="2" charset="2"/>
              </a:rPr>
              <a:t>SEF </a:t>
            </a:r>
            <a:r>
              <a:rPr lang="ko-KR" altLang="en-US" dirty="0" err="1">
                <a:sym typeface="Wingdings" panose="05000000000000000000" pitchFamily="2" charset="2"/>
              </a:rPr>
              <a:t>피팅하거나</a:t>
            </a:r>
            <a:r>
              <a:rPr lang="ko-KR" altLang="en-US" dirty="0">
                <a:sym typeface="Wingdings" panose="05000000000000000000" pitchFamily="2" charset="2"/>
              </a:rPr>
              <a:t> 아님 다른 방법으로 예측하는 것도 </a:t>
            </a:r>
            <a:r>
              <a:rPr lang="ko-KR" altLang="en-US" dirty="0" err="1">
                <a:sym typeface="Wingdings" panose="05000000000000000000" pitchFamily="2" charset="2"/>
              </a:rPr>
              <a:t>괜찮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기준의 정의가 우리가 정하기 모호할 수 있는데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그 기준의 명확점은 인간의 망막세포가 기준이 </a:t>
            </a:r>
            <a:r>
              <a:rPr lang="ko-KR" altLang="en-US" dirty="0" err="1">
                <a:sym typeface="Wingdings" panose="05000000000000000000" pitchFamily="2" charset="2"/>
              </a:rPr>
              <a:t>되어야함</a:t>
            </a:r>
            <a:r>
              <a:rPr lang="en-US" altLang="ko-KR" dirty="0">
                <a:sym typeface="Wingdings" panose="05000000000000000000" pitchFamily="2" charset="2"/>
              </a:rPr>
              <a:t>. PPC</a:t>
            </a:r>
            <a:r>
              <a:rPr lang="ko-KR" altLang="en-US" dirty="0">
                <a:sym typeface="Wingdings" panose="05000000000000000000" pitchFamily="2" charset="2"/>
              </a:rPr>
              <a:t>도 </a:t>
            </a:r>
            <a:r>
              <a:rPr lang="en-US" altLang="ko-KR" dirty="0">
                <a:sym typeface="Wingdings" panose="05000000000000000000" pitchFamily="2" charset="2"/>
              </a:rPr>
              <a:t>200% 300% </a:t>
            </a:r>
            <a:r>
              <a:rPr lang="ko-KR" altLang="en-US" dirty="0" err="1">
                <a:sym typeface="Wingdings" panose="05000000000000000000" pitchFamily="2" charset="2"/>
              </a:rPr>
              <a:t>나왔다는게</a:t>
            </a:r>
            <a:r>
              <a:rPr lang="ko-KR" altLang="en-US" dirty="0">
                <a:sym typeface="Wingdings" panose="05000000000000000000" pitchFamily="2" charset="2"/>
              </a:rPr>
              <a:t> 많은데 생물을 모방한다는 것에 있어서는 </a:t>
            </a:r>
            <a:r>
              <a:rPr lang="en-US" altLang="ko-KR" dirty="0">
                <a:sym typeface="Wingdings" panose="05000000000000000000" pitchFamily="2" charset="2"/>
              </a:rPr>
              <a:t>100~200% </a:t>
            </a:r>
            <a:r>
              <a:rPr lang="ko-KR" altLang="en-US" dirty="0">
                <a:sym typeface="Wingdings" panose="05000000000000000000" pitchFamily="2" charset="2"/>
              </a:rPr>
              <a:t>사이를 </a:t>
            </a:r>
            <a:r>
              <a:rPr lang="ko-KR" altLang="en-US" dirty="0" err="1">
                <a:sym typeface="Wingdings" panose="05000000000000000000" pitchFamily="2" charset="2"/>
              </a:rPr>
              <a:t>유지해야함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따라서 모든 </a:t>
            </a:r>
            <a:r>
              <a:rPr lang="ko-KR" altLang="en-US" dirty="0" err="1">
                <a:sym typeface="Wingdings" panose="05000000000000000000" pitchFamily="2" charset="2"/>
              </a:rPr>
              <a:t>뉴로모픽</a:t>
            </a:r>
            <a:r>
              <a:rPr lang="ko-KR" altLang="en-US" dirty="0">
                <a:sym typeface="Wingdings" panose="05000000000000000000" pitchFamily="2" charset="2"/>
              </a:rPr>
              <a:t> 정의 기준은 인간의 눈 세포에 초점을 </a:t>
            </a:r>
            <a:r>
              <a:rPr lang="ko-KR" altLang="en-US" dirty="0" err="1">
                <a:sym typeface="Wingdings" panose="05000000000000000000" pitchFamily="2" charset="2"/>
              </a:rPr>
              <a:t>맞춰야함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로봇은 어쨌든 인간의 눈보단 </a:t>
            </a:r>
            <a:r>
              <a:rPr lang="ko-KR" altLang="en-US" dirty="0" err="1">
                <a:sym typeface="Wingdings" panose="05000000000000000000" pitchFamily="2" charset="2"/>
              </a:rPr>
              <a:t>좋아야하지만</a:t>
            </a:r>
            <a:r>
              <a:rPr lang="ko-KR" altLang="en-US" dirty="0">
                <a:sym typeface="Wingdings" panose="05000000000000000000" pitchFamily="2" charset="2"/>
              </a:rPr>
              <a:t> 기준점은 인간의 눈에 초점을 맞추는 게 좋을 듯</a:t>
            </a:r>
            <a:r>
              <a:rPr lang="en-US" altLang="ko-KR" dirty="0">
                <a:sym typeface="Wingdings" panose="05000000000000000000" pitchFamily="2" charset="2"/>
              </a:rPr>
              <a:t>.)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LTP</a:t>
            </a:r>
            <a:r>
              <a:rPr lang="ko-KR" altLang="en-US" dirty="0">
                <a:sym typeface="Wingdings" panose="05000000000000000000" pitchFamily="2" charset="2"/>
              </a:rPr>
              <a:t>에서 고꾸라지는 건 </a:t>
            </a:r>
            <a:r>
              <a:rPr lang="en-US" altLang="ko-KR" dirty="0">
                <a:sym typeface="Wingdings" panose="05000000000000000000" pitchFamily="2" charset="2"/>
              </a:rPr>
              <a:t>NBS</a:t>
            </a:r>
            <a:r>
              <a:rPr lang="ko-KR" altLang="en-US" dirty="0">
                <a:sym typeface="Wingdings" panose="05000000000000000000" pitchFamily="2" charset="2"/>
              </a:rPr>
              <a:t>에 의해 </a:t>
            </a:r>
            <a:r>
              <a:rPr lang="en-US" altLang="ko-KR" dirty="0" err="1">
                <a:sym typeface="Wingdings" panose="05000000000000000000" pitchFamily="2" charset="2"/>
              </a:rPr>
              <a:t>nega</a:t>
            </a:r>
            <a:r>
              <a:rPr lang="en-US" altLang="ko-KR" dirty="0">
                <a:sym typeface="Wingdings" panose="05000000000000000000" pitchFamily="2" charset="2"/>
              </a:rPr>
              <a:t> shift</a:t>
            </a:r>
            <a:r>
              <a:rPr lang="ko-KR" altLang="en-US" dirty="0">
                <a:sym typeface="Wingdings" panose="05000000000000000000" pitchFamily="2" charset="2"/>
              </a:rPr>
              <a:t>하면서 원래는 소자 입장에서 </a:t>
            </a:r>
            <a:r>
              <a:rPr lang="en-US" altLang="ko-KR" dirty="0" err="1">
                <a:sym typeface="Wingdings" panose="05000000000000000000" pitchFamily="2" charset="2"/>
              </a:rPr>
              <a:t>nega</a:t>
            </a:r>
            <a:r>
              <a:rPr lang="en-US" altLang="ko-KR" dirty="0">
                <a:sym typeface="Wingdings" panose="05000000000000000000" pitchFamily="2" charset="2"/>
              </a:rPr>
              <a:t> VG </a:t>
            </a:r>
            <a:r>
              <a:rPr lang="ko-KR" altLang="en-US" dirty="0">
                <a:sym typeface="Wingdings" panose="05000000000000000000" pitchFamily="2" charset="2"/>
              </a:rPr>
              <a:t>였는데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소자가 밀리면서 </a:t>
            </a:r>
            <a:r>
              <a:rPr lang="en-US" altLang="ko-KR" dirty="0" err="1">
                <a:sym typeface="Wingdings" panose="05000000000000000000" pitchFamily="2" charset="2"/>
              </a:rPr>
              <a:t>posi</a:t>
            </a:r>
            <a:r>
              <a:rPr lang="en-US" altLang="ko-KR" dirty="0">
                <a:sym typeface="Wingdings" panose="05000000000000000000" pitchFamily="2" charset="2"/>
              </a:rPr>
              <a:t> VG</a:t>
            </a:r>
            <a:r>
              <a:rPr lang="ko-KR" altLang="en-US" dirty="0">
                <a:sym typeface="Wingdings" panose="05000000000000000000" pitchFamily="2" charset="2"/>
              </a:rPr>
              <a:t>로 작용하면서 광전자가 </a:t>
            </a:r>
            <a:r>
              <a:rPr lang="en-US" altLang="ko-KR" dirty="0">
                <a:sym typeface="Wingdings" panose="05000000000000000000" pitchFamily="2" charset="2"/>
              </a:rPr>
              <a:t>trap</a:t>
            </a:r>
            <a:r>
              <a:rPr lang="ko-KR" altLang="en-US" dirty="0">
                <a:sym typeface="Wingdings" panose="05000000000000000000" pitchFamily="2" charset="2"/>
              </a:rPr>
              <a:t>되기 때문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LTP </a:t>
            </a:r>
            <a:r>
              <a:rPr lang="ko-KR" altLang="en-US" dirty="0">
                <a:sym typeface="Wingdings" panose="05000000000000000000" pitchFamily="2" charset="2"/>
              </a:rPr>
              <a:t>찍을 때 몇번의 빛을 줘야 고꾸라지는 지</a:t>
            </a:r>
            <a:r>
              <a:rPr lang="en-US" altLang="ko-KR" dirty="0">
                <a:sym typeface="Wingdings" panose="05000000000000000000" pitchFamily="2" charset="2"/>
              </a:rPr>
              <a:t>(pulse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en-US" altLang="ko-KR" dirty="0">
                <a:sym typeface="Wingdings" panose="05000000000000000000" pitchFamily="2" charset="2"/>
              </a:rPr>
              <a:t>40</a:t>
            </a:r>
            <a:r>
              <a:rPr lang="ko-KR" altLang="en-US" dirty="0">
                <a:sym typeface="Wingdings" panose="05000000000000000000" pitchFamily="2" charset="2"/>
              </a:rPr>
              <a:t>보다 더 많이 주기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고꾸라지는 소자가 나왔을 때는 안 고꾸라지는 포인트를 찾아보기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VO</a:t>
            </a:r>
            <a:r>
              <a:rPr lang="ko-KR" altLang="en-US" dirty="0">
                <a:sym typeface="Wingdings" panose="05000000000000000000" pitchFamily="2" charset="2"/>
              </a:rPr>
              <a:t>가 많을수록 </a:t>
            </a:r>
            <a:r>
              <a:rPr lang="en-US" altLang="ko-KR" dirty="0">
                <a:sym typeface="Wingdings" panose="05000000000000000000" pitchFamily="2" charset="2"/>
              </a:rPr>
              <a:t>trap</a:t>
            </a:r>
            <a:r>
              <a:rPr lang="ko-KR" altLang="en-US" dirty="0">
                <a:sym typeface="Wingdings" panose="05000000000000000000" pitchFamily="2" charset="2"/>
              </a:rPr>
              <a:t>과 전자가 많다고 해석될 수 있기 때문에</a:t>
            </a:r>
            <a:r>
              <a:rPr lang="en-US" altLang="ko-KR" dirty="0">
                <a:sym typeface="Wingdings" panose="05000000000000000000" pitchFamily="2" charset="2"/>
              </a:rPr>
              <a:t>, PPC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VO</a:t>
            </a:r>
            <a:r>
              <a:rPr lang="ko-KR" altLang="en-US" dirty="0">
                <a:sym typeface="Wingdings" panose="05000000000000000000" pitchFamily="2" charset="2"/>
              </a:rPr>
              <a:t>가 많아질수록 </a:t>
            </a:r>
            <a:r>
              <a:rPr lang="en-US" altLang="ko-KR" dirty="0">
                <a:sym typeface="Wingdings" panose="05000000000000000000" pitchFamily="2" charset="2"/>
              </a:rPr>
              <a:t>PPC</a:t>
            </a:r>
            <a:r>
              <a:rPr lang="ko-KR" altLang="en-US" dirty="0">
                <a:sym typeface="Wingdings" panose="05000000000000000000" pitchFamily="2" charset="2"/>
              </a:rPr>
              <a:t>도 커질 수 있음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ko-KR" altLang="en-US" dirty="0">
                <a:sym typeface="Wingdings" panose="05000000000000000000" pitchFamily="2" charset="2"/>
              </a:rPr>
              <a:t>만약 </a:t>
            </a:r>
            <a:r>
              <a:rPr lang="en-US" altLang="ko-KR" dirty="0">
                <a:sym typeface="Wingdings" panose="05000000000000000000" pitchFamily="2" charset="2"/>
              </a:rPr>
              <a:t>AFM</a:t>
            </a:r>
            <a:r>
              <a:rPr lang="ko-KR" altLang="en-US" dirty="0">
                <a:sym typeface="Wingdings" panose="05000000000000000000" pitchFamily="2" charset="2"/>
              </a:rPr>
              <a:t>이 잘 안 나오면</a:t>
            </a:r>
            <a:r>
              <a:rPr lang="en-US" altLang="ko-KR" dirty="0">
                <a:sym typeface="Wingdings" panose="05000000000000000000" pitchFamily="2" charset="2"/>
              </a:rPr>
              <a:t>, TEM</a:t>
            </a:r>
            <a:r>
              <a:rPr lang="ko-KR" altLang="en-US" dirty="0">
                <a:sym typeface="Wingdings" panose="05000000000000000000" pitchFamily="2" charset="2"/>
              </a:rPr>
              <a:t>으로 그레인 사이즈를 찍긴 </a:t>
            </a:r>
            <a:r>
              <a:rPr lang="ko-KR" altLang="en-US" dirty="0" err="1">
                <a:sym typeface="Wingdings" panose="05000000000000000000" pitchFamily="2" charset="2"/>
              </a:rPr>
              <a:t>해야할</a:t>
            </a:r>
            <a:r>
              <a:rPr lang="ko-KR" altLang="en-US" dirty="0">
                <a:sym typeface="Wingdings" panose="05000000000000000000" pitchFamily="2" charset="2"/>
              </a:rPr>
              <a:t> 듯</a:t>
            </a:r>
            <a:r>
              <a:rPr lang="en-US" altLang="ko-KR" dirty="0">
                <a:sym typeface="Wingdings" panose="05000000000000000000" pitchFamily="2" charset="2"/>
              </a:rPr>
              <a:t>. TEM</a:t>
            </a:r>
            <a:r>
              <a:rPr lang="ko-KR" altLang="en-US" dirty="0">
                <a:sym typeface="Wingdings" panose="05000000000000000000" pitchFamily="2" charset="2"/>
              </a:rPr>
              <a:t>을 </a:t>
            </a:r>
            <a:r>
              <a:rPr lang="ko-KR" altLang="en-US" dirty="0" err="1">
                <a:sym typeface="Wingdings" panose="05000000000000000000" pitchFamily="2" charset="2"/>
              </a:rPr>
              <a:t>찍어야할</a:t>
            </a:r>
            <a:r>
              <a:rPr lang="ko-KR" altLang="en-US" dirty="0">
                <a:sym typeface="Wingdings" panose="05000000000000000000" pitchFamily="2" charset="2"/>
              </a:rPr>
              <a:t> 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전기적 광학적 데이터가 좀 잘 나오고나서 조건을 </a:t>
            </a:r>
            <a:r>
              <a:rPr lang="ko-KR" altLang="en-US" dirty="0" err="1">
                <a:sym typeface="Wingdings" panose="05000000000000000000" pitchFamily="2" charset="2"/>
              </a:rPr>
              <a:t>셀렉해서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TEM </a:t>
            </a:r>
            <a:r>
              <a:rPr lang="ko-KR" altLang="en-US" dirty="0">
                <a:sym typeface="Wingdings" panose="05000000000000000000" pitchFamily="2" charset="2"/>
              </a:rPr>
              <a:t>찍기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- PSC</a:t>
            </a:r>
            <a:r>
              <a:rPr lang="ko-KR" altLang="en-US" dirty="0">
                <a:sym typeface="Wingdings" panose="05000000000000000000" pitchFamily="2" charset="2"/>
              </a:rPr>
              <a:t>를 한 포인트만 </a:t>
            </a:r>
            <a:r>
              <a:rPr lang="ko-KR" altLang="en-US" dirty="0" err="1">
                <a:sym typeface="Wingdings" panose="05000000000000000000" pitchFamily="2" charset="2"/>
              </a:rPr>
              <a:t>가져오지말고</a:t>
            </a:r>
            <a:r>
              <a:rPr lang="ko-KR" altLang="en-US" dirty="0">
                <a:sym typeface="Wingdings" panose="05000000000000000000" pitchFamily="2" charset="2"/>
              </a:rPr>
              <a:t> 가공을 하고 여러 포인트를 정리해서 </a:t>
            </a:r>
            <a:r>
              <a:rPr lang="ko-KR" altLang="en-US" dirty="0" err="1">
                <a:sym typeface="Wingdings" panose="05000000000000000000" pitchFamily="2" charset="2"/>
              </a:rPr>
              <a:t>가져와야할</a:t>
            </a:r>
            <a:r>
              <a:rPr lang="ko-KR" altLang="en-US" dirty="0">
                <a:sym typeface="Wingdings" panose="05000000000000000000" pitchFamily="2" charset="2"/>
              </a:rPr>
              <a:t> 듯</a:t>
            </a:r>
            <a:r>
              <a:rPr lang="en-US" altLang="ko-KR" dirty="0">
                <a:sym typeface="Wingdings" panose="05000000000000000000" pitchFamily="2" charset="2"/>
              </a:rPr>
              <a:t>. [</a:t>
            </a:r>
            <a:r>
              <a:rPr lang="ko-KR" altLang="en-US" dirty="0" err="1">
                <a:sym typeface="Wingdings" panose="05000000000000000000" pitchFamily="2" charset="2"/>
              </a:rPr>
              <a:t>산점도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에러바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461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89495B-DD42-38A9-2B63-5602D05F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9CB154-E4E0-6B15-737A-E8244F5ABB67}"/>
              </a:ext>
            </a:extLst>
          </p:cNvPr>
          <p:cNvGrpSpPr/>
          <p:nvPr/>
        </p:nvGrpSpPr>
        <p:grpSpPr>
          <a:xfrm>
            <a:off x="2133600" y="3238500"/>
            <a:ext cx="15773400" cy="811143"/>
            <a:chOff x="2133600" y="3283364"/>
            <a:chExt cx="15773400" cy="811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47CCB9-903A-C74D-7321-BBBD1E5BC8F0}"/>
                </a:ext>
              </a:extLst>
            </p:cNvPr>
            <p:cNvSpPr txBox="1"/>
            <p:nvPr/>
          </p:nvSpPr>
          <p:spPr>
            <a:xfrm>
              <a:off x="6172200" y="3398536"/>
              <a:ext cx="117348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각 소자 별 특성</a:t>
              </a:r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, IV curve summary, PSC summary</a:t>
              </a:r>
              <a:endParaRPr lang="de-DE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9" name="사각형: 잘린 대각선 방향 모서리 8">
              <a:extLst>
                <a:ext uri="{FF2B5EF4-FFF2-40B4-BE49-F238E27FC236}">
                  <a16:creationId xmlns:a16="http://schemas.microsoft.com/office/drawing/2014/main" id="{4466326B-EBDB-279B-8CF5-A35991FBE91B}"/>
                </a:ext>
              </a:extLst>
            </p:cNvPr>
            <p:cNvSpPr/>
            <p:nvPr/>
          </p:nvSpPr>
          <p:spPr>
            <a:xfrm>
              <a:off x="2133600" y="3283364"/>
              <a:ext cx="37338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1-1.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측정 데이터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77873C-D9DB-603C-959D-BABBD06482C8}"/>
              </a:ext>
            </a:extLst>
          </p:cNvPr>
          <p:cNvGrpSpPr/>
          <p:nvPr/>
        </p:nvGrpSpPr>
        <p:grpSpPr>
          <a:xfrm>
            <a:off x="914400" y="9029700"/>
            <a:ext cx="15544800" cy="811143"/>
            <a:chOff x="914400" y="7774827"/>
            <a:chExt cx="15544800" cy="8111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92DE4F-7CEA-4B18-C2D5-BABB27218AF9}"/>
                </a:ext>
              </a:extLst>
            </p:cNvPr>
            <p:cNvSpPr txBox="1"/>
            <p:nvPr/>
          </p:nvSpPr>
          <p:spPr>
            <a:xfrm>
              <a:off x="3276600" y="7889502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 err="1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안박사님과의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미팅 결론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6" name="사각형: 잘린 대각선 방향 모서리 5">
              <a:extLst>
                <a:ext uri="{FF2B5EF4-FFF2-40B4-BE49-F238E27FC236}">
                  <a16:creationId xmlns:a16="http://schemas.microsoft.com/office/drawing/2014/main" id="{EECE41FC-9FCF-7F81-4131-8523E497D0FD}"/>
                </a:ext>
              </a:extLst>
            </p:cNvPr>
            <p:cNvSpPr/>
            <p:nvPr/>
          </p:nvSpPr>
          <p:spPr>
            <a:xfrm>
              <a:off x="914400" y="7774827"/>
              <a:ext cx="20574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4.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결론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2F51E9-E30D-56FE-FCA9-BC5CC2BAAAF9}"/>
              </a:ext>
            </a:extLst>
          </p:cNvPr>
          <p:cNvGrpSpPr/>
          <p:nvPr/>
        </p:nvGrpSpPr>
        <p:grpSpPr>
          <a:xfrm>
            <a:off x="914400" y="7581900"/>
            <a:ext cx="16764000" cy="811143"/>
            <a:chOff x="914400" y="9112289"/>
            <a:chExt cx="16764000" cy="8111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EE5C4-5526-7786-6D8F-B70A7E2F380B}"/>
                </a:ext>
              </a:extLst>
            </p:cNvPr>
            <p:cNvSpPr txBox="1"/>
            <p:nvPr/>
          </p:nvSpPr>
          <p:spPr>
            <a:xfrm>
              <a:off x="4495800" y="922696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공정 방향성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FF5D3269-200D-A652-1BAF-714907DF7244}"/>
                </a:ext>
              </a:extLst>
            </p:cNvPr>
            <p:cNvSpPr/>
            <p:nvPr/>
          </p:nvSpPr>
          <p:spPr>
            <a:xfrm>
              <a:off x="914400" y="9112289"/>
              <a:ext cx="3276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3.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방향성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7776B8D-EC13-1A30-DEBE-FBD4ABA28BA0}"/>
              </a:ext>
            </a:extLst>
          </p:cNvPr>
          <p:cNvGrpSpPr/>
          <p:nvPr/>
        </p:nvGrpSpPr>
        <p:grpSpPr>
          <a:xfrm>
            <a:off x="914400" y="1790700"/>
            <a:ext cx="17221200" cy="811143"/>
            <a:chOff x="914400" y="1790700"/>
            <a:chExt cx="17221200" cy="8111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EF6606-DE61-B775-9885-F8E385A20B3A}"/>
                </a:ext>
              </a:extLst>
            </p:cNvPr>
            <p:cNvSpPr txBox="1"/>
            <p:nvPr/>
          </p:nvSpPr>
          <p:spPr>
            <a:xfrm>
              <a:off x="4953000" y="1903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‘Film thickness’, ‘Post-anneal.’ split</a:t>
              </a:r>
            </a:p>
          </p:txBody>
        </p:sp>
        <p:sp>
          <p:nvSpPr>
            <p:cNvPr id="26" name="사각형: 잘린 대각선 방향 모서리 25">
              <a:extLst>
                <a:ext uri="{FF2B5EF4-FFF2-40B4-BE49-F238E27FC236}">
                  <a16:creationId xmlns:a16="http://schemas.microsoft.com/office/drawing/2014/main" id="{85ED6AA2-CA1F-D329-EAB9-EBE18181818B}"/>
                </a:ext>
              </a:extLst>
            </p:cNvPr>
            <p:cNvSpPr/>
            <p:nvPr/>
          </p:nvSpPr>
          <p:spPr>
            <a:xfrm>
              <a:off x="914400" y="1790700"/>
              <a:ext cx="37338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1. 260621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공정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629CBD-7619-4215-602B-FF42B48E11B9}"/>
              </a:ext>
            </a:extLst>
          </p:cNvPr>
          <p:cNvGrpSpPr/>
          <p:nvPr/>
        </p:nvGrpSpPr>
        <p:grpSpPr>
          <a:xfrm>
            <a:off x="914400" y="4686300"/>
            <a:ext cx="16916400" cy="811143"/>
            <a:chOff x="914400" y="6210300"/>
            <a:chExt cx="16916400" cy="81114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D4B2D8-26B4-7E03-654A-44CF91B4F83D}"/>
                </a:ext>
              </a:extLst>
            </p:cNvPr>
            <p:cNvSpPr txBox="1"/>
            <p:nvPr/>
          </p:nvSpPr>
          <p:spPr>
            <a:xfrm>
              <a:off x="4648200" y="63234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Grain size 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측정 데이터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7" name="사각형: 잘린 대각선 방향 모서리 16">
              <a:extLst>
                <a:ext uri="{FF2B5EF4-FFF2-40B4-BE49-F238E27FC236}">
                  <a16:creationId xmlns:a16="http://schemas.microsoft.com/office/drawing/2014/main" id="{83D485E5-B138-5D79-9773-F72F6AD28C01}"/>
                </a:ext>
              </a:extLst>
            </p:cNvPr>
            <p:cNvSpPr/>
            <p:nvPr/>
          </p:nvSpPr>
          <p:spPr>
            <a:xfrm>
              <a:off x="914400" y="6210300"/>
              <a:ext cx="34290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2. AFM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데이터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1E762A4-CD58-2F1C-1A64-EF23FF677194}"/>
              </a:ext>
            </a:extLst>
          </p:cNvPr>
          <p:cNvGrpSpPr/>
          <p:nvPr/>
        </p:nvGrpSpPr>
        <p:grpSpPr>
          <a:xfrm>
            <a:off x="2133600" y="6134100"/>
            <a:ext cx="17526000" cy="811143"/>
            <a:chOff x="914400" y="6210300"/>
            <a:chExt cx="17526000" cy="8111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6EE9D2-616F-A7C5-00C6-115C7BE9A1F4}"/>
                </a:ext>
              </a:extLst>
            </p:cNvPr>
            <p:cNvSpPr txBox="1"/>
            <p:nvPr/>
          </p:nvSpPr>
          <p:spPr>
            <a:xfrm>
              <a:off x="5257800" y="63234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파이썬 코딩 진행상황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9" name="사각형: 잘린 대각선 방향 모서리 18">
              <a:extLst>
                <a:ext uri="{FF2B5EF4-FFF2-40B4-BE49-F238E27FC236}">
                  <a16:creationId xmlns:a16="http://schemas.microsoft.com/office/drawing/2014/main" id="{B489CBFB-21FB-B9BB-6F0B-84EA40406FF5}"/>
                </a:ext>
              </a:extLst>
            </p:cNvPr>
            <p:cNvSpPr/>
            <p:nvPr/>
          </p:nvSpPr>
          <p:spPr>
            <a:xfrm>
              <a:off x="914400" y="6210300"/>
              <a:ext cx="4038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2-1. AFM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 </a:t>
              </a:r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Python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85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세팅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5480E-FCB3-956D-241C-2A629C2A75BC}"/>
              </a:ext>
            </a:extLst>
          </p:cNvPr>
          <p:cNvSpPr txBox="1"/>
          <p:nvPr/>
        </p:nvSpPr>
        <p:spPr>
          <a:xfrm>
            <a:off x="571500" y="1780282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Transfer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curve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세팅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(Speed: Normal)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: -30 ~ 30 V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= 1 V, 30 V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9A9B8A1-B0D8-19D4-99B3-A976FC2A51E6}"/>
              </a:ext>
            </a:extLst>
          </p:cNvPr>
          <p:cNvGrpSpPr/>
          <p:nvPr/>
        </p:nvGrpSpPr>
        <p:grpSpPr>
          <a:xfrm>
            <a:off x="571500" y="3453704"/>
            <a:ext cx="17106900" cy="1692771"/>
            <a:chOff x="1066800" y="2247900"/>
            <a:chExt cx="17106900" cy="16927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38FB8F-E3E3-8945-0D26-9962F6340B34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Single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Pulse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세팅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</a:t>
              </a:r>
              <a:r>
                <a:rPr lang="en-US" altLang="ko-KR" sz="2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6704B0-B901-8B06-84D7-3AFE4005E4FC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1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3CC5CF-30CC-551D-127B-23718A8935B6}"/>
              </a:ext>
            </a:extLst>
          </p:cNvPr>
          <p:cNvGrpSpPr/>
          <p:nvPr/>
        </p:nvGrpSpPr>
        <p:grpSpPr>
          <a:xfrm>
            <a:off x="571500" y="5742679"/>
            <a:ext cx="17106900" cy="1692771"/>
            <a:chOff x="1066800" y="2247900"/>
            <a:chExt cx="17106900" cy="16927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58DBA-CCF4-B788-03E2-972ADEA95FDF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Short-term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</a:t>
              </a:r>
              <a:r>
                <a:rPr lang="en-US" altLang="ko-KR" sz="2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593CA0-2CCC-38C5-4526-3B00C6B6019E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CDFF5F-2873-1DCA-4FD1-76C3C956EDB3}"/>
              </a:ext>
            </a:extLst>
          </p:cNvPr>
          <p:cNvGrpSpPr/>
          <p:nvPr/>
        </p:nvGrpSpPr>
        <p:grpSpPr>
          <a:xfrm>
            <a:off x="571500" y="8031653"/>
            <a:ext cx="17106900" cy="1692771"/>
            <a:chOff x="1066800" y="2247900"/>
            <a:chExt cx="17106900" cy="16927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4D9871-296A-10B7-1E05-6179D098180C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Long-term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</a:t>
              </a:r>
              <a:r>
                <a:rPr lang="en-US" altLang="ko-KR" sz="2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 err="1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53A9CB-6C6F-B9BC-5BA4-6E46F3413D51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40, 70, 120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9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E1734-BB3D-1108-79ED-7BBE6E33A524}"/>
              </a:ext>
            </a:extLst>
          </p:cNvPr>
          <p:cNvSpPr txBox="1"/>
          <p:nvPr/>
        </p:nvSpPr>
        <p:spPr>
          <a:xfrm>
            <a:off x="13015563" y="1790700"/>
            <a:ext cx="52724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채널은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Sol-gel (mol%)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Pre-annealing 90℃ 5m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0.1M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60 s (Bake 90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0.2M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150 s (Bake 90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0.3M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250 s (Bake 90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Post </a:t>
            </a:r>
            <a:r>
              <a:rPr lang="ko-KR" altLang="en-US" sz="1800" dirty="0" err="1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어닐링은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Furnace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로</a:t>
            </a:r>
            <a:endParaRPr lang="en-US" altLang="ko-KR" sz="18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소자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 electrode 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올리고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Oven 200℃ 1h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8CBF8C9-EEBD-32DB-067C-61B8C725936B}"/>
              </a:ext>
            </a:extLst>
          </p:cNvPr>
          <p:cNvGrpSpPr/>
          <p:nvPr/>
        </p:nvGrpSpPr>
        <p:grpSpPr>
          <a:xfrm>
            <a:off x="13106400" y="4369267"/>
            <a:ext cx="4824632" cy="2603033"/>
            <a:chOff x="1083946" y="3811403"/>
            <a:chExt cx="8517252" cy="287291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A3589A-56F6-72B2-4C13-C50758C42C36}"/>
                </a:ext>
              </a:extLst>
            </p:cNvPr>
            <p:cNvSpPr/>
            <p:nvPr/>
          </p:nvSpPr>
          <p:spPr>
            <a:xfrm>
              <a:off x="1083950" y="4368861"/>
              <a:ext cx="8517248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IGO(1:1)</a:t>
              </a:r>
              <a:endParaRPr lang="ko-KR" altLang="en-US" sz="28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51D39C-9807-D9A2-01E0-7D1429A5B884}"/>
                </a:ext>
              </a:extLst>
            </p:cNvPr>
            <p:cNvSpPr/>
            <p:nvPr/>
          </p:nvSpPr>
          <p:spPr>
            <a:xfrm>
              <a:off x="1083946" y="5157009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098395-CF3E-05EC-7D7F-C8FAF071CCB8}"/>
                </a:ext>
              </a:extLst>
            </p:cNvPr>
            <p:cNvSpPr/>
            <p:nvPr/>
          </p:nvSpPr>
          <p:spPr>
            <a:xfrm>
              <a:off x="1083948" y="3811407"/>
              <a:ext cx="2446234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S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F5A4F-9F55-54D6-2B3F-808CFDAEC00E}"/>
                </a:ext>
              </a:extLst>
            </p:cNvPr>
            <p:cNvSpPr/>
            <p:nvPr/>
          </p:nvSpPr>
          <p:spPr>
            <a:xfrm>
              <a:off x="7154968" y="3811403"/>
              <a:ext cx="2446230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D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BDA6B7-D9DB-3F06-98F5-61D14BA29433}"/>
              </a:ext>
            </a:extLst>
          </p:cNvPr>
          <p:cNvSpPr txBox="1"/>
          <p:nvPr/>
        </p:nvSpPr>
        <p:spPr>
          <a:xfrm>
            <a:off x="13030200" y="7599684"/>
            <a:ext cx="50145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>
                <a:sym typeface="Wingdings" panose="05000000000000000000" pitchFamily="2" charset="2"/>
              </a:rPr>
              <a:t>PSC </a:t>
            </a:r>
            <a:r>
              <a:rPr lang="ko-KR" altLang="en-US" b="1" dirty="0">
                <a:sym typeface="Wingdings" panose="05000000000000000000" pitchFamily="2" charset="2"/>
              </a:rPr>
              <a:t>측정 방식을 정하기</a:t>
            </a:r>
            <a:r>
              <a:rPr lang="en-US" altLang="ko-KR" b="1" dirty="0">
                <a:sym typeface="Wingdings" panose="05000000000000000000" pitchFamily="2" charset="2"/>
              </a:rPr>
              <a:t>  (V</a:t>
            </a:r>
            <a:r>
              <a:rPr lang="en-US" altLang="ko-KR" b="1" baseline="-25000" dirty="0">
                <a:sym typeface="Wingdings" panose="05000000000000000000" pitchFamily="2" charset="2"/>
              </a:rPr>
              <a:t>ON</a:t>
            </a:r>
            <a:r>
              <a:rPr lang="en-US" altLang="ko-KR" b="1" dirty="0">
                <a:sym typeface="Wingdings" panose="05000000000000000000" pitchFamily="2" charset="2"/>
              </a:rPr>
              <a:t> – 1) V </a:t>
            </a:r>
            <a:r>
              <a:rPr lang="ko-KR" altLang="en-US" b="1" dirty="0">
                <a:sym typeface="Wingdings" panose="05000000000000000000" pitchFamily="2" charset="2"/>
              </a:rPr>
              <a:t>로 측정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ym typeface="Wingdings" panose="05000000000000000000" pitchFamily="2" charset="2"/>
              </a:rPr>
              <a:t>광원</a:t>
            </a: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정하기 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ym typeface="Wingdings" panose="05000000000000000000" pitchFamily="2" charset="2"/>
              </a:rPr>
              <a:t>Blue LED (455nm)</a:t>
            </a:r>
            <a:r>
              <a:rPr lang="ko-KR" altLang="en-US" b="1" dirty="0">
                <a:sym typeface="Wingdings" panose="05000000000000000000" pitchFamily="2" charset="2"/>
              </a:rPr>
              <a:t>로 </a:t>
            </a:r>
            <a:r>
              <a:rPr lang="en-US" altLang="ko-KR" b="1" dirty="0">
                <a:sym typeface="Wingdings" panose="05000000000000000000" pitchFamily="2" charset="2"/>
              </a:rPr>
              <a:t>Fix</a:t>
            </a:r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 err="1"/>
              <a:t>AFM으로</a:t>
            </a:r>
            <a:r>
              <a:rPr lang="ko-KR" altLang="en-US" b="1" dirty="0"/>
              <a:t> 각 조건 별 그레인 사이즈 확인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ym typeface="Wingdings" panose="05000000000000000000" pitchFamily="2" charset="2"/>
              </a:rPr>
              <a:t>경향 잘 나오면 </a:t>
            </a:r>
            <a:r>
              <a:rPr lang="en-US" altLang="ko-KR" b="1" dirty="0">
                <a:sym typeface="Wingdings" panose="05000000000000000000" pitchFamily="2" charset="2"/>
              </a:rPr>
              <a:t>300</a:t>
            </a:r>
            <a:r>
              <a:rPr lang="ko-KR" altLang="en-US" b="1" dirty="0">
                <a:sym typeface="Wingdings" panose="05000000000000000000" pitchFamily="2" charset="2"/>
              </a:rPr>
              <a:t>도만 따로 한번 더 공정</a:t>
            </a: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152956" y="1650428"/>
            <a:ext cx="7285927" cy="814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D2)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D3)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D4)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D5)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endParaRPr lang="en-US" altLang="ko-KR" sz="32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D6)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D7)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D8)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D9)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D10)</a:t>
            </a:r>
            <a:r>
              <a:rPr lang="ko-KR" altLang="en-US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A7365-F1B1-5BF6-4BE0-C261D5E2B197}"/>
              </a:ext>
            </a:extLst>
          </p:cNvPr>
          <p:cNvSpPr txBox="1"/>
          <p:nvPr/>
        </p:nvSpPr>
        <p:spPr>
          <a:xfrm>
            <a:off x="6248400" y="3886808"/>
            <a:ext cx="7285927" cy="3712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D11)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D12)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D13)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D14)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D15)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Fabrication_260621</a:t>
            </a:r>
          </a:p>
        </p:txBody>
      </p:sp>
    </p:spTree>
    <p:extLst>
      <p:ext uri="{BB962C8B-B14F-4D97-AF65-F5344CB8AC3E}">
        <p14:creationId xmlns:p14="http://schemas.microsoft.com/office/powerpoint/2010/main" val="407504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883546887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4" name="개체 3">
                              <a:extLst>
                                <a:ext uri="{FF2B5EF4-FFF2-40B4-BE49-F238E27FC236}">
                                  <a16:creationId xmlns:a16="http://schemas.microsoft.com/office/drawing/2014/main" id="{956A0075-6C2B-5D09-D089-F3288A014BF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01022236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7" name="개체 26">
                              <a:extLst>
                                <a:ext uri="{FF2B5EF4-FFF2-40B4-BE49-F238E27FC236}">
                                  <a16:creationId xmlns:a16="http://schemas.microsoft.com/office/drawing/2014/main" id="{67621576-08F0-E508-499B-14184F2CEEA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E53189F-28FF-7187-7936-DBF2003AA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3939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1.21455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1.25622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7.98319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10.39149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2.80727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3.44270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14.95494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16.27851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0.82480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0.82032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8.58808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9.05165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1.40802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1.70508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14.64694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14.10454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0.75234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0.54208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8.10976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8.73867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0F0712F-5F0B-1D36-C116-9D637A09AC5D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0DF8112B-ABB6-A7FF-3CC6-1FFEB64641B9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715507-37E6-35FF-8BDD-008F4C813D2E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381C8F6-D991-D5AF-D7D9-92A2A81E7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02386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1.6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10.9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11.7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33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3754091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46534265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pic>
        <p:nvPicPr>
          <p:cNvPr id="6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24548" y="6844068"/>
            <a:ext cx="4762500" cy="2381250"/>
          </a:xfrm>
          <a:prstGeom prst="rect">
            <a:avLst/>
          </a:prstGeom>
        </p:spPr>
      </p:pic>
      <p:pic>
        <p:nvPicPr>
          <p:cNvPr id="7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4548" y="9230436"/>
            <a:ext cx="4762500" cy="2381250"/>
          </a:xfrm>
          <a:prstGeom prst="rect">
            <a:avLst/>
          </a:prstGeom>
        </p:spPr>
      </p:pic>
      <p:pic>
        <p:nvPicPr>
          <p:cNvPr id="9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06750" y="6844068"/>
            <a:ext cx="4762500" cy="2381250"/>
          </a:xfrm>
          <a:prstGeom prst="rect">
            <a:avLst/>
          </a:prstGeom>
        </p:spPr>
      </p:pic>
      <p:pic>
        <p:nvPicPr>
          <p:cNvPr id="10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06750" y="9095540"/>
            <a:ext cx="4762500" cy="2381250"/>
          </a:xfrm>
          <a:prstGeom prst="rect">
            <a:avLst/>
          </a:prstGeom>
        </p:spPr>
      </p:pic>
      <p:pic>
        <p:nvPicPr>
          <p:cNvPr id="2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042273" y="4457700"/>
            <a:ext cx="4762500" cy="2381250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C4271-E916-3B8C-A17A-9B2B5911B606}"/>
              </a:ext>
            </a:extLst>
          </p:cNvPr>
          <p:cNvSpPr txBox="1"/>
          <p:nvPr/>
        </p:nvSpPr>
        <p:spPr>
          <a:xfrm>
            <a:off x="10972800" y="1918037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ym typeface="Wingdings" panose="05000000000000000000" pitchFamily="2" charset="2"/>
              </a:rPr>
              <a:t>이상하게 나와서 </a:t>
            </a:r>
            <a:r>
              <a:rPr lang="en-US" altLang="ko-KR" sz="2400" b="1" dirty="0">
                <a:sym typeface="Wingdings" panose="05000000000000000000" pitchFamily="2" charset="2"/>
              </a:rPr>
              <a:t>PPC </a:t>
            </a:r>
            <a:r>
              <a:rPr lang="ko-KR" altLang="en-US" sz="2400" b="1" dirty="0">
                <a:sym typeface="Wingdings" panose="05000000000000000000" pitchFamily="2" charset="2"/>
              </a:rPr>
              <a:t>추출 불가</a:t>
            </a:r>
            <a:r>
              <a:rPr lang="en-US" altLang="ko-KR" sz="2400" b="1" dirty="0">
                <a:sym typeface="Wingdings" panose="05000000000000000000" pitchFamily="2" charset="2"/>
              </a:rPr>
              <a:t>…</a:t>
            </a:r>
          </a:p>
          <a:p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파란색 선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: Measure data</a:t>
            </a:r>
          </a:p>
          <a:p>
            <a:r>
              <a:rPr lang="ko-KR" alt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보라색 선</a:t>
            </a:r>
            <a:r>
              <a:rPr lang="en-US" altLang="ko-KR" b="1" dirty="0">
                <a:solidFill>
                  <a:srgbClr val="7030A0"/>
                </a:solidFill>
                <a:sym typeface="Wingdings" panose="05000000000000000000" pitchFamily="2" charset="2"/>
              </a:rPr>
              <a:t>: SEF fitting data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113368B-A45F-4278-6853-BF38DDB4F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34383"/>
              </p:ext>
            </p:extLst>
          </p:nvPr>
        </p:nvGraphicFramePr>
        <p:xfrm>
          <a:off x="11010900" y="2922328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21178271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675731408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119845667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45940383"/>
                    </a:ext>
                  </a:extLst>
                </a:gridCol>
              </a:tblGrid>
              <a:tr h="349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2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29.11170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28.43813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N/A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1309.15693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548977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52B2145-2304-5A4B-C3BC-058A4B693085}"/>
              </a:ext>
            </a:extLst>
          </p:cNvPr>
          <p:cNvCxnSpPr/>
          <p:nvPr/>
        </p:nvCxnSpPr>
        <p:spPr>
          <a:xfrm flipV="1">
            <a:off x="13792200" y="4065714"/>
            <a:ext cx="304800" cy="37832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C59E54-271A-00FA-87D5-454D88BF07D5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97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1025908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6560726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7B70C5-579B-5F11-C30F-85C40C712185}"/>
              </a:ext>
            </a:extLst>
          </p:cNvPr>
          <p:cNvSpPr txBox="1"/>
          <p:nvPr/>
        </p:nvSpPr>
        <p:spPr>
          <a:xfrm>
            <a:off x="10972800" y="1918037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ym typeface="Wingdings" panose="05000000000000000000" pitchFamily="2" charset="2"/>
              </a:rPr>
              <a:t>이상하게 나와서 </a:t>
            </a:r>
            <a:r>
              <a:rPr lang="en-US" altLang="ko-KR" sz="2400" b="1" dirty="0">
                <a:sym typeface="Wingdings" panose="05000000000000000000" pitchFamily="2" charset="2"/>
              </a:rPr>
              <a:t>PPC </a:t>
            </a:r>
            <a:r>
              <a:rPr lang="ko-KR" altLang="en-US" sz="2400" b="1" dirty="0">
                <a:sym typeface="Wingdings" panose="05000000000000000000" pitchFamily="2" charset="2"/>
              </a:rPr>
              <a:t>추출 불가</a:t>
            </a:r>
            <a:r>
              <a:rPr lang="en-US" altLang="ko-KR" sz="2400" b="1" dirty="0">
                <a:sym typeface="Wingdings" panose="05000000000000000000" pitchFamily="2" charset="2"/>
              </a:rPr>
              <a:t>…</a:t>
            </a:r>
          </a:p>
          <a:p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파란색 선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: Measure data</a:t>
            </a:r>
          </a:p>
          <a:p>
            <a:r>
              <a:rPr lang="ko-KR" alt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보라색 선</a:t>
            </a:r>
            <a:r>
              <a:rPr lang="en-US" altLang="ko-KR" b="1" dirty="0">
                <a:solidFill>
                  <a:srgbClr val="7030A0"/>
                </a:solidFill>
                <a:sym typeface="Wingdings" panose="05000000000000000000" pitchFamily="2" charset="2"/>
              </a:rPr>
              <a:t>: SEF fitting data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13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45504" y="5430387"/>
            <a:ext cx="4762500" cy="2381250"/>
          </a:xfrm>
          <a:prstGeom prst="rect">
            <a:avLst/>
          </a:prstGeom>
        </p:spPr>
      </p:pic>
      <p:pic>
        <p:nvPicPr>
          <p:cNvPr id="14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5504" y="3049137"/>
            <a:ext cx="4762500" cy="2381250"/>
          </a:xfrm>
          <a:prstGeom prst="rect">
            <a:avLst/>
          </a:prstGeom>
        </p:spPr>
      </p:pic>
      <p:pic>
        <p:nvPicPr>
          <p:cNvPr id="15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45504" y="7811637"/>
            <a:ext cx="4762500" cy="2381250"/>
          </a:xfrm>
          <a:prstGeom prst="rect">
            <a:avLst/>
          </a:prstGeom>
        </p:spPr>
      </p:pic>
      <p:pic>
        <p:nvPicPr>
          <p:cNvPr id="16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849600" y="3049137"/>
            <a:ext cx="4762500" cy="2381250"/>
          </a:xfrm>
          <a:prstGeom prst="rect">
            <a:avLst/>
          </a:prstGeom>
        </p:spPr>
      </p:pic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17E78DF9-0878-F06A-CC07-8D652AA00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037916"/>
              </p:ext>
            </p:extLst>
          </p:nvPr>
        </p:nvGraphicFramePr>
        <p:xfrm>
          <a:off x="15906533" y="5449402"/>
          <a:ext cx="4953433" cy="477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3505775" imgH="3603997" progId="Origin50.Graph">
                  <p:embed/>
                </p:oleObj>
              </mc:Choice>
              <mc:Fallback>
                <p:oleObj name="Graph" r:id="rId11" imgW="3505775" imgH="3603997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2311BAD4-D128-6B3A-E435-4278BAE288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906533" y="5449402"/>
                        <a:ext cx="4953433" cy="477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C662FE34-0A50-CAD7-1727-C7ED0E757EBF}"/>
              </a:ext>
            </a:extLst>
          </p:cNvPr>
          <p:cNvSpPr/>
          <p:nvPr/>
        </p:nvSpPr>
        <p:spPr>
          <a:xfrm rot="10800000">
            <a:off x="18440400" y="8122484"/>
            <a:ext cx="457200" cy="246479"/>
          </a:xfrm>
          <a:prstGeom prst="rightArrow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238EE-7B9E-C1A6-FDDF-B8DC6ADDF8A5}"/>
              </a:ext>
            </a:extLst>
          </p:cNvPr>
          <p:cNvSpPr txBox="1"/>
          <p:nvPr/>
        </p:nvSpPr>
        <p:spPr>
          <a:xfrm>
            <a:off x="17221200" y="6233636"/>
            <a:ext cx="327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Decay</a:t>
            </a:r>
            <a:r>
              <a:rPr lang="ko-KR" altLang="en-US" sz="1400" b="1" dirty="0">
                <a:solidFill>
                  <a:srgbClr val="FF0000"/>
                </a:solidFill>
              </a:rPr>
              <a:t>가 이상하게 나오는 이유는 </a:t>
            </a:r>
            <a:r>
              <a:rPr lang="en-US" altLang="ko-KR" sz="1400" b="1" dirty="0">
                <a:solidFill>
                  <a:srgbClr val="FF0000"/>
                </a:solidFill>
              </a:rPr>
              <a:t>negative shift</a:t>
            </a:r>
            <a:r>
              <a:rPr lang="ko-KR" altLang="en-US" sz="1400" b="1" dirty="0">
                <a:solidFill>
                  <a:srgbClr val="FF0000"/>
                </a:solidFill>
              </a:rPr>
              <a:t>에 의한 전류 상승에 의한 것으로 추측됨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38327-FA39-9BA1-4C2F-A6C12EA88D86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36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47292017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23634742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508944-BC39-D630-7B92-ACBB06D261CF}"/>
              </a:ext>
            </a:extLst>
          </p:cNvPr>
          <p:cNvSpPr txBox="1"/>
          <p:nvPr/>
        </p:nvSpPr>
        <p:spPr>
          <a:xfrm>
            <a:off x="10972800" y="1918037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ym typeface="Wingdings" panose="05000000000000000000" pitchFamily="2" charset="2"/>
              </a:rPr>
              <a:t>이상하게 나와서 </a:t>
            </a:r>
            <a:r>
              <a:rPr lang="en-US" altLang="ko-KR" sz="2400" b="1" dirty="0">
                <a:sym typeface="Wingdings" panose="05000000000000000000" pitchFamily="2" charset="2"/>
              </a:rPr>
              <a:t>PPC </a:t>
            </a:r>
            <a:r>
              <a:rPr lang="ko-KR" altLang="en-US" sz="2400" b="1" dirty="0">
                <a:sym typeface="Wingdings" panose="05000000000000000000" pitchFamily="2" charset="2"/>
              </a:rPr>
              <a:t>추출 불가</a:t>
            </a:r>
            <a:r>
              <a:rPr lang="en-US" altLang="ko-KR" sz="2400" b="1" dirty="0">
                <a:sym typeface="Wingdings" panose="05000000000000000000" pitchFamily="2" charset="2"/>
              </a:rPr>
              <a:t>…</a:t>
            </a:r>
          </a:p>
          <a:p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파란색 선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: Measure data</a:t>
            </a:r>
          </a:p>
          <a:p>
            <a:r>
              <a:rPr lang="ko-KR" alt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보라색 선</a:t>
            </a:r>
            <a:r>
              <a:rPr lang="en-US" altLang="ko-KR" b="1" dirty="0">
                <a:solidFill>
                  <a:srgbClr val="7030A0"/>
                </a:solidFill>
                <a:sym typeface="Wingdings" panose="05000000000000000000" pitchFamily="2" charset="2"/>
              </a:rPr>
              <a:t>: SEF fitting data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10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0900" y="7029450"/>
            <a:ext cx="4762500" cy="2381250"/>
          </a:xfrm>
          <a:prstGeom prst="rect">
            <a:avLst/>
          </a:prstGeom>
        </p:spPr>
      </p:pic>
      <p:pic>
        <p:nvPicPr>
          <p:cNvPr id="11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13163" y="4455022"/>
            <a:ext cx="4762500" cy="2381250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DC69C7A-72D6-B665-CF9F-292B4E1CD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77993"/>
              </p:ext>
            </p:extLst>
          </p:nvPr>
        </p:nvGraphicFramePr>
        <p:xfrm>
          <a:off x="11010900" y="2922328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21178271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675731408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119845667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45940383"/>
                    </a:ext>
                  </a:extLst>
                </a:gridCol>
              </a:tblGrid>
              <a:tr h="349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2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0.90525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1.49181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9.92989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9.62101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548977"/>
                  </a:ext>
                </a:extLst>
              </a:tr>
            </a:tbl>
          </a:graphicData>
        </a:graphic>
      </p:graphicFrame>
      <p:pic>
        <p:nvPicPr>
          <p:cNvPr id="14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06750" y="7029450"/>
            <a:ext cx="4762500" cy="2381250"/>
          </a:xfrm>
          <a:prstGeom prst="rect">
            <a:avLst/>
          </a:prstGeom>
        </p:spPr>
      </p:pic>
      <p:pic>
        <p:nvPicPr>
          <p:cNvPr id="15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19060" y="4455022"/>
            <a:ext cx="4762500" cy="2381250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0C7944A-E3CD-7F6E-580B-2D2A41EFF990}"/>
              </a:ext>
            </a:extLst>
          </p:cNvPr>
          <p:cNvCxnSpPr/>
          <p:nvPr/>
        </p:nvCxnSpPr>
        <p:spPr>
          <a:xfrm flipV="1">
            <a:off x="13792200" y="4065714"/>
            <a:ext cx="304800" cy="37832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08C9A6-5789-EE48-99C8-24BE9EFECE4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58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00541456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59282626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498990C-0D50-A3D6-B641-8FA527D3A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294999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8.10115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8.91613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545.45744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0.59331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0.56465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0.79740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0.76342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25.48179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56.59936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38.25230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38.20874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270.93831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41E558-5F99-0573-34C8-7A7F6475DD6A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70FAF198-D011-2D2B-6184-C69F8BA99973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0D19A-02B8-2756-BE14-4E8E79071C81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9D32175-2A41-9280-A152-9B7501FFE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10160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15.6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18.3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218.4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pic>
        <p:nvPicPr>
          <p:cNvPr id="2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53959" y="6286540"/>
            <a:ext cx="4762500" cy="2381250"/>
          </a:xfrm>
          <a:prstGeom prst="rect">
            <a:avLst/>
          </a:prstGeom>
        </p:spPr>
      </p:pic>
      <p:pic>
        <p:nvPicPr>
          <p:cNvPr id="10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78564" y="6286540"/>
            <a:ext cx="4762500" cy="2381250"/>
          </a:xfrm>
          <a:prstGeom prst="rect">
            <a:avLst/>
          </a:prstGeom>
        </p:spPr>
      </p:pic>
      <p:pic>
        <p:nvPicPr>
          <p:cNvPr id="11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085012" y="3905250"/>
            <a:ext cx="4762500" cy="2381250"/>
          </a:xfrm>
          <a:prstGeom prst="rect">
            <a:avLst/>
          </a:prstGeom>
        </p:spPr>
      </p:pic>
      <p:pic>
        <p:nvPicPr>
          <p:cNvPr id="13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853959" y="3905250"/>
            <a:ext cx="4762500" cy="2381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3500D8-E8FB-3028-575A-32676AD93C61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27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94893323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2095887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4A0EA5-6B21-18C0-00EC-461F739EF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718438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5.45343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5.76039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86.65655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2.99401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3.10034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51.02081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2.29333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2.71271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37.76728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5.76886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6.36896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54.74301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0.63572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0.50333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16.94205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48D643-C4B7-67CA-77E6-2C91A95B1D43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22E69BD-CDAD-CA1C-CA6E-5C1A0A09E82D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272FA-EC70-F550-DFC3-BA1D5F2A55B3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89BA26C-9FC5-73B8-711B-974078910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6740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2.9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3.7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49.4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D24AE38-9723-EA15-5A68-7A4C3104A2A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1871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D7)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04700114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4965324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8289B97-7C68-DEE7-EDD5-1BBB49F338F3}"/>
              </a:ext>
            </a:extLst>
          </p:cNvPr>
          <p:cNvSpPr txBox="1"/>
          <p:nvPr/>
        </p:nvSpPr>
        <p:spPr>
          <a:xfrm>
            <a:off x="10972800" y="1918037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ym typeface="Wingdings" panose="05000000000000000000" pitchFamily="2" charset="2"/>
              </a:rPr>
              <a:t>이상하게 나와서 </a:t>
            </a:r>
            <a:r>
              <a:rPr lang="en-US" altLang="ko-KR" sz="2400" b="1" dirty="0">
                <a:sym typeface="Wingdings" panose="05000000000000000000" pitchFamily="2" charset="2"/>
              </a:rPr>
              <a:t>PPC </a:t>
            </a:r>
            <a:r>
              <a:rPr lang="ko-KR" altLang="en-US" sz="2400" b="1" dirty="0">
                <a:sym typeface="Wingdings" panose="05000000000000000000" pitchFamily="2" charset="2"/>
              </a:rPr>
              <a:t>추출 불가</a:t>
            </a:r>
            <a:r>
              <a:rPr lang="en-US" altLang="ko-KR" sz="2400" b="1" dirty="0">
                <a:sym typeface="Wingdings" panose="05000000000000000000" pitchFamily="2" charset="2"/>
              </a:rPr>
              <a:t>…</a:t>
            </a:r>
          </a:p>
          <a:p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파란색 선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: Measure data</a:t>
            </a:r>
          </a:p>
          <a:p>
            <a:r>
              <a:rPr lang="ko-KR" alt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보라색 선</a:t>
            </a:r>
            <a:r>
              <a:rPr lang="en-US" altLang="ko-KR" b="1" dirty="0">
                <a:solidFill>
                  <a:srgbClr val="7030A0"/>
                </a:solidFill>
                <a:sym typeface="Wingdings" panose="05000000000000000000" pitchFamily="2" charset="2"/>
              </a:rPr>
              <a:t>: SEF fitting data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10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06750" y="6972300"/>
            <a:ext cx="4762500" cy="2381250"/>
          </a:xfrm>
          <a:prstGeom prst="rect">
            <a:avLst/>
          </a:prstGeom>
        </p:spPr>
      </p:pic>
      <p:pic>
        <p:nvPicPr>
          <p:cNvPr id="11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93840" y="4457700"/>
            <a:ext cx="4762500" cy="2381250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  <p:pic>
        <p:nvPicPr>
          <p:cNvPr id="13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93840" y="6972300"/>
            <a:ext cx="4762500" cy="238125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297B68D-55FC-8D42-FD0D-A30373EC2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47686"/>
              </p:ext>
            </p:extLst>
          </p:nvPr>
        </p:nvGraphicFramePr>
        <p:xfrm>
          <a:off x="11010900" y="2922328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21178271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675731408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119845667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45940383"/>
                    </a:ext>
                  </a:extLst>
                </a:gridCol>
              </a:tblGrid>
              <a:tr h="349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2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12.86524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15.07556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421.83466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548977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6130CC1-39E7-D318-A031-378626F7DAA2}"/>
              </a:ext>
            </a:extLst>
          </p:cNvPr>
          <p:cNvCxnSpPr/>
          <p:nvPr/>
        </p:nvCxnSpPr>
        <p:spPr>
          <a:xfrm flipV="1">
            <a:off x="13792200" y="4065714"/>
            <a:ext cx="304800" cy="37832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C1BBD6-1EA0-1CAE-D5D6-17F01C20DEB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864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D8)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9088235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36774941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E307068-1942-81EF-5820-9E3F6DA69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030047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C2397E-3254-D42F-3F7A-8D5F16194776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DA0AB11-8E17-7A6C-15B9-6A20CD90C71A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D6049-7F25-0EA7-D987-361A57FF2C4F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BD3F1EA-E322-A1C8-7CAB-446B6911E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16627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E600B68-BF58-3C88-B520-3452F1CE6E9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3282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D9)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63101136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25680641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FEEE23B-95D6-9667-7267-0D1F22C0F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86302"/>
              </p:ext>
            </p:extLst>
          </p:nvPr>
        </p:nvGraphicFramePr>
        <p:xfrm>
          <a:off x="11049000" y="2630079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161.25009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1480.51231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7EE509-3C52-F1CC-9A3C-5117996DEC3A}"/>
              </a:ext>
            </a:extLst>
          </p:cNvPr>
          <p:cNvSpPr txBox="1"/>
          <p:nvPr/>
        </p:nvSpPr>
        <p:spPr>
          <a:xfrm>
            <a:off x="10972800" y="2020533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B78E3E13-9E40-21C2-4E36-8A7510670597}"/>
              </a:ext>
            </a:extLst>
          </p:cNvPr>
          <p:cNvSpPr/>
          <p:nvPr/>
        </p:nvSpPr>
        <p:spPr>
          <a:xfrm>
            <a:off x="14089682" y="5429159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BC1D0-E8F2-3B02-CD66-469CB31C4473}"/>
              </a:ext>
            </a:extLst>
          </p:cNvPr>
          <p:cNvSpPr txBox="1"/>
          <p:nvPr/>
        </p:nvSpPr>
        <p:spPr>
          <a:xfrm>
            <a:off x="10972800" y="5853359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5FA7CF5-2B16-BDBB-7B57-EA1DFC53C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322247"/>
              </p:ext>
            </p:extLst>
          </p:nvPr>
        </p:nvGraphicFramePr>
        <p:xfrm>
          <a:off x="11049000" y="6396465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161.25009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1480.51231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pic>
        <p:nvPicPr>
          <p:cNvPr id="2" name="Imag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49000" y="7562850"/>
            <a:ext cx="4762500" cy="2381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781177-BE32-03DB-637F-775A1BEC3E3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40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D10)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09093277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7170294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39C104-76FD-BCAE-60C6-003628CA3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17529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1387.92033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36986.13945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64.81729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64.13746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433.84796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42.90010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42.73410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271.05577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42.32524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42.10923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293.44307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7.91229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8.32339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84.77923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C3ADE-0302-8A5B-B5BB-8430632109B9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74C2C630-0F9D-0F21-9271-E51962B2CC05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0D7D-551C-39C6-8C3F-96ED53E9F3B8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609C42C-7957-1082-5F18-4451E2697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297172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39.5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309.0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7613.8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044AB7F-1258-067A-A807-224711148D9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9353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D11)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80968127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0377153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BA71383-F23C-224F-18A6-AA85921C7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333152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283.63018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8341.77700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10145.50210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202206.82790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51832.45346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2473275.89157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24E463-D2BC-830E-F10E-8BB48FAFC30E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1EDCA4F7-D312-A373-AD08-756D9D9E1864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74917-BB6C-1CA4-DC54-60F105CD04AE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D2A6ED-7B2B-1EA9-64BA-FC1021C91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473223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20753.86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894608.2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50FC128-6687-CA63-4977-0F04F8562FDE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4967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D12)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7212808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41733233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38A6B7-AFDB-545E-4872-0E55AA8B1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030047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A5D157-B8CA-F83A-8CDC-DEDAAC810F51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E68BEB90-322C-4DAC-0CFB-F95A69350249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3F687-2760-D419-2FDC-DADD4EC4C337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A1358E-75F9-8957-9C4D-AA053ED8F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707218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8F3AF72-BC33-B417-9B4B-D2129AC98F47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3596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D13)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88651501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0757148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7937077-04AA-2311-CF96-07E3C8EDB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9325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14.93868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15.10721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188.87647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30.29566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32.52092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1162.21760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67.18926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2549.69902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6.62893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8.09090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210.57301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AC5C0E-1649-19EA-E2B7-B918145CF5A5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22D0F14B-BB3F-6914-3CAE-EBA4E913E699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E95F4-D084-8960-603A-A8BE301E9BE1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C5F3B45-88D0-52F3-473A-5EB875B04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00425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18.5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30.7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1027.8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522FCE2-D5DF-7CE0-90F8-D2F779956E5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639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D14)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23796051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98301568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30CF24B-5A4C-1DB3-ACF5-04D61CFE7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448756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2.41102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2.42825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8.27926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8.15786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16.75847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16.19513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112.94553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0.98949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1.04690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4.65275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4.49047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1.18781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1.31711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6.78489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6.52617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0.93202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0.99753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4.50083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4.35958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7FEFE2-494F-48B3-D5B3-6B9CFEFA617D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4DF04A89-0B33-F072-8F86-FC331DE5FF6C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81021-5E55-9A25-7C6D-723B834164DA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082800-2891-66D4-48A0-7824507A7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26090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6.1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27.3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0416F1-B719-EFEF-4CF6-CDCDFF520774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2200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D15)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AEAEF6-8695-0AB9-9F10-C13D3A7663ED}"/>
              </a:ext>
            </a:extLst>
          </p:cNvPr>
          <p:cNvGrpSpPr/>
          <p:nvPr/>
        </p:nvGrpSpPr>
        <p:grpSpPr>
          <a:xfrm>
            <a:off x="550916" y="2781300"/>
            <a:ext cx="10040884" cy="6112760"/>
            <a:chOff x="237358" y="2933700"/>
            <a:chExt cx="8440684" cy="5486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D5D05E6-1C5A-9320-221A-9D041901C5F9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77A7EFE-D173-B24E-0A45-994B5D0560E7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4" name="개체 23">
                  <a:extLst>
                    <a:ext uri="{FF2B5EF4-FFF2-40B4-BE49-F238E27FC236}">
                      <a16:creationId xmlns:a16="http://schemas.microsoft.com/office/drawing/2014/main" id="{2311BAD4-D128-6B3A-E435-4278BAE2889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72272885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89A5F8-2175-CAB5-9426-3A167324F168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1C90682-6E4B-5D30-F44C-A29C2AAF0F6E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1CC9B77E-7105-DEEC-9D85-76A8643B83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4454895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DB48F5-1FDF-5C1E-5F1C-D1C3F19A8E3A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6DE421-8680-FA6E-9F43-BFD100AB2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859552"/>
              </p:ext>
            </p:extLst>
          </p:nvPr>
        </p:nvGraphicFramePr>
        <p:xfrm>
          <a:off x="11049000" y="3792220"/>
          <a:ext cx="6919564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956878390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4848987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852180565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3618704327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270.75998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5169.83531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2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45.02436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43.05770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691.96474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8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860.10769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23114.82929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2576.79073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56253.44023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18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7C5A79C-984B-A66D-9334-5AFF0EBC24F8}"/>
              </a:ext>
            </a:extLst>
          </p:cNvPr>
          <p:cNvSpPr txBox="1"/>
          <p:nvPr/>
        </p:nvSpPr>
        <p:spPr>
          <a:xfrm>
            <a:off x="10972800" y="3182674"/>
            <a:ext cx="393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</a:t>
            </a:r>
            <a:endParaRPr lang="ko-KR" altLang="en-US" sz="2400" b="1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0FEE0B42-5147-DD45-C794-0CEB824F12C6}"/>
              </a:ext>
            </a:extLst>
          </p:cNvPr>
          <p:cNvSpPr/>
          <p:nvPr/>
        </p:nvSpPr>
        <p:spPr>
          <a:xfrm>
            <a:off x="14089682" y="6591300"/>
            <a:ext cx="838200" cy="43388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C68D2-8608-9CCE-6508-53B01196DA20}"/>
              </a:ext>
            </a:extLst>
          </p:cNvPr>
          <p:cNvSpPr txBox="1"/>
          <p:nvPr/>
        </p:nvSpPr>
        <p:spPr>
          <a:xfrm>
            <a:off x="10972800" y="70155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평균값 </a:t>
            </a:r>
            <a:r>
              <a:rPr lang="en-US" altLang="ko-KR" sz="2400" b="1" dirty="0"/>
              <a:t>(s)</a:t>
            </a:r>
            <a:endParaRPr lang="ko-KR" altLang="en-US" sz="24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2A55B20-F2EA-85FD-22BB-56468F76E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38184"/>
              </p:ext>
            </p:extLst>
          </p:nvPr>
        </p:nvGraphicFramePr>
        <p:xfrm>
          <a:off x="11049000" y="7558606"/>
          <a:ext cx="6919564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891">
                  <a:extLst>
                    <a:ext uri="{9D8B030D-6E8A-4147-A177-3AD203B41FA5}">
                      <a16:colId xmlns:a16="http://schemas.microsoft.com/office/drawing/2014/main" val="1784507299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585495003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500848481"/>
                    </a:ext>
                  </a:extLst>
                </a:gridCol>
                <a:gridCol w="1729891">
                  <a:extLst>
                    <a:ext uri="{9D8B030D-6E8A-4147-A177-3AD203B41FA5}">
                      <a16:colId xmlns:a16="http://schemas.microsoft.com/office/drawing/2014/main" val="2010837967"/>
                    </a:ext>
                  </a:extLst>
                </a:gridCol>
              </a:tblGrid>
              <a:tr h="361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  <a:br>
                        <a:rPr lang="en-US" altLang="ko-KR" dirty="0">
                          <a:latin typeface="+mn-ea"/>
                          <a:ea typeface="+mn-ea"/>
                        </a:rPr>
                      </a:br>
                      <a:r>
                        <a:rPr lang="en-US" altLang="ko-KR" dirty="0">
                          <a:latin typeface="+mn-ea"/>
                          <a:ea typeface="+mn-ea"/>
                        </a:rPr>
                        <a:t>PPC(36%)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F4D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Measure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SEF fitting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PPC(10%)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7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45.0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937.7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21307.5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028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176662D-27C8-B831-F84D-B5446F87AAE2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58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29" name="개체 28">
            <a:extLst>
              <a:ext uri="{FF2B5EF4-FFF2-40B4-BE49-F238E27FC236}">
                <a16:creationId xmlns:a16="http://schemas.microsoft.com/office/drawing/2014/main" id="{D60740D9-CEAF-59F5-3C9C-C48C49835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867900"/>
              </p:ext>
            </p:extLst>
          </p:nvPr>
        </p:nvGraphicFramePr>
        <p:xfrm>
          <a:off x="-74888" y="1101724"/>
          <a:ext cx="6932263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9272" imgH="2979683" progId="Origin50.Graph">
                  <p:embed/>
                </p:oleObj>
              </mc:Choice>
              <mc:Fallback>
                <p:oleObj name="Graph" r:id="rId3" imgW="4099272" imgH="2979683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D698ECBE-8380-B391-B8F6-178B10BDB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74888" y="1101724"/>
                        <a:ext cx="6932263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개체 29">
            <a:extLst>
              <a:ext uri="{FF2B5EF4-FFF2-40B4-BE49-F238E27FC236}">
                <a16:creationId xmlns:a16="http://schemas.microsoft.com/office/drawing/2014/main" id="{84FA77BB-A1AE-7759-67EF-76AF19B6F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244929"/>
              </p:ext>
            </p:extLst>
          </p:nvPr>
        </p:nvGraphicFramePr>
        <p:xfrm>
          <a:off x="5904459" y="1101724"/>
          <a:ext cx="6934069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8237" imgH="2979683" progId="Origin50.Graph">
                  <p:embed/>
                </p:oleObj>
              </mc:Choice>
              <mc:Fallback>
                <p:oleObj name="Graph" r:id="rId5" imgW="4098237" imgH="2979683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5DED23EB-AA60-4826-9361-4297B90079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4459" y="1101724"/>
                        <a:ext cx="6934069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B601E6E0-6694-AA04-FFA1-5839FF10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582326"/>
              </p:ext>
            </p:extLst>
          </p:nvPr>
        </p:nvGraphicFramePr>
        <p:xfrm>
          <a:off x="11887200" y="1101724"/>
          <a:ext cx="6935879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098237" imgH="2979683" progId="Origin50.Graph">
                  <p:embed/>
                </p:oleObj>
              </mc:Choice>
              <mc:Fallback>
                <p:oleObj name="Graph" r:id="rId7" imgW="4098237" imgH="2979683" progId="Origin50.Graph">
                  <p:embed/>
                  <p:pic>
                    <p:nvPicPr>
                      <p:cNvPr id="8" name="개체 7">
                        <a:extLst>
                          <a:ext uri="{FF2B5EF4-FFF2-40B4-BE49-F238E27FC236}">
                            <a16:creationId xmlns:a16="http://schemas.microsoft.com/office/drawing/2014/main" id="{27E34E72-DC43-2671-AE8B-90ED736B9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87200" y="1101724"/>
                        <a:ext cx="6935879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2792425-BA5E-D9D3-EFC7-5405DFC6687F}"/>
              </a:ext>
            </a:extLst>
          </p:cNvPr>
          <p:cNvCxnSpPr/>
          <p:nvPr/>
        </p:nvCxnSpPr>
        <p:spPr>
          <a:xfrm>
            <a:off x="76200" y="5905500"/>
            <a:ext cx="18113375" cy="0"/>
          </a:xfrm>
          <a:prstGeom prst="line">
            <a:avLst/>
          </a:prstGeom>
          <a:ln w="25400">
            <a:solidFill>
              <a:srgbClr val="5E7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개체 72">
            <a:extLst>
              <a:ext uri="{FF2B5EF4-FFF2-40B4-BE49-F238E27FC236}">
                <a16:creationId xmlns:a16="http://schemas.microsoft.com/office/drawing/2014/main" id="{8EB79B04-A497-6E0E-791D-2469531AC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096581"/>
              </p:ext>
            </p:extLst>
          </p:nvPr>
        </p:nvGraphicFramePr>
        <p:xfrm>
          <a:off x="-74613" y="5524500"/>
          <a:ext cx="6932613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099272" imgH="2979683" progId="Origin50.Graph">
                  <p:embed/>
                </p:oleObj>
              </mc:Choice>
              <mc:Fallback>
                <p:oleObj name="Graph" r:id="rId9" imgW="4099272" imgH="2979683" progId="Origin50.Graph">
                  <p:embed/>
                  <p:pic>
                    <p:nvPicPr>
                      <p:cNvPr id="29" name="개체 28">
                        <a:extLst>
                          <a:ext uri="{FF2B5EF4-FFF2-40B4-BE49-F238E27FC236}">
                            <a16:creationId xmlns:a16="http://schemas.microsoft.com/office/drawing/2014/main" id="{D60740D9-CEAF-59F5-3C9C-C48C49835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74613" y="5524500"/>
                        <a:ext cx="6932613" cy="504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개체 73">
            <a:extLst>
              <a:ext uri="{FF2B5EF4-FFF2-40B4-BE49-F238E27FC236}">
                <a16:creationId xmlns:a16="http://schemas.microsoft.com/office/drawing/2014/main" id="{60B1D31E-3BFC-EAA0-F0C1-345A09E75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969978"/>
              </p:ext>
            </p:extLst>
          </p:nvPr>
        </p:nvGraphicFramePr>
        <p:xfrm>
          <a:off x="5904459" y="5524500"/>
          <a:ext cx="6934069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4098237" imgH="2979683" progId="Origin50.Graph">
                  <p:embed/>
                </p:oleObj>
              </mc:Choice>
              <mc:Fallback>
                <p:oleObj name="Graph" r:id="rId11" imgW="4098237" imgH="2979683" progId="Origin50.Graph">
                  <p:embed/>
                  <p:pic>
                    <p:nvPicPr>
                      <p:cNvPr id="30" name="개체 29">
                        <a:extLst>
                          <a:ext uri="{FF2B5EF4-FFF2-40B4-BE49-F238E27FC236}">
                            <a16:creationId xmlns:a16="http://schemas.microsoft.com/office/drawing/2014/main" id="{84FA77BB-A1AE-7759-67EF-76AF19B6F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4459" y="5524500"/>
                        <a:ext cx="6934069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개체 74">
            <a:extLst>
              <a:ext uri="{FF2B5EF4-FFF2-40B4-BE49-F238E27FC236}">
                <a16:creationId xmlns:a16="http://schemas.microsoft.com/office/drawing/2014/main" id="{981242AD-6DB1-287A-B2C0-402C4C7BDB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992039"/>
              </p:ext>
            </p:extLst>
          </p:nvPr>
        </p:nvGraphicFramePr>
        <p:xfrm>
          <a:off x="11887200" y="5524500"/>
          <a:ext cx="6935879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4098237" imgH="2979683" progId="Origin50.Graph">
                  <p:embed/>
                </p:oleObj>
              </mc:Choice>
              <mc:Fallback>
                <p:oleObj name="Graph" r:id="rId13" imgW="4098237" imgH="2979683" progId="Origin50.Graph">
                  <p:embed/>
                  <p:pic>
                    <p:nvPicPr>
                      <p:cNvPr id="31" name="개체 30">
                        <a:extLst>
                          <a:ext uri="{FF2B5EF4-FFF2-40B4-BE49-F238E27FC236}">
                            <a16:creationId xmlns:a16="http://schemas.microsoft.com/office/drawing/2014/main" id="{B601E6E0-6694-AA04-FFA1-5839FF10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887200" y="5524500"/>
                        <a:ext cx="6935879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E5768885-0FE9-9563-4CF8-E6274F9AF810}"/>
              </a:ext>
            </a:extLst>
          </p:cNvPr>
          <p:cNvSpPr txBox="1"/>
          <p:nvPr/>
        </p:nvSpPr>
        <p:spPr>
          <a:xfrm>
            <a:off x="1208087" y="17145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6DFB21-A0A6-205D-6D22-BE53CF7B8473}"/>
              </a:ext>
            </a:extLst>
          </p:cNvPr>
          <p:cNvSpPr txBox="1"/>
          <p:nvPr/>
        </p:nvSpPr>
        <p:spPr>
          <a:xfrm>
            <a:off x="7225904" y="17145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1EAA09-B856-7046-EC37-2F6E8ACC3771}"/>
              </a:ext>
            </a:extLst>
          </p:cNvPr>
          <p:cNvSpPr txBox="1"/>
          <p:nvPr/>
        </p:nvSpPr>
        <p:spPr>
          <a:xfrm>
            <a:off x="13208644" y="17145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7E2B760-FB19-EBD0-58CE-A486EBE29067}"/>
              </a:ext>
            </a:extLst>
          </p:cNvPr>
          <p:cNvSpPr txBox="1"/>
          <p:nvPr/>
        </p:nvSpPr>
        <p:spPr>
          <a:xfrm>
            <a:off x="1208087" y="6137276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07583E-BB42-2173-B296-01646890D649}"/>
              </a:ext>
            </a:extLst>
          </p:cNvPr>
          <p:cNvSpPr txBox="1"/>
          <p:nvPr/>
        </p:nvSpPr>
        <p:spPr>
          <a:xfrm>
            <a:off x="7225904" y="6137276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75ABA5-6C71-28F7-29BF-1915FF503C91}"/>
              </a:ext>
            </a:extLst>
          </p:cNvPr>
          <p:cNvSpPr txBox="1"/>
          <p:nvPr/>
        </p:nvSpPr>
        <p:spPr>
          <a:xfrm>
            <a:off x="13208644" y="6137276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68BD7-E645-F421-17E7-3E3D17356541}"/>
              </a:ext>
            </a:extLst>
          </p:cNvPr>
          <p:cNvSpPr txBox="1"/>
          <p:nvPr/>
        </p:nvSpPr>
        <p:spPr>
          <a:xfrm>
            <a:off x="3706599" y="1747730"/>
            <a:ext cx="219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V</a:t>
            </a:r>
            <a:r>
              <a:rPr lang="en-US" altLang="ko-KR" baseline="-25000" dirty="0">
                <a:solidFill>
                  <a:srgbClr val="FF0000"/>
                </a:solidFill>
              </a:rPr>
              <a:t>ON</a:t>
            </a:r>
            <a:r>
              <a:rPr lang="ko-KR" altLang="en-US" dirty="0">
                <a:solidFill>
                  <a:srgbClr val="FF0000"/>
                </a:solidFill>
              </a:rPr>
              <a:t>은 </a:t>
            </a:r>
            <a:r>
              <a:rPr lang="en-US" altLang="ko-KR" dirty="0">
                <a:solidFill>
                  <a:srgbClr val="FF0000"/>
                </a:solidFill>
              </a:rPr>
              <a:t>PSC</a:t>
            </a:r>
            <a:r>
              <a:rPr lang="ko-KR" altLang="en-US" dirty="0">
                <a:solidFill>
                  <a:srgbClr val="FF0000"/>
                </a:solidFill>
              </a:rPr>
              <a:t>를 측정한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V</a:t>
            </a:r>
            <a:r>
              <a:rPr lang="en-US" altLang="ko-KR" baseline="-25000" dirty="0">
                <a:solidFill>
                  <a:srgbClr val="FF0000"/>
                </a:solidFill>
              </a:rPr>
              <a:t>G</a:t>
            </a:r>
            <a:r>
              <a:rPr lang="en-US" altLang="ko-KR" dirty="0">
                <a:solidFill>
                  <a:srgbClr val="FF0000"/>
                </a:solidFill>
              </a:rPr>
              <a:t> + 1</a:t>
            </a:r>
            <a:r>
              <a:rPr lang="ko-KR" altLang="en-US" dirty="0">
                <a:solidFill>
                  <a:srgbClr val="FF0000"/>
                </a:solidFill>
              </a:rPr>
              <a:t>로 추출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E6D12-FEFD-FC25-FA77-AE82E0C6BEF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</p:spTree>
    <p:extLst>
      <p:ext uri="{BB962C8B-B14F-4D97-AF65-F5344CB8AC3E}">
        <p14:creationId xmlns:p14="http://schemas.microsoft.com/office/powerpoint/2010/main" val="683126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29" name="개체 28">
            <a:extLst>
              <a:ext uri="{FF2B5EF4-FFF2-40B4-BE49-F238E27FC236}">
                <a16:creationId xmlns:a16="http://schemas.microsoft.com/office/drawing/2014/main" id="{D60740D9-CEAF-59F5-3C9C-C48C49835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726941"/>
              </p:ext>
            </p:extLst>
          </p:nvPr>
        </p:nvGraphicFramePr>
        <p:xfrm>
          <a:off x="-150462" y="1409700"/>
          <a:ext cx="6932262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9272" imgH="2979683" progId="Origin50.Graph">
                  <p:embed/>
                </p:oleObj>
              </mc:Choice>
              <mc:Fallback>
                <p:oleObj name="Graph" r:id="rId3" imgW="4099272" imgH="2979683" progId="Origin50.Graph">
                  <p:embed/>
                  <p:pic>
                    <p:nvPicPr>
                      <p:cNvPr id="29" name="개체 28">
                        <a:extLst>
                          <a:ext uri="{FF2B5EF4-FFF2-40B4-BE49-F238E27FC236}">
                            <a16:creationId xmlns:a16="http://schemas.microsoft.com/office/drawing/2014/main" id="{D60740D9-CEAF-59F5-3C9C-C48C49835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50462" y="1409700"/>
                        <a:ext cx="6932262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개체 29">
            <a:extLst>
              <a:ext uri="{FF2B5EF4-FFF2-40B4-BE49-F238E27FC236}">
                <a16:creationId xmlns:a16="http://schemas.microsoft.com/office/drawing/2014/main" id="{84FA77BB-A1AE-7759-67EF-76AF19B6F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077578"/>
              </p:ext>
            </p:extLst>
          </p:nvPr>
        </p:nvGraphicFramePr>
        <p:xfrm>
          <a:off x="5860445" y="1409700"/>
          <a:ext cx="6934070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9272" imgH="2979683" progId="Origin50.Graph">
                  <p:embed/>
                </p:oleObj>
              </mc:Choice>
              <mc:Fallback>
                <p:oleObj name="Graph" r:id="rId5" imgW="4099272" imgH="2979683" progId="Origin50.Graph">
                  <p:embed/>
                  <p:pic>
                    <p:nvPicPr>
                      <p:cNvPr id="30" name="개체 29">
                        <a:extLst>
                          <a:ext uri="{FF2B5EF4-FFF2-40B4-BE49-F238E27FC236}">
                            <a16:creationId xmlns:a16="http://schemas.microsoft.com/office/drawing/2014/main" id="{84FA77BB-A1AE-7759-67EF-76AF19B6F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0445" y="1409700"/>
                        <a:ext cx="6934070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B601E6E0-6694-AA04-FFA1-5839FF10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104868"/>
              </p:ext>
            </p:extLst>
          </p:nvPr>
        </p:nvGraphicFramePr>
        <p:xfrm>
          <a:off x="11887200" y="1409700"/>
          <a:ext cx="6935879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099272" imgH="2979683" progId="Origin50.Graph">
                  <p:embed/>
                </p:oleObj>
              </mc:Choice>
              <mc:Fallback>
                <p:oleObj name="Graph" r:id="rId7" imgW="4099272" imgH="2979683" progId="Origin50.Graph">
                  <p:embed/>
                  <p:pic>
                    <p:nvPicPr>
                      <p:cNvPr id="31" name="개체 30">
                        <a:extLst>
                          <a:ext uri="{FF2B5EF4-FFF2-40B4-BE49-F238E27FC236}">
                            <a16:creationId xmlns:a16="http://schemas.microsoft.com/office/drawing/2014/main" id="{B601E6E0-6694-AA04-FFA1-5839FF10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87200" y="1409700"/>
                        <a:ext cx="6935879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63B903A-3655-3F9A-0ABF-3DDDEF251766}"/>
              </a:ext>
            </a:extLst>
          </p:cNvPr>
          <p:cNvSpPr txBox="1"/>
          <p:nvPr/>
        </p:nvSpPr>
        <p:spPr>
          <a:xfrm>
            <a:off x="1220539" y="20193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1303F-0C1F-2F75-54C2-8BF70661393B}"/>
              </a:ext>
            </a:extLst>
          </p:cNvPr>
          <p:cNvSpPr txBox="1"/>
          <p:nvPr/>
        </p:nvSpPr>
        <p:spPr>
          <a:xfrm>
            <a:off x="7225904" y="20193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8E9F2-3B08-FADE-E75F-61F30277CA17}"/>
              </a:ext>
            </a:extLst>
          </p:cNvPr>
          <p:cNvSpPr txBox="1"/>
          <p:nvPr/>
        </p:nvSpPr>
        <p:spPr>
          <a:xfrm>
            <a:off x="13208644" y="2019300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0C919-10A3-C03E-A4E9-796931E51FDE}"/>
              </a:ext>
            </a:extLst>
          </p:cNvPr>
          <p:cNvSpPr txBox="1"/>
          <p:nvPr/>
        </p:nvSpPr>
        <p:spPr>
          <a:xfrm>
            <a:off x="914400" y="6362700"/>
            <a:ext cx="16535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IV</a:t>
            </a:r>
            <a:r>
              <a:rPr lang="ko-KR" altLang="en-US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curve summary **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1. 0.1M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</a:rPr>
              <a:t>소자를 제외하고는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Uniformity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가 좋지 않으며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</a:rPr>
              <a:t>전기적 특성의 경향성이 잘 나타나지 않음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.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2.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</a:rPr>
              <a:t>전체적으로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Stability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</a:rPr>
              <a:t>가 좋지 않아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</a:rPr>
              <a:t>측정 데이터에 대한 신뢰성이 부족함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.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(Decay time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동안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NBS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에 의한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Negative shift)</a:t>
            </a:r>
          </a:p>
          <a:p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초기특성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특히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4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ON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 V</a:t>
            </a:r>
            <a:r>
              <a:rPr lang="en-US" altLang="ko-KR" sz="24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TH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이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Uniformity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하며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 NBS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에도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Robust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한 소자가 필요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함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용액공정보다는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ALD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나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SPT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가 좋을 것 같음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용액공정으로 하더라도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PSC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측정 조건을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4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= 0 V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로 설정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하여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Decay time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동안의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NBS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에 의한 열화를 최소화할 필요가 있음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추가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) Decay time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데이터는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PSC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data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summary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에서 한꺼번에 정리함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BE9A652-3681-502C-FADC-1B29B9845D66}"/>
              </a:ext>
            </a:extLst>
          </p:cNvPr>
          <p:cNvCxnSpPr/>
          <p:nvPr/>
        </p:nvCxnSpPr>
        <p:spPr>
          <a:xfrm>
            <a:off x="8077200" y="8724900"/>
            <a:ext cx="2133600" cy="457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3D3924A-C0DC-ACED-77C7-1B92A0593696}"/>
              </a:ext>
            </a:extLst>
          </p:cNvPr>
          <p:cNvCxnSpPr/>
          <p:nvPr/>
        </p:nvCxnSpPr>
        <p:spPr>
          <a:xfrm>
            <a:off x="4267200" y="8724900"/>
            <a:ext cx="4419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2BD838-4409-6910-F367-1E91193C212F}"/>
              </a:ext>
            </a:extLst>
          </p:cNvPr>
          <p:cNvSpPr txBox="1"/>
          <p:nvPr/>
        </p:nvSpPr>
        <p:spPr>
          <a:xfrm>
            <a:off x="10151660" y="9096970"/>
            <a:ext cx="78315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 In/Ga ratio</a:t>
            </a:r>
            <a:r>
              <a:rPr lang="ko-KR" altLang="en-US" b="1" dirty="0">
                <a:solidFill>
                  <a:srgbClr val="FF0000"/>
                </a:solidFill>
              </a:rPr>
              <a:t>와 </a:t>
            </a:r>
            <a:r>
              <a:rPr lang="en-US" altLang="ko-KR" b="1" dirty="0">
                <a:solidFill>
                  <a:srgbClr val="FF0000"/>
                </a:solidFill>
              </a:rPr>
              <a:t>Film thickness</a:t>
            </a:r>
            <a:r>
              <a:rPr lang="ko-KR" altLang="en-US" b="1" dirty="0">
                <a:solidFill>
                  <a:srgbClr val="FF0000"/>
                </a:solidFill>
              </a:rPr>
              <a:t>를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변수로 하여 </a:t>
            </a:r>
            <a:r>
              <a:rPr lang="ko-KR" altLang="en-US" b="1" dirty="0" err="1">
                <a:solidFill>
                  <a:srgbClr val="FF0000"/>
                </a:solidFill>
              </a:rPr>
              <a:t>시냅틱</a:t>
            </a:r>
            <a:r>
              <a:rPr lang="ko-KR" altLang="en-US" b="1" dirty="0">
                <a:solidFill>
                  <a:srgbClr val="FF0000"/>
                </a:solidFill>
              </a:rPr>
              <a:t> 거동을 분석한 논문 참고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   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우리 논문과 같이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“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분석 논문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”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인데도 </a:t>
            </a:r>
            <a:r>
              <a:rPr lang="en-US" altLang="ko-KR" dirty="0">
                <a:solidFill>
                  <a:srgbClr val="FF0000"/>
                </a:solidFill>
              </a:rPr>
              <a:t>V</a:t>
            </a:r>
            <a:r>
              <a:rPr lang="en-US" altLang="ko-KR" baseline="-25000" dirty="0">
                <a:solidFill>
                  <a:srgbClr val="FF0000"/>
                </a:solidFill>
              </a:rPr>
              <a:t>G</a:t>
            </a:r>
            <a:r>
              <a:rPr lang="en-US" altLang="ko-KR" dirty="0">
                <a:solidFill>
                  <a:srgbClr val="FF0000"/>
                </a:solidFill>
              </a:rPr>
              <a:t>=0 V </a:t>
            </a:r>
            <a:r>
              <a:rPr lang="ko-KR" altLang="en-US" dirty="0">
                <a:solidFill>
                  <a:srgbClr val="FF0000"/>
                </a:solidFill>
              </a:rPr>
              <a:t>에서 모든 </a:t>
            </a:r>
            <a:r>
              <a:rPr lang="en-US" altLang="ko-KR" dirty="0">
                <a:solidFill>
                  <a:srgbClr val="FF0000"/>
                </a:solidFill>
              </a:rPr>
              <a:t>PSC</a:t>
            </a:r>
            <a:r>
              <a:rPr lang="ko-KR" altLang="en-US" dirty="0">
                <a:solidFill>
                  <a:srgbClr val="FF0000"/>
                </a:solidFill>
              </a:rPr>
              <a:t>를 추출함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    (In/Ga ratio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Film thickness</a:t>
            </a:r>
            <a:r>
              <a:rPr lang="ko-KR" altLang="en-US" dirty="0">
                <a:solidFill>
                  <a:srgbClr val="FF0000"/>
                </a:solidFill>
              </a:rPr>
              <a:t>에 따라 </a:t>
            </a:r>
            <a:r>
              <a:rPr lang="en-US" altLang="ko-KR" dirty="0">
                <a:solidFill>
                  <a:srgbClr val="FF0000"/>
                </a:solidFill>
              </a:rPr>
              <a:t>V</a:t>
            </a:r>
            <a:r>
              <a:rPr lang="en-US" altLang="ko-KR" baseline="-25000" dirty="0">
                <a:solidFill>
                  <a:srgbClr val="FF0000"/>
                </a:solidFill>
              </a:rPr>
              <a:t>TH</a:t>
            </a:r>
            <a:r>
              <a:rPr lang="ko-KR" altLang="en-US" dirty="0">
                <a:solidFill>
                  <a:srgbClr val="FF0000"/>
                </a:solidFill>
              </a:rPr>
              <a:t>가 달라지더라도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8AAC9-4075-0AAF-C2EF-D008F95D94ED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FF0000"/>
                </a:solidFill>
              </a:rPr>
              <a:t>Mater. </a:t>
            </a:r>
            <a:r>
              <a:rPr lang="en-US" altLang="ko-KR" sz="1200" dirty="0" err="1">
                <a:solidFill>
                  <a:srgbClr val="FF0000"/>
                </a:solidFill>
              </a:rPr>
              <a:t>Horiz</a:t>
            </a:r>
            <a:r>
              <a:rPr lang="en-US" altLang="ko-KR" sz="1200" dirty="0">
                <a:solidFill>
                  <a:srgbClr val="FF0000"/>
                </a:solidFill>
              </a:rPr>
              <a:t>., 2024, 11, 4979–4986</a:t>
            </a:r>
            <a:endParaRPr lang="en-US" altLang="ko-KR" sz="1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C9FF1-D863-88F2-835C-4BFA0D91B0E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IV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3FE01-82A3-81D4-8827-36B550382502}"/>
              </a:ext>
            </a:extLst>
          </p:cNvPr>
          <p:cNvSpPr txBox="1"/>
          <p:nvPr/>
        </p:nvSpPr>
        <p:spPr>
          <a:xfrm>
            <a:off x="943970" y="9986045"/>
            <a:ext cx="960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F4D8B"/>
                </a:solidFill>
              </a:rPr>
              <a:t>Vth</a:t>
            </a:r>
            <a:r>
              <a:rPr lang="ko-KR" altLang="en-US" b="1" dirty="0">
                <a:solidFill>
                  <a:srgbClr val="0F4D8B"/>
                </a:solidFill>
              </a:rPr>
              <a:t>에 따라서 </a:t>
            </a:r>
            <a:r>
              <a:rPr lang="en-US" altLang="ko-KR" b="1" dirty="0">
                <a:solidFill>
                  <a:srgbClr val="0F4D8B"/>
                </a:solidFill>
              </a:rPr>
              <a:t>Vg </a:t>
            </a:r>
            <a:r>
              <a:rPr lang="ko-KR" altLang="en-US" b="1" dirty="0">
                <a:solidFill>
                  <a:srgbClr val="0F4D8B"/>
                </a:solidFill>
              </a:rPr>
              <a:t>다르게 줬을 때 어떻게 소자 내부에서 구동하고 </a:t>
            </a:r>
            <a:r>
              <a:rPr lang="en-US" altLang="ko-KR" b="1" dirty="0">
                <a:solidFill>
                  <a:srgbClr val="0F4D8B"/>
                </a:solidFill>
              </a:rPr>
              <a:t>PSC </a:t>
            </a:r>
            <a:r>
              <a:rPr lang="ko-KR" altLang="en-US" b="1" dirty="0" err="1">
                <a:solidFill>
                  <a:srgbClr val="0F4D8B"/>
                </a:solidFill>
              </a:rPr>
              <a:t>나타는</a:t>
            </a:r>
            <a:r>
              <a:rPr lang="ko-KR" altLang="en-US" b="1" dirty="0">
                <a:solidFill>
                  <a:srgbClr val="0F4D8B"/>
                </a:solidFill>
              </a:rPr>
              <a:t> 메커니즘 달라지는지에 대한 연구가 의미가 있을지</a:t>
            </a:r>
            <a:r>
              <a:rPr lang="en-US" altLang="ko-KR" b="1" dirty="0">
                <a:solidFill>
                  <a:srgbClr val="0F4D8B"/>
                </a:solidFill>
              </a:rPr>
              <a:t>?</a:t>
            </a:r>
          </a:p>
          <a:p>
            <a:r>
              <a:rPr lang="ko-KR" altLang="en-US" b="1" dirty="0">
                <a:solidFill>
                  <a:srgbClr val="0F4D8B"/>
                </a:solidFill>
              </a:rPr>
              <a:t>디스플레이는 소자 산포가 있기 </a:t>
            </a:r>
            <a:r>
              <a:rPr lang="ko-KR" altLang="en-US" b="1" dirty="0" err="1">
                <a:solidFill>
                  <a:srgbClr val="0F4D8B"/>
                </a:solidFill>
              </a:rPr>
              <a:t>떄문에</a:t>
            </a:r>
            <a:r>
              <a:rPr lang="ko-KR" altLang="en-US" b="1" dirty="0">
                <a:solidFill>
                  <a:srgbClr val="0F4D8B"/>
                </a:solidFill>
              </a:rPr>
              <a:t> </a:t>
            </a:r>
            <a:r>
              <a:rPr lang="en-US" altLang="ko-KR" b="1" dirty="0" err="1">
                <a:solidFill>
                  <a:srgbClr val="0F4D8B"/>
                </a:solidFill>
              </a:rPr>
              <a:t>Vov</a:t>
            </a:r>
            <a:r>
              <a:rPr lang="en-US" altLang="ko-KR" b="1" dirty="0">
                <a:solidFill>
                  <a:srgbClr val="0F4D8B"/>
                </a:solidFill>
              </a:rPr>
              <a:t> </a:t>
            </a:r>
            <a:r>
              <a:rPr lang="ko-KR" altLang="en-US" b="1" dirty="0">
                <a:solidFill>
                  <a:srgbClr val="0F4D8B"/>
                </a:solidFill>
              </a:rPr>
              <a:t>기준으로 보상을 하는데</a:t>
            </a:r>
            <a:r>
              <a:rPr lang="en-US" altLang="ko-KR" b="1" dirty="0">
                <a:solidFill>
                  <a:srgbClr val="0F4D8B"/>
                </a:solidFill>
              </a:rPr>
              <a:t>, </a:t>
            </a:r>
            <a:r>
              <a:rPr lang="ko-KR" altLang="en-US" b="1" dirty="0" err="1">
                <a:solidFill>
                  <a:srgbClr val="0F4D8B"/>
                </a:solidFill>
              </a:rPr>
              <a:t>뉴로모픽</a:t>
            </a:r>
            <a:r>
              <a:rPr lang="ko-KR" altLang="en-US" b="1" dirty="0">
                <a:solidFill>
                  <a:srgbClr val="0F4D8B"/>
                </a:solidFill>
              </a:rPr>
              <a:t> 비전 시스템도 어레이이고 소자 산포가 있을 텐데 빛이 들어올 때 </a:t>
            </a:r>
            <a:r>
              <a:rPr lang="en-US" altLang="ko-KR" b="1" dirty="0">
                <a:solidFill>
                  <a:srgbClr val="0F4D8B"/>
                </a:solidFill>
              </a:rPr>
              <a:t>Vg</a:t>
            </a:r>
            <a:r>
              <a:rPr lang="ko-KR" altLang="en-US" b="1" dirty="0">
                <a:solidFill>
                  <a:srgbClr val="0F4D8B"/>
                </a:solidFill>
              </a:rPr>
              <a:t>를 어떻게 </a:t>
            </a:r>
            <a:r>
              <a:rPr lang="ko-KR" altLang="en-US" b="1" dirty="0" err="1">
                <a:solidFill>
                  <a:srgbClr val="0F4D8B"/>
                </a:solidFill>
              </a:rPr>
              <a:t>설정하는게</a:t>
            </a:r>
            <a:r>
              <a:rPr lang="ko-KR" altLang="en-US" b="1" dirty="0">
                <a:solidFill>
                  <a:srgbClr val="0F4D8B"/>
                </a:solidFill>
              </a:rPr>
              <a:t> 좋을 지에 대한 연구 </a:t>
            </a:r>
            <a:r>
              <a:rPr lang="en-US" altLang="ko-KR" b="1" dirty="0">
                <a:solidFill>
                  <a:srgbClr val="0F4D8B"/>
                </a:solidFill>
              </a:rPr>
              <a:t>(</a:t>
            </a:r>
            <a:r>
              <a:rPr lang="ko-KR" altLang="en-US" b="1" dirty="0">
                <a:solidFill>
                  <a:srgbClr val="0F4D8B"/>
                </a:solidFill>
              </a:rPr>
              <a:t>어플리케이션에 최적화된 </a:t>
            </a:r>
            <a:r>
              <a:rPr lang="en-US" altLang="ko-KR" b="1" dirty="0">
                <a:solidFill>
                  <a:srgbClr val="0F4D8B"/>
                </a:solidFill>
              </a:rPr>
              <a:t>Vg</a:t>
            </a:r>
            <a:r>
              <a:rPr lang="ko-KR" altLang="en-US" b="1" dirty="0">
                <a:solidFill>
                  <a:srgbClr val="0F4D8B"/>
                </a:solidFill>
              </a:rPr>
              <a:t>를 설정하는 전략</a:t>
            </a:r>
            <a:r>
              <a:rPr lang="en-US" altLang="ko-KR" b="1" dirty="0">
                <a:solidFill>
                  <a:srgbClr val="0F4D8B"/>
                </a:solidFill>
              </a:rPr>
              <a:t>, or Vg</a:t>
            </a:r>
            <a:r>
              <a:rPr lang="ko-KR" altLang="en-US" b="1" dirty="0">
                <a:solidFill>
                  <a:srgbClr val="0F4D8B"/>
                </a:solidFill>
              </a:rPr>
              <a:t>에 따라 어떤 물리적 구동 영향이 생기는지 분석하여 최적화된 </a:t>
            </a:r>
            <a:r>
              <a:rPr lang="en-US" altLang="ko-KR" b="1" dirty="0">
                <a:solidFill>
                  <a:srgbClr val="0F4D8B"/>
                </a:solidFill>
              </a:rPr>
              <a:t>Vg</a:t>
            </a:r>
            <a:r>
              <a:rPr lang="ko-KR" altLang="en-US" b="1" dirty="0">
                <a:solidFill>
                  <a:srgbClr val="0F4D8B"/>
                </a:solidFill>
              </a:rPr>
              <a:t>를 설정하는 전략</a:t>
            </a:r>
            <a:r>
              <a:rPr lang="en-US" altLang="ko-KR" b="1" dirty="0">
                <a:solidFill>
                  <a:srgbClr val="0F4D8B"/>
                </a:solidFill>
              </a:rPr>
              <a:t>)</a:t>
            </a:r>
            <a:endParaRPr lang="ko-KR" altLang="en-US" b="1" dirty="0">
              <a:solidFill>
                <a:srgbClr val="0F4D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236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864577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828372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922397-C726-95BC-04AC-5FBF907AE51C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B8C780B2-8E8C-9690-9914-DAEAED3025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7058099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2F7E530B-65ED-226B-1A27-F7AF014F3C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5DBA77-9BAC-36DD-D629-8761C5C8A2D0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86CA445-50BF-7839-27B3-5070610BA335}"/>
              </a:ext>
            </a:extLst>
          </p:cNvPr>
          <p:cNvSpPr txBox="1"/>
          <p:nvPr/>
        </p:nvSpPr>
        <p:spPr>
          <a:xfrm>
            <a:off x="1905000" y="8997812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ko-KR" altLang="en-US" sz="1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656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1B5EFB-6953-68B9-5D49-345C35FF6441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7" name="개체 6">
              <a:extLst>
                <a:ext uri="{FF2B5EF4-FFF2-40B4-BE49-F238E27FC236}">
                  <a16:creationId xmlns:a16="http://schemas.microsoft.com/office/drawing/2014/main" id="{2F7E530B-65ED-226B-1A27-F7AF014F3C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449138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2F7E530B-65ED-226B-1A27-F7AF014F3C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BC86E6-7ECB-B049-9221-D165EC7589A1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3735711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7614249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5A424-C25A-4EAA-82A6-FB277198E26C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나타남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Single pulse </a:t>
            </a:r>
            <a:r>
              <a:rPr lang="ko-KR" altLang="en-US" sz="2000" b="1" dirty="0">
                <a:sym typeface="Wingdings" panose="05000000000000000000" pitchFamily="2" charset="2"/>
              </a:rPr>
              <a:t>측정 소자 기준</a:t>
            </a:r>
            <a:r>
              <a:rPr lang="en-US" altLang="ko-KR" sz="2000" b="1" dirty="0">
                <a:sym typeface="Wingdings" panose="05000000000000000000" pitchFamily="2" charset="2"/>
              </a:rPr>
              <a:t>, 5 </a:t>
            </a:r>
            <a:r>
              <a:rPr lang="ko-KR" altLang="en-US" sz="2000" b="1" dirty="0">
                <a:sym typeface="Wingdings" panose="05000000000000000000" pitchFamily="2" charset="2"/>
              </a:rPr>
              <a:t>소자</a:t>
            </a:r>
            <a:r>
              <a:rPr lang="en-US" altLang="ko-KR" sz="2000" b="1" dirty="0"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ym typeface="Wingdings" panose="05000000000000000000" pitchFamily="2" charset="2"/>
              </a:rPr>
              <a:t>中 </a:t>
            </a:r>
            <a:r>
              <a:rPr lang="en-US" altLang="ko-KR" sz="2000" b="1" dirty="0">
                <a:sym typeface="Wingdings" panose="05000000000000000000" pitchFamily="2" charset="2"/>
              </a:rPr>
              <a:t>1 </a:t>
            </a:r>
            <a:r>
              <a:rPr lang="ko-KR" altLang="en-US" sz="2000" b="1" dirty="0">
                <a:sym typeface="Wingdings" panose="05000000000000000000" pitchFamily="2" charset="2"/>
              </a:rPr>
              <a:t>소자만 제대로 나옴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8012F-8565-D2CC-74C7-9485348A3D0F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101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C2978-39E9-63C3-DD14-7BDEB37D4CA1}"/>
              </a:ext>
            </a:extLst>
          </p:cNvPr>
          <p:cNvSpPr txBox="1"/>
          <p:nvPr/>
        </p:nvSpPr>
        <p:spPr>
          <a:xfrm>
            <a:off x="437696" y="2737311"/>
            <a:ext cx="14268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</a:t>
            </a:r>
            <a:r>
              <a:rPr lang="en-US" altLang="ko-KR" sz="2400" b="1" dirty="0" err="1"/>
              <a:t>Pulse_Decay</a:t>
            </a:r>
            <a:r>
              <a:rPr lang="en-US" altLang="ko-KR" sz="2400" b="1" dirty="0"/>
              <a:t> time (s)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ym typeface="Wingdings" panose="05000000000000000000" pitchFamily="2" charset="2"/>
              </a:rPr>
              <a:t>모든 소자에서 </a:t>
            </a:r>
            <a:r>
              <a:rPr lang="en-US" altLang="ko-KR" sz="2400" b="1" dirty="0"/>
              <a:t>Single pulse</a:t>
            </a:r>
            <a:r>
              <a:rPr lang="ko-KR" altLang="en-US" sz="2400" b="1" dirty="0"/>
              <a:t>의 </a:t>
            </a:r>
            <a:r>
              <a:rPr lang="en-US" altLang="ko-KR" sz="2400" b="1" dirty="0"/>
              <a:t>Decay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time</a:t>
            </a:r>
            <a:r>
              <a:rPr lang="ko-KR" altLang="en-US" sz="2400" b="1" dirty="0"/>
              <a:t> 동안 전류가 증가하는 현상이 나타남</a:t>
            </a:r>
            <a:endParaRPr lang="en-US" altLang="ko-KR" sz="2400" b="1" dirty="0"/>
          </a:p>
          <a:p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파란색 선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: Measure data</a:t>
            </a:r>
          </a:p>
          <a:p>
            <a:r>
              <a:rPr lang="ko-KR" alt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보라색 선</a:t>
            </a:r>
            <a:r>
              <a:rPr lang="en-US" altLang="ko-KR" b="1" dirty="0">
                <a:solidFill>
                  <a:srgbClr val="7030A0"/>
                </a:solidFill>
                <a:sym typeface="Wingdings" panose="05000000000000000000" pitchFamily="2" charset="2"/>
              </a:rPr>
              <a:t>: SEF fitting data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19" name="Image 1" descr="Picture">
            <a:extLst>
              <a:ext uri="{FF2B5EF4-FFF2-40B4-BE49-F238E27FC236}">
                <a16:creationId xmlns:a16="http://schemas.microsoft.com/office/drawing/2014/main" id="{4BA12715-1CCB-3402-1C76-8AD5B8BA531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400" y="6249661"/>
            <a:ext cx="4762500" cy="2381250"/>
          </a:xfrm>
          <a:prstGeom prst="rect">
            <a:avLst/>
          </a:prstGeom>
        </p:spPr>
      </p:pic>
      <p:pic>
        <p:nvPicPr>
          <p:cNvPr id="20" name="Image 1" descr="Picture">
            <a:extLst>
              <a:ext uri="{FF2B5EF4-FFF2-40B4-BE49-F238E27FC236}">
                <a16:creationId xmlns:a16="http://schemas.microsoft.com/office/drawing/2014/main" id="{B717BF20-9D33-21CB-B894-15C1246BC14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400" y="3868411"/>
            <a:ext cx="4762500" cy="2381250"/>
          </a:xfrm>
          <a:prstGeom prst="rect">
            <a:avLst/>
          </a:prstGeom>
        </p:spPr>
      </p:pic>
      <p:pic>
        <p:nvPicPr>
          <p:cNvPr id="21" name="Image 1" descr="Picture">
            <a:extLst>
              <a:ext uri="{FF2B5EF4-FFF2-40B4-BE49-F238E27FC236}">
                <a16:creationId xmlns:a16="http://schemas.microsoft.com/office/drawing/2014/main" id="{066F4871-6560-A322-BCF2-4649496ED42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4496" y="6249661"/>
            <a:ext cx="4762500" cy="2381250"/>
          </a:xfrm>
          <a:prstGeom prst="rect">
            <a:avLst/>
          </a:prstGeom>
        </p:spPr>
      </p:pic>
      <p:pic>
        <p:nvPicPr>
          <p:cNvPr id="22" name="Image 1" descr="Picture">
            <a:extLst>
              <a:ext uri="{FF2B5EF4-FFF2-40B4-BE49-F238E27FC236}">
                <a16:creationId xmlns:a16="http://schemas.microsoft.com/office/drawing/2014/main" id="{8DEF2310-26AE-EE75-B9F1-A5DC38E472A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14496" y="3868411"/>
            <a:ext cx="4762500" cy="238125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FCED7B5D-8781-3B15-2CF6-A4F3C48E67F1}"/>
              </a:ext>
            </a:extLst>
          </p:cNvPr>
          <p:cNvGrpSpPr/>
          <p:nvPr/>
        </p:nvGrpSpPr>
        <p:grpSpPr>
          <a:xfrm>
            <a:off x="11201400" y="3868411"/>
            <a:ext cx="4953433" cy="4772056"/>
            <a:chOff x="5371429" y="6268676"/>
            <a:chExt cx="4953433" cy="4772056"/>
          </a:xfrm>
        </p:grpSpPr>
        <p:graphicFrame>
          <p:nvGraphicFramePr>
            <p:cNvPr id="23" name="개체 22">
              <a:extLst>
                <a:ext uri="{FF2B5EF4-FFF2-40B4-BE49-F238E27FC236}">
                  <a16:creationId xmlns:a16="http://schemas.microsoft.com/office/drawing/2014/main" id="{E5B4ECD2-C120-BB5E-C655-69CE28A7F9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407408"/>
                </p:ext>
              </p:extLst>
            </p:nvPr>
          </p:nvGraphicFramePr>
          <p:xfrm>
            <a:off x="5371429" y="6268676"/>
            <a:ext cx="4953433" cy="4772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17E78DF9-0878-F06A-CC07-8D652AA00A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371429" y="6268676"/>
                          <a:ext cx="4953433" cy="47720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AA44DA65-0C4E-9D48-B31F-6F95A59E9506}"/>
                </a:ext>
              </a:extLst>
            </p:cNvPr>
            <p:cNvSpPr/>
            <p:nvPr/>
          </p:nvSpPr>
          <p:spPr>
            <a:xfrm rot="10800000">
              <a:off x="7905296" y="8941758"/>
              <a:ext cx="457200" cy="246479"/>
            </a:xfrm>
            <a:prstGeom prst="rightArrow">
              <a:avLst/>
            </a:pr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A6A283-D75B-A664-50EB-1C47C9DC653F}"/>
                </a:ext>
              </a:extLst>
            </p:cNvPr>
            <p:cNvSpPr txBox="1"/>
            <p:nvPr/>
          </p:nvSpPr>
          <p:spPr>
            <a:xfrm>
              <a:off x="6686096" y="7052910"/>
              <a:ext cx="32766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FF0000"/>
                  </a:solidFill>
                </a:rPr>
                <a:t>Decay</a:t>
              </a:r>
              <a:r>
                <a:rPr lang="ko-KR" altLang="en-US" sz="1400" b="1" dirty="0">
                  <a:solidFill>
                    <a:srgbClr val="FF0000"/>
                  </a:solidFill>
                </a:rPr>
                <a:t>가 이상하게 나오는 이유는 </a:t>
              </a:r>
              <a:r>
                <a:rPr lang="en-US" altLang="ko-KR" sz="1400" b="1" dirty="0">
                  <a:solidFill>
                    <a:srgbClr val="FF0000"/>
                  </a:solidFill>
                </a:rPr>
                <a:t>negative shift</a:t>
              </a:r>
              <a:r>
                <a:rPr lang="ko-KR" altLang="en-US" sz="1400" b="1" dirty="0">
                  <a:solidFill>
                    <a:srgbClr val="FF0000"/>
                  </a:solidFill>
                </a:rPr>
                <a:t>에 의한 전류 상승에 의한 것으로 추측됨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D5C836-CDA9-E322-7EAB-C86B38DDF27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7462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4244956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2113509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27E0234-6490-659B-75AE-7A240A79CF3C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F0CA9159-9ECD-31C0-AE25-0523340D0B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8628459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6C25E2F-8B99-518B-CDF8-67A4BC0FCB04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3AF70D3-AA88-20F7-2AC7-7D9059AE0523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나타남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Single pulse </a:t>
            </a:r>
            <a:r>
              <a:rPr lang="ko-KR" altLang="en-US" sz="2000" b="1" dirty="0">
                <a:sym typeface="Wingdings" panose="05000000000000000000" pitchFamily="2" charset="2"/>
              </a:rPr>
              <a:t>측정 소자 기준</a:t>
            </a:r>
            <a:r>
              <a:rPr lang="en-US" altLang="ko-KR" sz="2000" b="1" dirty="0">
                <a:sym typeface="Wingdings" panose="05000000000000000000" pitchFamily="2" charset="2"/>
              </a:rPr>
              <a:t>, 5 </a:t>
            </a:r>
            <a:r>
              <a:rPr lang="ko-KR" altLang="en-US" sz="2000" b="1" dirty="0">
                <a:sym typeface="Wingdings" panose="05000000000000000000" pitchFamily="2" charset="2"/>
              </a:rPr>
              <a:t>소자</a:t>
            </a:r>
            <a:r>
              <a:rPr lang="en-US" altLang="ko-KR" sz="2000" b="1" dirty="0"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ym typeface="Wingdings" panose="05000000000000000000" pitchFamily="2" charset="2"/>
              </a:rPr>
              <a:t>中 </a:t>
            </a:r>
            <a:r>
              <a:rPr lang="en-US" altLang="ko-KR" sz="2000" b="1" dirty="0">
                <a:sym typeface="Wingdings" panose="05000000000000000000" pitchFamily="2" charset="2"/>
              </a:rPr>
              <a:t>1 </a:t>
            </a:r>
            <a:r>
              <a:rPr lang="ko-KR" altLang="en-US" sz="2000" b="1" dirty="0">
                <a:sym typeface="Wingdings" panose="05000000000000000000" pitchFamily="2" charset="2"/>
              </a:rPr>
              <a:t>소자만 제대로 나옴</a:t>
            </a:r>
            <a:endParaRPr lang="en-US" altLang="ko-KR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F3371-34BD-235F-18C8-0AD4390F4539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789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9549749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5502726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921907A-D8FD-1E6E-7BB9-E64865E0D2B1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8D22B0A1-D7CB-4BC2-5749-5B116D0221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1653478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90A95C-BB54-1C69-3B7E-87427FDE5B6F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67C016F-AF45-BE77-7137-AF5096964C95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나타남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Single pulse </a:t>
            </a:r>
            <a:r>
              <a:rPr lang="ko-KR" altLang="en-US" sz="2000" b="1" dirty="0">
                <a:sym typeface="Wingdings" panose="05000000000000000000" pitchFamily="2" charset="2"/>
              </a:rPr>
              <a:t>측정 소자 기준</a:t>
            </a:r>
            <a:r>
              <a:rPr lang="en-US" altLang="ko-KR" sz="2000" b="1" dirty="0">
                <a:sym typeface="Wingdings" panose="05000000000000000000" pitchFamily="2" charset="2"/>
              </a:rPr>
              <a:t>, 6 </a:t>
            </a:r>
            <a:r>
              <a:rPr lang="ko-KR" altLang="en-US" sz="2000" b="1" dirty="0">
                <a:sym typeface="Wingdings" panose="05000000000000000000" pitchFamily="2" charset="2"/>
              </a:rPr>
              <a:t>소자</a:t>
            </a:r>
            <a:r>
              <a:rPr lang="en-US" altLang="ko-KR" sz="2000" b="1" dirty="0"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ym typeface="Wingdings" panose="05000000000000000000" pitchFamily="2" charset="2"/>
              </a:rPr>
              <a:t>中 </a:t>
            </a:r>
            <a:r>
              <a:rPr lang="en-US" altLang="ko-KR" sz="2000" b="1" dirty="0">
                <a:sym typeface="Wingdings" panose="05000000000000000000" pitchFamily="2" charset="2"/>
              </a:rPr>
              <a:t>2 </a:t>
            </a:r>
            <a:r>
              <a:rPr lang="ko-KR" altLang="en-US" sz="2000" b="1" dirty="0">
                <a:sym typeface="Wingdings" panose="05000000000000000000" pitchFamily="2" charset="2"/>
              </a:rPr>
              <a:t>소자만 제대로 나옴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50EFD-1BAB-B10A-AA71-764661D7B050}"/>
              </a:ext>
            </a:extLst>
          </p:cNvPr>
          <p:cNvSpPr txBox="1"/>
          <p:nvPr/>
        </p:nvSpPr>
        <p:spPr>
          <a:xfrm>
            <a:off x="10551741" y="8843923"/>
            <a:ext cx="76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** </a:t>
            </a:r>
            <a:r>
              <a:rPr lang="ko-KR" altLang="en-US" sz="2000" b="1" dirty="0">
                <a:solidFill>
                  <a:srgbClr val="FF0000"/>
                </a:solidFill>
              </a:rPr>
              <a:t>결론</a:t>
            </a:r>
            <a:r>
              <a:rPr lang="en-US" altLang="ko-KR" sz="2000" b="1" dirty="0">
                <a:solidFill>
                  <a:srgbClr val="FF0000"/>
                </a:solidFill>
              </a:rPr>
              <a:t> **</a:t>
            </a:r>
          </a:p>
          <a:p>
            <a:r>
              <a:rPr lang="en-US" altLang="ko-KR" sz="2000" b="1" dirty="0">
                <a:solidFill>
                  <a:srgbClr val="FF0000"/>
                </a:solidFill>
              </a:rPr>
              <a:t>IGO(1:1) 0.1M </a:t>
            </a:r>
            <a:r>
              <a:rPr lang="ko-KR" altLang="en-US" sz="2000" b="1" dirty="0">
                <a:solidFill>
                  <a:srgbClr val="FF0000"/>
                </a:solidFill>
              </a:rPr>
              <a:t>소자는 온도와 상관없이 대부분 </a:t>
            </a:r>
            <a:r>
              <a:rPr lang="en-US" altLang="ko-KR" sz="2000" b="1" dirty="0">
                <a:solidFill>
                  <a:srgbClr val="FF0000"/>
                </a:solidFill>
              </a:rPr>
              <a:t>PSC</a:t>
            </a:r>
            <a:r>
              <a:rPr lang="ko-KR" altLang="en-US" sz="2000" b="1" dirty="0">
                <a:solidFill>
                  <a:srgbClr val="FF0000"/>
                </a:solidFill>
              </a:rPr>
              <a:t>가 이상하게 나오고 불안정하여</a:t>
            </a:r>
            <a:r>
              <a:rPr lang="en-US" altLang="ko-KR" sz="2000" b="1" dirty="0">
                <a:solidFill>
                  <a:srgbClr val="FF0000"/>
                </a:solidFill>
              </a:rPr>
              <a:t>, </a:t>
            </a:r>
            <a:r>
              <a:rPr lang="ko-KR" altLang="en-US" sz="2000" b="1" dirty="0">
                <a:solidFill>
                  <a:srgbClr val="FF0000"/>
                </a:solidFill>
              </a:rPr>
              <a:t>제대로 된 분석을 하기 힘듦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CAD359D-C407-41E9-F7F7-10B28BCF5BF3}"/>
              </a:ext>
            </a:extLst>
          </p:cNvPr>
          <p:cNvSpPr/>
          <p:nvPr/>
        </p:nvSpPr>
        <p:spPr>
          <a:xfrm>
            <a:off x="8001000" y="5295900"/>
            <a:ext cx="12192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8E60DBE-EEB2-A7FF-D203-A18A284B67D8}"/>
              </a:ext>
            </a:extLst>
          </p:cNvPr>
          <p:cNvCxnSpPr>
            <a:cxnSpLocks/>
          </p:cNvCxnSpPr>
          <p:nvPr/>
        </p:nvCxnSpPr>
        <p:spPr>
          <a:xfrm flipV="1">
            <a:off x="8915400" y="5219700"/>
            <a:ext cx="304800" cy="152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BB9D3D-C9D9-C6FF-2AEE-5EA36FC8981B}"/>
              </a:ext>
            </a:extLst>
          </p:cNvPr>
          <p:cNvSpPr txBox="1"/>
          <p:nvPr/>
        </p:nvSpPr>
        <p:spPr>
          <a:xfrm>
            <a:off x="9144000" y="4914900"/>
            <a:ext cx="112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이상함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0D703-D33F-9EDD-AEBF-7E507B8168D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2444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0548235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3034635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7F82C2-FCE7-A072-2897-DD6B3DBFA8DF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E9322ADD-FCB1-AD61-8F73-306A01A261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7562778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5AC90A-3188-2ADD-FACE-AFE2A95C2181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0D787D5-89AC-7AE1-678B-28338E1ABD78}"/>
              </a:ext>
            </a:extLst>
          </p:cNvPr>
          <p:cNvSpPr txBox="1"/>
          <p:nvPr/>
        </p:nvSpPr>
        <p:spPr>
          <a:xfrm>
            <a:off x="1905000" y="8997812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ko-KR" altLang="en-US" sz="1600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359D5-6037-97B3-704D-1A446C2FB387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8288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670775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8015911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D7)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4B02452-1A13-54D8-6052-56EE092F8E90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5EE84F95-5EA3-E161-089A-01D9E495C9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6629879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EA6587B-FDFF-E869-7E63-B1341ABB90FF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0F4B3C2-841C-E9CE-C15A-F9605E75C056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나타남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Single pulse </a:t>
            </a:r>
            <a:r>
              <a:rPr lang="ko-KR" altLang="en-US" sz="2000" b="1" dirty="0">
                <a:sym typeface="Wingdings" panose="05000000000000000000" pitchFamily="2" charset="2"/>
              </a:rPr>
              <a:t>측정 소자 기준</a:t>
            </a:r>
            <a:r>
              <a:rPr lang="en-US" altLang="ko-KR" sz="2000" b="1" dirty="0">
                <a:sym typeface="Wingdings" panose="05000000000000000000" pitchFamily="2" charset="2"/>
              </a:rPr>
              <a:t>, 5 </a:t>
            </a:r>
            <a:r>
              <a:rPr lang="ko-KR" altLang="en-US" sz="2000" b="1" dirty="0">
                <a:sym typeface="Wingdings" panose="05000000000000000000" pitchFamily="2" charset="2"/>
              </a:rPr>
              <a:t>소자</a:t>
            </a:r>
            <a:r>
              <a:rPr lang="en-US" altLang="ko-KR" sz="2000" b="1" dirty="0"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ym typeface="Wingdings" panose="05000000000000000000" pitchFamily="2" charset="2"/>
              </a:rPr>
              <a:t>中 </a:t>
            </a:r>
            <a:r>
              <a:rPr lang="en-US" altLang="ko-KR" sz="2000" b="1" dirty="0">
                <a:sym typeface="Wingdings" panose="05000000000000000000" pitchFamily="2" charset="2"/>
              </a:rPr>
              <a:t>1 </a:t>
            </a:r>
            <a:r>
              <a:rPr lang="ko-KR" altLang="en-US" sz="2000" b="1" dirty="0">
                <a:sym typeface="Wingdings" panose="05000000000000000000" pitchFamily="2" charset="2"/>
              </a:rPr>
              <a:t>소자만 제대로 나옴</a:t>
            </a:r>
            <a:endParaRPr lang="en-US" altLang="ko-KR" sz="2000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144ACAB-9432-C99C-3A9F-3E3557C609C4}"/>
              </a:ext>
            </a:extLst>
          </p:cNvPr>
          <p:cNvSpPr/>
          <p:nvPr/>
        </p:nvSpPr>
        <p:spPr>
          <a:xfrm>
            <a:off x="9053512" y="5600700"/>
            <a:ext cx="1590888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86B1447-D748-0127-C560-AEEB24EA24CB}"/>
              </a:ext>
            </a:extLst>
          </p:cNvPr>
          <p:cNvCxnSpPr>
            <a:cxnSpLocks/>
          </p:cNvCxnSpPr>
          <p:nvPr/>
        </p:nvCxnSpPr>
        <p:spPr>
          <a:xfrm flipV="1">
            <a:off x="10339600" y="5600700"/>
            <a:ext cx="304800" cy="152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D29BC3-60B9-278B-4DD0-BF576586CA29}"/>
              </a:ext>
            </a:extLst>
          </p:cNvPr>
          <p:cNvSpPr txBox="1"/>
          <p:nvPr/>
        </p:nvSpPr>
        <p:spPr>
          <a:xfrm>
            <a:off x="10568200" y="5307568"/>
            <a:ext cx="14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전류 증가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87924-5A95-864F-2467-4785D712D6C4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8482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D8)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68EC972-7B1B-381F-4D35-63B2C0BEA3A7}"/>
              </a:ext>
            </a:extLst>
          </p:cNvPr>
          <p:cNvGrpSpPr/>
          <p:nvPr/>
        </p:nvGrpSpPr>
        <p:grpSpPr>
          <a:xfrm>
            <a:off x="550916" y="3467100"/>
            <a:ext cx="10040884" cy="6112760"/>
            <a:chOff x="237358" y="2933700"/>
            <a:chExt cx="8440684" cy="54864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7758AA1-B9B8-E0C7-422B-B91F36DA7144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57DBD6D-4A39-D069-8C08-4CDE89948B1D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D18A9CA7-D65A-1D1A-E1F2-075C38C65B83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1" name="개체 20">
                  <a:extLst>
                    <a:ext uri="{FF2B5EF4-FFF2-40B4-BE49-F238E27FC236}">
                      <a16:creationId xmlns:a16="http://schemas.microsoft.com/office/drawing/2014/main" id="{8885B319-E761-2F56-D08E-C8C811B56D8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6480323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E56A063-9203-F162-DE89-63272CAA76EF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6C840A4-3648-32A5-DC02-339E67DDBD01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19" name="개체 18">
                  <a:extLst>
                    <a:ext uri="{FF2B5EF4-FFF2-40B4-BE49-F238E27FC236}">
                      <a16:creationId xmlns:a16="http://schemas.microsoft.com/office/drawing/2014/main" id="{8206A7F9-5A38-D79B-6749-3560ACAAD93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3512077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F6BA3F-B09C-BD3A-48D5-6511FFEF531C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4F71432-1E47-9034-7215-D1366AC9B59C}"/>
              </a:ext>
            </a:extLst>
          </p:cNvPr>
          <p:cNvSpPr txBox="1"/>
          <p:nvPr/>
        </p:nvSpPr>
        <p:spPr>
          <a:xfrm>
            <a:off x="437696" y="2737311"/>
            <a:ext cx="14268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모든 소자의 </a:t>
            </a:r>
            <a:r>
              <a:rPr lang="en-US" altLang="ko-KR" sz="2400" b="1" dirty="0"/>
              <a:t>IV curve</a:t>
            </a:r>
            <a:r>
              <a:rPr lang="ko-KR" altLang="en-US" sz="2400" b="1" dirty="0"/>
              <a:t>가 붕 떠서 나옴 </a:t>
            </a:r>
            <a:r>
              <a:rPr lang="en-US" altLang="ko-KR" sz="2400" b="1" dirty="0">
                <a:sym typeface="Wingdings" panose="05000000000000000000" pitchFamily="2" charset="2"/>
              </a:rPr>
              <a:t> PSC </a:t>
            </a:r>
            <a:r>
              <a:rPr lang="ko-KR" altLang="en-US" sz="2400" b="1" dirty="0">
                <a:sym typeface="Wingdings" panose="05000000000000000000" pitchFamily="2" charset="2"/>
              </a:rPr>
              <a:t>측정 불가</a:t>
            </a:r>
            <a:r>
              <a:rPr lang="en-US" altLang="ko-KR" sz="2400" b="1" dirty="0">
                <a:sym typeface="Wingdings" panose="05000000000000000000" pitchFamily="2" charset="2"/>
              </a:rPr>
              <a:t>….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488E0F-855C-D21C-EEFE-C2C0970A9A04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6939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D9)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7C7066D-45F7-1A6F-87BE-7C8804688116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F5684B23-D496-4638-A3A4-F1F3F68AE6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6415367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54CB93-C9D4-C038-6A31-61ABD99FDC56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22EA325-098B-0350-6D7E-646B7E0FA36F}"/>
              </a:ext>
            </a:extLst>
          </p:cNvPr>
          <p:cNvSpPr txBox="1"/>
          <p:nvPr/>
        </p:nvSpPr>
        <p:spPr>
          <a:xfrm>
            <a:off x="1905000" y="8997812"/>
            <a:ext cx="1348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소자 산포가 너무 안 좋고 </a:t>
            </a:r>
            <a:r>
              <a:rPr lang="en-US" altLang="ko-KR" sz="2000" b="1" dirty="0"/>
              <a:t>V</a:t>
            </a:r>
            <a:r>
              <a:rPr lang="en-US" altLang="ko-KR" sz="2000" b="1" baseline="-25000" dirty="0"/>
              <a:t>TH</a:t>
            </a:r>
            <a:r>
              <a:rPr lang="ko-KR" altLang="en-US" sz="2000" b="1" dirty="0"/>
              <a:t>가 너무 </a:t>
            </a:r>
            <a:r>
              <a:rPr lang="en-US" altLang="ko-KR" sz="2000" b="1" dirty="0" err="1"/>
              <a:t>nega</a:t>
            </a:r>
            <a:r>
              <a:rPr lang="en-US" altLang="ko-KR" sz="2000" b="1" dirty="0"/>
              <a:t> shift </a:t>
            </a:r>
            <a:r>
              <a:rPr lang="ko-KR" altLang="en-US" sz="2000" b="1" dirty="0"/>
              <a:t>되어있는 소자가 많아서 </a:t>
            </a:r>
            <a:r>
              <a:rPr lang="en-US" altLang="ko-KR" sz="2000" b="1" dirty="0"/>
              <a:t>Single Pulse</a:t>
            </a:r>
            <a:r>
              <a:rPr lang="ko-KR" altLang="en-US" sz="2000" b="1" dirty="0"/>
              <a:t>로</a:t>
            </a:r>
            <a:r>
              <a:rPr lang="en-US" altLang="ko-KR" sz="2000" b="1" dirty="0"/>
              <a:t> 1 </a:t>
            </a:r>
            <a:r>
              <a:rPr lang="ko-KR" altLang="en-US" sz="2000" b="1" dirty="0"/>
              <a:t>소자 밖에 측정하지 못함</a:t>
            </a:r>
            <a:endParaRPr lang="en-US" altLang="ko-KR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54242-57FF-2511-0F94-DCF6F0E2B955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207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4997348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2624227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D10)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1E748FA-8561-EF65-E55F-CAC34260DE30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019F4C29-A86E-76AD-51E4-1C4B74F94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533505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D4F9CA-979F-8C03-05FB-6AF0D7ABC108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96F37A-363A-74E4-5428-A30CBF99D4F9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ym typeface="Wingdings" panose="05000000000000000000" pitchFamily="2" charset="2"/>
              </a:rPr>
              <a:t>이 소자는 다른 소자에 비해서 매우 안정적이고 </a:t>
            </a:r>
            <a:r>
              <a:rPr lang="en-US" altLang="ko-KR" sz="2000" b="1" dirty="0">
                <a:sym typeface="Wingdings" panose="05000000000000000000" pitchFamily="2" charset="2"/>
              </a:rPr>
              <a:t>PSC </a:t>
            </a:r>
            <a:r>
              <a:rPr lang="ko-KR" altLang="en-US" sz="2000" b="1" dirty="0">
                <a:sym typeface="Wingdings" panose="05000000000000000000" pitchFamily="2" charset="2"/>
              </a:rPr>
              <a:t>산포도 크지 않음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3ABA7-E04D-F9E4-0809-5902B245AC55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350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D11)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8433649-A8D6-6D8C-3C78-8752AC71658C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526AEFAC-E550-484E-24AB-0DE3C6E5A9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7937861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38AC5A-50C7-C0AD-5E26-7B1A0574061A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2246AFD-1A6A-2068-5552-63981A870B7B}"/>
              </a:ext>
            </a:extLst>
          </p:cNvPr>
          <p:cNvSpPr txBox="1"/>
          <p:nvPr/>
        </p:nvSpPr>
        <p:spPr>
          <a:xfrm>
            <a:off x="1904999" y="8997812"/>
            <a:ext cx="1160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로 소자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개 측정하고 나니까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나머지 소자의 </a:t>
            </a:r>
            <a:r>
              <a:rPr lang="en-US" altLang="ko-KR" sz="2000" b="1" dirty="0"/>
              <a:t>IV curve</a:t>
            </a:r>
            <a:r>
              <a:rPr lang="ko-KR" altLang="en-US" sz="2000" b="1" dirty="0"/>
              <a:t>가 붕 떠서 </a:t>
            </a:r>
            <a:r>
              <a:rPr lang="en-US" altLang="ko-KR" sz="2000" b="1" dirty="0"/>
              <a:t>STP, LTP</a:t>
            </a:r>
            <a:r>
              <a:rPr lang="ko-KR" altLang="en-US" sz="2000" b="1" dirty="0"/>
              <a:t>를 측정하지 못함</a:t>
            </a:r>
            <a:r>
              <a:rPr lang="en-US" altLang="ko-KR" sz="2000" b="1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EA7D6-0644-44AC-D3D1-C47356A393D6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281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D12)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95ABC-0D8C-E0FE-EA29-DDFE87AE4A00}"/>
              </a:ext>
            </a:extLst>
          </p:cNvPr>
          <p:cNvSpPr txBox="1"/>
          <p:nvPr/>
        </p:nvSpPr>
        <p:spPr>
          <a:xfrm>
            <a:off x="437696" y="2737311"/>
            <a:ext cx="14268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모든 소자의 </a:t>
            </a:r>
            <a:r>
              <a:rPr lang="en-US" altLang="ko-KR" sz="2400" b="1" dirty="0"/>
              <a:t>IV curve</a:t>
            </a:r>
            <a:r>
              <a:rPr lang="ko-KR" altLang="en-US" sz="2400" b="1" dirty="0"/>
              <a:t>가 붕 떠서 나옴 </a:t>
            </a:r>
            <a:r>
              <a:rPr lang="en-US" altLang="ko-KR" sz="2400" b="1" dirty="0">
                <a:sym typeface="Wingdings" panose="05000000000000000000" pitchFamily="2" charset="2"/>
              </a:rPr>
              <a:t> PSC </a:t>
            </a:r>
            <a:r>
              <a:rPr lang="ko-KR" altLang="en-US" sz="2400" b="1" dirty="0">
                <a:sym typeface="Wingdings" panose="05000000000000000000" pitchFamily="2" charset="2"/>
              </a:rPr>
              <a:t>측정 불가</a:t>
            </a:r>
            <a:r>
              <a:rPr lang="en-US" altLang="ko-KR" sz="2400" b="1" dirty="0">
                <a:sym typeface="Wingdings" panose="05000000000000000000" pitchFamily="2" charset="2"/>
              </a:rPr>
              <a:t>….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229F6A0-4066-2595-7B87-6C9BB00A1D1C}"/>
              </a:ext>
            </a:extLst>
          </p:cNvPr>
          <p:cNvGrpSpPr/>
          <p:nvPr/>
        </p:nvGrpSpPr>
        <p:grpSpPr>
          <a:xfrm>
            <a:off x="550916" y="3467100"/>
            <a:ext cx="10040884" cy="6112760"/>
            <a:chOff x="237358" y="2933700"/>
            <a:chExt cx="8440684" cy="54864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49F00F-0DAE-3B5A-77A6-B72C79BC0509}"/>
                </a:ext>
              </a:extLst>
            </p:cNvPr>
            <p:cNvSpPr/>
            <p:nvPr/>
          </p:nvSpPr>
          <p:spPr>
            <a:xfrm>
              <a:off x="237358" y="2933700"/>
              <a:ext cx="8440684" cy="5486400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E9DDD61-35DB-8DB6-B7E1-05EA33AA5167}"/>
                </a:ext>
              </a:extLst>
            </p:cNvPr>
            <p:cNvGrpSpPr/>
            <p:nvPr/>
          </p:nvGrpSpPr>
          <p:grpSpPr>
            <a:xfrm>
              <a:off x="323030" y="3314700"/>
              <a:ext cx="8269287" cy="4767263"/>
              <a:chOff x="323030" y="3314700"/>
              <a:chExt cx="8269287" cy="4767263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DCFB105E-1411-8E22-4C9B-009A70D956B1}"/>
                  </a:ext>
                </a:extLst>
              </p:cNvPr>
              <p:cNvGrpSpPr/>
              <p:nvPr/>
            </p:nvGrpSpPr>
            <p:grpSpPr>
              <a:xfrm>
                <a:off x="323030" y="3314700"/>
                <a:ext cx="4164012" cy="4767263"/>
                <a:chOff x="1152472" y="4536525"/>
                <a:chExt cx="4164012" cy="4767263"/>
              </a:xfrm>
            </p:grpSpPr>
            <p:graphicFrame>
              <p:nvGraphicFramePr>
                <p:cNvPr id="22" name="개체 21">
                  <a:extLst>
                    <a:ext uri="{FF2B5EF4-FFF2-40B4-BE49-F238E27FC236}">
                      <a16:creationId xmlns:a16="http://schemas.microsoft.com/office/drawing/2014/main" id="{7D96F228-B9D8-29B9-6643-AC8DFFCBE3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39329433"/>
                    </p:ext>
                  </p:extLst>
                </p:nvPr>
              </p:nvGraphicFramePr>
              <p:xfrm>
                <a:off x="1152472" y="5020713"/>
                <a:ext cx="4164012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3" imgW="3505775" imgH="3603997" progId="Origin50.Graph">
                        <p:embed/>
                      </p:oleObj>
                    </mc:Choice>
                    <mc:Fallback>
                      <p:oleObj name="Graph" r:id="rId3" imgW="3505775" imgH="3603997" progId="Origin50.Graph">
                        <p:embed/>
                        <p:pic>
                          <p:nvPicPr>
                            <p:cNvPr id="24" name="개체 23">
                              <a:extLst>
                                <a:ext uri="{FF2B5EF4-FFF2-40B4-BE49-F238E27FC236}">
                                  <a16:creationId xmlns:a16="http://schemas.microsoft.com/office/drawing/2014/main" id="{2311BAD4-D128-6B3A-E435-4278BAE288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472" y="5020713"/>
                              <a:ext cx="4164012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B39CB27-F606-71B6-39C3-88C5F1895B87}"/>
                    </a:ext>
                  </a:extLst>
                </p:cNvPr>
                <p:cNvSpPr txBox="1"/>
                <p:nvPr/>
              </p:nvSpPr>
              <p:spPr>
                <a:xfrm>
                  <a:off x="19812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Transfer curve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1200C897-7665-D21D-4B0B-219ED6770A42}"/>
                  </a:ext>
                </a:extLst>
              </p:cNvPr>
              <p:cNvGrpSpPr/>
              <p:nvPr/>
            </p:nvGrpSpPr>
            <p:grpSpPr>
              <a:xfrm>
                <a:off x="4429892" y="3314700"/>
                <a:ext cx="4162425" cy="4767263"/>
                <a:chOff x="1153292" y="4536525"/>
                <a:chExt cx="4162425" cy="4767263"/>
              </a:xfrm>
            </p:grpSpPr>
            <p:graphicFrame>
              <p:nvGraphicFramePr>
                <p:cNvPr id="20" name="개체 19">
                  <a:extLst>
                    <a:ext uri="{FF2B5EF4-FFF2-40B4-BE49-F238E27FC236}">
                      <a16:creationId xmlns:a16="http://schemas.microsoft.com/office/drawing/2014/main" id="{8914ED39-7E35-270F-732C-F1766E8A9CE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12315561"/>
                    </p:ext>
                  </p:extLst>
                </p:nvPr>
              </p:nvGraphicFramePr>
              <p:xfrm>
                <a:off x="1153292" y="5020713"/>
                <a:ext cx="4162425" cy="42830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5" imgW="3505775" imgH="3603997" progId="Origin50.Graph">
                        <p:embed/>
                      </p:oleObj>
                    </mc:Choice>
                    <mc:Fallback>
                      <p:oleObj name="Graph" r:id="rId5" imgW="3505775" imgH="3603997" progId="Origin50.Graph">
                        <p:embed/>
                        <p:pic>
                          <p:nvPicPr>
                            <p:cNvPr id="22" name="개체 21">
                              <a:extLst>
                                <a:ext uri="{FF2B5EF4-FFF2-40B4-BE49-F238E27FC236}">
                                  <a16:creationId xmlns:a16="http://schemas.microsoft.com/office/drawing/2014/main" id="{1CC9B77E-7105-DEEC-9D85-76A8643B83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3292" y="5020713"/>
                              <a:ext cx="4162425" cy="42830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044DC1-289F-A75E-E43F-9210FDA0EED2}"/>
                    </a:ext>
                  </a:extLst>
                </p:cNvPr>
                <p:cNvSpPr txBox="1"/>
                <p:nvPr/>
              </p:nvSpPr>
              <p:spPr>
                <a:xfrm>
                  <a:off x="1905000" y="4536525"/>
                  <a:ext cx="33103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b="1" dirty="0"/>
                    <a:t>Linear Mobility (V</a:t>
                  </a:r>
                  <a:r>
                    <a:rPr lang="en-US" altLang="ko-KR" sz="2400" b="1" baseline="-25000" dirty="0"/>
                    <a:t>D</a:t>
                  </a:r>
                  <a:r>
                    <a:rPr lang="en-US" altLang="ko-KR" sz="2400" b="1" dirty="0"/>
                    <a:t>=1V)</a:t>
                  </a:r>
                  <a:endParaRPr lang="ko-KR" altLang="en-US" sz="2400" b="1" dirty="0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BAF985-1AC2-AD41-1FF8-0933A292C2C5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637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5297838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244247"/>
                </p:ext>
              </p:extLst>
            </p:nvPr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D13)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838A18-C03C-A251-C834-012810084F13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FD4AD033-B447-61D8-72CB-A78905E18C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3865827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18781A-1BEC-6105-ED87-608E166F1A98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7FD0AF6-AA7D-E0EB-9D1C-74D1BD8CE60F}"/>
              </a:ext>
            </a:extLst>
          </p:cNvPr>
          <p:cNvSpPr txBox="1"/>
          <p:nvPr/>
        </p:nvSpPr>
        <p:spPr>
          <a:xfrm>
            <a:off x="1905000" y="8997812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en-US" altLang="ko-KR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F9AFA-0641-2BFD-E1CA-4485FF33DE5F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660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249343"/>
                </p:ext>
              </p:extLst>
            </p:nvPr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D14)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78B4F30-2387-4C15-7337-1299365C5B52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7784767B-E6B0-155F-B796-C423F9DB78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718266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255292-B72B-846E-4F80-C7FD1953295F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B850C7-0094-DA35-C70D-A13AA448257A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SP,</a:t>
            </a:r>
            <a:r>
              <a:rPr lang="ko-KR" altLang="en-US" sz="2000" b="1" dirty="0"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ym typeface="Wingdings" panose="05000000000000000000" pitchFamily="2" charset="2"/>
              </a:rPr>
              <a:t>STP</a:t>
            </a:r>
            <a:r>
              <a:rPr lang="ko-KR" altLang="en-US" sz="2000" b="1" dirty="0">
                <a:sym typeface="Wingdings" panose="05000000000000000000" pitchFamily="2" charset="2"/>
              </a:rPr>
              <a:t> 측정하고 나니까 </a:t>
            </a:r>
            <a:r>
              <a:rPr lang="en-US" altLang="ko-KR" sz="2000" b="1" dirty="0">
                <a:sym typeface="Wingdings" panose="05000000000000000000" pitchFamily="2" charset="2"/>
              </a:rPr>
              <a:t>LTP </a:t>
            </a:r>
            <a:r>
              <a:rPr lang="ko-KR" altLang="en-US" sz="2000" b="1" dirty="0">
                <a:sym typeface="Wingdings" panose="05000000000000000000" pitchFamily="2" charset="2"/>
              </a:rPr>
              <a:t>측정할 소자가 없어서 측정 못 함</a:t>
            </a:r>
            <a:r>
              <a:rPr lang="en-US" altLang="ko-KR" sz="2000" b="1" dirty="0">
                <a:sym typeface="Wingdings" panose="05000000000000000000" pitchFamily="2" charset="2"/>
              </a:rPr>
              <a:t>…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93A5F-CF3A-6373-327C-EAA4A5C00C01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218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D8B425-359A-68F2-A5A2-6629123B86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4638" y="2781300"/>
            <a:ext cx="5353050" cy="5913984"/>
            <a:chOff x="8909493" y="2324100"/>
            <a:chExt cx="4474684" cy="4943576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B98952FE-3212-2128-4D3E-13F10BCB35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09493" y="2664273"/>
            <a:ext cx="4474684" cy="460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3505775" imgH="3603997" progId="Origin50.Graph">
                    <p:embed/>
                  </p:oleObj>
                </mc:Choice>
                <mc:Fallback>
                  <p:oleObj name="Graph" r:id="rId3" imgW="3505775" imgH="360399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B98952FE-3212-2128-4D3E-13F10BCB3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9493" y="2664273"/>
                          <a:ext cx="4474684" cy="4603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F39381-82D7-0314-2994-70A0F346E3A0}"/>
                </a:ext>
              </a:extLst>
            </p:cNvPr>
            <p:cNvSpPr txBox="1"/>
            <p:nvPr/>
          </p:nvSpPr>
          <p:spPr>
            <a:xfrm>
              <a:off x="99060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STP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BC1E74-8DFA-9C04-CA6A-F2EC86C32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2781300"/>
            <a:ext cx="5387991" cy="5954400"/>
            <a:chOff x="13359836" y="2324100"/>
            <a:chExt cx="4475162" cy="4945610"/>
          </a:xfrm>
        </p:grpSpPr>
        <p:graphicFrame>
          <p:nvGraphicFramePr>
            <p:cNvPr id="10" name="개체 9">
              <a:extLst>
                <a:ext uri="{FF2B5EF4-FFF2-40B4-BE49-F238E27FC236}">
                  <a16:creationId xmlns:a16="http://schemas.microsoft.com/office/drawing/2014/main" id="{78890074-70D4-0DC8-D30F-AED4E11AA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59836" y="2664373"/>
            <a:ext cx="4475162" cy="4605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505775" imgH="3603997" progId="Origin50.Graph">
                    <p:embed/>
                  </p:oleObj>
                </mc:Choice>
                <mc:Fallback>
                  <p:oleObj name="Graph" r:id="rId5" imgW="3505775" imgH="3603997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78890074-70D4-0DC8-D30F-AED4E11AA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59836" y="2664373"/>
                          <a:ext cx="4475162" cy="4605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6A4057-FA8C-350A-7451-2B6CA883ED2E}"/>
                </a:ext>
              </a:extLst>
            </p:cNvPr>
            <p:cNvSpPr txBox="1"/>
            <p:nvPr/>
          </p:nvSpPr>
          <p:spPr>
            <a:xfrm>
              <a:off x="143256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LTP</a:t>
              </a:r>
              <a:endParaRPr lang="ko-KR" altLang="en-US" sz="2400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73F575-4255-FE57-60A8-CC517F3A29EE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D15) IGO(1:1)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2CAAF6-5A28-584B-6231-B5109616D517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" y="2781300"/>
            <a:ext cx="5353050" cy="5913985"/>
            <a:chOff x="4459886" y="2324100"/>
            <a:chExt cx="4474925" cy="4943843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C32CE69C-6175-FBD1-0F34-D75D064800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3183845"/>
                </p:ext>
              </p:extLst>
            </p:nvPr>
          </p:nvGraphicFramePr>
          <p:xfrm>
            <a:off x="4459886" y="2664291"/>
            <a:ext cx="4474925" cy="4603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3505775" imgH="3603997" progId="Origin50.Graph">
                    <p:embed/>
                  </p:oleObj>
                </mc:Choice>
                <mc:Fallback>
                  <p:oleObj name="Graph" r:id="rId7" imgW="3505775" imgH="3603997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DD7C094A-D26C-E9A1-8C79-E4D8292AB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9886" y="2664291"/>
                          <a:ext cx="4474925" cy="4603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638A4B-1535-BCF9-CFC2-A9F3E9AFF78B}"/>
                </a:ext>
              </a:extLst>
            </p:cNvPr>
            <p:cNvSpPr txBox="1"/>
            <p:nvPr/>
          </p:nvSpPr>
          <p:spPr>
            <a:xfrm>
              <a:off x="5486400" y="23241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Single Pulse</a:t>
              </a:r>
              <a:endParaRPr lang="ko-KR" altLang="en-US" sz="2400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C1BC1A-C93C-ACAD-2FB5-ECED499E7A5D}"/>
              </a:ext>
            </a:extLst>
          </p:cNvPr>
          <p:cNvSpPr txBox="1"/>
          <p:nvPr/>
        </p:nvSpPr>
        <p:spPr>
          <a:xfrm>
            <a:off x="1905000" y="8997812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Single pulse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Decay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time</a:t>
            </a:r>
            <a:r>
              <a:rPr lang="ko-KR" altLang="en-US" sz="2000" b="1" dirty="0"/>
              <a:t> 동안 전류가 증가하는 현상이 나타나지 않음</a:t>
            </a:r>
            <a:endParaRPr lang="en-US" altLang="ko-KR" sz="2000" b="1" dirty="0"/>
          </a:p>
          <a:p>
            <a:r>
              <a:rPr lang="en-US" altLang="ko-KR" sz="2000" b="1" dirty="0">
                <a:sym typeface="Wingdings" panose="05000000000000000000" pitchFamily="2" charset="2"/>
              </a:rPr>
              <a:t> SP </a:t>
            </a:r>
            <a:r>
              <a:rPr lang="ko-KR" altLang="en-US" sz="2000" b="1" dirty="0">
                <a:sym typeface="Wingdings" panose="05000000000000000000" pitchFamily="2" charset="2"/>
              </a:rPr>
              <a:t>측정하고 나니까 </a:t>
            </a:r>
            <a:r>
              <a:rPr lang="en-US" altLang="ko-KR" sz="2000" b="1" dirty="0">
                <a:sym typeface="Wingdings" panose="05000000000000000000" pitchFamily="2" charset="2"/>
              </a:rPr>
              <a:t>STP, LTP </a:t>
            </a:r>
            <a:r>
              <a:rPr lang="ko-KR" altLang="en-US" sz="2000" b="1" dirty="0">
                <a:sym typeface="Wingdings" panose="05000000000000000000" pitchFamily="2" charset="2"/>
              </a:rPr>
              <a:t>측정할 소자가 없어서 측정 못 함</a:t>
            </a:r>
            <a:r>
              <a:rPr lang="en-US" altLang="ko-KR" sz="2000" b="1" dirty="0">
                <a:sym typeface="Wingdings" panose="05000000000000000000" pitchFamily="2" charset="2"/>
              </a:rPr>
              <a:t>…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107A5-C114-5F97-CED7-1E8DB509683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9843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F1BEE785-F256-635B-59CA-229BA73E8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620501"/>
              </p:ext>
            </p:extLst>
          </p:nvPr>
        </p:nvGraphicFramePr>
        <p:xfrm>
          <a:off x="254000" y="3106738"/>
          <a:ext cx="6591300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9272" imgH="2979683" progId="Origin50.Graph">
                  <p:embed/>
                </p:oleObj>
              </mc:Choice>
              <mc:Fallback>
                <p:oleObj name="Graph" r:id="rId3" imgW="4099272" imgH="2979683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F1BEE785-F256-635B-59CA-229BA73E8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000" y="3106738"/>
                        <a:ext cx="6591300" cy="479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6F1308E5-ABDE-A33C-88A3-EFE0C5EB5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833742"/>
              </p:ext>
            </p:extLst>
          </p:nvPr>
        </p:nvGraphicFramePr>
        <p:xfrm>
          <a:off x="6188075" y="3106738"/>
          <a:ext cx="6597650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8237" imgH="2979683" progId="Origin50.Graph">
                  <p:embed/>
                </p:oleObj>
              </mc:Choice>
              <mc:Fallback>
                <p:oleObj name="Graph" r:id="rId5" imgW="4098237" imgH="2979683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6F1308E5-ABDE-A33C-88A3-EFE0C5EB5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8075" y="3106738"/>
                        <a:ext cx="6597650" cy="479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B50A4294-8C6C-B8F4-D074-60455CE39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503690"/>
              </p:ext>
            </p:extLst>
          </p:nvPr>
        </p:nvGraphicFramePr>
        <p:xfrm>
          <a:off x="12128500" y="3106738"/>
          <a:ext cx="6591300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099272" imgH="2979683" progId="Origin50.Graph">
                  <p:embed/>
                </p:oleObj>
              </mc:Choice>
              <mc:Fallback>
                <p:oleObj name="Graph" r:id="rId7" imgW="4099272" imgH="2979683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B50A4294-8C6C-B8F4-D074-60455CE39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28500" y="3106738"/>
                        <a:ext cx="6591300" cy="479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E3569AD-30DB-C692-5569-1698C102ED05}"/>
              </a:ext>
            </a:extLst>
          </p:cNvPr>
          <p:cNvSpPr txBox="1"/>
          <p:nvPr/>
        </p:nvSpPr>
        <p:spPr>
          <a:xfrm>
            <a:off x="1525313" y="3767435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66DFF-8925-A34A-7C70-2B790AFE7015}"/>
              </a:ext>
            </a:extLst>
          </p:cNvPr>
          <p:cNvSpPr txBox="1"/>
          <p:nvPr/>
        </p:nvSpPr>
        <p:spPr>
          <a:xfrm>
            <a:off x="7467600" y="3767435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0E1BF-4304-7B14-1726-589DC35FDF76}"/>
              </a:ext>
            </a:extLst>
          </p:cNvPr>
          <p:cNvSpPr txBox="1"/>
          <p:nvPr/>
        </p:nvSpPr>
        <p:spPr>
          <a:xfrm>
            <a:off x="13411200" y="3767435"/>
            <a:ext cx="209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8916C-B0D9-636F-56D6-D674408C1B36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0CFF1-6C9E-973A-C6C9-58A4051C71AD}"/>
              </a:ext>
            </a:extLst>
          </p:cNvPr>
          <p:cNvSpPr txBox="1"/>
          <p:nvPr/>
        </p:nvSpPr>
        <p:spPr>
          <a:xfrm>
            <a:off x="1066800" y="2211169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빛을 인가한 후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최고점</a:t>
            </a:r>
            <a:endParaRPr lang="en-US" altLang="ko-KR" dirty="0">
              <a:latin typeface="TDTD강굴림" panose="020B0600000101010101" charset="-127"/>
              <a:ea typeface="TDTD강굴림" panose="020B0600000101010101" charset="-127"/>
            </a:endParaRPr>
          </a:p>
          <a:p>
            <a:r>
              <a:rPr lang="en-US" altLang="ko-KR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 err="1"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빛을 인가하기 전의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>
                <a:latin typeface="TDTD강굴림" panose="020B0600000101010101" charset="-127"/>
                <a:ea typeface="TDTD강굴림" panose="020B0600000101010101" charset="-127"/>
              </a:rPr>
              <a:t>OFF</a:t>
            </a:r>
            <a:endParaRPr lang="ko-KR" altLang="en-US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776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628FD0D-AF5E-E6AD-8F57-81A770BA2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584" y="1911300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14800" imgH="2909455" progId="Origin50.Graph">
                  <p:embed/>
                </p:oleObj>
              </mc:Choice>
              <mc:Fallback>
                <p:oleObj name="Graph" r:id="rId3" imgW="4114800" imgH="2909455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628FD0D-AF5E-E6AD-8F57-81A770BA2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37584" y="1911300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5A6AA9E6-9B5E-4738-29DE-94B857020D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796310"/>
              </p:ext>
            </p:extLst>
          </p:nvPr>
        </p:nvGraphicFramePr>
        <p:xfrm>
          <a:off x="12179968" y="1911300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14800" imgH="2909455" progId="Origin50.Graph">
                  <p:embed/>
                </p:oleObj>
              </mc:Choice>
              <mc:Fallback>
                <p:oleObj name="Graph" r:id="rId5" imgW="4114800" imgH="2909455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5A6AA9E6-9B5E-4738-29DE-94B857020D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79968" y="1911300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4000527F-63CC-5263-730E-ED1D0D323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920815"/>
              </p:ext>
            </p:extLst>
          </p:nvPr>
        </p:nvGraphicFramePr>
        <p:xfrm>
          <a:off x="-304800" y="1911300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114800" imgH="2909455" progId="Origin50.Graph">
                  <p:embed/>
                </p:oleObj>
              </mc:Choice>
              <mc:Fallback>
                <p:oleObj name="Graph" r:id="rId7" imgW="4114800" imgH="2909455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4000527F-63CC-5263-730E-ED1D0D323F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304800" y="1911300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569AD-30DB-C692-5569-1698C102ED05}"/>
              </a:ext>
            </a:extLst>
          </p:cNvPr>
          <p:cNvSpPr txBox="1"/>
          <p:nvPr/>
        </p:nvSpPr>
        <p:spPr>
          <a:xfrm>
            <a:off x="3276600" y="2483703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</a:p>
          <a:p>
            <a:pPr algn="r"/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8916C-B0D9-636F-56D6-D674408C1B36}"/>
                  </a:ext>
                </a:extLst>
              </p:cNvPr>
              <p:cNvSpPr txBox="1"/>
              <p:nvPr/>
            </p:nvSpPr>
            <p:spPr>
              <a:xfrm>
                <a:off x="410400" y="1362555"/>
                <a:ext cx="17668164" cy="96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■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Single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pulse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에서 </a:t>
                </a:r>
                <a:r>
                  <a:rPr lang="en-US" altLang="ko-KR" sz="4000" dirty="0" err="1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I</a:t>
                </a:r>
                <a:r>
                  <a:rPr lang="en-US" altLang="ko-KR" sz="4000" baseline="-25000" dirty="0" err="1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peak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의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400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fPr>
                      <m:num>
                        <m:r>
                          <a:rPr lang="en-US" altLang="ko-KR" sz="4000" b="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1</m:t>
                        </m:r>
                      </m:num>
                      <m:den>
                        <m:r>
                          <a:rPr lang="en-US" altLang="ko-KR" sz="4000" b="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(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약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36%)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가 되기까지의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Decay time</a:t>
                </a:r>
                <a:endParaRPr lang="en-US" altLang="ko-KR" sz="40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8916C-B0D9-636F-56D6-D674408C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362555"/>
                <a:ext cx="17668164" cy="961545"/>
              </a:xfrm>
              <a:prstGeom prst="rect">
                <a:avLst/>
              </a:prstGeom>
              <a:blipFill>
                <a:blip r:embed="rId9"/>
                <a:stretch>
                  <a:fillRect l="-1207" b="-14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FEA5655C-C8FD-D885-02D0-64D527B22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59743"/>
              </p:ext>
            </p:extLst>
          </p:nvPr>
        </p:nvGraphicFramePr>
        <p:xfrm>
          <a:off x="-304800" y="5851500"/>
          <a:ext cx="6616800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772246" imgH="2887287" progId="Origin50.Graph">
                  <p:embed/>
                </p:oleObj>
              </mc:Choice>
              <mc:Fallback>
                <p:oleObj name="Graph" r:id="rId10" imgW="3772246" imgH="2887287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FEA5655C-C8FD-D885-02D0-64D527B22E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304800" y="5851500"/>
                        <a:ext cx="6616800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FA18CAF9-B92E-D40B-8AAE-443E90B38B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411839"/>
              </p:ext>
            </p:extLst>
          </p:nvPr>
        </p:nvGraphicFramePr>
        <p:xfrm>
          <a:off x="5938121" y="5851500"/>
          <a:ext cx="6616800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3772246" imgH="2887287" progId="Origin50.Graph">
                  <p:embed/>
                </p:oleObj>
              </mc:Choice>
              <mc:Fallback>
                <p:oleObj name="Graph" r:id="rId12" imgW="3772246" imgH="2887287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FA18CAF9-B92E-D40B-8AAE-443E90B38B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38121" y="5851500"/>
                        <a:ext cx="6616800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개체 18">
            <a:extLst>
              <a:ext uri="{FF2B5EF4-FFF2-40B4-BE49-F238E27FC236}">
                <a16:creationId xmlns:a16="http://schemas.microsoft.com/office/drawing/2014/main" id="{D324506F-4FE0-C5F0-1DE7-1565B545D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601921"/>
              </p:ext>
            </p:extLst>
          </p:nvPr>
        </p:nvGraphicFramePr>
        <p:xfrm>
          <a:off x="12181042" y="5851500"/>
          <a:ext cx="6616800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4114800" imgH="2909455" progId="Origin50.Graph">
                  <p:embed/>
                </p:oleObj>
              </mc:Choice>
              <mc:Fallback>
                <p:oleObj name="Graph" r:id="rId14" imgW="4114800" imgH="2909455" progId="Origin50.Graph">
                  <p:embed/>
                  <p:pic>
                    <p:nvPicPr>
                      <p:cNvPr id="19" name="개체 18">
                        <a:extLst>
                          <a:ext uri="{FF2B5EF4-FFF2-40B4-BE49-F238E27FC236}">
                            <a16:creationId xmlns:a16="http://schemas.microsoft.com/office/drawing/2014/main" id="{D324506F-4FE0-C5F0-1DE7-1565B545D4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181042" y="5851500"/>
                        <a:ext cx="6616800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52BAB32-1828-0E7E-5DF5-6DFEB75440FA}"/>
              </a:ext>
            </a:extLst>
          </p:cNvPr>
          <p:cNvSpPr txBox="1"/>
          <p:nvPr/>
        </p:nvSpPr>
        <p:spPr>
          <a:xfrm>
            <a:off x="9525000" y="2483703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</a:p>
          <a:p>
            <a:pPr algn="r"/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E2C11D-03ED-C8A0-0648-2019DE5ED2DA}"/>
              </a:ext>
            </a:extLst>
          </p:cNvPr>
          <p:cNvSpPr txBox="1"/>
          <p:nvPr/>
        </p:nvSpPr>
        <p:spPr>
          <a:xfrm>
            <a:off x="15773400" y="2483703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</a:p>
          <a:p>
            <a:pPr algn="r"/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4E926A-9A0B-9F97-955E-EA2C9062F625}"/>
              </a:ext>
            </a:extLst>
          </p:cNvPr>
          <p:cNvSpPr txBox="1"/>
          <p:nvPr/>
        </p:nvSpPr>
        <p:spPr>
          <a:xfrm>
            <a:off x="3276600" y="6431738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6C43D-2829-891A-DE40-0CB3905D53A5}"/>
              </a:ext>
            </a:extLst>
          </p:cNvPr>
          <p:cNvSpPr txBox="1"/>
          <p:nvPr/>
        </p:nvSpPr>
        <p:spPr>
          <a:xfrm>
            <a:off x="9525000" y="69723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0F6BA-F618-679E-209B-848195AFC4E3}"/>
              </a:ext>
            </a:extLst>
          </p:cNvPr>
          <p:cNvSpPr txBox="1"/>
          <p:nvPr/>
        </p:nvSpPr>
        <p:spPr>
          <a:xfrm>
            <a:off x="15773400" y="6431738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33290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78CB2A-A7A3-6E58-81CE-DAEF3E17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3" name="Image 1" descr="Picture">
            <a:extLst>
              <a:ext uri="{FF2B5EF4-FFF2-40B4-BE49-F238E27FC236}">
                <a16:creationId xmlns:a16="http://schemas.microsoft.com/office/drawing/2014/main" id="{1E7B32A0-1973-C9FA-9D91-369633BE59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2476500"/>
            <a:ext cx="14859000" cy="7543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68A04D-0D09-B445-EF88-6676CA463EE3}"/>
              </a:ext>
            </a:extLst>
          </p:cNvPr>
          <p:cNvSpPr txBox="1"/>
          <p:nvPr/>
        </p:nvSpPr>
        <p:spPr>
          <a:xfrm>
            <a:off x="410400" y="15400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SEF fitting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정확도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64197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8916C-B0D9-636F-56D6-D674408C1B36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SEF fitting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했을 때의 </a:t>
            </a:r>
            <a:r>
              <a:rPr lang="el-GR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β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4E926A-9A0B-9F97-955E-EA2C9062F625}"/>
              </a:ext>
            </a:extLst>
          </p:cNvPr>
          <p:cNvSpPr txBox="1"/>
          <p:nvPr/>
        </p:nvSpPr>
        <p:spPr>
          <a:xfrm>
            <a:off x="3746065" y="3787539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6C43D-2829-891A-DE40-0CB3905D53A5}"/>
              </a:ext>
            </a:extLst>
          </p:cNvPr>
          <p:cNvSpPr txBox="1"/>
          <p:nvPr/>
        </p:nvSpPr>
        <p:spPr>
          <a:xfrm>
            <a:off x="9525000" y="3787539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0F6BA-F618-679E-209B-848195AFC4E3}"/>
              </a:ext>
            </a:extLst>
          </p:cNvPr>
          <p:cNvSpPr txBox="1"/>
          <p:nvPr/>
        </p:nvSpPr>
        <p:spPr>
          <a:xfrm>
            <a:off x="15316200" y="3787539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EC903CDE-4E60-5842-8C3A-C3D842F89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034511"/>
              </p:ext>
            </p:extLst>
          </p:nvPr>
        </p:nvGraphicFramePr>
        <p:xfrm>
          <a:off x="5943600" y="3238500"/>
          <a:ext cx="6617875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14800" imgH="2909455" progId="Origin50.Graph">
                  <p:embed/>
                </p:oleObj>
              </mc:Choice>
              <mc:Fallback>
                <p:oleObj name="Graph" r:id="rId3" imgW="4114800" imgH="2909455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EC903CDE-4E60-5842-8C3A-C3D842F891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3600" y="3238500"/>
                        <a:ext cx="6617875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33EFD8D6-9A03-707E-C6F5-2EE222D91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14510"/>
              </p:ext>
            </p:extLst>
          </p:nvPr>
        </p:nvGraphicFramePr>
        <p:xfrm>
          <a:off x="163925" y="3238500"/>
          <a:ext cx="6617875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14800" imgH="2909455" progId="Origin50.Graph">
                  <p:embed/>
                </p:oleObj>
              </mc:Choice>
              <mc:Fallback>
                <p:oleObj name="Graph" r:id="rId5" imgW="4114800" imgH="2909455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33EFD8D6-9A03-707E-C6F5-2EE222D91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925" y="3238500"/>
                        <a:ext cx="6617875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1F52A31D-6F8E-E62B-7C54-094D5D6C9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864249"/>
              </p:ext>
            </p:extLst>
          </p:nvPr>
        </p:nvGraphicFramePr>
        <p:xfrm>
          <a:off x="11734800" y="3238500"/>
          <a:ext cx="6617875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114800" imgH="2909455" progId="Origin50.Graph">
                  <p:embed/>
                </p:oleObj>
              </mc:Choice>
              <mc:Fallback>
                <p:oleObj name="Graph" r:id="rId7" imgW="4114800" imgH="2909455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1F52A31D-6F8E-E62B-7C54-094D5D6C9E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734800" y="3238500"/>
                        <a:ext cx="6617875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8585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DA497947-88D6-8214-48A0-81CB41B46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097099"/>
              </p:ext>
            </p:extLst>
          </p:nvPr>
        </p:nvGraphicFramePr>
        <p:xfrm>
          <a:off x="12127778" y="5797500"/>
          <a:ext cx="6617875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14800" imgH="2909455" progId="Origin50.Graph">
                  <p:embed/>
                </p:oleObj>
              </mc:Choice>
              <mc:Fallback>
                <p:oleObj name="Graph" r:id="rId3" imgW="4114800" imgH="2909455" progId="Origin50.Graph">
                  <p:embed/>
                  <p:pic>
                    <p:nvPicPr>
                      <p:cNvPr id="21" name="개체 20">
                        <a:extLst>
                          <a:ext uri="{FF2B5EF4-FFF2-40B4-BE49-F238E27FC236}">
                            <a16:creationId xmlns:a16="http://schemas.microsoft.com/office/drawing/2014/main" id="{DA497947-88D6-8214-48A0-81CB41B46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27778" y="5797500"/>
                        <a:ext cx="6617875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개체 25">
            <a:extLst>
              <a:ext uri="{FF2B5EF4-FFF2-40B4-BE49-F238E27FC236}">
                <a16:creationId xmlns:a16="http://schemas.microsoft.com/office/drawing/2014/main" id="{D0CD0F23-F237-A70F-9D0B-ACB35C9FF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08776"/>
              </p:ext>
            </p:extLst>
          </p:nvPr>
        </p:nvGraphicFramePr>
        <p:xfrm>
          <a:off x="6050940" y="5797500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14800" imgH="2909455" progId="Origin50.Graph">
                  <p:embed/>
                </p:oleObj>
              </mc:Choice>
              <mc:Fallback>
                <p:oleObj name="Graph" r:id="rId5" imgW="4114800" imgH="2909455" progId="Origin50.Graph">
                  <p:embed/>
                  <p:pic>
                    <p:nvPicPr>
                      <p:cNvPr id="26" name="개체 25">
                        <a:extLst>
                          <a:ext uri="{FF2B5EF4-FFF2-40B4-BE49-F238E27FC236}">
                            <a16:creationId xmlns:a16="http://schemas.microsoft.com/office/drawing/2014/main" id="{D0CD0F23-F237-A70F-9D0B-ACB35C9FF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50940" y="5797500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개체 24">
            <a:extLst>
              <a:ext uri="{FF2B5EF4-FFF2-40B4-BE49-F238E27FC236}">
                <a16:creationId xmlns:a16="http://schemas.microsoft.com/office/drawing/2014/main" id="{F97E84FF-D2D2-812E-E190-D67852D13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782546"/>
              </p:ext>
            </p:extLst>
          </p:nvPr>
        </p:nvGraphicFramePr>
        <p:xfrm>
          <a:off x="-25899" y="5797500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114800" imgH="2909455" progId="Origin50.Graph">
                  <p:embed/>
                </p:oleObj>
              </mc:Choice>
              <mc:Fallback>
                <p:oleObj name="Graph" r:id="rId7" imgW="4114800" imgH="2909455" progId="Origin50.Graph">
                  <p:embed/>
                  <p:pic>
                    <p:nvPicPr>
                      <p:cNvPr id="25" name="개체 24">
                        <a:extLst>
                          <a:ext uri="{FF2B5EF4-FFF2-40B4-BE49-F238E27FC236}">
                            <a16:creationId xmlns:a16="http://schemas.microsoft.com/office/drawing/2014/main" id="{F97E84FF-D2D2-812E-E190-D67852D138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25899" y="5797500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CD75BE1D-224C-DF6E-EB9F-5C37CC3F9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990081"/>
              </p:ext>
            </p:extLst>
          </p:nvPr>
        </p:nvGraphicFramePr>
        <p:xfrm>
          <a:off x="12127778" y="1751738"/>
          <a:ext cx="6617873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114800" imgH="2909455" progId="Origin50.Graph">
                  <p:embed/>
                </p:oleObj>
              </mc:Choice>
              <mc:Fallback>
                <p:oleObj name="Graph" r:id="rId9" imgW="4114800" imgH="2909455" progId="Origin50.Graph">
                  <p:embed/>
                  <p:pic>
                    <p:nvPicPr>
                      <p:cNvPr id="20" name="개체 19">
                        <a:extLst>
                          <a:ext uri="{FF2B5EF4-FFF2-40B4-BE49-F238E27FC236}">
                            <a16:creationId xmlns:a16="http://schemas.microsoft.com/office/drawing/2014/main" id="{CD75BE1D-224C-DF6E-EB9F-5C37CC3F9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27778" y="1751738"/>
                        <a:ext cx="6617873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AE8094C1-BCD4-E846-F334-41BE449830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100639"/>
              </p:ext>
            </p:extLst>
          </p:nvPr>
        </p:nvGraphicFramePr>
        <p:xfrm>
          <a:off x="-25899" y="1751738"/>
          <a:ext cx="6617874" cy="46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4114800" imgH="2909455" progId="Origin50.Graph">
                  <p:embed/>
                </p:oleObj>
              </mc:Choice>
              <mc:Fallback>
                <p:oleObj name="Graph" r:id="rId11" imgW="4114800" imgH="2909455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AE8094C1-BCD4-E846-F334-41BE449830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-25899" y="1751738"/>
                        <a:ext cx="6617874" cy="46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10%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가 되기까지의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1B03D-A796-3A4B-154B-B03285B218CE}"/>
              </a:ext>
            </a:extLst>
          </p:cNvPr>
          <p:cNvSpPr txBox="1"/>
          <p:nvPr/>
        </p:nvSpPr>
        <p:spPr>
          <a:xfrm>
            <a:off x="3543670" y="23241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</a:p>
          <a:p>
            <a:pPr algn="r"/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9605F-AA61-F1A5-624B-5EF07F898489}"/>
              </a:ext>
            </a:extLst>
          </p:cNvPr>
          <p:cNvSpPr txBox="1"/>
          <p:nvPr/>
        </p:nvSpPr>
        <p:spPr>
          <a:xfrm>
            <a:off x="7523056" y="3040440"/>
            <a:ext cx="36736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</a:p>
          <a:p>
            <a:pPr algn="ctr"/>
            <a:r>
              <a:rPr lang="en-US" altLang="ko-KR" sz="2400" b="1" dirty="0"/>
              <a:t>Measured</a:t>
            </a:r>
          </a:p>
          <a:p>
            <a:pPr algn="ctr"/>
            <a:r>
              <a:rPr lang="en-US" altLang="ko-KR" sz="2400" b="1" dirty="0">
                <a:sym typeface="Wingdings" panose="05000000000000000000" pitchFamily="2" charset="2"/>
              </a:rPr>
              <a:t> PPC</a:t>
            </a:r>
            <a:r>
              <a:rPr lang="ko-KR" altLang="en-US" sz="2400" b="1" dirty="0">
                <a:sym typeface="Wingdings" panose="05000000000000000000" pitchFamily="2" charset="2"/>
              </a:rPr>
              <a:t>가 너무 길어서 </a:t>
            </a:r>
            <a:r>
              <a:rPr lang="en-US" altLang="ko-KR" sz="2400" b="1" dirty="0">
                <a:sym typeface="Wingdings" panose="05000000000000000000" pitchFamily="2" charset="2"/>
              </a:rPr>
              <a:t>meas. </a:t>
            </a:r>
            <a:r>
              <a:rPr lang="ko-KR" altLang="en-US" sz="2400" b="1" dirty="0">
                <a:sym typeface="Wingdings" panose="05000000000000000000" pitchFamily="2" charset="2"/>
              </a:rPr>
              <a:t>데이터가 없음</a:t>
            </a:r>
            <a:endParaRPr lang="ko-KR" alt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0B0EDF-52C6-9413-ACB7-FDEC392C94D3}"/>
              </a:ext>
            </a:extLst>
          </p:cNvPr>
          <p:cNvSpPr txBox="1"/>
          <p:nvPr/>
        </p:nvSpPr>
        <p:spPr>
          <a:xfrm>
            <a:off x="15697200" y="23241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</a:p>
          <a:p>
            <a:pPr algn="r"/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34816F-351B-2626-E30A-A708B0D383E4}"/>
              </a:ext>
            </a:extLst>
          </p:cNvPr>
          <p:cNvSpPr txBox="1"/>
          <p:nvPr/>
        </p:nvSpPr>
        <p:spPr>
          <a:xfrm>
            <a:off x="3543670" y="63627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3261D-060B-B851-C5A3-430F5E542B83}"/>
              </a:ext>
            </a:extLst>
          </p:cNvPr>
          <p:cNvSpPr txBox="1"/>
          <p:nvPr/>
        </p:nvSpPr>
        <p:spPr>
          <a:xfrm>
            <a:off x="9639670" y="63627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0.2M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4B6210-4D6D-28D5-0001-C8ED37F8A9CA}"/>
              </a:ext>
            </a:extLst>
          </p:cNvPr>
          <p:cNvSpPr txBox="1"/>
          <p:nvPr/>
        </p:nvSpPr>
        <p:spPr>
          <a:xfrm>
            <a:off x="15697200" y="6362700"/>
            <a:ext cx="209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0.3M</a:t>
            </a:r>
          </a:p>
          <a:p>
            <a:pPr algn="r"/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25373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97133922-A0E0-365E-B866-E6538B0FB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829421"/>
              </p:ext>
            </p:extLst>
          </p:nvPr>
        </p:nvGraphicFramePr>
        <p:xfrm>
          <a:off x="457200" y="3899301"/>
          <a:ext cx="7125735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14800" imgH="2909455" progId="Origin50.Graph">
                  <p:embed/>
                </p:oleObj>
              </mc:Choice>
              <mc:Fallback>
                <p:oleObj name="Graph" r:id="rId3" imgW="4114800" imgH="2909455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97133922-A0E0-365E-B866-E6538B0FB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3899301"/>
                        <a:ext cx="7125735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B5BBE44A-41F7-C844-FFEF-9874129B0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43422"/>
              </p:ext>
            </p:extLst>
          </p:nvPr>
        </p:nvGraphicFramePr>
        <p:xfrm>
          <a:off x="6744735" y="3899301"/>
          <a:ext cx="7126941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14800" imgH="2909455" progId="Origin50.Graph">
                  <p:embed/>
                </p:oleObj>
              </mc:Choice>
              <mc:Fallback>
                <p:oleObj name="Graph" r:id="rId5" imgW="4114800" imgH="2909455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B5BBE44A-41F7-C844-FFEF-9874129B0E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4735" y="3899301"/>
                        <a:ext cx="7126941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1B03D-A796-3A4B-154B-B03285B218CE}"/>
              </a:ext>
            </a:extLst>
          </p:cNvPr>
          <p:cNvSpPr txBox="1"/>
          <p:nvPr/>
        </p:nvSpPr>
        <p:spPr>
          <a:xfrm>
            <a:off x="1791070" y="4508901"/>
            <a:ext cx="4076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0.1M, 0.2M, 0.3M</a:t>
            </a:r>
          </a:p>
          <a:p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3261D-060B-B851-C5A3-430F5E542B83}"/>
              </a:ext>
            </a:extLst>
          </p:cNvPr>
          <p:cNvSpPr txBox="1"/>
          <p:nvPr/>
        </p:nvSpPr>
        <p:spPr>
          <a:xfrm>
            <a:off x="8077064" y="4508901"/>
            <a:ext cx="388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0.1M, 0.2M, 0.3M</a:t>
            </a:r>
          </a:p>
          <a:p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967A6-9E45-2748-3948-1CE36166123D}"/>
              </a:ext>
            </a:extLst>
          </p:cNvPr>
          <p:cNvSpPr txBox="1"/>
          <p:nvPr/>
        </p:nvSpPr>
        <p:spPr>
          <a:xfrm>
            <a:off x="990600" y="2446829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V</a:t>
            </a:r>
            <a:r>
              <a:rPr lang="en-US" altLang="ko-KR" sz="2400" baseline="-25000" dirty="0">
                <a:solidFill>
                  <a:srgbClr val="FF0000"/>
                </a:solidFill>
              </a:rPr>
              <a:t>G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&gt;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0 V : Decay time</a:t>
            </a:r>
            <a:r>
              <a:rPr lang="ko-KR" altLang="en-US" sz="2400" dirty="0">
                <a:solidFill>
                  <a:srgbClr val="FF0000"/>
                </a:solidFill>
              </a:rPr>
              <a:t>이 짧음 </a:t>
            </a:r>
            <a:r>
              <a:rPr lang="en-US" altLang="ko-KR" sz="2400" dirty="0">
                <a:solidFill>
                  <a:srgbClr val="FF0000"/>
                </a:solidFill>
              </a:rPr>
              <a:t>(10 s </a:t>
            </a:r>
            <a:r>
              <a:rPr lang="ko-KR" altLang="en-US" sz="2400" dirty="0">
                <a:solidFill>
                  <a:srgbClr val="FF0000"/>
                </a:solidFill>
              </a:rPr>
              <a:t>이내</a:t>
            </a:r>
            <a:r>
              <a:rPr lang="en-US" altLang="ko-KR" sz="24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-5 V &lt; V</a:t>
            </a:r>
            <a:r>
              <a:rPr lang="en-US" altLang="ko-KR" sz="2400" baseline="-25000" dirty="0">
                <a:solidFill>
                  <a:srgbClr val="FF0000"/>
                </a:solidFill>
              </a:rPr>
              <a:t>G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&lt;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0 V : Decay time</a:t>
            </a:r>
            <a:r>
              <a:rPr lang="ko-KR" altLang="en-US" sz="2400" dirty="0">
                <a:solidFill>
                  <a:srgbClr val="FF0000"/>
                </a:solidFill>
              </a:rPr>
              <a:t>이 늘어남</a:t>
            </a:r>
            <a:endParaRPr lang="en-US" altLang="ko-KR" sz="2400" dirty="0">
              <a:solidFill>
                <a:srgbClr val="FF0000"/>
              </a:solidFill>
            </a:endParaRPr>
          </a:p>
          <a:p>
            <a:r>
              <a:rPr lang="en-US" altLang="ko-KR" sz="2400" dirty="0">
                <a:solidFill>
                  <a:srgbClr val="FF0000"/>
                </a:solidFill>
              </a:rPr>
              <a:t>V</a:t>
            </a:r>
            <a:r>
              <a:rPr lang="en-US" altLang="ko-KR" sz="2400" baseline="-25000" dirty="0">
                <a:solidFill>
                  <a:srgbClr val="FF0000"/>
                </a:solidFill>
              </a:rPr>
              <a:t>G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&lt;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-5 V : V</a:t>
            </a:r>
            <a:r>
              <a:rPr lang="en-US" altLang="ko-KR" sz="2400" baseline="-25000" dirty="0">
                <a:solidFill>
                  <a:srgbClr val="FF0000"/>
                </a:solidFill>
              </a:rPr>
              <a:t>G</a:t>
            </a:r>
            <a:r>
              <a:rPr lang="ko-KR" altLang="en-US" sz="2400" dirty="0">
                <a:solidFill>
                  <a:srgbClr val="FF0000"/>
                </a:solidFill>
              </a:rPr>
              <a:t>가 작아질수록 </a:t>
            </a:r>
            <a:r>
              <a:rPr lang="en-US" altLang="ko-KR" sz="2400" dirty="0">
                <a:solidFill>
                  <a:srgbClr val="FF0000"/>
                </a:solidFill>
              </a:rPr>
              <a:t>Decay time</a:t>
            </a:r>
            <a:r>
              <a:rPr lang="ko-KR" altLang="en-US" sz="2400" dirty="0">
                <a:solidFill>
                  <a:srgbClr val="FF0000"/>
                </a:solidFill>
              </a:rPr>
              <a:t>이 짧아짐</a:t>
            </a:r>
          </a:p>
        </p:txBody>
      </p:sp>
    </p:spTree>
    <p:extLst>
      <p:ext uri="{BB962C8B-B14F-4D97-AF65-F5344CB8AC3E}">
        <p14:creationId xmlns:p14="http://schemas.microsoft.com/office/powerpoint/2010/main" val="3715977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E3175-EF37-BCDE-B605-C0339E8750E6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0.1M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5AF7A2-4537-68FB-4781-5F7DBABDA510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meas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.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DF83B6A-F5BA-28D3-22F9-04B7135DF9A8}"/>
              </a:ext>
            </a:extLst>
          </p:cNvPr>
          <p:cNvGrpSpPr/>
          <p:nvPr/>
        </p:nvGrpSpPr>
        <p:grpSpPr>
          <a:xfrm>
            <a:off x="228600" y="1785937"/>
            <a:ext cx="6172200" cy="4364831"/>
            <a:chOff x="-157163" y="1785937"/>
            <a:chExt cx="6172200" cy="4364831"/>
          </a:xfrm>
        </p:grpSpPr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6BFC7F53-6626-8EC0-B840-C15AE288A7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901610"/>
                </p:ext>
              </p:extLst>
            </p:nvPr>
          </p:nvGraphicFramePr>
          <p:xfrm>
            <a:off x="-157163" y="178593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9967F46F-666D-5B15-C3B5-CB7848A91A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-157163" y="178593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F483869-3DE9-9C31-9CC9-AC92A54DEC32}"/>
                </a:ext>
              </a:extLst>
            </p:cNvPr>
            <p:cNvSpPr txBox="1"/>
            <p:nvPr/>
          </p:nvSpPr>
          <p:spPr>
            <a:xfrm>
              <a:off x="990600" y="2324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400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6DA972-4027-B233-24B6-9A668DF121B8}"/>
              </a:ext>
            </a:extLst>
          </p:cNvPr>
          <p:cNvGrpSpPr/>
          <p:nvPr/>
        </p:nvGrpSpPr>
        <p:grpSpPr>
          <a:xfrm>
            <a:off x="6157913" y="1785937"/>
            <a:ext cx="6172200" cy="4364831"/>
            <a:chOff x="5772150" y="1785937"/>
            <a:chExt cx="6172200" cy="4364831"/>
          </a:xfrm>
        </p:grpSpPr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CC685102-F35C-5131-66BC-C0A7BFC502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6888561"/>
                </p:ext>
              </p:extLst>
            </p:nvPr>
          </p:nvGraphicFramePr>
          <p:xfrm>
            <a:off x="5772150" y="178593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8" name="개체 7">
                          <a:extLst>
                            <a:ext uri="{FF2B5EF4-FFF2-40B4-BE49-F238E27FC236}">
                              <a16:creationId xmlns:a16="http://schemas.microsoft.com/office/drawing/2014/main" id="{29277BE3-A720-ABD6-4EF8-75B3360AD9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72150" y="178593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27E17B-BECC-B122-FD8B-34EFEDE301B6}"/>
                </a:ext>
              </a:extLst>
            </p:cNvPr>
            <p:cNvSpPr txBox="1"/>
            <p:nvPr/>
          </p:nvSpPr>
          <p:spPr>
            <a:xfrm>
              <a:off x="6938964" y="2324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500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9DB03B8-F89A-F63A-637E-4921ED71627D}"/>
              </a:ext>
            </a:extLst>
          </p:cNvPr>
          <p:cNvGrpSpPr/>
          <p:nvPr/>
        </p:nvGrpSpPr>
        <p:grpSpPr>
          <a:xfrm>
            <a:off x="12087226" y="1785937"/>
            <a:ext cx="6172200" cy="4364831"/>
            <a:chOff x="11701463" y="1785937"/>
            <a:chExt cx="6172200" cy="4364831"/>
          </a:xfrm>
        </p:grpSpPr>
        <p:graphicFrame>
          <p:nvGraphicFramePr>
            <p:cNvPr id="19" name="개체 18">
              <a:extLst>
                <a:ext uri="{FF2B5EF4-FFF2-40B4-BE49-F238E27FC236}">
                  <a16:creationId xmlns:a16="http://schemas.microsoft.com/office/drawing/2014/main" id="{CC1A5F07-CD8F-9D85-57A7-CA21C06D98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9683739"/>
                </p:ext>
              </p:extLst>
            </p:nvPr>
          </p:nvGraphicFramePr>
          <p:xfrm>
            <a:off x="11701463" y="178593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114800" imgH="2909455" progId="Origin50.Graph">
                    <p:embed/>
                  </p:oleObj>
                </mc:Choice>
                <mc:Fallback>
                  <p:oleObj name="Graph" r:id="rId6" imgW="4114800" imgH="2909455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9D3FB3A0-3804-A160-C5C6-C9D21BD0A5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701463" y="178593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F6CA84-1D0A-3420-2FBB-48874A66635B}"/>
                </a:ext>
              </a:extLst>
            </p:cNvPr>
            <p:cNvSpPr txBox="1"/>
            <p:nvPr/>
          </p:nvSpPr>
          <p:spPr>
            <a:xfrm>
              <a:off x="12882564" y="2324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600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F287C5E-A464-7CBB-C0D9-207F433FF4DF}"/>
              </a:ext>
            </a:extLst>
          </p:cNvPr>
          <p:cNvGrpSpPr/>
          <p:nvPr/>
        </p:nvGrpSpPr>
        <p:grpSpPr>
          <a:xfrm>
            <a:off x="3193258" y="5960269"/>
            <a:ext cx="6172200" cy="4364831"/>
            <a:chOff x="2807495" y="5960269"/>
            <a:chExt cx="6172200" cy="4364831"/>
          </a:xfrm>
        </p:grpSpPr>
        <p:graphicFrame>
          <p:nvGraphicFramePr>
            <p:cNvPr id="20" name="개체 19">
              <a:extLst>
                <a:ext uri="{FF2B5EF4-FFF2-40B4-BE49-F238E27FC236}">
                  <a16:creationId xmlns:a16="http://schemas.microsoft.com/office/drawing/2014/main" id="{8E6BEA2C-2A6A-E44E-D5C3-A366408723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1643215"/>
                </p:ext>
              </p:extLst>
            </p:nvPr>
          </p:nvGraphicFramePr>
          <p:xfrm>
            <a:off x="2807495" y="5960269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8" imgW="4114800" imgH="2909455" progId="Origin50.Graph">
                    <p:embed/>
                  </p:oleObj>
                </mc:Choice>
                <mc:Fallback>
                  <p:oleObj name="Graph" r:id="rId8" imgW="4114800" imgH="2909455" progId="Origin50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5E87F953-2882-77E3-0FC2-62F44A77D9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807495" y="5960269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61D5CD-ECA4-3943-BE6F-D7AD2F137C6C}"/>
                </a:ext>
              </a:extLst>
            </p:cNvPr>
            <p:cNvSpPr txBox="1"/>
            <p:nvPr/>
          </p:nvSpPr>
          <p:spPr>
            <a:xfrm>
              <a:off x="3962400" y="64806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700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15B2354-E95A-57BC-64E7-AAC72F66CDE3}"/>
              </a:ext>
            </a:extLst>
          </p:cNvPr>
          <p:cNvGrpSpPr/>
          <p:nvPr/>
        </p:nvGrpSpPr>
        <p:grpSpPr>
          <a:xfrm>
            <a:off x="9801226" y="5960269"/>
            <a:ext cx="6172200" cy="4364831"/>
            <a:chOff x="9415463" y="5832871"/>
            <a:chExt cx="6172200" cy="4364831"/>
          </a:xfrm>
        </p:grpSpPr>
        <p:graphicFrame>
          <p:nvGraphicFramePr>
            <p:cNvPr id="21" name="개체 20">
              <a:extLst>
                <a:ext uri="{FF2B5EF4-FFF2-40B4-BE49-F238E27FC236}">
                  <a16:creationId xmlns:a16="http://schemas.microsoft.com/office/drawing/2014/main" id="{8F6C26A5-846D-00FD-4AEF-C3386E6980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4156283"/>
                </p:ext>
              </p:extLst>
            </p:nvPr>
          </p:nvGraphicFramePr>
          <p:xfrm>
            <a:off x="9415463" y="5832871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0" imgW="4114800" imgH="2909455" progId="Origin50.Graph">
                    <p:embed/>
                  </p:oleObj>
                </mc:Choice>
                <mc:Fallback>
                  <p:oleObj name="Graph" r:id="rId10" imgW="4114800" imgH="2909455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5DE353BF-53EC-3F43-8F9F-9F172B9F80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415463" y="5832871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EF5040-E86E-6F98-2AB3-52B455E91C7F}"/>
                </a:ext>
              </a:extLst>
            </p:cNvPr>
            <p:cNvSpPr txBox="1"/>
            <p:nvPr/>
          </p:nvSpPr>
          <p:spPr>
            <a:xfrm>
              <a:off x="10596564" y="63627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800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909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D4335F-B8EE-D1A0-2D6E-B0EC192CD92E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meas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.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8045458-6AF8-93BD-8E80-9F15A2A43B90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0.2M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A5899F0-9592-E79A-35F3-801B17BC669E}"/>
              </a:ext>
            </a:extLst>
          </p:cNvPr>
          <p:cNvGrpSpPr/>
          <p:nvPr/>
        </p:nvGrpSpPr>
        <p:grpSpPr>
          <a:xfrm>
            <a:off x="419100" y="2187338"/>
            <a:ext cx="6172200" cy="4364831"/>
            <a:chOff x="257175" y="2187338"/>
            <a:chExt cx="6172200" cy="4364831"/>
          </a:xfrm>
        </p:grpSpPr>
        <p:graphicFrame>
          <p:nvGraphicFramePr>
            <p:cNvPr id="15" name="개체 14">
              <a:extLst>
                <a:ext uri="{FF2B5EF4-FFF2-40B4-BE49-F238E27FC236}">
                  <a16:creationId xmlns:a16="http://schemas.microsoft.com/office/drawing/2014/main" id="{378E68C1-030E-36C2-58AA-513F510EEA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3664801"/>
                </p:ext>
              </p:extLst>
            </p:nvPr>
          </p:nvGraphicFramePr>
          <p:xfrm>
            <a:off x="257175" y="2187338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593186C4-89A8-6D35-CA0D-59C6E66C43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57175" y="2187338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860291-94EB-2A5A-81A9-647894D4E5D3}"/>
                </a:ext>
              </a:extLst>
            </p:cNvPr>
            <p:cNvSpPr txBox="1"/>
            <p:nvPr/>
          </p:nvSpPr>
          <p:spPr>
            <a:xfrm>
              <a:off x="1447800" y="2705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400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250FC81-7537-9EFF-8213-0BF1211E44E8}"/>
              </a:ext>
            </a:extLst>
          </p:cNvPr>
          <p:cNvGrpSpPr/>
          <p:nvPr/>
        </p:nvGrpSpPr>
        <p:grpSpPr>
          <a:xfrm>
            <a:off x="6076950" y="2187337"/>
            <a:ext cx="6172200" cy="4364831"/>
            <a:chOff x="5700713" y="2187337"/>
            <a:chExt cx="6172200" cy="4364831"/>
          </a:xfrm>
        </p:grpSpPr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338F2C92-33AF-0EE0-5E99-1AFB33A78A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142858"/>
                </p:ext>
              </p:extLst>
            </p:nvPr>
          </p:nvGraphicFramePr>
          <p:xfrm>
            <a:off x="5700713" y="218733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04700670-D1B0-8B78-6B05-69F894B9DC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00713" y="218733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9DDCB8-FA7B-0FDB-982F-5BDE95DC222F}"/>
                </a:ext>
              </a:extLst>
            </p:cNvPr>
            <p:cNvSpPr txBox="1"/>
            <p:nvPr/>
          </p:nvSpPr>
          <p:spPr>
            <a:xfrm>
              <a:off x="6938964" y="2705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500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02DA5B-597F-B945-4811-47D009DA28A3}"/>
              </a:ext>
            </a:extLst>
          </p:cNvPr>
          <p:cNvGrpSpPr/>
          <p:nvPr/>
        </p:nvGrpSpPr>
        <p:grpSpPr>
          <a:xfrm>
            <a:off x="11734800" y="2187337"/>
            <a:ext cx="6172200" cy="4364831"/>
            <a:chOff x="11572875" y="2187337"/>
            <a:chExt cx="6172200" cy="4364831"/>
          </a:xfrm>
        </p:grpSpPr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20990B3A-2914-3E05-3F59-19C4E100AA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0678808"/>
                </p:ext>
              </p:extLst>
            </p:nvPr>
          </p:nvGraphicFramePr>
          <p:xfrm>
            <a:off x="11572875" y="218733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114800" imgH="2909455" progId="Origin50.Graph">
                    <p:embed/>
                  </p:oleObj>
                </mc:Choice>
                <mc:Fallback>
                  <p:oleObj name="Graph" r:id="rId6" imgW="4114800" imgH="2909455" progId="Origin50.Graph">
                    <p:embed/>
                    <p:pic>
                      <p:nvPicPr>
                        <p:cNvPr id="11" name="개체 10">
                          <a:extLst>
                            <a:ext uri="{FF2B5EF4-FFF2-40B4-BE49-F238E27FC236}">
                              <a16:creationId xmlns:a16="http://schemas.microsoft.com/office/drawing/2014/main" id="{0226EF10-C834-9BB1-3E60-54E55ED318F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572875" y="218733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5A9F2C-6911-8842-8679-866A8EBE8977}"/>
                </a:ext>
              </a:extLst>
            </p:cNvPr>
            <p:cNvSpPr txBox="1"/>
            <p:nvPr/>
          </p:nvSpPr>
          <p:spPr>
            <a:xfrm>
              <a:off x="12806364" y="2705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800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084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17015C4-5CC8-5F2A-A943-C95203E05BF5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meas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.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29DFBF23-616C-2911-4633-18013ECBA7EC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0.3M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16CDFD8-43D8-CAAF-CB4E-D1499DBB1A51}"/>
              </a:ext>
            </a:extLst>
          </p:cNvPr>
          <p:cNvGrpSpPr/>
          <p:nvPr/>
        </p:nvGrpSpPr>
        <p:grpSpPr>
          <a:xfrm>
            <a:off x="2639235" y="3314700"/>
            <a:ext cx="6172200" cy="4364831"/>
            <a:chOff x="2029635" y="3496891"/>
            <a:chExt cx="6172200" cy="4364831"/>
          </a:xfrm>
        </p:grpSpPr>
        <p:graphicFrame>
          <p:nvGraphicFramePr>
            <p:cNvPr id="13" name="개체 12">
              <a:extLst>
                <a:ext uri="{FF2B5EF4-FFF2-40B4-BE49-F238E27FC236}">
                  <a16:creationId xmlns:a16="http://schemas.microsoft.com/office/drawing/2014/main" id="{88C77361-2B66-9AF6-870F-9BFB06309A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1059192"/>
                </p:ext>
              </p:extLst>
            </p:nvPr>
          </p:nvGraphicFramePr>
          <p:xfrm>
            <a:off x="2029635" y="3496891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37634A10-EEBE-C481-BBAA-9650BCA327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29635" y="3496891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0D57EA-8E68-609C-B2B6-7C2441F005CE}"/>
                </a:ext>
              </a:extLst>
            </p:cNvPr>
            <p:cNvSpPr txBox="1"/>
            <p:nvPr/>
          </p:nvSpPr>
          <p:spPr>
            <a:xfrm>
              <a:off x="3281364" y="40422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600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E400A07-31E2-B46D-613B-95D15713CB5D}"/>
              </a:ext>
            </a:extLst>
          </p:cNvPr>
          <p:cNvGrpSpPr/>
          <p:nvPr/>
        </p:nvGrpSpPr>
        <p:grpSpPr>
          <a:xfrm>
            <a:off x="9601200" y="3314700"/>
            <a:ext cx="6172200" cy="4364831"/>
            <a:chOff x="9144000" y="3496891"/>
            <a:chExt cx="6172200" cy="4364831"/>
          </a:xfrm>
        </p:grpSpPr>
        <p:graphicFrame>
          <p:nvGraphicFramePr>
            <p:cNvPr id="15" name="개체 14">
              <a:extLst>
                <a:ext uri="{FF2B5EF4-FFF2-40B4-BE49-F238E27FC236}">
                  <a16:creationId xmlns:a16="http://schemas.microsoft.com/office/drawing/2014/main" id="{2B96BFBD-1423-2A8A-AF3C-B2A494AE11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5623480"/>
                </p:ext>
              </p:extLst>
            </p:nvPr>
          </p:nvGraphicFramePr>
          <p:xfrm>
            <a:off x="9144000" y="3496891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8" name="개체 7">
                          <a:extLst>
                            <a:ext uri="{FF2B5EF4-FFF2-40B4-BE49-F238E27FC236}">
                              <a16:creationId xmlns:a16="http://schemas.microsoft.com/office/drawing/2014/main" id="{119D097F-CC89-3FCE-3625-98FB71FF96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144000" y="3496891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E109E5-C89B-A6A8-AD95-3B73E44DFCC1}"/>
                </a:ext>
              </a:extLst>
            </p:cNvPr>
            <p:cNvSpPr txBox="1"/>
            <p:nvPr/>
          </p:nvSpPr>
          <p:spPr>
            <a:xfrm>
              <a:off x="10363200" y="40005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700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1485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66F5AFC-4D90-0837-A7DD-B73C82C342ED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SEF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E2A4D88B-A6DE-C1B9-F09A-0CD1D2E3D446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0.1M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2B66BD5-1C19-D055-27E3-1770B751BFF7}"/>
              </a:ext>
            </a:extLst>
          </p:cNvPr>
          <p:cNvGrpSpPr/>
          <p:nvPr/>
        </p:nvGrpSpPr>
        <p:grpSpPr>
          <a:xfrm>
            <a:off x="244329" y="1778357"/>
            <a:ext cx="6172200" cy="4364831"/>
            <a:chOff x="62544" y="1803412"/>
            <a:chExt cx="6172200" cy="4364831"/>
          </a:xfrm>
        </p:grpSpPr>
        <p:graphicFrame>
          <p:nvGraphicFramePr>
            <p:cNvPr id="19" name="개체 18">
              <a:extLst>
                <a:ext uri="{FF2B5EF4-FFF2-40B4-BE49-F238E27FC236}">
                  <a16:creationId xmlns:a16="http://schemas.microsoft.com/office/drawing/2014/main" id="{DF6B3633-B9CD-60F6-9955-A5464AA2E8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979765"/>
                </p:ext>
              </p:extLst>
            </p:nvPr>
          </p:nvGraphicFramePr>
          <p:xfrm>
            <a:off x="62544" y="1803412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1E4B3CEB-2916-64DE-E623-06BA450CCA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2544" y="1803412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773EFAD-1BF3-EEA8-692D-C2ADD60686AF}"/>
                </a:ext>
              </a:extLst>
            </p:cNvPr>
            <p:cNvSpPr txBox="1"/>
            <p:nvPr/>
          </p:nvSpPr>
          <p:spPr>
            <a:xfrm>
              <a:off x="1300164" y="2324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400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A0CA580-950B-106B-69D8-94156CB5D2C0}"/>
              </a:ext>
            </a:extLst>
          </p:cNvPr>
          <p:cNvGrpSpPr/>
          <p:nvPr/>
        </p:nvGrpSpPr>
        <p:grpSpPr>
          <a:xfrm>
            <a:off x="6141964" y="1778357"/>
            <a:ext cx="6172200" cy="4364831"/>
            <a:chOff x="6286503" y="1905158"/>
            <a:chExt cx="6172200" cy="4364831"/>
          </a:xfrm>
        </p:grpSpPr>
        <p:graphicFrame>
          <p:nvGraphicFramePr>
            <p:cNvPr id="20" name="개체 19">
              <a:extLst>
                <a:ext uri="{FF2B5EF4-FFF2-40B4-BE49-F238E27FC236}">
                  <a16:creationId xmlns:a16="http://schemas.microsoft.com/office/drawing/2014/main" id="{E8ADC451-FDC6-E70B-9B21-CF215D142A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928935"/>
                </p:ext>
              </p:extLst>
            </p:nvPr>
          </p:nvGraphicFramePr>
          <p:xfrm>
            <a:off x="6286503" y="1905158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24EBF5EA-7A1B-D4DA-CA1C-A3A9BC0D4B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286503" y="1905158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303ADC-C193-A8FB-F27F-9F19D77F0645}"/>
                </a:ext>
              </a:extLst>
            </p:cNvPr>
            <p:cNvSpPr txBox="1"/>
            <p:nvPr/>
          </p:nvSpPr>
          <p:spPr>
            <a:xfrm>
              <a:off x="7548564" y="24420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500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80CF467-9AB8-5A6E-6CA0-92FFEF365A8D}"/>
              </a:ext>
            </a:extLst>
          </p:cNvPr>
          <p:cNvGrpSpPr/>
          <p:nvPr/>
        </p:nvGrpSpPr>
        <p:grpSpPr>
          <a:xfrm>
            <a:off x="12039600" y="1778357"/>
            <a:ext cx="6172200" cy="4364831"/>
            <a:chOff x="11857815" y="1778357"/>
            <a:chExt cx="6172200" cy="4364831"/>
          </a:xfrm>
        </p:grpSpPr>
        <p:graphicFrame>
          <p:nvGraphicFramePr>
            <p:cNvPr id="21" name="개체 20">
              <a:extLst>
                <a:ext uri="{FF2B5EF4-FFF2-40B4-BE49-F238E27FC236}">
                  <a16:creationId xmlns:a16="http://schemas.microsoft.com/office/drawing/2014/main" id="{B9C8903B-ABAE-DB8F-144D-2FE743A3C4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474023"/>
                </p:ext>
              </p:extLst>
            </p:nvPr>
          </p:nvGraphicFramePr>
          <p:xfrm>
            <a:off x="11857815" y="1778357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114800" imgH="2909455" progId="Origin50.Graph">
                    <p:embed/>
                  </p:oleObj>
                </mc:Choice>
                <mc:Fallback>
                  <p:oleObj name="Graph" r:id="rId6" imgW="4114800" imgH="2909455" progId="Origin50.Graph">
                    <p:embed/>
                    <p:pic>
                      <p:nvPicPr>
                        <p:cNvPr id="8" name="개체 7">
                          <a:extLst>
                            <a:ext uri="{FF2B5EF4-FFF2-40B4-BE49-F238E27FC236}">
                              <a16:creationId xmlns:a16="http://schemas.microsoft.com/office/drawing/2014/main" id="{70648BD2-C112-1805-F7D3-70206A4234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857815" y="1778357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BB9A1AC-7CDE-8FB9-FD55-249F51073355}"/>
                </a:ext>
              </a:extLst>
            </p:cNvPr>
            <p:cNvSpPr txBox="1"/>
            <p:nvPr/>
          </p:nvSpPr>
          <p:spPr>
            <a:xfrm>
              <a:off x="13111534" y="22896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600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DAFBBC4-68DA-CD2E-43E7-A3F65272CFBD}"/>
              </a:ext>
            </a:extLst>
          </p:cNvPr>
          <p:cNvGrpSpPr/>
          <p:nvPr/>
        </p:nvGrpSpPr>
        <p:grpSpPr>
          <a:xfrm>
            <a:off x="2924985" y="6016385"/>
            <a:ext cx="6172200" cy="4364831"/>
            <a:chOff x="2743200" y="6016385"/>
            <a:chExt cx="6172200" cy="4364831"/>
          </a:xfrm>
        </p:grpSpPr>
        <p:graphicFrame>
          <p:nvGraphicFramePr>
            <p:cNvPr id="22" name="개체 21">
              <a:extLst>
                <a:ext uri="{FF2B5EF4-FFF2-40B4-BE49-F238E27FC236}">
                  <a16:creationId xmlns:a16="http://schemas.microsoft.com/office/drawing/2014/main" id="{338033B7-E470-F5C8-050D-357447B44A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9281909"/>
                </p:ext>
              </p:extLst>
            </p:nvPr>
          </p:nvGraphicFramePr>
          <p:xfrm>
            <a:off x="2743200" y="6016385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8" imgW="4114800" imgH="2909455" progId="Origin50.Graph">
                    <p:embed/>
                  </p:oleObj>
                </mc:Choice>
                <mc:Fallback>
                  <p:oleObj name="Graph" r:id="rId8" imgW="4114800" imgH="2909455" progId="Origin50.Graph">
                    <p:embed/>
                    <p:pic>
                      <p:nvPicPr>
                        <p:cNvPr id="11" name="개체 10">
                          <a:extLst>
                            <a:ext uri="{FF2B5EF4-FFF2-40B4-BE49-F238E27FC236}">
                              <a16:creationId xmlns:a16="http://schemas.microsoft.com/office/drawing/2014/main" id="{487D797C-FAFC-28E9-2D8D-21A0E18B22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743200" y="6016385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5FD9EF-6325-9247-95DB-6FFE76131589}"/>
                </a:ext>
              </a:extLst>
            </p:cNvPr>
            <p:cNvSpPr txBox="1"/>
            <p:nvPr/>
          </p:nvSpPr>
          <p:spPr>
            <a:xfrm>
              <a:off x="3962400" y="65568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700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FEAC8F-B994-6A43-77CC-20F89934FEB5}"/>
              </a:ext>
            </a:extLst>
          </p:cNvPr>
          <p:cNvGrpSpPr/>
          <p:nvPr/>
        </p:nvGrpSpPr>
        <p:grpSpPr>
          <a:xfrm>
            <a:off x="9097185" y="6016385"/>
            <a:ext cx="6172200" cy="4364831"/>
            <a:chOff x="8915400" y="6016385"/>
            <a:chExt cx="6172200" cy="4364831"/>
          </a:xfrm>
        </p:grpSpPr>
        <p:graphicFrame>
          <p:nvGraphicFramePr>
            <p:cNvPr id="27" name="개체 26">
              <a:extLst>
                <a:ext uri="{FF2B5EF4-FFF2-40B4-BE49-F238E27FC236}">
                  <a16:creationId xmlns:a16="http://schemas.microsoft.com/office/drawing/2014/main" id="{B779039F-E89E-3D81-374C-61672E8D4F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2676907"/>
                </p:ext>
              </p:extLst>
            </p:nvPr>
          </p:nvGraphicFramePr>
          <p:xfrm>
            <a:off x="8915400" y="6016385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0" imgW="4114800" imgH="2909455" progId="Origin50.Graph">
                    <p:embed/>
                  </p:oleObj>
                </mc:Choice>
                <mc:Fallback>
                  <p:oleObj name="Graph" r:id="rId10" imgW="4114800" imgH="2909455" progId="Origin50.Graph">
                    <p:embed/>
                    <p:pic>
                      <p:nvPicPr>
                        <p:cNvPr id="18" name="개체 17">
                          <a:extLst>
                            <a:ext uri="{FF2B5EF4-FFF2-40B4-BE49-F238E27FC236}">
                              <a16:creationId xmlns:a16="http://schemas.microsoft.com/office/drawing/2014/main" id="{B744C81D-3C42-A242-FF1D-56EC8646B7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915400" y="6016385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99C86A-A9CA-BFAB-B789-CFD1B555B897}"/>
                </a:ext>
              </a:extLst>
            </p:cNvPr>
            <p:cNvSpPr txBox="1"/>
            <p:nvPr/>
          </p:nvSpPr>
          <p:spPr>
            <a:xfrm>
              <a:off x="10134600" y="65568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800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539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28ED3C4-D7F8-6BCB-BA3C-1486D5138690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SEF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3EA5F54-6C4A-3163-E6A8-7DBF113EC117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0.2M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48EC4F3-4116-B408-4A14-730B9A0FD451}"/>
              </a:ext>
            </a:extLst>
          </p:cNvPr>
          <p:cNvGrpSpPr/>
          <p:nvPr/>
        </p:nvGrpSpPr>
        <p:grpSpPr>
          <a:xfrm>
            <a:off x="228600" y="3073250"/>
            <a:ext cx="6172200" cy="4364831"/>
            <a:chOff x="2325357" y="1493720"/>
            <a:chExt cx="6172200" cy="4364831"/>
          </a:xfrm>
        </p:grpSpPr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20E5F300-F187-983B-9637-C7287E0D73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08093"/>
                </p:ext>
              </p:extLst>
            </p:nvPr>
          </p:nvGraphicFramePr>
          <p:xfrm>
            <a:off x="2325357" y="1493720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D81FEF63-E20C-FB10-2004-84F3DF31A1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25357" y="1493720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735A45-E013-739F-1F85-69D56BDCA5AA}"/>
                </a:ext>
              </a:extLst>
            </p:cNvPr>
            <p:cNvSpPr txBox="1"/>
            <p:nvPr/>
          </p:nvSpPr>
          <p:spPr>
            <a:xfrm>
              <a:off x="3505200" y="20193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400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29B701-AB36-803C-4B2B-0179676D8F73}"/>
              </a:ext>
            </a:extLst>
          </p:cNvPr>
          <p:cNvGrpSpPr/>
          <p:nvPr/>
        </p:nvGrpSpPr>
        <p:grpSpPr>
          <a:xfrm>
            <a:off x="6096000" y="3073250"/>
            <a:ext cx="6172200" cy="4364831"/>
            <a:chOff x="8736944" y="1415903"/>
            <a:chExt cx="6172200" cy="4364831"/>
          </a:xfrm>
        </p:grpSpPr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16168C57-E299-7E9F-EA4D-F858A0150E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9802591"/>
                </p:ext>
              </p:extLst>
            </p:nvPr>
          </p:nvGraphicFramePr>
          <p:xfrm>
            <a:off x="8736944" y="1415903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54F1F2A9-DF41-7F7B-72A9-20FC444148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736944" y="1415903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BD0C5C-CA1A-C118-F03A-050768AB3EC1}"/>
                </a:ext>
              </a:extLst>
            </p:cNvPr>
            <p:cNvSpPr txBox="1"/>
            <p:nvPr/>
          </p:nvSpPr>
          <p:spPr>
            <a:xfrm>
              <a:off x="9986964" y="19431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500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B0CA1BE-BDAF-A67C-BADE-A1D2762053EE}"/>
              </a:ext>
            </a:extLst>
          </p:cNvPr>
          <p:cNvGrpSpPr/>
          <p:nvPr/>
        </p:nvGrpSpPr>
        <p:grpSpPr>
          <a:xfrm>
            <a:off x="11963400" y="3073250"/>
            <a:ext cx="6172200" cy="4364831"/>
            <a:chOff x="8577353" y="5780734"/>
            <a:chExt cx="6172200" cy="4364831"/>
          </a:xfrm>
        </p:grpSpPr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0EE3D199-D845-D25C-21A8-1AD891764D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4772988"/>
                </p:ext>
              </p:extLst>
            </p:nvPr>
          </p:nvGraphicFramePr>
          <p:xfrm>
            <a:off x="8577353" y="5780734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114800" imgH="2909455" progId="Origin50.Graph">
                    <p:embed/>
                  </p:oleObj>
                </mc:Choice>
                <mc:Fallback>
                  <p:oleObj name="Graph" r:id="rId6" imgW="4114800" imgH="2909455" progId="Origin50.Graph">
                    <p:embed/>
                    <p:pic>
                      <p:nvPicPr>
                        <p:cNvPr id="8" name="개체 7">
                          <a:extLst>
                            <a:ext uri="{FF2B5EF4-FFF2-40B4-BE49-F238E27FC236}">
                              <a16:creationId xmlns:a16="http://schemas.microsoft.com/office/drawing/2014/main" id="{E77728BE-E6AC-29BA-CDBF-34B03AD8A9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577353" y="5780734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3BB0D6-4E55-6660-4F9D-09607AF67B61}"/>
                </a:ext>
              </a:extLst>
            </p:cNvPr>
            <p:cNvSpPr txBox="1"/>
            <p:nvPr/>
          </p:nvSpPr>
          <p:spPr>
            <a:xfrm>
              <a:off x="9834564" y="6286500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800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67423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5E2508E-87F2-5B3F-0A25-B78FF16E90DA}"/>
              </a:ext>
            </a:extLst>
          </p:cNvPr>
          <p:cNvSpPr txBox="1"/>
          <p:nvPr/>
        </p:nvSpPr>
        <p:spPr>
          <a:xfrm>
            <a:off x="410400" y="3429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decay,</a:t>
            </a:r>
            <a:r>
              <a:rPr lang="en-US" altLang="ko-KR" sz="40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SEF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94B2C509-4789-D923-8B81-5FA76AFB4034}"/>
              </a:ext>
            </a:extLst>
          </p:cNvPr>
          <p:cNvSpPr txBox="1">
            <a:spLocks/>
          </p:cNvSpPr>
          <p:nvPr/>
        </p:nvSpPr>
        <p:spPr>
          <a:xfrm>
            <a:off x="507866" y="876300"/>
            <a:ext cx="3799665" cy="10956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b="1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 IGO (1:1) 0.3M</a:t>
            </a:r>
            <a:endParaRPr lang="ko-KR" altLang="en-US" sz="3000" b="1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6B8BF78-CC67-092E-6C1E-78F9AE6BB6FA}"/>
              </a:ext>
            </a:extLst>
          </p:cNvPr>
          <p:cNvGrpSpPr/>
          <p:nvPr/>
        </p:nvGrpSpPr>
        <p:grpSpPr>
          <a:xfrm>
            <a:off x="9220200" y="3086100"/>
            <a:ext cx="6172200" cy="4364831"/>
            <a:chOff x="7841411" y="3450073"/>
            <a:chExt cx="6172200" cy="4364831"/>
          </a:xfrm>
        </p:grpSpPr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209F663A-A53E-CC0A-CC89-65F19E746F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728198"/>
                </p:ext>
              </p:extLst>
            </p:nvPr>
          </p:nvGraphicFramePr>
          <p:xfrm>
            <a:off x="7841411" y="3450073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114800" imgH="2909455" progId="Origin50.Graph">
                    <p:embed/>
                  </p:oleObj>
                </mc:Choice>
                <mc:Fallback>
                  <p:oleObj name="Graph" r:id="rId2" imgW="4114800" imgH="2909455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2DA28B6F-EDE1-1771-A599-311F1FC897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841411" y="3450073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2816F8-FC7E-E90C-8132-B1651B3F0D97}"/>
                </a:ext>
              </a:extLst>
            </p:cNvPr>
            <p:cNvSpPr txBox="1"/>
            <p:nvPr/>
          </p:nvSpPr>
          <p:spPr>
            <a:xfrm>
              <a:off x="9072564" y="39660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700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6A01681-30F2-5600-87E5-2A4AA47C889B}"/>
              </a:ext>
            </a:extLst>
          </p:cNvPr>
          <p:cNvGrpSpPr/>
          <p:nvPr/>
        </p:nvGrpSpPr>
        <p:grpSpPr>
          <a:xfrm>
            <a:off x="2911413" y="3086100"/>
            <a:ext cx="6172200" cy="4364831"/>
            <a:chOff x="1997013" y="3450073"/>
            <a:chExt cx="6172200" cy="4364831"/>
          </a:xfrm>
        </p:grpSpPr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4614FF37-6829-C905-99E4-8D811C5A93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516004"/>
                </p:ext>
              </p:extLst>
            </p:nvPr>
          </p:nvGraphicFramePr>
          <p:xfrm>
            <a:off x="1997013" y="3450073"/>
            <a:ext cx="6172200" cy="4364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114800" imgH="2909455" progId="Origin50.Graph">
                    <p:embed/>
                  </p:oleObj>
                </mc:Choice>
                <mc:Fallback>
                  <p:oleObj name="Graph" r:id="rId4" imgW="4114800" imgH="2909455" progId="Origin50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AC0F3FD2-16A0-ABF3-8BDB-A9D54BC8BF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97013" y="3450073"/>
                          <a:ext cx="6172200" cy="4364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C795E3-6C16-2292-572C-0FBAF08A88A5}"/>
                </a:ext>
              </a:extLst>
            </p:cNvPr>
            <p:cNvSpPr txBox="1"/>
            <p:nvPr/>
          </p:nvSpPr>
          <p:spPr>
            <a:xfrm>
              <a:off x="3281364" y="3966002"/>
              <a:ext cx="9858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100" dirty="0">
                  <a:latin typeface="TDTD강굴림" panose="020B0600000101010101" charset="-127"/>
                  <a:ea typeface="TDTD강굴림" panose="020B0600000101010101" charset="-127"/>
                </a:rPr>
                <a:t>600</a:t>
              </a:r>
              <a:r>
                <a:rPr lang="ko-KR" altLang="en-US" sz="2100" dirty="0">
                  <a:solidFill>
                    <a:srgbClr val="424242"/>
                  </a:solidFill>
                  <a:latin typeface="TDTD강굴림" panose="020B0600000101010101" charset="-127"/>
                  <a:ea typeface="TDTD강굴림" panose="020B0600000101010101" charset="-127"/>
                </a:rPr>
                <a:t>℃ </a:t>
              </a:r>
              <a:endParaRPr lang="ko-KR" altLang="en-US" sz="21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4567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5901A343-4D37-FAB0-7355-78BE0FE39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479616"/>
              </p:ext>
            </p:extLst>
          </p:nvPr>
        </p:nvGraphicFramePr>
        <p:xfrm>
          <a:off x="7046259" y="3837300"/>
          <a:ext cx="7126941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14800" imgH="2909455" progId="Origin50.Graph">
                  <p:embed/>
                </p:oleObj>
              </mc:Choice>
              <mc:Fallback>
                <p:oleObj name="Graph" r:id="rId3" imgW="4114800" imgH="2909455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FB594325-45CB-B239-83DB-40A1ED7B2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6259" y="3837300"/>
                        <a:ext cx="7126941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D58A5948-3128-DC94-6B86-713334B37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318532"/>
              </p:ext>
            </p:extLst>
          </p:nvPr>
        </p:nvGraphicFramePr>
        <p:xfrm>
          <a:off x="609600" y="3837300"/>
          <a:ext cx="7126940" cy="50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14800" imgH="2909455" progId="Origin50.Graph">
                  <p:embed/>
                </p:oleObj>
              </mc:Choice>
              <mc:Fallback>
                <p:oleObj name="Graph" r:id="rId5" imgW="4114800" imgH="2909455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A57C5FA7-AABB-6678-AEB5-2EF8789DC9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3837300"/>
                        <a:ext cx="7126940" cy="50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Single pulse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time(36%)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1B03D-A796-3A4B-154B-B03285B218CE}"/>
              </a:ext>
            </a:extLst>
          </p:cNvPr>
          <p:cNvSpPr txBox="1"/>
          <p:nvPr/>
        </p:nvSpPr>
        <p:spPr>
          <a:xfrm>
            <a:off x="1792308" y="3543300"/>
            <a:ext cx="4076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0.1M, 0.2M, 0.3M</a:t>
            </a:r>
          </a:p>
          <a:p>
            <a:r>
              <a:rPr lang="en-US" altLang="ko-KR" sz="2400" b="1" dirty="0"/>
              <a:t>Measured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3261D-060B-B851-C5A3-430F5E542B83}"/>
              </a:ext>
            </a:extLst>
          </p:cNvPr>
          <p:cNvSpPr txBox="1"/>
          <p:nvPr/>
        </p:nvSpPr>
        <p:spPr>
          <a:xfrm>
            <a:off x="8229600" y="3543300"/>
            <a:ext cx="388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IGO (1:1) </a:t>
            </a:r>
            <a:r>
              <a:rPr lang="en-US" altLang="ko-KR" sz="2400" b="1" dirty="0">
                <a:solidFill>
                  <a:srgbClr val="FF0000"/>
                </a:solidFill>
              </a:rPr>
              <a:t>0.1M, 0.2M, 0.3M</a:t>
            </a:r>
          </a:p>
          <a:p>
            <a:r>
              <a:rPr lang="en-US" altLang="ko-KR" sz="2400" b="1" dirty="0"/>
              <a:t>SEF fitting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5C248-28D4-1828-E528-041C140C6BDA}"/>
              </a:ext>
            </a:extLst>
          </p:cNvPr>
          <p:cNvSpPr txBox="1"/>
          <p:nvPr/>
        </p:nvSpPr>
        <p:spPr>
          <a:xfrm>
            <a:off x="1066800" y="25482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ko-KR" sz="2400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2400" baseline="-25000" dirty="0" err="1">
                <a:solidFill>
                  <a:srgbClr val="FF0000"/>
                </a:solidFill>
                <a:latin typeface="+mn-ea"/>
              </a:rPr>
              <a:t>peak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ko-KR" sz="2400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2400" baseline="-25000" dirty="0" err="1">
                <a:solidFill>
                  <a:srgbClr val="FF0000"/>
                </a:solidFill>
                <a:latin typeface="+mn-ea"/>
              </a:rPr>
              <a:t>dark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가 크다고 해서 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Decay time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도 길어지는 건 아닌 것 같음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...</a:t>
            </a:r>
            <a:endParaRPr lang="ko-KR" altLang="en-US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91734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측정 방법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AFM in-phase imaging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(2026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767DE-36D2-CB2D-FB63-1FF9B4F657C9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err="1"/>
              <a:t>ACSAppl.Mater</a:t>
            </a:r>
            <a:r>
              <a:rPr lang="en-US" altLang="ko-KR" sz="1200" dirty="0"/>
              <a:t>. Interfaces2026,18,22089−22101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36CA3D-B6ED-F0F3-E617-A715EB4E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3" y="2247900"/>
            <a:ext cx="12526783" cy="78543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2A3448-DF0C-B982-43E2-2F69F6FE2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0" y="6390733"/>
            <a:ext cx="5620534" cy="1314633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D275D96-F900-C594-254F-CA6E475F4919}"/>
              </a:ext>
            </a:extLst>
          </p:cNvPr>
          <p:cNvSpPr/>
          <p:nvPr/>
        </p:nvSpPr>
        <p:spPr>
          <a:xfrm>
            <a:off x="6400800" y="5372100"/>
            <a:ext cx="5943600" cy="33519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3227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3DB78-3A9A-48DC-D980-34B92D5EA1B2}"/>
              </a:ext>
            </a:extLst>
          </p:cNvPr>
          <p:cNvSpPr txBox="1"/>
          <p:nvPr/>
        </p:nvSpPr>
        <p:spPr>
          <a:xfrm>
            <a:off x="457201" y="2516407"/>
            <a:ext cx="7239000" cy="5827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D1)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D2)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D3)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endParaRPr lang="en-US" altLang="ko-KR" sz="36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D4)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D5)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D6) In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36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6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36C75AC-92D9-8FBC-5EE0-786C58188066}"/>
              </a:ext>
            </a:extLst>
          </p:cNvPr>
          <p:cNvGrpSpPr/>
          <p:nvPr/>
        </p:nvGrpSpPr>
        <p:grpSpPr>
          <a:xfrm>
            <a:off x="8048767" y="4381181"/>
            <a:ext cx="4824632" cy="2097943"/>
            <a:chOff x="1083946" y="4368861"/>
            <a:chExt cx="8517252" cy="231545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79F79DA-1404-91E6-AA49-5950F59B3CB5}"/>
                </a:ext>
              </a:extLst>
            </p:cNvPr>
            <p:cNvSpPr/>
            <p:nvPr/>
          </p:nvSpPr>
          <p:spPr>
            <a:xfrm>
              <a:off x="1083950" y="4368861"/>
              <a:ext cx="8517248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In</a:t>
              </a:r>
              <a:r>
                <a:rPr lang="en-US" altLang="ko-KR" sz="2800" baseline="-25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O</a:t>
              </a:r>
              <a:r>
                <a:rPr lang="en-US" altLang="ko-KR" sz="2800" baseline="-25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3</a:t>
              </a:r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 0.11M, 0.2M</a:t>
              </a:r>
              <a:endParaRPr lang="ko-KR" altLang="en-US" sz="28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7077639-F516-59D3-4D87-8EABAF29F4F8}"/>
                </a:ext>
              </a:extLst>
            </p:cNvPr>
            <p:cNvSpPr/>
            <p:nvPr/>
          </p:nvSpPr>
          <p:spPr>
            <a:xfrm>
              <a:off x="1083946" y="5157009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21F06DE-00E5-CCEE-FDDF-DC61032D7568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측정용 소자의 공정 조건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53624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SiO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endParaRPr lang="en-US" altLang="ko-KR" sz="4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29861F-9BAA-50F4-FBCD-E8B04C273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378816"/>
            <a:ext cx="7607147" cy="75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750EF4-C79A-C289-55D3-F2EF2FEB1EEF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F863772-9FBF-EEEF-0336-80EDEC653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378816"/>
            <a:ext cx="7560000" cy="756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AA7F0D-ECC4-5A32-FD4B-9FDED5D13E09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476C6C-1E2A-11EC-E58A-CA52F172E303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2FFF3F-00BE-AC4F-1C42-6169193C71C4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6346B0-C2B2-F8AA-8D03-DD7D1D8E6BA0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A6AC6D-4A1F-96CB-7727-00762DD3D651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1111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0B39FD4-EE8A-B008-9900-E885B69BE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0" y="2384100"/>
            <a:ext cx="7560000" cy="756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468ED28-AFBC-71E1-57A1-24987ECCD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384100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D99F55-B183-A316-F3E0-0E65C21261A2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A156C3-29D8-B0D8-DD85-275214ED51CC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1B647E-1ACE-2336-797A-9DA89261BF21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BCF0B6-0457-10B1-2E7F-0A66378968B5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A105D6-2B4D-FBF6-2DE0-BB0AB6BE9AE0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D93905-A306-C2C5-8FCA-8D14C893BAC5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12917917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F7C4102-17E1-E7B3-6BFC-510912F6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0" y="2381753"/>
            <a:ext cx="7560000" cy="756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BD84B5B-247A-4C18-BA23-9E9194729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381753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2B6FE2-B630-F924-62CF-4ED2436E061C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57BE3E-8CE9-F142-1308-83724CF759A6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9AC85C-64E8-B50A-34DA-DE80227B3766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86566C-AC82-AA8A-2AF3-E6C4FD63C97F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E3887-4E2A-65D1-FDB9-4F720507E052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098B4-0794-3D72-676B-2E900E435BEF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3940898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BFBFD86-0EDC-BD2A-DCE8-3411E7777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384100"/>
            <a:ext cx="7560000" cy="756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F43E75-5888-F8AB-3103-61F8A6813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384100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9F854D-3A61-21C7-9CA1-31800C4F51DA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5F168F-2EEE-F2EE-22C6-65A6CA307FC4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72A94C-EC51-F81A-38F9-9117483D8C0B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AD8ACD-CA7F-8359-FF93-BAF7040804BA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4A864B-F7B8-668F-39D1-C38D04C477CC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82BDA-1690-2774-A8E9-CEA63E951864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34967552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2100E34-D8E5-D99A-1F3B-FEE422E62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00300"/>
            <a:ext cx="7560000" cy="756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1A8CD03-20B1-6ADF-EAE2-BC15901C0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00300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7B99D4-5D6A-0F55-111A-1A649BBF0F8C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C9C9E1-4DAE-6FA5-9694-4A7F7C8BAF38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7BB837-AF6B-20ED-C6D9-073CB75E0E77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624026-A339-62FB-1645-5A4852E591A1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9A8DF-97B3-6573-BA0D-1C1B91E975D7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DEFDA4-3935-8242-E233-4AC4DC738F94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2851631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64A60B9-E31C-092D-119B-668F24EBF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00300"/>
            <a:ext cx="7560000" cy="756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CD5D9F-868F-46FB-6C25-613E3E2F7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00300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CB0BD9-B649-12CA-D5DD-9B821153B0A4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588E00-9E74-408B-AD4E-E2FB69867E85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A0F0AE-2662-21B2-2436-7F261BFC09B2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03595F-C66F-97CA-4D90-E72A2A1E99D3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BBACCD-1EA0-9B5A-DC35-AECB73069C6E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78E798-1A51-128E-B43A-C5B39895203D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30389300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17468FE-5A9C-1EA6-AB6B-FB55823D4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0" y="2413029"/>
            <a:ext cx="7560000" cy="756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1E23E39-A400-708A-00A6-75224CCD9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13029"/>
            <a:ext cx="7560000" cy="75600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결정성 측정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Phase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데이터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 이후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293AC-6643-5AA0-EFC6-9B816321DCF9}"/>
              </a:ext>
            </a:extLst>
          </p:cNvPr>
          <p:cNvSpPr txBox="1"/>
          <p:nvPr/>
        </p:nvSpPr>
        <p:spPr>
          <a:xfrm>
            <a:off x="16356842" y="5853648"/>
            <a:ext cx="1905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Phase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image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상으로는 뚜렷한 경향을 찾기가 힘듦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…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Python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을 활용하여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grain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을 찾으려고 </a:t>
            </a:r>
            <a:r>
              <a:rPr lang="ko-KR" alt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노력해봄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F2B77B-E798-E2ED-1318-0148A9762238}"/>
              </a:ext>
            </a:extLst>
          </p:cNvPr>
          <p:cNvSpPr/>
          <p:nvPr/>
        </p:nvSpPr>
        <p:spPr>
          <a:xfrm>
            <a:off x="52797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78F3A7-EB4F-C769-24AC-E6868FF5A5BA}"/>
              </a:ext>
            </a:extLst>
          </p:cNvPr>
          <p:cNvSpPr/>
          <p:nvPr/>
        </p:nvSpPr>
        <p:spPr>
          <a:xfrm>
            <a:off x="13373100" y="9256002"/>
            <a:ext cx="2520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C548B6-78DF-3389-B5C7-AA8844BABA92}"/>
              </a:ext>
            </a:extLst>
          </p:cNvPr>
          <p:cNvSpPr/>
          <p:nvPr/>
        </p:nvSpPr>
        <p:spPr>
          <a:xfrm>
            <a:off x="7059622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E52C11-26B0-CA4B-974E-1651A14381D9}"/>
              </a:ext>
            </a:extLst>
          </p:cNvPr>
          <p:cNvSpPr/>
          <p:nvPr/>
        </p:nvSpPr>
        <p:spPr>
          <a:xfrm>
            <a:off x="15137100" y="8696550"/>
            <a:ext cx="756000" cy="3337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300nm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02CC1-2D1F-D5D1-D588-9D04EAC803C8}"/>
              </a:ext>
            </a:extLst>
          </p:cNvPr>
          <p:cNvSpPr txBox="1"/>
          <p:nvPr/>
        </p:nvSpPr>
        <p:spPr>
          <a:xfrm>
            <a:off x="685800" y="255270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</a:t>
            </a:r>
            <a:br>
              <a:rPr lang="en-US" altLang="ko-KR" sz="2800" b="1" dirty="0">
                <a:solidFill>
                  <a:schemeClr val="bg1"/>
                </a:solidFill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59ECD7-4DA0-6725-D419-1EED7DA2269F}"/>
              </a:ext>
            </a:extLst>
          </p:cNvPr>
          <p:cNvSpPr txBox="1"/>
          <p:nvPr/>
        </p:nvSpPr>
        <p:spPr>
          <a:xfrm>
            <a:off x="8839200" y="2552700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Phase image (</a:t>
            </a:r>
            <a:r>
              <a:rPr lang="ko-KR" altLang="en-US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반전 이미지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)</a:t>
            </a:r>
            <a:b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(3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 x 3</a:t>
            </a:r>
            <a:r>
              <a:rPr lang="el-GR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2800" b="1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DTD강굴림" panose="020B0600000101010101" charset="-127"/>
                <a:ea typeface="TDTD강굴림" panose="020B0600000101010101" charset="-127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9599625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파이프라인</a:t>
            </a:r>
            <a:endParaRPr lang="en-US" altLang="ko-KR" sz="4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B41BA-B0D1-2B32-0BD6-97A3EA1D578D}"/>
              </a:ext>
            </a:extLst>
          </p:cNvPr>
          <p:cNvSpPr txBox="1"/>
          <p:nvPr/>
        </p:nvSpPr>
        <p:spPr>
          <a:xfrm>
            <a:off x="1041400" y="2388930"/>
            <a:ext cx="157226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b="1" dirty="0"/>
              <a:t>1. </a:t>
            </a:r>
            <a:r>
              <a:rPr lang="ko-KR" altLang="en-US" sz="2200" b="1" dirty="0"/>
              <a:t>먼저 </a:t>
            </a:r>
            <a:r>
              <a:rPr lang="ko-KR" altLang="en-US" sz="2200" b="1" dirty="0" err="1"/>
              <a:t>grain이</a:t>
            </a:r>
            <a:r>
              <a:rPr lang="ko-KR" altLang="en-US" sz="2200" b="1" dirty="0"/>
              <a:t> 없는 </a:t>
            </a:r>
            <a:r>
              <a:rPr lang="ko-KR" altLang="en-US" sz="2200" b="1" dirty="0" err="1"/>
              <a:t>wafer를</a:t>
            </a:r>
            <a:r>
              <a:rPr lang="ko-KR" altLang="en-US" sz="2200" b="1" dirty="0"/>
              <a:t> 측정하여 노이즈 </a:t>
            </a:r>
            <a:r>
              <a:rPr lang="ko-KR" altLang="en-US" sz="2200" b="1" dirty="0" err="1"/>
              <a:t>기준값</a:t>
            </a:r>
            <a:r>
              <a:rPr lang="ko-KR" altLang="en-US" sz="2200" b="1" dirty="0"/>
              <a:t> 설정 </a:t>
            </a:r>
            <a:r>
              <a:rPr lang="en-US" altLang="ko-KR" sz="2200" b="1" dirty="0"/>
              <a:t>(</a:t>
            </a:r>
            <a:r>
              <a:rPr lang="ko-KR" altLang="en-US" sz="2200" b="1" dirty="0"/>
              <a:t>앞서 측정한 </a:t>
            </a:r>
            <a:r>
              <a:rPr lang="en-US" altLang="ko-KR" sz="2200" b="1" dirty="0"/>
              <a:t>SiO</a:t>
            </a:r>
            <a:r>
              <a:rPr lang="en-US" altLang="ko-KR" sz="2200" b="1" baseline="-25000" dirty="0"/>
              <a:t>2</a:t>
            </a:r>
            <a:r>
              <a:rPr lang="en-US" altLang="ko-KR" sz="2200" b="1" dirty="0"/>
              <a:t> phase image)</a:t>
            </a:r>
          </a:p>
          <a:p>
            <a:endParaRPr lang="ko-KR" altLang="en-US" sz="2200" b="1" dirty="0"/>
          </a:p>
          <a:p>
            <a:r>
              <a:rPr lang="ko-KR" altLang="en-US" sz="2200" b="1" dirty="0"/>
              <a:t>2. </a:t>
            </a:r>
            <a:r>
              <a:rPr lang="ko-KR" altLang="en-US" sz="2200" b="1" dirty="0" err="1"/>
              <a:t>Phase</a:t>
            </a:r>
            <a:r>
              <a:rPr lang="ko-KR" altLang="en-US" sz="2200" b="1" dirty="0"/>
              <a:t> 데이터에서 줄무늬와 갑자기 튀는 점 등의 노이즈 제거</a:t>
            </a:r>
          </a:p>
          <a:p>
            <a:endParaRPr lang="ko-KR" altLang="en-US" sz="2200" b="1" dirty="0"/>
          </a:p>
          <a:p>
            <a:r>
              <a:rPr lang="ko-KR" altLang="en-US" sz="2200" b="1" dirty="0"/>
              <a:t>3. 주변과 </a:t>
            </a:r>
            <a:r>
              <a:rPr lang="ko-KR" altLang="en-US" sz="2200" b="1" dirty="0" err="1"/>
              <a:t>Phase</a:t>
            </a:r>
            <a:r>
              <a:rPr lang="ko-KR" altLang="en-US" sz="2200" b="1" dirty="0"/>
              <a:t> 값이 크게 달라지는 부분을 찾아 </a:t>
            </a:r>
            <a:r>
              <a:rPr lang="ko-KR" altLang="en-US" sz="2200" b="1" dirty="0" err="1"/>
              <a:t>grain</a:t>
            </a:r>
            <a:r>
              <a:rPr lang="ko-KR" altLang="en-US" sz="2200" b="1" dirty="0"/>
              <a:t> 경계 후보로 표시 </a:t>
            </a:r>
            <a:r>
              <a:rPr lang="en-US" altLang="ko-KR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다음 장에서 추가 설명</a:t>
            </a:r>
            <a:endParaRPr lang="ko-KR" altLang="en-US" sz="2200" b="1" dirty="0">
              <a:solidFill>
                <a:srgbClr val="FF0000"/>
              </a:solidFill>
            </a:endParaRPr>
          </a:p>
          <a:p>
            <a:endParaRPr lang="ko-KR" altLang="en-US" sz="2200" b="1" dirty="0"/>
          </a:p>
          <a:p>
            <a:r>
              <a:rPr lang="en-US" altLang="ko-KR" sz="2200" b="1" dirty="0"/>
              <a:t>4</a:t>
            </a:r>
            <a:r>
              <a:rPr lang="ko-KR" altLang="en-US" sz="2200" b="1" dirty="0"/>
              <a:t>. 경계 안쪽 기준</a:t>
            </a:r>
            <a:r>
              <a:rPr lang="en-US" altLang="ko-KR" sz="2200" b="1" dirty="0"/>
              <a:t>,</a:t>
            </a:r>
            <a:r>
              <a:rPr lang="ko-KR" altLang="en-US" sz="2200" b="1" dirty="0"/>
              <a:t> 주변보다 높거나 낮은 지점을 </a:t>
            </a:r>
            <a:r>
              <a:rPr lang="ko-KR" altLang="en-US" sz="2200" b="1" dirty="0" err="1"/>
              <a:t>grain</a:t>
            </a:r>
            <a:r>
              <a:rPr lang="ko-KR" altLang="en-US" sz="2200" b="1" dirty="0"/>
              <a:t> 중심 후보(</a:t>
            </a:r>
            <a:r>
              <a:rPr lang="ko-KR" altLang="en-US" sz="2200" b="1" dirty="0" err="1"/>
              <a:t>seed</a:t>
            </a:r>
            <a:r>
              <a:rPr lang="ko-KR" altLang="en-US" sz="2200" b="1" dirty="0"/>
              <a:t>) 선정</a:t>
            </a:r>
          </a:p>
          <a:p>
            <a:endParaRPr lang="ko-KR" altLang="en-US" sz="2200" b="1" dirty="0"/>
          </a:p>
          <a:p>
            <a:r>
              <a:rPr lang="en-US" altLang="ko-KR" sz="2200" b="1" dirty="0"/>
              <a:t>5</a:t>
            </a:r>
            <a:r>
              <a:rPr lang="ko-KR" altLang="en-US" sz="2200" b="1" dirty="0"/>
              <a:t>. 하나의 </a:t>
            </a:r>
            <a:r>
              <a:rPr lang="ko-KR" altLang="en-US" sz="2200" b="1" dirty="0" err="1"/>
              <a:t>grain</a:t>
            </a:r>
            <a:r>
              <a:rPr lang="ko-KR" altLang="en-US" sz="2200" b="1" dirty="0"/>
              <a:t> 안에 </a:t>
            </a:r>
            <a:r>
              <a:rPr lang="ko-KR" altLang="en-US" sz="2200" b="1" dirty="0" err="1"/>
              <a:t>seed가</a:t>
            </a:r>
            <a:r>
              <a:rPr lang="ko-KR" altLang="en-US" sz="2200" b="1" dirty="0"/>
              <a:t> 여러 개 생기면 그중 가장 뚜렷한 </a:t>
            </a:r>
            <a:r>
              <a:rPr lang="ko-KR" altLang="en-US" sz="2200" b="1" dirty="0" err="1"/>
              <a:t>seed</a:t>
            </a:r>
            <a:r>
              <a:rPr lang="ko-KR" altLang="en-US" sz="2200" b="1" dirty="0"/>
              <a:t> 하나만 남김</a:t>
            </a:r>
          </a:p>
          <a:p>
            <a:endParaRPr lang="ko-KR" altLang="en-US" sz="2200" b="1" dirty="0"/>
          </a:p>
          <a:p>
            <a:r>
              <a:rPr lang="en-US" altLang="ko-KR" sz="2200" b="1" dirty="0"/>
              <a:t>6</a:t>
            </a:r>
            <a:r>
              <a:rPr lang="ko-KR" altLang="en-US" sz="2200" b="1" dirty="0"/>
              <a:t>. 남은 </a:t>
            </a:r>
            <a:r>
              <a:rPr lang="ko-KR" altLang="en-US" sz="2200" b="1" dirty="0" err="1"/>
              <a:t>seed를</a:t>
            </a:r>
            <a:r>
              <a:rPr lang="ko-KR" altLang="en-US" sz="2200" b="1" dirty="0"/>
              <a:t> 중심으로 영역을 넓혀가며 </a:t>
            </a:r>
            <a:r>
              <a:rPr lang="ko-KR" altLang="en-US" sz="2200" b="1" dirty="0" err="1"/>
              <a:t>grain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size</a:t>
            </a:r>
            <a:r>
              <a:rPr lang="ko-KR" altLang="en-US" sz="2200" b="1" dirty="0"/>
              <a:t> 측정</a:t>
            </a:r>
            <a:endParaRPr lang="en-US" altLang="ko-KR" sz="2200" b="1" dirty="0"/>
          </a:p>
          <a:p>
            <a:endParaRPr lang="ko-KR" altLang="en-US" sz="2200" b="1" dirty="0"/>
          </a:p>
          <a:p>
            <a:r>
              <a:rPr lang="en-US" altLang="ko-KR" sz="2200" b="1" dirty="0"/>
              <a:t>7</a:t>
            </a:r>
            <a:r>
              <a:rPr lang="ko-KR" altLang="en-US" sz="2200" b="1" dirty="0"/>
              <a:t>. 이렇게 분리된 영역 중 </a:t>
            </a:r>
            <a:r>
              <a:rPr lang="ko-KR" altLang="en-US" sz="2200" b="1" dirty="0" err="1"/>
              <a:t>wafer에서도</a:t>
            </a:r>
            <a:r>
              <a:rPr lang="ko-KR" altLang="en-US" sz="2200" b="1" dirty="0"/>
              <a:t> 나타날 수 있는 약한 변화는 가짜 </a:t>
            </a:r>
            <a:r>
              <a:rPr lang="ko-KR" altLang="en-US" sz="2200" b="1" dirty="0" err="1"/>
              <a:t>grain으로</a:t>
            </a:r>
            <a:r>
              <a:rPr lang="ko-KR" altLang="en-US" sz="2200" b="1" dirty="0"/>
              <a:t> 분류 및 제거 </a:t>
            </a:r>
            <a:r>
              <a:rPr lang="en-US" altLang="ko-KR" sz="2200" b="1" dirty="0"/>
              <a:t>(Wafer</a:t>
            </a:r>
            <a:r>
              <a:rPr lang="ko-KR" altLang="en-US" sz="2200" b="1" dirty="0"/>
              <a:t>로 측정한 </a:t>
            </a:r>
            <a:r>
              <a:rPr lang="ko-KR" altLang="en-US" sz="2200" b="1" dirty="0" err="1"/>
              <a:t>기준값으로</a:t>
            </a:r>
            <a:r>
              <a:rPr lang="ko-KR" altLang="en-US" sz="2200" b="1" dirty="0"/>
              <a:t> 노이즈 제거</a:t>
            </a:r>
            <a:r>
              <a:rPr lang="en-US" altLang="ko-KR" sz="2200" b="1" dirty="0"/>
              <a:t>)</a:t>
            </a:r>
          </a:p>
          <a:p>
            <a:endParaRPr lang="ko-KR" altLang="en-US" sz="2200" b="1" dirty="0"/>
          </a:p>
          <a:p>
            <a:r>
              <a:rPr lang="en-US" altLang="ko-KR" sz="2200" b="1" dirty="0"/>
              <a:t>8</a:t>
            </a:r>
            <a:r>
              <a:rPr lang="ko-KR" altLang="en-US" sz="2200" b="1" dirty="0"/>
              <a:t>. 너무 작거나 너무 큰 영역도 제외하고 적절한 크기의 </a:t>
            </a:r>
            <a:r>
              <a:rPr lang="ko-KR" altLang="en-US" sz="2200" b="1" dirty="0" err="1"/>
              <a:t>grain만</a:t>
            </a:r>
            <a:r>
              <a:rPr lang="ko-KR" altLang="en-US" sz="2200" b="1" dirty="0"/>
              <a:t> 남김</a:t>
            </a:r>
          </a:p>
          <a:p>
            <a:endParaRPr lang="ko-KR" altLang="en-US" sz="2200" b="1" dirty="0"/>
          </a:p>
          <a:p>
            <a:r>
              <a:rPr lang="en-US" altLang="ko-KR" sz="2200" b="1" dirty="0"/>
              <a:t>9</a:t>
            </a:r>
            <a:r>
              <a:rPr lang="ko-KR" altLang="en-US" sz="2200" b="1" dirty="0"/>
              <a:t>. </a:t>
            </a:r>
            <a:r>
              <a:rPr lang="ko-KR" altLang="en-US" sz="2200" b="1" dirty="0" err="1"/>
              <a:t>Forward</a:t>
            </a:r>
            <a:r>
              <a:rPr lang="ko-KR" altLang="en-US" sz="2200" b="1" dirty="0"/>
              <a:t> 데이터</a:t>
            </a:r>
            <a:r>
              <a:rPr lang="en-US" altLang="ko-KR" sz="2200" b="1" dirty="0"/>
              <a:t>-</a:t>
            </a:r>
            <a:r>
              <a:rPr lang="ko-KR" altLang="en-US" sz="2200" b="1" dirty="0"/>
              <a:t> </a:t>
            </a:r>
            <a:r>
              <a:rPr lang="ko-KR" altLang="en-US" sz="2200" b="1" dirty="0" err="1"/>
              <a:t>Backward</a:t>
            </a:r>
            <a:r>
              <a:rPr lang="ko-KR" altLang="en-US" sz="2200" b="1" dirty="0"/>
              <a:t> 데이터 분석 후</a:t>
            </a:r>
            <a:r>
              <a:rPr lang="en-US" altLang="ko-KR" sz="2200" b="1" dirty="0"/>
              <a:t>,</a:t>
            </a:r>
            <a:r>
              <a:rPr lang="ko-KR" altLang="en-US" sz="2200" b="1" dirty="0"/>
              <a:t>  </a:t>
            </a:r>
            <a:r>
              <a:rPr lang="ko-KR" altLang="en-US" sz="2200" b="1" dirty="0" err="1"/>
              <a:t>Forward에서</a:t>
            </a:r>
            <a:r>
              <a:rPr lang="ko-KR" altLang="en-US" sz="2200" b="1" dirty="0"/>
              <a:t> 찾은 </a:t>
            </a:r>
            <a:r>
              <a:rPr lang="ko-KR" altLang="en-US" sz="2200" b="1" dirty="0" err="1"/>
              <a:t>grain</a:t>
            </a:r>
            <a:r>
              <a:rPr lang="ko-KR" altLang="en-US" sz="2200" b="1" dirty="0"/>
              <a:t> 경계와 </a:t>
            </a:r>
            <a:r>
              <a:rPr lang="ko-KR" altLang="en-US" sz="2200" b="1" dirty="0" err="1"/>
              <a:t>Backward</a:t>
            </a:r>
            <a:r>
              <a:rPr lang="ko-KR" altLang="en-US" sz="2200" b="1" dirty="0"/>
              <a:t> 경계 일치도 측정 </a:t>
            </a:r>
            <a:r>
              <a:rPr lang="en-US" altLang="ko-KR" sz="2200" b="1" dirty="0"/>
              <a:t>(</a:t>
            </a:r>
            <a:r>
              <a:rPr lang="ko-KR" altLang="en-US" sz="2200" b="1" dirty="0"/>
              <a:t>데이터 신뢰성 확인</a:t>
            </a:r>
            <a:r>
              <a:rPr lang="en-US" altLang="ko-KR" sz="2200" b="1" dirty="0"/>
              <a:t>)</a:t>
            </a:r>
          </a:p>
          <a:p>
            <a:endParaRPr lang="ko-KR" altLang="en-US" sz="2200" b="1" dirty="0"/>
          </a:p>
          <a:p>
            <a:r>
              <a:rPr lang="en-US" altLang="ko-KR" sz="2200" b="1" dirty="0"/>
              <a:t>10</a:t>
            </a:r>
            <a:r>
              <a:rPr lang="ko-KR" altLang="en-US" sz="2200" b="1" dirty="0"/>
              <a:t>. </a:t>
            </a:r>
            <a:r>
              <a:rPr lang="ko-KR" altLang="en-US" sz="2200" b="1" dirty="0" err="1"/>
              <a:t>Forward</a:t>
            </a:r>
            <a:r>
              <a:rPr lang="ko-KR" altLang="en-US" sz="2200" b="1" dirty="0"/>
              <a:t>–</a:t>
            </a:r>
            <a:r>
              <a:rPr lang="ko-KR" altLang="en-US" sz="2200" b="1" dirty="0" err="1"/>
              <a:t>Backward</a:t>
            </a:r>
            <a:r>
              <a:rPr lang="ko-KR" altLang="en-US" sz="2200" b="1" dirty="0"/>
              <a:t> </a:t>
            </a:r>
            <a:r>
              <a:rPr lang="ko-KR" altLang="en-US" sz="2200" b="1" dirty="0" err="1"/>
              <a:t>consistency가</a:t>
            </a:r>
            <a:r>
              <a:rPr lang="ko-KR" altLang="en-US" sz="2200" b="1" dirty="0"/>
              <a:t> 0인 </a:t>
            </a:r>
            <a:r>
              <a:rPr lang="ko-KR" altLang="en-US" sz="2200" b="1" dirty="0" err="1"/>
              <a:t>grain은</a:t>
            </a:r>
            <a:r>
              <a:rPr lang="ko-KR" altLang="en-US" sz="2200" b="1" dirty="0"/>
              <a:t> 분석에서 제외하고, 나머지 중 </a:t>
            </a:r>
            <a:r>
              <a:rPr lang="ko-KR" altLang="en-US" sz="2200" b="1" dirty="0" err="1"/>
              <a:t>consistency가</a:t>
            </a:r>
            <a:r>
              <a:rPr lang="ko-KR" altLang="en-US" sz="2200" b="1" dirty="0"/>
              <a:t> 높은 순서로 최대 200개를 선택</a:t>
            </a:r>
          </a:p>
          <a:p>
            <a:endParaRPr lang="ko-KR" altLang="en-US" sz="2200" b="1" dirty="0"/>
          </a:p>
          <a:p>
            <a:r>
              <a:rPr lang="ko-KR" altLang="en-US" sz="2200" b="1" dirty="0"/>
              <a:t>1</a:t>
            </a:r>
            <a:r>
              <a:rPr lang="en-US" altLang="ko-KR" sz="2200" b="1" dirty="0"/>
              <a:t>1</a:t>
            </a:r>
            <a:r>
              <a:rPr lang="ko-KR" altLang="en-US" sz="2200" b="1" dirty="0"/>
              <a:t>. 전체 </a:t>
            </a:r>
            <a:r>
              <a:rPr lang="ko-KR" altLang="en-US" sz="2200" b="1" dirty="0" err="1"/>
              <a:t>grain과</a:t>
            </a:r>
            <a:r>
              <a:rPr lang="ko-KR" altLang="en-US" sz="2200" b="1" dirty="0"/>
              <a:t> 최종 선택 </a:t>
            </a:r>
            <a:r>
              <a:rPr lang="ko-KR" altLang="en-US" sz="2200" b="1" dirty="0" err="1"/>
              <a:t>grain의</a:t>
            </a:r>
            <a:r>
              <a:rPr lang="ko-KR" altLang="en-US" sz="2200" b="1" dirty="0"/>
              <a:t> 크기 분포와 평균을 비교</a:t>
            </a:r>
          </a:p>
        </p:txBody>
      </p:sp>
    </p:spTree>
    <p:extLst>
      <p:ext uri="{BB962C8B-B14F-4D97-AF65-F5344CB8AC3E}">
        <p14:creationId xmlns:p14="http://schemas.microsoft.com/office/powerpoint/2010/main" val="29984745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BE0CB8B-ED00-89ED-F245-9B0A60AAA98D}"/>
              </a:ext>
            </a:extLst>
          </p:cNvPr>
          <p:cNvCxnSpPr/>
          <p:nvPr/>
        </p:nvCxnSpPr>
        <p:spPr>
          <a:xfrm>
            <a:off x="9829800" y="3633716"/>
            <a:ext cx="0" cy="281840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EFACAB-0FB1-F361-A3FD-339915247666}"/>
              </a:ext>
            </a:extLst>
          </p:cNvPr>
          <p:cNvCxnSpPr/>
          <p:nvPr/>
        </p:nvCxnSpPr>
        <p:spPr>
          <a:xfrm>
            <a:off x="12424791" y="3633716"/>
            <a:ext cx="0" cy="281840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파이프라인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번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(Grain boundary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추출 방법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41EF1-8982-B414-D6E7-2AF08E23CC96}"/>
              </a:ext>
            </a:extLst>
          </p:cNvPr>
          <p:cNvSpPr txBox="1"/>
          <p:nvPr/>
        </p:nvSpPr>
        <p:spPr>
          <a:xfrm>
            <a:off x="935686" y="2275701"/>
            <a:ext cx="340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222222"/>
                </a:solidFill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In</a:t>
            </a:r>
            <a:r>
              <a:rPr lang="en-US" altLang="ko-KR" sz="1400" b="1" baseline="-25000" dirty="0">
                <a:solidFill>
                  <a:srgbClr val="222222"/>
                </a:solidFill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2</a:t>
            </a:r>
            <a:r>
              <a:rPr lang="en-US" altLang="ko-KR" sz="1400" b="1" dirty="0">
                <a:solidFill>
                  <a:srgbClr val="222222"/>
                </a:solidFill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O</a:t>
            </a:r>
            <a:r>
              <a:rPr lang="en-US" altLang="ko-KR" sz="1400" b="1" baseline="-25000" dirty="0">
                <a:solidFill>
                  <a:srgbClr val="222222"/>
                </a:solidFill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3</a:t>
            </a:r>
            <a:r>
              <a:rPr lang="en-US" altLang="ko-KR" sz="1400" b="1" dirty="0">
                <a:solidFill>
                  <a:srgbClr val="222222"/>
                </a:solidFill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_0.11M_350’C</a:t>
            </a:r>
            <a:r>
              <a:rPr lang="en-US" altLang="ko-K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 phase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B27FD-3BE6-EC21-6C04-C3E4C9591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648382"/>
            <a:ext cx="2130033" cy="73430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B15BEF-97CE-762F-12CD-E699063B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523" y="2628900"/>
            <a:ext cx="2180477" cy="7348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9B23AB-45AF-E4C6-9CC6-C2D0DA9FEF84}"/>
              </a:ext>
            </a:extLst>
          </p:cNvPr>
          <p:cNvSpPr txBox="1"/>
          <p:nvPr/>
        </p:nvSpPr>
        <p:spPr>
          <a:xfrm>
            <a:off x="3455382" y="2275701"/>
            <a:ext cx="225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Si-SiO</a:t>
            </a:r>
            <a:r>
              <a:rPr lang="en-US" altLang="ko-KR" sz="1400" b="1" i="0" baseline="-250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2</a:t>
            </a:r>
            <a:r>
              <a:rPr lang="en-US" altLang="ko-K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rPr>
              <a:t> phase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E37D16-F66F-86D7-0B59-25D42FF0142C}"/>
              </a:ext>
            </a:extLst>
          </p:cNvPr>
          <p:cNvSpPr txBox="1"/>
          <p:nvPr/>
        </p:nvSpPr>
        <p:spPr>
          <a:xfrm>
            <a:off x="6477000" y="6925177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*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노이즈 제거 방법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0EC3662-E35A-1F81-1973-7B289B528AAB}"/>
              </a:ext>
            </a:extLst>
          </p:cNvPr>
          <p:cNvGrpSpPr/>
          <p:nvPr/>
        </p:nvGrpSpPr>
        <p:grpSpPr>
          <a:xfrm>
            <a:off x="6467454" y="3624049"/>
            <a:ext cx="9599872" cy="2837741"/>
            <a:chOff x="4369569" y="2087343"/>
            <a:chExt cx="6229653" cy="241435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EFFD2E7-F343-4D4F-6558-BD3B6147A9A2}"/>
                </a:ext>
              </a:extLst>
            </p:cNvPr>
            <p:cNvGrpSpPr/>
            <p:nvPr/>
          </p:nvGrpSpPr>
          <p:grpSpPr>
            <a:xfrm>
              <a:off x="4369569" y="2087343"/>
              <a:ext cx="6229653" cy="2414351"/>
              <a:chOff x="4680140" y="2080070"/>
              <a:chExt cx="6229653" cy="241435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D59CEEC-0D6D-A72C-3DF6-8EDA5C9D7ABC}"/>
                  </a:ext>
                </a:extLst>
              </p:cNvPr>
              <p:cNvGrpSpPr/>
              <p:nvPr/>
            </p:nvGrpSpPr>
            <p:grpSpPr>
              <a:xfrm>
                <a:off x="4680140" y="2080070"/>
                <a:ext cx="6229653" cy="2414351"/>
                <a:chOff x="4699545" y="2080069"/>
                <a:chExt cx="6229653" cy="2414351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BD072E9C-5729-0AE9-E23E-F707BC1663D0}"/>
                    </a:ext>
                  </a:extLst>
                </p:cNvPr>
                <p:cNvSpPr/>
                <p:nvPr/>
              </p:nvSpPr>
              <p:spPr>
                <a:xfrm>
                  <a:off x="4699545" y="2088294"/>
                  <a:ext cx="6229653" cy="240612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DBCD23B0-22CD-7F5B-9B2D-FBE483544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47366" y="2080069"/>
                  <a:ext cx="0" cy="24061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D83E50-BDFF-B8CA-9680-3DE849398604}"/>
                    </a:ext>
                  </a:extLst>
                </p:cNvPr>
                <p:cNvSpPr txBox="1"/>
                <p:nvPr/>
              </p:nvSpPr>
              <p:spPr>
                <a:xfrm flipV="1">
                  <a:off x="4754675" y="2966447"/>
                  <a:ext cx="299589" cy="84771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en-US" altLang="ko-KR" b="1" dirty="0"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Degree</a:t>
                  </a:r>
                  <a:endParaRPr lang="ko-KR" altLang="en-US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B5B34B79-A546-B2FB-656D-FC479F5556E9}"/>
                  </a:ext>
                </a:extLst>
              </p:cNvPr>
              <p:cNvGrpSpPr/>
              <p:nvPr/>
            </p:nvGrpSpPr>
            <p:grpSpPr>
              <a:xfrm>
                <a:off x="5024862" y="2088295"/>
                <a:ext cx="5616442" cy="2278258"/>
                <a:chOff x="4671623" y="2122624"/>
                <a:chExt cx="5763496" cy="2333770"/>
              </a:xfrm>
            </p:grpSpPr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8F46C68D-AEDC-F538-ED65-146A96B7FB07}"/>
                    </a:ext>
                  </a:extLst>
                </p:cNvPr>
                <p:cNvSpPr/>
                <p:nvPr/>
              </p:nvSpPr>
              <p:spPr>
                <a:xfrm>
                  <a:off x="4708866" y="2491956"/>
                  <a:ext cx="5726253" cy="1636424"/>
                </a:xfrm>
                <a:custGeom>
                  <a:avLst/>
                  <a:gdLst>
                    <a:gd name="connsiteX0" fmla="*/ 0 w 6092982"/>
                    <a:gd name="connsiteY0" fmla="*/ 1466662 h 1548143"/>
                    <a:gd name="connsiteX1" fmla="*/ 99588 w 6092982"/>
                    <a:gd name="connsiteY1" fmla="*/ 1484769 h 1548143"/>
                    <a:gd name="connsiteX2" fmla="*/ 199176 w 6092982"/>
                    <a:gd name="connsiteY2" fmla="*/ 1502876 h 1548143"/>
                    <a:gd name="connsiteX3" fmla="*/ 316871 w 6092982"/>
                    <a:gd name="connsiteY3" fmla="*/ 1511929 h 1548143"/>
                    <a:gd name="connsiteX4" fmla="*/ 398352 w 6092982"/>
                    <a:gd name="connsiteY4" fmla="*/ 1520983 h 1548143"/>
                    <a:gd name="connsiteX5" fmla="*/ 434566 w 6092982"/>
                    <a:gd name="connsiteY5" fmla="*/ 1530036 h 1548143"/>
                    <a:gd name="connsiteX6" fmla="*/ 597528 w 6092982"/>
                    <a:gd name="connsiteY6" fmla="*/ 1548143 h 1548143"/>
                    <a:gd name="connsiteX7" fmla="*/ 1077362 w 6092982"/>
                    <a:gd name="connsiteY7" fmla="*/ 1539090 h 1548143"/>
                    <a:gd name="connsiteX8" fmla="*/ 1186004 w 6092982"/>
                    <a:gd name="connsiteY8" fmla="*/ 1520983 h 1548143"/>
                    <a:gd name="connsiteX9" fmla="*/ 1222217 w 6092982"/>
                    <a:gd name="connsiteY9" fmla="*/ 1502876 h 1548143"/>
                    <a:gd name="connsiteX10" fmla="*/ 1303699 w 6092982"/>
                    <a:gd name="connsiteY10" fmla="*/ 1484769 h 1548143"/>
                    <a:gd name="connsiteX11" fmla="*/ 1367073 w 6092982"/>
                    <a:gd name="connsiteY11" fmla="*/ 1457608 h 1548143"/>
                    <a:gd name="connsiteX12" fmla="*/ 1421394 w 6092982"/>
                    <a:gd name="connsiteY12" fmla="*/ 1448555 h 1548143"/>
                    <a:gd name="connsiteX13" fmla="*/ 1511928 w 6092982"/>
                    <a:gd name="connsiteY13" fmla="*/ 1421394 h 1548143"/>
                    <a:gd name="connsiteX14" fmla="*/ 1683944 w 6092982"/>
                    <a:gd name="connsiteY14" fmla="*/ 1439501 h 1548143"/>
                    <a:gd name="connsiteX15" fmla="*/ 1729211 w 6092982"/>
                    <a:gd name="connsiteY15" fmla="*/ 1466662 h 1548143"/>
                    <a:gd name="connsiteX16" fmla="*/ 1810693 w 6092982"/>
                    <a:gd name="connsiteY16" fmla="*/ 1484769 h 1548143"/>
                    <a:gd name="connsiteX17" fmla="*/ 1855960 w 6092982"/>
                    <a:gd name="connsiteY17" fmla="*/ 1502876 h 1548143"/>
                    <a:gd name="connsiteX18" fmla="*/ 2190938 w 6092982"/>
                    <a:gd name="connsiteY18" fmla="*/ 1475715 h 1548143"/>
                    <a:gd name="connsiteX19" fmla="*/ 2227152 w 6092982"/>
                    <a:gd name="connsiteY19" fmla="*/ 1448555 h 1548143"/>
                    <a:gd name="connsiteX20" fmla="*/ 2272419 w 6092982"/>
                    <a:gd name="connsiteY20" fmla="*/ 1421394 h 1548143"/>
                    <a:gd name="connsiteX21" fmla="*/ 2317687 w 6092982"/>
                    <a:gd name="connsiteY21" fmla="*/ 1385181 h 1548143"/>
                    <a:gd name="connsiteX22" fmla="*/ 2381061 w 6092982"/>
                    <a:gd name="connsiteY22" fmla="*/ 1348967 h 1548143"/>
                    <a:gd name="connsiteX23" fmla="*/ 2489703 w 6092982"/>
                    <a:gd name="connsiteY23" fmla="*/ 1276539 h 1548143"/>
                    <a:gd name="connsiteX24" fmla="*/ 2525916 w 6092982"/>
                    <a:gd name="connsiteY24" fmla="*/ 1258432 h 1548143"/>
                    <a:gd name="connsiteX25" fmla="*/ 2625505 w 6092982"/>
                    <a:gd name="connsiteY25" fmla="*/ 1186004 h 1548143"/>
                    <a:gd name="connsiteX26" fmla="*/ 2697932 w 6092982"/>
                    <a:gd name="connsiteY26" fmla="*/ 1149791 h 1548143"/>
                    <a:gd name="connsiteX27" fmla="*/ 2797520 w 6092982"/>
                    <a:gd name="connsiteY27" fmla="*/ 1077363 h 1548143"/>
                    <a:gd name="connsiteX28" fmla="*/ 2842788 w 6092982"/>
                    <a:gd name="connsiteY28" fmla="*/ 1050202 h 1548143"/>
                    <a:gd name="connsiteX29" fmla="*/ 2978590 w 6092982"/>
                    <a:gd name="connsiteY29" fmla="*/ 950614 h 1548143"/>
                    <a:gd name="connsiteX30" fmla="*/ 3051017 w 6092982"/>
                    <a:gd name="connsiteY30" fmla="*/ 878187 h 1548143"/>
                    <a:gd name="connsiteX31" fmla="*/ 3096285 w 6092982"/>
                    <a:gd name="connsiteY31" fmla="*/ 814812 h 1548143"/>
                    <a:gd name="connsiteX32" fmla="*/ 3141552 w 6092982"/>
                    <a:gd name="connsiteY32" fmla="*/ 787652 h 1548143"/>
                    <a:gd name="connsiteX33" fmla="*/ 3195873 w 6092982"/>
                    <a:gd name="connsiteY33" fmla="*/ 733331 h 1548143"/>
                    <a:gd name="connsiteX34" fmla="*/ 3232087 w 6092982"/>
                    <a:gd name="connsiteY34" fmla="*/ 706171 h 1548143"/>
                    <a:gd name="connsiteX35" fmla="*/ 3286408 w 6092982"/>
                    <a:gd name="connsiteY35" fmla="*/ 660903 h 1548143"/>
                    <a:gd name="connsiteX36" fmla="*/ 3349782 w 6092982"/>
                    <a:gd name="connsiteY36" fmla="*/ 615636 h 1548143"/>
                    <a:gd name="connsiteX37" fmla="*/ 3467477 w 6092982"/>
                    <a:gd name="connsiteY37" fmla="*/ 516048 h 1548143"/>
                    <a:gd name="connsiteX38" fmla="*/ 3567065 w 6092982"/>
                    <a:gd name="connsiteY38" fmla="*/ 398353 h 1548143"/>
                    <a:gd name="connsiteX39" fmla="*/ 3612332 w 6092982"/>
                    <a:gd name="connsiteY39" fmla="*/ 334979 h 1548143"/>
                    <a:gd name="connsiteX40" fmla="*/ 3675707 w 6092982"/>
                    <a:gd name="connsiteY40" fmla="*/ 271604 h 1548143"/>
                    <a:gd name="connsiteX41" fmla="*/ 3739081 w 6092982"/>
                    <a:gd name="connsiteY41" fmla="*/ 190123 h 1548143"/>
                    <a:gd name="connsiteX42" fmla="*/ 3775295 w 6092982"/>
                    <a:gd name="connsiteY42" fmla="*/ 153909 h 1548143"/>
                    <a:gd name="connsiteX43" fmla="*/ 3802455 w 6092982"/>
                    <a:gd name="connsiteY43" fmla="*/ 117695 h 1548143"/>
                    <a:gd name="connsiteX44" fmla="*/ 3829615 w 6092982"/>
                    <a:gd name="connsiteY44" fmla="*/ 99589 h 1548143"/>
                    <a:gd name="connsiteX45" fmla="*/ 4409037 w 6092982"/>
                    <a:gd name="connsiteY45" fmla="*/ 90535 h 1548143"/>
                    <a:gd name="connsiteX46" fmla="*/ 4553893 w 6092982"/>
                    <a:gd name="connsiteY46" fmla="*/ 45268 h 1548143"/>
                    <a:gd name="connsiteX47" fmla="*/ 4599160 w 6092982"/>
                    <a:gd name="connsiteY47" fmla="*/ 27161 h 1548143"/>
                    <a:gd name="connsiteX48" fmla="*/ 4644427 w 6092982"/>
                    <a:gd name="connsiteY48" fmla="*/ 9054 h 1548143"/>
                    <a:gd name="connsiteX49" fmla="*/ 4707802 w 6092982"/>
                    <a:gd name="connsiteY49" fmla="*/ 0 h 1548143"/>
                    <a:gd name="connsiteX50" fmla="*/ 5115208 w 6092982"/>
                    <a:gd name="connsiteY50" fmla="*/ 18107 h 1548143"/>
                    <a:gd name="connsiteX51" fmla="*/ 5241956 w 6092982"/>
                    <a:gd name="connsiteY51" fmla="*/ 72428 h 1548143"/>
                    <a:gd name="connsiteX52" fmla="*/ 5314384 w 6092982"/>
                    <a:gd name="connsiteY52" fmla="*/ 99589 h 1548143"/>
                    <a:gd name="connsiteX53" fmla="*/ 5423025 w 6092982"/>
                    <a:gd name="connsiteY53" fmla="*/ 153909 h 1548143"/>
                    <a:gd name="connsiteX54" fmla="*/ 5450186 w 6092982"/>
                    <a:gd name="connsiteY54" fmla="*/ 162963 h 1548143"/>
                    <a:gd name="connsiteX55" fmla="*/ 5522613 w 6092982"/>
                    <a:gd name="connsiteY55" fmla="*/ 172016 h 1548143"/>
                    <a:gd name="connsiteX56" fmla="*/ 6020554 w 6092982"/>
                    <a:gd name="connsiteY56" fmla="*/ 162963 h 1548143"/>
                    <a:gd name="connsiteX57" fmla="*/ 6065821 w 6092982"/>
                    <a:gd name="connsiteY57" fmla="*/ 144856 h 1548143"/>
                    <a:gd name="connsiteX58" fmla="*/ 6092982 w 6092982"/>
                    <a:gd name="connsiteY58" fmla="*/ 126749 h 1548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092982" h="1548143">
                      <a:moveTo>
                        <a:pt x="0" y="1466662"/>
                      </a:moveTo>
                      <a:cubicBezTo>
                        <a:pt x="111816" y="1489024"/>
                        <a:pt x="-27827" y="1461603"/>
                        <a:pt x="99588" y="1484769"/>
                      </a:cubicBezTo>
                      <a:cubicBezTo>
                        <a:pt x="131138" y="1490505"/>
                        <a:pt x="167513" y="1499543"/>
                        <a:pt x="199176" y="1502876"/>
                      </a:cubicBezTo>
                      <a:cubicBezTo>
                        <a:pt x="238307" y="1506995"/>
                        <a:pt x="277685" y="1508367"/>
                        <a:pt x="316871" y="1511929"/>
                      </a:cubicBezTo>
                      <a:cubicBezTo>
                        <a:pt x="344086" y="1514403"/>
                        <a:pt x="371192" y="1517965"/>
                        <a:pt x="398352" y="1520983"/>
                      </a:cubicBezTo>
                      <a:cubicBezTo>
                        <a:pt x="410423" y="1524001"/>
                        <a:pt x="422324" y="1527810"/>
                        <a:pt x="434566" y="1530036"/>
                      </a:cubicBezTo>
                      <a:cubicBezTo>
                        <a:pt x="489647" y="1540051"/>
                        <a:pt x="541187" y="1543021"/>
                        <a:pt x="597528" y="1548143"/>
                      </a:cubicBezTo>
                      <a:cubicBezTo>
                        <a:pt x="757473" y="1545125"/>
                        <a:pt x="917559" y="1546465"/>
                        <a:pt x="1077362" y="1539090"/>
                      </a:cubicBezTo>
                      <a:cubicBezTo>
                        <a:pt x="1114036" y="1537397"/>
                        <a:pt x="1186004" y="1520983"/>
                        <a:pt x="1186004" y="1520983"/>
                      </a:cubicBezTo>
                      <a:cubicBezTo>
                        <a:pt x="1198075" y="1514947"/>
                        <a:pt x="1209580" y="1507615"/>
                        <a:pt x="1222217" y="1502876"/>
                      </a:cubicBezTo>
                      <a:cubicBezTo>
                        <a:pt x="1236835" y="1497394"/>
                        <a:pt x="1291400" y="1487229"/>
                        <a:pt x="1303699" y="1484769"/>
                      </a:cubicBezTo>
                      <a:cubicBezTo>
                        <a:pt x="1324824" y="1475715"/>
                        <a:pt x="1345106" y="1464367"/>
                        <a:pt x="1367073" y="1457608"/>
                      </a:cubicBezTo>
                      <a:cubicBezTo>
                        <a:pt x="1384618" y="1452210"/>
                        <a:pt x="1403585" y="1453007"/>
                        <a:pt x="1421394" y="1448555"/>
                      </a:cubicBezTo>
                      <a:cubicBezTo>
                        <a:pt x="1451960" y="1440913"/>
                        <a:pt x="1481750" y="1430448"/>
                        <a:pt x="1511928" y="1421394"/>
                      </a:cubicBezTo>
                      <a:cubicBezTo>
                        <a:pt x="1569267" y="1427430"/>
                        <a:pt x="1627500" y="1427742"/>
                        <a:pt x="1683944" y="1439501"/>
                      </a:cubicBezTo>
                      <a:cubicBezTo>
                        <a:pt x="1701171" y="1443090"/>
                        <a:pt x="1712639" y="1460744"/>
                        <a:pt x="1729211" y="1466662"/>
                      </a:cubicBezTo>
                      <a:cubicBezTo>
                        <a:pt x="1755413" y="1476020"/>
                        <a:pt x="1783940" y="1477125"/>
                        <a:pt x="1810693" y="1484769"/>
                      </a:cubicBezTo>
                      <a:cubicBezTo>
                        <a:pt x="1826319" y="1489234"/>
                        <a:pt x="1840871" y="1496840"/>
                        <a:pt x="1855960" y="1502876"/>
                      </a:cubicBezTo>
                      <a:cubicBezTo>
                        <a:pt x="1967619" y="1493822"/>
                        <a:pt x="2080093" y="1491936"/>
                        <a:pt x="2190938" y="1475715"/>
                      </a:cubicBezTo>
                      <a:cubicBezTo>
                        <a:pt x="2205868" y="1473530"/>
                        <a:pt x="2214597" y="1456925"/>
                        <a:pt x="2227152" y="1448555"/>
                      </a:cubicBezTo>
                      <a:cubicBezTo>
                        <a:pt x="2241793" y="1438794"/>
                        <a:pt x="2258003" y="1431485"/>
                        <a:pt x="2272419" y="1421394"/>
                      </a:cubicBezTo>
                      <a:cubicBezTo>
                        <a:pt x="2288249" y="1410313"/>
                        <a:pt x="2301609" y="1395900"/>
                        <a:pt x="2317687" y="1385181"/>
                      </a:cubicBezTo>
                      <a:cubicBezTo>
                        <a:pt x="2337931" y="1371685"/>
                        <a:pt x="2360490" y="1361959"/>
                        <a:pt x="2381061" y="1348967"/>
                      </a:cubicBezTo>
                      <a:cubicBezTo>
                        <a:pt x="2417860" y="1325726"/>
                        <a:pt x="2452795" y="1299607"/>
                        <a:pt x="2489703" y="1276539"/>
                      </a:cubicBezTo>
                      <a:cubicBezTo>
                        <a:pt x="2501147" y="1269386"/>
                        <a:pt x="2514687" y="1265918"/>
                        <a:pt x="2525916" y="1258432"/>
                      </a:cubicBezTo>
                      <a:cubicBezTo>
                        <a:pt x="2612819" y="1200496"/>
                        <a:pt x="2527355" y="1242089"/>
                        <a:pt x="2625505" y="1186004"/>
                      </a:cubicBezTo>
                      <a:cubicBezTo>
                        <a:pt x="2648941" y="1172612"/>
                        <a:pt x="2674496" y="1163183"/>
                        <a:pt x="2697932" y="1149791"/>
                      </a:cubicBezTo>
                      <a:cubicBezTo>
                        <a:pt x="2770719" y="1108199"/>
                        <a:pt x="2733140" y="1122430"/>
                        <a:pt x="2797520" y="1077363"/>
                      </a:cubicBezTo>
                      <a:cubicBezTo>
                        <a:pt x="2811936" y="1067272"/>
                        <a:pt x="2828372" y="1060293"/>
                        <a:pt x="2842788" y="1050202"/>
                      </a:cubicBezTo>
                      <a:cubicBezTo>
                        <a:pt x="2888775" y="1018011"/>
                        <a:pt x="2978590" y="950614"/>
                        <a:pt x="2978590" y="950614"/>
                      </a:cubicBezTo>
                      <a:cubicBezTo>
                        <a:pt x="3051017" y="829902"/>
                        <a:pt x="2954448" y="974756"/>
                        <a:pt x="3051017" y="878187"/>
                      </a:cubicBezTo>
                      <a:cubicBezTo>
                        <a:pt x="3069374" y="859830"/>
                        <a:pt x="3077928" y="833169"/>
                        <a:pt x="3096285" y="814812"/>
                      </a:cubicBezTo>
                      <a:cubicBezTo>
                        <a:pt x="3108728" y="802369"/>
                        <a:pt x="3127933" y="798795"/>
                        <a:pt x="3141552" y="787652"/>
                      </a:cubicBezTo>
                      <a:cubicBezTo>
                        <a:pt x="3161371" y="771437"/>
                        <a:pt x="3176839" y="750461"/>
                        <a:pt x="3195873" y="733331"/>
                      </a:cubicBezTo>
                      <a:cubicBezTo>
                        <a:pt x="3207089" y="723237"/>
                        <a:pt x="3220304" y="715597"/>
                        <a:pt x="3232087" y="706171"/>
                      </a:cubicBezTo>
                      <a:cubicBezTo>
                        <a:pt x="3250492" y="691447"/>
                        <a:pt x="3267726" y="675274"/>
                        <a:pt x="3286408" y="660903"/>
                      </a:cubicBezTo>
                      <a:cubicBezTo>
                        <a:pt x="3306985" y="645075"/>
                        <a:pt x="3330164" y="632638"/>
                        <a:pt x="3349782" y="615636"/>
                      </a:cubicBezTo>
                      <a:cubicBezTo>
                        <a:pt x="3477085" y="505306"/>
                        <a:pt x="3371062" y="573896"/>
                        <a:pt x="3467477" y="516048"/>
                      </a:cubicBezTo>
                      <a:cubicBezTo>
                        <a:pt x="3524084" y="402834"/>
                        <a:pt x="3415357" y="610745"/>
                        <a:pt x="3567065" y="398353"/>
                      </a:cubicBezTo>
                      <a:cubicBezTo>
                        <a:pt x="3582154" y="377228"/>
                        <a:pt x="3595437" y="354689"/>
                        <a:pt x="3612332" y="334979"/>
                      </a:cubicBezTo>
                      <a:cubicBezTo>
                        <a:pt x="3631775" y="312296"/>
                        <a:pt x="3657365" y="295186"/>
                        <a:pt x="3675707" y="271604"/>
                      </a:cubicBezTo>
                      <a:cubicBezTo>
                        <a:pt x="3696832" y="244444"/>
                        <a:pt x="3714751" y="214453"/>
                        <a:pt x="3739081" y="190123"/>
                      </a:cubicBezTo>
                      <a:cubicBezTo>
                        <a:pt x="3751152" y="178052"/>
                        <a:pt x="3764053" y="166757"/>
                        <a:pt x="3775295" y="153909"/>
                      </a:cubicBezTo>
                      <a:cubicBezTo>
                        <a:pt x="3785231" y="142553"/>
                        <a:pt x="3791785" y="128365"/>
                        <a:pt x="3802455" y="117695"/>
                      </a:cubicBezTo>
                      <a:cubicBezTo>
                        <a:pt x="3810149" y="110001"/>
                        <a:pt x="3818745" y="100076"/>
                        <a:pt x="3829615" y="99589"/>
                      </a:cubicBezTo>
                      <a:cubicBezTo>
                        <a:pt x="4022586" y="90949"/>
                        <a:pt x="4215896" y="93553"/>
                        <a:pt x="4409037" y="90535"/>
                      </a:cubicBezTo>
                      <a:cubicBezTo>
                        <a:pt x="4495418" y="76139"/>
                        <a:pt x="4446315" y="88299"/>
                        <a:pt x="4553893" y="45268"/>
                      </a:cubicBezTo>
                      <a:lnTo>
                        <a:pt x="4599160" y="27161"/>
                      </a:lnTo>
                      <a:cubicBezTo>
                        <a:pt x="4614249" y="21125"/>
                        <a:pt x="4628339" y="11352"/>
                        <a:pt x="4644427" y="9054"/>
                      </a:cubicBezTo>
                      <a:lnTo>
                        <a:pt x="4707802" y="0"/>
                      </a:lnTo>
                      <a:cubicBezTo>
                        <a:pt x="4843604" y="6036"/>
                        <a:pt x="4979851" y="5574"/>
                        <a:pt x="5115208" y="18107"/>
                      </a:cubicBezTo>
                      <a:cubicBezTo>
                        <a:pt x="5191949" y="25213"/>
                        <a:pt x="5185313" y="46285"/>
                        <a:pt x="5241956" y="72428"/>
                      </a:cubicBezTo>
                      <a:cubicBezTo>
                        <a:pt x="5265367" y="83233"/>
                        <a:pt x="5290871" y="89008"/>
                        <a:pt x="5314384" y="99589"/>
                      </a:cubicBezTo>
                      <a:cubicBezTo>
                        <a:pt x="5351306" y="116204"/>
                        <a:pt x="5384615" y="141105"/>
                        <a:pt x="5423025" y="153909"/>
                      </a:cubicBezTo>
                      <a:cubicBezTo>
                        <a:pt x="5432079" y="156927"/>
                        <a:pt x="5440797" y="161256"/>
                        <a:pt x="5450186" y="162963"/>
                      </a:cubicBezTo>
                      <a:cubicBezTo>
                        <a:pt x="5474124" y="167315"/>
                        <a:pt x="5498471" y="168998"/>
                        <a:pt x="5522613" y="172016"/>
                      </a:cubicBezTo>
                      <a:cubicBezTo>
                        <a:pt x="5688593" y="168998"/>
                        <a:pt x="5854753" y="171253"/>
                        <a:pt x="6020554" y="162963"/>
                      </a:cubicBezTo>
                      <a:cubicBezTo>
                        <a:pt x="6036785" y="162151"/>
                        <a:pt x="6051285" y="152124"/>
                        <a:pt x="6065821" y="144856"/>
                      </a:cubicBezTo>
                      <a:cubicBezTo>
                        <a:pt x="6075553" y="139990"/>
                        <a:pt x="6092982" y="126749"/>
                        <a:pt x="6092982" y="126749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64FC832-97DA-059B-15F2-B14E56EAC069}"/>
                    </a:ext>
                  </a:extLst>
                </p:cNvPr>
                <p:cNvSpPr txBox="1"/>
                <p:nvPr/>
              </p:nvSpPr>
              <p:spPr>
                <a:xfrm>
                  <a:off x="4671623" y="4188157"/>
                  <a:ext cx="1123197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0.32°  0.31°  0.35°</a:t>
                  </a:r>
                  <a:endParaRPr lang="ko-KR" altLang="en-US" sz="1400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213577-9B00-627A-2E1E-675EF5FC40FF}"/>
                    </a:ext>
                  </a:extLst>
                </p:cNvPr>
                <p:cNvSpPr txBox="1"/>
                <p:nvPr/>
              </p:nvSpPr>
              <p:spPr>
                <a:xfrm>
                  <a:off x="6735778" y="3973603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highlight>
                        <a:srgbClr val="FFFF00"/>
                      </a:highlight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0.46°</a:t>
                  </a:r>
                  <a:endParaRPr lang="ko-KR" altLang="en-US" sz="1400" b="1" dirty="0">
                    <a:highlight>
                      <a:srgbClr val="FFFF00"/>
                    </a:highlight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6FB972-65BB-B396-53AD-82F50B2BB494}"/>
                    </a:ext>
                  </a:extLst>
                </p:cNvPr>
                <p:cNvSpPr txBox="1"/>
                <p:nvPr/>
              </p:nvSpPr>
              <p:spPr>
                <a:xfrm>
                  <a:off x="8228091" y="2254720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1.26°</a:t>
                  </a:r>
                  <a:endParaRPr lang="ko-KR" altLang="en-US" sz="1400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5C2174-8D6E-DDC8-B258-41A39B83F95A}"/>
                    </a:ext>
                  </a:extLst>
                </p:cNvPr>
                <p:cNvSpPr txBox="1"/>
                <p:nvPr/>
              </p:nvSpPr>
              <p:spPr>
                <a:xfrm>
                  <a:off x="8933733" y="2122624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1.29°</a:t>
                  </a:r>
                  <a:endParaRPr lang="ko-KR" altLang="en-US" sz="1400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BA40A18-605B-5C1B-C725-9003FCFF0084}"/>
                    </a:ext>
                  </a:extLst>
                </p:cNvPr>
                <p:cNvSpPr txBox="1"/>
                <p:nvPr/>
              </p:nvSpPr>
              <p:spPr>
                <a:xfrm>
                  <a:off x="9729477" y="2277401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1.23°</a:t>
                  </a:r>
                  <a:endParaRPr lang="ko-KR" altLang="en-US" sz="1400" b="1" dirty="0"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90938AC-1979-465E-F101-469B58D4874A}"/>
                    </a:ext>
                  </a:extLst>
                </p:cNvPr>
                <p:cNvSpPr txBox="1"/>
                <p:nvPr/>
              </p:nvSpPr>
              <p:spPr>
                <a:xfrm>
                  <a:off x="8078866" y="2706897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highlight>
                        <a:srgbClr val="FFFF00"/>
                      </a:highlight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0.96°</a:t>
                  </a:r>
                  <a:endParaRPr lang="ko-KR" altLang="en-US" sz="1400" b="1" dirty="0">
                    <a:highlight>
                      <a:srgbClr val="FFFF00"/>
                    </a:highlight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76F72E-C8E7-06A1-C396-6398CEA7225F}"/>
                    </a:ext>
                  </a:extLst>
                </p:cNvPr>
                <p:cNvSpPr txBox="1"/>
                <p:nvPr/>
              </p:nvSpPr>
              <p:spPr>
                <a:xfrm>
                  <a:off x="7284018" y="3604271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highlight>
                        <a:srgbClr val="FFFF00"/>
                      </a:highlight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0.54°</a:t>
                  </a:r>
                  <a:endParaRPr lang="ko-KR" altLang="en-US" sz="1400" b="1" dirty="0">
                    <a:highlight>
                      <a:srgbClr val="FFFF00"/>
                    </a:highlight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056CEC-CC72-C700-243A-5DC59EBB8E02}"/>
                    </a:ext>
                  </a:extLst>
                </p:cNvPr>
                <p:cNvSpPr txBox="1"/>
                <p:nvPr/>
              </p:nvSpPr>
              <p:spPr>
                <a:xfrm>
                  <a:off x="7726045" y="3142786"/>
                  <a:ext cx="412259" cy="268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>
                      <a:highlight>
                        <a:srgbClr val="FFFF00"/>
                      </a:highlight>
                      <a:latin typeface="Arial" panose="020B0604020202020204" pitchFamily="34" charset="0"/>
                      <a:ea typeface="TDTD강굴림" panose="020B0600000101010101" charset="-127"/>
                      <a:cs typeface="Arial" panose="020B0604020202020204" pitchFamily="34" charset="0"/>
                    </a:rPr>
                    <a:t>0.76°</a:t>
                  </a:r>
                  <a:endParaRPr lang="ko-KR" altLang="en-US" sz="1400" b="1" dirty="0">
                    <a:highlight>
                      <a:srgbClr val="FFFF00"/>
                    </a:highlight>
                    <a:latin typeface="Arial" panose="020B0604020202020204" pitchFamily="34" charset="0"/>
                    <a:ea typeface="TDTD강굴림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81E8EF-E464-8F6C-3D9D-4C3A5CFF8A5C}"/>
                </a:ext>
              </a:extLst>
            </p:cNvPr>
            <p:cNvSpPr txBox="1"/>
            <p:nvPr/>
          </p:nvSpPr>
          <p:spPr>
            <a:xfrm>
              <a:off x="6643083" y="2666952"/>
              <a:ext cx="1144372" cy="60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highlight>
                    <a:srgbClr val="FFFF00"/>
                  </a:highlight>
                  <a:latin typeface="Arial" panose="020B0604020202020204" pitchFamily="34" charset="0"/>
                  <a:ea typeface="TDTD강굴림" panose="020B0600000101010101" charset="-127"/>
                  <a:cs typeface="Arial" panose="020B0604020202020204" pitchFamily="34" charset="0"/>
                </a:rPr>
                <a:t>Grain Boundary</a:t>
              </a:r>
              <a:endParaRPr lang="ko-KR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015803-6F13-571D-2549-C5F0DADCA4A5}"/>
                </a:ext>
              </a:extLst>
            </p:cNvPr>
            <p:cNvSpPr txBox="1"/>
            <p:nvPr/>
          </p:nvSpPr>
          <p:spPr>
            <a:xfrm>
              <a:off x="5068043" y="2797880"/>
              <a:ext cx="1144372" cy="340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highlight>
                    <a:srgbClr val="FFFF00"/>
                  </a:highlight>
                  <a:latin typeface="Arial" panose="020B0604020202020204" pitchFamily="34" charset="0"/>
                  <a:ea typeface="TDTD강굴림" panose="020B0600000101010101" charset="-127"/>
                  <a:cs typeface="Arial" panose="020B0604020202020204" pitchFamily="34" charset="0"/>
                </a:rPr>
                <a:t>Grain</a:t>
              </a:r>
              <a:endParaRPr lang="ko-KR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0B0084-C3AD-2487-A43E-FAA2FC39D3C2}"/>
                </a:ext>
              </a:extLst>
            </p:cNvPr>
            <p:cNvSpPr txBox="1"/>
            <p:nvPr/>
          </p:nvSpPr>
          <p:spPr>
            <a:xfrm>
              <a:off x="8806170" y="2797880"/>
              <a:ext cx="1144372" cy="340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highlight>
                    <a:srgbClr val="FFFF00"/>
                  </a:highlight>
                  <a:latin typeface="Arial" panose="020B0604020202020204" pitchFamily="34" charset="0"/>
                  <a:ea typeface="TDTD강굴림" panose="020B0600000101010101" charset="-127"/>
                  <a:cs typeface="Arial" panose="020B0604020202020204" pitchFamily="34" charset="0"/>
                </a:rPr>
                <a:t>Grain</a:t>
              </a:r>
              <a:endParaRPr lang="ko-KR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TDTD강굴림" panose="020B0600000101010101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439270E-AA48-6B12-0CAA-55F7909D06C5}"/>
              </a:ext>
            </a:extLst>
          </p:cNvPr>
          <p:cNvSpPr txBox="1"/>
          <p:nvPr/>
        </p:nvSpPr>
        <p:spPr>
          <a:xfrm>
            <a:off x="6493913" y="7319546"/>
            <a:ext cx="95734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Grain-free Wafer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에서 측정한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Phase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변화량을 기준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(Baseline)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으로 설정하여 노이즈 수준의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Seed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를 제거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5A179-0AFB-A5A9-EF7D-FF7569A5B8E3}"/>
              </a:ext>
            </a:extLst>
          </p:cNvPr>
          <p:cNvSpPr txBox="1"/>
          <p:nvPr/>
        </p:nvSpPr>
        <p:spPr>
          <a:xfrm>
            <a:off x="6324599" y="2247900"/>
            <a:ext cx="10896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*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현재 코드에서의 추출방식</a:t>
            </a:r>
            <a:endParaRPr lang="en-US" altLang="ko-KR" sz="20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  <a:cs typeface="Arial" panose="020B0604020202020204" pitchFamily="34" charset="0"/>
            </a:endParaRP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: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전체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Phase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값을 비교하는 것이 아니라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주변 픽셀과의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Phase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변화가 큰 부분을 찾고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이 부분을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Grain Boundary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후보로 둠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.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 이후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Si wafer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에서 얻은 기준보다 큰 변화만 남겨 실제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Grain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을 분리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5057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EAB090-3932-861B-632E-C3B49610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1"/>
          <a:stretch/>
        </p:blipFill>
        <p:spPr>
          <a:xfrm>
            <a:off x="0" y="3390900"/>
            <a:ext cx="18233846" cy="504000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2385937-24F2-A2FB-D5A6-AD377AC08016}"/>
              </a:ext>
            </a:extLst>
          </p:cNvPr>
          <p:cNvSpPr/>
          <p:nvPr/>
        </p:nvSpPr>
        <p:spPr>
          <a:xfrm>
            <a:off x="15863876" y="3619500"/>
            <a:ext cx="2347924" cy="7302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B5B9C-51BD-FE96-1A54-BC6101FBB003}"/>
              </a:ext>
            </a:extLst>
          </p:cNvPr>
          <p:cNvSpPr txBox="1"/>
          <p:nvPr/>
        </p:nvSpPr>
        <p:spPr>
          <a:xfrm>
            <a:off x="15348922" y="4363210"/>
            <a:ext cx="26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Grain size </a:t>
            </a:r>
            <a:r>
              <a:rPr lang="ko-KR" altLang="en-US" b="1" dirty="0">
                <a:solidFill>
                  <a:srgbClr val="FF0000"/>
                </a:solidFill>
              </a:rPr>
              <a:t>평균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22nm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496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en-US" altLang="ko-KR" sz="4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16AD7C-312C-8393-8678-A945E3637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4"/>
          <a:stretch/>
        </p:blipFill>
        <p:spPr>
          <a:xfrm>
            <a:off x="152400" y="3314700"/>
            <a:ext cx="17975855" cy="5040000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2B040A98-D49F-3695-FE3B-9698D51DA9F3}"/>
              </a:ext>
            </a:extLst>
          </p:cNvPr>
          <p:cNvSpPr/>
          <p:nvPr/>
        </p:nvSpPr>
        <p:spPr>
          <a:xfrm>
            <a:off x="15804476" y="3598081"/>
            <a:ext cx="2347924" cy="7302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442439-58F0-5BEC-AA69-CA80A6EECA5E}"/>
              </a:ext>
            </a:extLst>
          </p:cNvPr>
          <p:cNvSpPr txBox="1"/>
          <p:nvPr/>
        </p:nvSpPr>
        <p:spPr>
          <a:xfrm>
            <a:off x="15348922" y="4363210"/>
            <a:ext cx="26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Grain size </a:t>
            </a:r>
            <a:r>
              <a:rPr lang="ko-KR" altLang="en-US" b="1" dirty="0">
                <a:solidFill>
                  <a:srgbClr val="FF0000"/>
                </a:solidFill>
              </a:rPr>
              <a:t>평균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20nm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77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0.11M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55C967-DCA6-C61A-D4B5-AFDD090BE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2"/>
          <a:stretch/>
        </p:blipFill>
        <p:spPr>
          <a:xfrm>
            <a:off x="0" y="3232241"/>
            <a:ext cx="18288000" cy="5035459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67438A3-406D-95BD-2D7D-0D3D0C8EF428}"/>
              </a:ext>
            </a:extLst>
          </p:cNvPr>
          <p:cNvSpPr/>
          <p:nvPr/>
        </p:nvSpPr>
        <p:spPr>
          <a:xfrm>
            <a:off x="15940076" y="3475639"/>
            <a:ext cx="2347924" cy="7302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98DD9-6DD8-21E1-8A62-5E5925CDEAFF}"/>
              </a:ext>
            </a:extLst>
          </p:cNvPr>
          <p:cNvSpPr txBox="1"/>
          <p:nvPr/>
        </p:nvSpPr>
        <p:spPr>
          <a:xfrm>
            <a:off x="15484522" y="4240768"/>
            <a:ext cx="26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Grain size </a:t>
            </a:r>
            <a:r>
              <a:rPr lang="ko-KR" altLang="en-US" b="1" dirty="0">
                <a:solidFill>
                  <a:srgbClr val="FF0000"/>
                </a:solidFill>
              </a:rPr>
              <a:t>평균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18nm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2997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A05D45-CBE6-6204-D600-26C6814D7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4"/>
          <a:stretch/>
        </p:blipFill>
        <p:spPr>
          <a:xfrm>
            <a:off x="135600" y="3314700"/>
            <a:ext cx="18000000" cy="499544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7D84CCF-F6E6-AF11-F68D-491FE8E75581}"/>
              </a:ext>
            </a:extLst>
          </p:cNvPr>
          <p:cNvSpPr/>
          <p:nvPr/>
        </p:nvSpPr>
        <p:spPr>
          <a:xfrm>
            <a:off x="15804476" y="3598081"/>
            <a:ext cx="2347924" cy="7302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A6867-6AF5-4FE3-0730-1F5C67F55893}"/>
              </a:ext>
            </a:extLst>
          </p:cNvPr>
          <p:cNvSpPr txBox="1"/>
          <p:nvPr/>
        </p:nvSpPr>
        <p:spPr>
          <a:xfrm>
            <a:off x="15348922" y="4363210"/>
            <a:ext cx="26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Grain size </a:t>
            </a:r>
            <a:r>
              <a:rPr lang="ko-KR" altLang="en-US" b="1" dirty="0">
                <a:solidFill>
                  <a:srgbClr val="FF0000"/>
                </a:solidFill>
              </a:rPr>
              <a:t>평균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20nm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72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350℃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5A188-CBDE-AE41-40B4-001544B1B191}"/>
              </a:ext>
            </a:extLst>
          </p:cNvPr>
          <p:cNvSpPr txBox="1"/>
          <p:nvPr/>
        </p:nvSpPr>
        <p:spPr>
          <a:xfrm>
            <a:off x="723900" y="4488240"/>
            <a:ext cx="14516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/>
              <a:t>Forward </a:t>
            </a:r>
            <a:r>
              <a:rPr lang="ko-KR" altLang="en-US" sz="4800" b="1" dirty="0"/>
              <a:t>데이터</a:t>
            </a:r>
            <a:r>
              <a:rPr lang="en-US" altLang="ko-KR" sz="4800" b="1" dirty="0"/>
              <a:t>- Backward </a:t>
            </a:r>
            <a:r>
              <a:rPr lang="ko-KR" altLang="en-US" sz="4800" b="1" dirty="0"/>
              <a:t>데이터의 일치도가 낮아서 오류 발생</a:t>
            </a:r>
            <a:r>
              <a:rPr lang="en-US" altLang="ko-KR" sz="4800" b="1" dirty="0"/>
              <a:t>… </a:t>
            </a:r>
            <a:r>
              <a:rPr lang="ko-KR" altLang="en-US" sz="4800" b="1" dirty="0"/>
              <a:t>데이터가 안 뽑힘</a:t>
            </a:r>
            <a:r>
              <a:rPr lang="en-US" altLang="ko-KR" sz="4800" b="1" dirty="0"/>
              <a:t>..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5498604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In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4000" baseline="-25000" dirty="0"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442902-5EC0-CC39-CEB9-A55D9406F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2"/>
          <a:stretch/>
        </p:blipFill>
        <p:spPr>
          <a:xfrm>
            <a:off x="-16492" y="3162300"/>
            <a:ext cx="18304492" cy="504000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8502C15-9789-5566-DD55-4674C70E52B5}"/>
              </a:ext>
            </a:extLst>
          </p:cNvPr>
          <p:cNvSpPr/>
          <p:nvPr/>
        </p:nvSpPr>
        <p:spPr>
          <a:xfrm>
            <a:off x="15940076" y="3399439"/>
            <a:ext cx="2347924" cy="7302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16AC4-629D-068D-61D1-575AC8175DB5}"/>
              </a:ext>
            </a:extLst>
          </p:cNvPr>
          <p:cNvSpPr txBox="1"/>
          <p:nvPr/>
        </p:nvSpPr>
        <p:spPr>
          <a:xfrm>
            <a:off x="15484522" y="4164568"/>
            <a:ext cx="26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Grain size </a:t>
            </a:r>
            <a:r>
              <a:rPr lang="ko-KR" altLang="en-US" b="1" dirty="0">
                <a:solidFill>
                  <a:srgbClr val="FF0000"/>
                </a:solidFill>
              </a:rPr>
              <a:t>평균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22nm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9240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코드 실행 결과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FC235F9-1C68-EE9A-ED1B-771FAABA6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639365"/>
              </p:ext>
            </p:extLst>
          </p:nvPr>
        </p:nvGraphicFramePr>
        <p:xfrm>
          <a:off x="152400" y="2372198"/>
          <a:ext cx="10083184" cy="724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81263" imgH="2859077" progId="Origin50.Graph">
                  <p:embed/>
                </p:oleObj>
              </mc:Choice>
              <mc:Fallback>
                <p:oleObj name="Graph" r:id="rId3" imgW="3981263" imgH="2859077" progId="Origin50.Graph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DEC6776A-AD0C-B0A9-5523-DE2F1C478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2372198"/>
                        <a:ext cx="10083184" cy="7240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0321EE-8FC3-EF16-E848-5E1855363AA6}"/>
              </a:ext>
            </a:extLst>
          </p:cNvPr>
          <p:cNvSpPr txBox="1"/>
          <p:nvPr/>
        </p:nvSpPr>
        <p:spPr>
          <a:xfrm>
            <a:off x="9372600" y="4838700"/>
            <a:ext cx="9601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Grain</a:t>
            </a:r>
            <a:r>
              <a:rPr lang="ko-KR" altLang="en-US" sz="2000" b="1" dirty="0">
                <a:solidFill>
                  <a:srgbClr val="FF0000"/>
                </a:solidFill>
              </a:rPr>
              <a:t>이 형성되지 </a:t>
            </a:r>
            <a:r>
              <a:rPr lang="ko-KR" altLang="en-US" sz="2000" b="1" dirty="0" err="1">
                <a:solidFill>
                  <a:srgbClr val="FF0000"/>
                </a:solidFill>
              </a:rPr>
              <a:t>않아야하는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200</a:t>
            </a:r>
            <a:r>
              <a:rPr lang="ko-KR" altLang="en-US" sz="2000" b="1" dirty="0">
                <a:solidFill>
                  <a:srgbClr val="FF0000"/>
                </a:solidFill>
              </a:rPr>
              <a:t>도에서도 </a:t>
            </a:r>
            <a:r>
              <a:rPr lang="en-US" altLang="ko-KR" sz="2000" b="1" dirty="0">
                <a:solidFill>
                  <a:srgbClr val="FF0000"/>
                </a:solidFill>
              </a:rPr>
              <a:t>Grain size</a:t>
            </a:r>
            <a:r>
              <a:rPr lang="ko-KR" altLang="en-US" sz="2000" b="1" dirty="0">
                <a:solidFill>
                  <a:srgbClr val="FF0000"/>
                </a:solidFill>
              </a:rPr>
              <a:t>가 </a:t>
            </a:r>
            <a:r>
              <a:rPr lang="en-US" altLang="ko-KR" sz="2000" b="1" dirty="0">
                <a:solidFill>
                  <a:srgbClr val="FF0000"/>
                </a:solidFill>
              </a:rPr>
              <a:t>20nm </a:t>
            </a:r>
            <a:r>
              <a:rPr lang="ko-KR" altLang="en-US" sz="2000" b="1" dirty="0">
                <a:solidFill>
                  <a:srgbClr val="FF0000"/>
                </a:solidFill>
              </a:rPr>
              <a:t>정도로 나오고</a:t>
            </a:r>
            <a:r>
              <a:rPr lang="en-US" altLang="ko-KR" sz="2000" b="1" dirty="0">
                <a:solidFill>
                  <a:srgbClr val="FF0000"/>
                </a:solidFill>
              </a:rPr>
              <a:t>,</a:t>
            </a: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ko-KR" altLang="en-US" sz="2000" b="1" dirty="0" err="1">
                <a:solidFill>
                  <a:srgbClr val="FF0000"/>
                </a:solidFill>
              </a:rPr>
              <a:t>어닐링</a:t>
            </a:r>
            <a:r>
              <a:rPr lang="ko-KR" altLang="en-US" sz="2000" b="1" dirty="0">
                <a:solidFill>
                  <a:srgbClr val="FF0000"/>
                </a:solidFill>
              </a:rPr>
              <a:t> 온도가 올라가는데 </a:t>
            </a:r>
            <a:r>
              <a:rPr lang="en-US" altLang="ko-KR" sz="2000" b="1" dirty="0">
                <a:solidFill>
                  <a:srgbClr val="FF0000"/>
                </a:solidFill>
              </a:rPr>
              <a:t>Grain size</a:t>
            </a:r>
            <a:r>
              <a:rPr lang="ko-KR" altLang="en-US" sz="2000" b="1" dirty="0">
                <a:solidFill>
                  <a:srgbClr val="FF0000"/>
                </a:solidFill>
              </a:rPr>
              <a:t>는 오히려 낮아지는 결과가 나타남</a:t>
            </a:r>
            <a:r>
              <a:rPr lang="en-US" altLang="ko-KR" sz="2000" b="1" dirty="0">
                <a:solidFill>
                  <a:srgbClr val="FF0000"/>
                </a:solidFill>
              </a:rPr>
              <a:t>…</a:t>
            </a: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비상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…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오류 발생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!!!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3286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A714BF-9E49-878D-6B9B-2C3C5D8FA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42" b="-1"/>
          <a:stretch/>
        </p:blipFill>
        <p:spPr>
          <a:xfrm>
            <a:off x="3505200" y="2120848"/>
            <a:ext cx="5300451" cy="3501754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XEI software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 평탄화 작업</a:t>
            </a:r>
            <a:endParaRPr lang="en-US" altLang="ko-KR" sz="4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8AED7C-6A33-B9A9-C3AF-8839582EE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16" y="2201633"/>
            <a:ext cx="2634480" cy="79712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42F386-289B-6C88-000C-37639E2068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46" t="5639"/>
          <a:stretch/>
        </p:blipFill>
        <p:spPr>
          <a:xfrm>
            <a:off x="13356487" y="2019300"/>
            <a:ext cx="4855313" cy="35028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A330F68-2FB2-D330-6B71-C56A088C293A}"/>
              </a:ext>
            </a:extLst>
          </p:cNvPr>
          <p:cNvGrpSpPr>
            <a:grpSpLocks noChangeAspect="1"/>
          </p:cNvGrpSpPr>
          <p:nvPr/>
        </p:nvGrpSpPr>
        <p:grpSpPr>
          <a:xfrm>
            <a:off x="10210800" y="2202470"/>
            <a:ext cx="2726894" cy="7970400"/>
            <a:chOff x="9096213" y="-2737491"/>
            <a:chExt cx="1645750" cy="481034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2324060-A366-14CA-4EE7-0894D2D2B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96213" y="-2737491"/>
              <a:ext cx="1645750" cy="480060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DD9E0B-006F-6FCA-17D1-ADF4C70C1D7C}"/>
                </a:ext>
              </a:extLst>
            </p:cNvPr>
            <p:cNvSpPr/>
            <p:nvPr/>
          </p:nvSpPr>
          <p:spPr>
            <a:xfrm>
              <a:off x="10050121" y="-1908601"/>
              <a:ext cx="682946" cy="3981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8F2C763-70AD-69C0-EEA2-6ED003995DC7}"/>
              </a:ext>
            </a:extLst>
          </p:cNvPr>
          <p:cNvSpPr txBox="1"/>
          <p:nvPr/>
        </p:nvSpPr>
        <p:spPr>
          <a:xfrm>
            <a:off x="3583086" y="5684103"/>
            <a:ext cx="655551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평탄화된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데이터 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</a:rPr>
              <a:t>= (Raw data) – (Raw data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의 평균값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</a:p>
          <a:p>
            <a:endParaRPr lang="en-US" altLang="ko-KR" sz="16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스캐너나 시료 장착 때문에 생긴 기울기</a:t>
            </a:r>
            <a:r>
              <a:rPr lang="en-US" altLang="ko-KR" sz="1600" dirty="0"/>
              <a:t>, tip</a:t>
            </a:r>
            <a:r>
              <a:rPr lang="ko-KR" altLang="en-US" sz="1600" dirty="0"/>
              <a:t> </a:t>
            </a:r>
            <a:r>
              <a:rPr lang="en-US" altLang="ko-KR" sz="1600" dirty="0"/>
              <a:t>Bow</a:t>
            </a:r>
            <a:r>
              <a:rPr lang="ko-KR" altLang="en-US" sz="1600" dirty="0"/>
              <a:t>으로 인한 </a:t>
            </a:r>
            <a:r>
              <a:rPr lang="en-US" altLang="ko-KR" sz="1600" dirty="0"/>
              <a:t>Noise</a:t>
            </a:r>
            <a:r>
              <a:rPr lang="ko-KR" altLang="en-US" sz="1600" dirty="0"/>
              <a:t>제거</a:t>
            </a:r>
            <a:r>
              <a:rPr lang="en-US" altLang="ko-KR" sz="1600" dirty="0"/>
              <a:t>)</a:t>
            </a:r>
            <a:endParaRPr lang="ko-KR" altLang="en-US" sz="1600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178F99D-7428-4953-F1E7-6569F8C1D158}"/>
              </a:ext>
            </a:extLst>
          </p:cNvPr>
          <p:cNvSpPr/>
          <p:nvPr/>
        </p:nvSpPr>
        <p:spPr>
          <a:xfrm>
            <a:off x="3505200" y="6616125"/>
            <a:ext cx="6399114" cy="584775"/>
          </a:xfrm>
          <a:prstGeom prst="rightArrow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3215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문제점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</a:t>
            </a:r>
          </a:p>
          <a:p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: XEI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프로그램 상에서 각 데이터를 </a:t>
            </a:r>
            <a:r>
              <a:rPr lang="ko-KR" altLang="en-US" sz="28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평탄화하는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기준이 각 데이터의 평균값을 기준으로 하기 때문에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, </a:t>
            </a:r>
            <a:r>
              <a:rPr lang="ko-KR" altLang="en-US" sz="28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평탄화된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SiO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Phase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값을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Phase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값에 적용할 수 없음</a:t>
            </a:r>
            <a:endParaRPr lang="en-US" altLang="ko-KR" sz="28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3CEF1D0F-ED8A-4772-253F-E1A7A1FB0C8E}"/>
              </a:ext>
            </a:extLst>
          </p:cNvPr>
          <p:cNvSpPr/>
          <p:nvPr/>
        </p:nvSpPr>
        <p:spPr>
          <a:xfrm>
            <a:off x="415348" y="3390900"/>
            <a:ext cx="2362200" cy="9144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E51B0-8272-BC58-D42A-F2C8AEA58DED}"/>
              </a:ext>
            </a:extLst>
          </p:cNvPr>
          <p:cNvSpPr txBox="1"/>
          <p:nvPr/>
        </p:nvSpPr>
        <p:spPr>
          <a:xfrm>
            <a:off x="410400" y="4667323"/>
            <a:ext cx="176681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대안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</a:t>
            </a:r>
          </a:p>
          <a:p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: AFM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측정을 할 때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,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아래 사진과 같이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SiO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와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의 계면을 측정해야 함</a:t>
            </a:r>
            <a:endParaRPr lang="en-US" altLang="ko-KR" sz="28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157FB1-D3FB-3657-D1AB-7E5E040F8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93" t="44203" r="28313" b="23269"/>
          <a:stretch/>
        </p:blipFill>
        <p:spPr>
          <a:xfrm>
            <a:off x="685800" y="5905500"/>
            <a:ext cx="4343400" cy="43226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9B4D53-21BC-E52B-3BD1-7DDD50B05635}"/>
              </a:ext>
            </a:extLst>
          </p:cNvPr>
          <p:cNvSpPr txBox="1"/>
          <p:nvPr/>
        </p:nvSpPr>
        <p:spPr>
          <a:xfrm>
            <a:off x="5410200" y="7163866"/>
            <a:ext cx="9601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문제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1: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용액공정으로 공정 시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사진처럼 깔끔하게 계면이 잘 나오지 않음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…</a:t>
            </a:r>
          </a:p>
          <a:p>
            <a:endParaRPr lang="en-US" altLang="ko-K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문제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2: AFM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측정 시 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3um x 3um </a:t>
            </a:r>
            <a:r>
              <a:rPr lang="ko-KR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정도로 측정해야 해서 정확히 계면이 중간으로 오게 측정하기 어려움</a:t>
            </a:r>
            <a:r>
              <a:rPr lang="en-US" altLang="ko-K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…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8650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AFM Python 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코드 구현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6FF94-7A08-3DD5-1F74-FEE29417123F}"/>
              </a:ext>
            </a:extLst>
          </p:cNvPr>
          <p:cNvSpPr txBox="1"/>
          <p:nvPr/>
        </p:nvSpPr>
        <p:spPr>
          <a:xfrm>
            <a:off x="410400" y="1486800"/>
            <a:ext cx="1766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문제점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</a:p>
          <a:p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용액공정 소자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(In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28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0.1M 330℃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기준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 Grain size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가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10nm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이하로 나타남</a:t>
            </a:r>
            <a:b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</a:b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 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현재 해상도로는 실제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grain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과 픽셀 단위 노이즈를 명확하게 구분하기 어려움 </a:t>
            </a:r>
            <a:endParaRPr lang="en-US" altLang="ko-KR" sz="28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E51B0-8272-BC58-D42A-F2C8AEA58DED}"/>
              </a:ext>
            </a:extLst>
          </p:cNvPr>
          <p:cNvSpPr txBox="1"/>
          <p:nvPr/>
        </p:nvSpPr>
        <p:spPr>
          <a:xfrm>
            <a:off x="410400" y="5455265"/>
            <a:ext cx="1766816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대안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</a:p>
          <a:p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픽셀 수를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512 x 512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1024 x 1024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로 키우기</a:t>
            </a:r>
            <a:endParaRPr lang="en-US" altLang="ko-KR" sz="28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endParaRPr lang="en-US" altLang="ko-KR" sz="28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endParaRPr lang="en-US" altLang="ko-KR" sz="28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  + TEM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top view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를 측정하여 정확한 </a:t>
            </a:r>
            <a:r>
              <a:rPr lang="en-US" altLang="ko-KR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grain size</a:t>
            </a:r>
            <a:r>
              <a:rPr lang="ko-KR" altLang="en-US" sz="28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를 </a:t>
            </a:r>
            <a:r>
              <a:rPr lang="ko-KR" altLang="en-US" sz="28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알아야함</a:t>
            </a:r>
            <a:endParaRPr lang="ko-KR" altLang="en-US" sz="28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C7185-0C90-B07F-C92A-2DB886464D31}"/>
              </a:ext>
            </a:extLst>
          </p:cNvPr>
          <p:cNvSpPr txBox="1"/>
          <p:nvPr/>
        </p:nvSpPr>
        <p:spPr>
          <a:xfrm>
            <a:off x="1152835" y="3042174"/>
            <a:ext cx="3218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측정범위 </a:t>
            </a:r>
            <a:r>
              <a:rPr lang="en-US" altLang="ko-KR" b="1" dirty="0"/>
              <a:t>: 3 µm × 3 µm</a:t>
            </a:r>
          </a:p>
          <a:p>
            <a:r>
              <a:rPr lang="ko-KR" altLang="en-US" b="1" dirty="0"/>
              <a:t>해상도 </a:t>
            </a:r>
            <a:r>
              <a:rPr lang="en-US" altLang="ko-KR" b="1" dirty="0"/>
              <a:t>: 512 × 512 pixels</a:t>
            </a:r>
          </a:p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FF0000"/>
                </a:solidFill>
              </a:rPr>
              <a:t>3000nm/512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≈ 5.86 nm/pixel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1CA593D-6843-8B6C-D0E9-8831486F59BD}"/>
              </a:ext>
            </a:extLst>
          </p:cNvPr>
          <p:cNvCxnSpPr/>
          <p:nvPr/>
        </p:nvCxnSpPr>
        <p:spPr>
          <a:xfrm>
            <a:off x="1219200" y="3009900"/>
            <a:ext cx="18288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EA9C25C-99F2-E327-D441-5D2683DB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14"/>
          <a:stretch/>
        </p:blipFill>
        <p:spPr>
          <a:xfrm>
            <a:off x="12776666" y="1705336"/>
            <a:ext cx="4341699" cy="3749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899514-EEBF-CA79-4F04-106ACDC0079A}"/>
              </a:ext>
            </a:extLst>
          </p:cNvPr>
          <p:cNvSpPr txBox="1"/>
          <p:nvPr/>
        </p:nvSpPr>
        <p:spPr>
          <a:xfrm>
            <a:off x="12750508" y="5358881"/>
            <a:ext cx="41104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es-ES" altLang="ko-KR" sz="1000" b="1" dirty="0"/>
              <a:t>J. Korean Ceram. Soc. 2026. https://doi.org/10.1007/s43207-026-00645-y</a:t>
            </a:r>
            <a:endParaRPr lang="en-US" altLang="ko-KR" sz="1000" b="1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9C70526F-E8A5-3FD4-A207-9CCFF86F1851}"/>
              </a:ext>
            </a:extLst>
          </p:cNvPr>
          <p:cNvSpPr/>
          <p:nvPr/>
        </p:nvSpPr>
        <p:spPr>
          <a:xfrm>
            <a:off x="415348" y="4253184"/>
            <a:ext cx="2362200" cy="9144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569335-C51C-0878-76BC-1CE1CF28DEB6}"/>
              </a:ext>
            </a:extLst>
          </p:cNvPr>
          <p:cNvSpPr txBox="1"/>
          <p:nvPr/>
        </p:nvSpPr>
        <p:spPr>
          <a:xfrm>
            <a:off x="685800" y="6515100"/>
            <a:ext cx="4294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512×512 →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픽셀 크기 약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5.86 nm/pixel</a:t>
            </a:r>
          </a:p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1024×1024 →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픽셀 크기 약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2.93 nm/pixel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36324CE-7D93-CDD0-3029-DC0823121E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5" t="485" r="48594" b="22716"/>
          <a:stretch/>
        </p:blipFill>
        <p:spPr>
          <a:xfrm>
            <a:off x="10210800" y="7330296"/>
            <a:ext cx="2859682" cy="2810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025600-F688-24BB-4D7D-6DCFE6C35EE6}"/>
              </a:ext>
            </a:extLst>
          </p:cNvPr>
          <p:cNvSpPr txBox="1"/>
          <p:nvPr/>
        </p:nvSpPr>
        <p:spPr>
          <a:xfrm>
            <a:off x="13991400" y="7707593"/>
            <a:ext cx="38862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* </a:t>
            </a:r>
            <a:r>
              <a:rPr lang="ko-KR" altLang="en-US" sz="2800" b="1" dirty="0">
                <a:solidFill>
                  <a:srgbClr val="FF0000"/>
                </a:solidFill>
              </a:rPr>
              <a:t>결론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b="1" dirty="0"/>
              <a:t>일단 접기</a:t>
            </a:r>
            <a:endParaRPr lang="en-US" altLang="ko-KR" b="1" dirty="0"/>
          </a:p>
          <a:p>
            <a:r>
              <a:rPr lang="ko-KR" altLang="en-US" b="1" dirty="0"/>
              <a:t>일단 측정 데이터가 제대로 안 나오고</a:t>
            </a:r>
            <a:r>
              <a:rPr lang="en-US" altLang="ko-KR" b="1" dirty="0"/>
              <a:t>, </a:t>
            </a:r>
            <a:r>
              <a:rPr lang="ko-KR" altLang="en-US" b="1" dirty="0"/>
              <a:t>이 경험으로 나중에 다시 한번 시도해보던가 </a:t>
            </a:r>
            <a:r>
              <a:rPr lang="ko-KR" altLang="en-US" b="1" dirty="0" err="1"/>
              <a:t>해야할</a:t>
            </a:r>
            <a:r>
              <a:rPr lang="ko-KR" altLang="en-US" b="1" dirty="0"/>
              <a:t> 듯 </a:t>
            </a:r>
            <a:r>
              <a:rPr lang="en-US" altLang="ko-KR" b="1" dirty="0"/>
              <a:t>(ex. Grain</a:t>
            </a:r>
            <a:r>
              <a:rPr lang="ko-KR" altLang="en-US" b="1" dirty="0"/>
              <a:t>이 큰 조건이 생기거나 가성비가 크다고 생각될 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479473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③ 향후 방향성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다음 실험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 </a:t>
            </a:r>
            <a:r>
              <a:rPr lang="en-US" altLang="ko-KR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ko-KR" altLang="en-US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미정</a:t>
            </a:r>
            <a:endParaRPr lang="en-US" altLang="ko-KR" sz="5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E1734-BB3D-1108-79ED-7BBE6E33A524}"/>
              </a:ext>
            </a:extLst>
          </p:cNvPr>
          <p:cNvSpPr txBox="1"/>
          <p:nvPr/>
        </p:nvSpPr>
        <p:spPr>
          <a:xfrm>
            <a:off x="13015563" y="1790700"/>
            <a:ext cx="52724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채널은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Sol-gel (mol%)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Pre-annealing 90℃ 5m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0.1M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60 s (Bake 50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0.2M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150 s (Bake 90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IGO 0.3M </a:t>
            </a:r>
            <a:r>
              <a:rPr lang="ko-KR" altLang="en-US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패터닝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UV 250 s (Bake 90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℃)</a:t>
            </a:r>
          </a:p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Post </a:t>
            </a:r>
            <a:r>
              <a:rPr lang="ko-KR" altLang="en-US" sz="1800" dirty="0" err="1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어닐링은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Furnace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로</a:t>
            </a:r>
            <a:endParaRPr lang="en-US" altLang="ko-KR" sz="18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소자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 electrode 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올리고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Oven 200℃ 1h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8CBF8C9-EEBD-32DB-067C-61B8C725936B}"/>
              </a:ext>
            </a:extLst>
          </p:cNvPr>
          <p:cNvGrpSpPr/>
          <p:nvPr/>
        </p:nvGrpSpPr>
        <p:grpSpPr>
          <a:xfrm>
            <a:off x="13106400" y="4369267"/>
            <a:ext cx="4824632" cy="2603033"/>
            <a:chOff x="1083946" y="3811403"/>
            <a:chExt cx="8517252" cy="287291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A3589A-56F6-72B2-4C13-C50758C42C36}"/>
                </a:ext>
              </a:extLst>
            </p:cNvPr>
            <p:cNvSpPr/>
            <p:nvPr/>
          </p:nvSpPr>
          <p:spPr>
            <a:xfrm>
              <a:off x="1083950" y="4368861"/>
              <a:ext cx="8517248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IGO(1:1)</a:t>
              </a:r>
              <a:endParaRPr lang="ko-KR" altLang="en-US" sz="28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51D39C-9807-D9A2-01E0-7D1429A5B884}"/>
                </a:ext>
              </a:extLst>
            </p:cNvPr>
            <p:cNvSpPr/>
            <p:nvPr/>
          </p:nvSpPr>
          <p:spPr>
            <a:xfrm>
              <a:off x="1083946" y="5157009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098395-CF3E-05EC-7D7F-C8FAF071CCB8}"/>
                </a:ext>
              </a:extLst>
            </p:cNvPr>
            <p:cNvSpPr/>
            <p:nvPr/>
          </p:nvSpPr>
          <p:spPr>
            <a:xfrm>
              <a:off x="1083948" y="3811407"/>
              <a:ext cx="2446234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S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F5A4F-9F55-54D6-2B3F-808CFDAEC00E}"/>
                </a:ext>
              </a:extLst>
            </p:cNvPr>
            <p:cNvSpPr/>
            <p:nvPr/>
          </p:nvSpPr>
          <p:spPr>
            <a:xfrm>
              <a:off x="7154968" y="3811403"/>
              <a:ext cx="2446230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D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BDA6B7-D9DB-3F06-98F5-61D14BA29433}"/>
              </a:ext>
            </a:extLst>
          </p:cNvPr>
          <p:cNvSpPr txBox="1"/>
          <p:nvPr/>
        </p:nvSpPr>
        <p:spPr>
          <a:xfrm>
            <a:off x="13030200" y="7599684"/>
            <a:ext cx="50145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>
                <a:sym typeface="Wingdings" panose="05000000000000000000" pitchFamily="2" charset="2"/>
              </a:rPr>
              <a:t>PSC </a:t>
            </a:r>
            <a:r>
              <a:rPr lang="ko-KR" altLang="en-US" b="1" dirty="0">
                <a:sym typeface="Wingdings" panose="05000000000000000000" pitchFamily="2" charset="2"/>
              </a:rPr>
              <a:t>측정 방식을 정하기</a:t>
            </a:r>
            <a:r>
              <a:rPr lang="en-US" altLang="ko-KR" b="1" dirty="0">
                <a:sym typeface="Wingdings" panose="05000000000000000000" pitchFamily="2" charset="2"/>
              </a:rPr>
              <a:t>  (V</a:t>
            </a:r>
            <a:r>
              <a:rPr lang="en-US" altLang="ko-KR" b="1" baseline="-25000" dirty="0">
                <a:sym typeface="Wingdings" panose="05000000000000000000" pitchFamily="2" charset="2"/>
              </a:rPr>
              <a:t>ON</a:t>
            </a:r>
            <a:r>
              <a:rPr lang="en-US" altLang="ko-KR" b="1" dirty="0">
                <a:sym typeface="Wingdings" panose="05000000000000000000" pitchFamily="2" charset="2"/>
              </a:rPr>
              <a:t> – 1) V </a:t>
            </a:r>
            <a:r>
              <a:rPr lang="ko-KR" altLang="en-US" b="1" dirty="0">
                <a:sym typeface="Wingdings" panose="05000000000000000000" pitchFamily="2" charset="2"/>
              </a:rPr>
              <a:t>로 측정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ym typeface="Wingdings" panose="05000000000000000000" pitchFamily="2" charset="2"/>
              </a:rPr>
              <a:t>광원</a:t>
            </a: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정하기 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ym typeface="Wingdings" panose="05000000000000000000" pitchFamily="2" charset="2"/>
              </a:rPr>
              <a:t>Blue LED (455nm)</a:t>
            </a:r>
            <a:r>
              <a:rPr lang="ko-KR" altLang="en-US" b="1" dirty="0">
                <a:sym typeface="Wingdings" panose="05000000000000000000" pitchFamily="2" charset="2"/>
              </a:rPr>
              <a:t>로 </a:t>
            </a:r>
            <a:r>
              <a:rPr lang="en-US" altLang="ko-KR" b="1" dirty="0">
                <a:sym typeface="Wingdings" panose="05000000000000000000" pitchFamily="2" charset="2"/>
              </a:rPr>
              <a:t>Fix</a:t>
            </a:r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 err="1"/>
              <a:t>AFM으로</a:t>
            </a:r>
            <a:r>
              <a:rPr lang="ko-KR" altLang="en-US" b="1" dirty="0"/>
              <a:t> 각 조건 별 그레인 사이즈 확인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ym typeface="Wingdings" panose="05000000000000000000" pitchFamily="2" charset="2"/>
              </a:rPr>
              <a:t>경향 잘 나오면 </a:t>
            </a:r>
            <a:r>
              <a:rPr lang="en-US" altLang="ko-KR" b="1" dirty="0">
                <a:sym typeface="Wingdings" panose="05000000000000000000" pitchFamily="2" charset="2"/>
              </a:rPr>
              <a:t>300</a:t>
            </a:r>
            <a:r>
              <a:rPr lang="ko-KR" altLang="en-US" b="1" dirty="0">
                <a:sym typeface="Wingdings" panose="05000000000000000000" pitchFamily="2" charset="2"/>
              </a:rPr>
              <a:t>도만 따로 한번 더 공정</a:t>
            </a: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152956" y="1650428"/>
            <a:ext cx="7285927" cy="814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D2)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D3)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D4)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D5)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0.1M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endParaRPr lang="en-US" altLang="ko-KR" sz="32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D6)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D7)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D8)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D9)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D10)</a:t>
            </a:r>
            <a:r>
              <a:rPr lang="ko-KR" altLang="en-US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0.2M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A7365-F1B1-5BF6-4BE0-C261D5E2B197}"/>
              </a:ext>
            </a:extLst>
          </p:cNvPr>
          <p:cNvSpPr txBox="1"/>
          <p:nvPr/>
        </p:nvSpPr>
        <p:spPr>
          <a:xfrm>
            <a:off x="6248400" y="3886808"/>
            <a:ext cx="7285927" cy="3712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D11)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D12)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D13)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D14)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D15) IGO(1:1) </a:t>
            </a:r>
            <a:r>
              <a:rPr lang="en-US" altLang="ko-KR" sz="3200" dirty="0">
                <a:solidFill>
                  <a:schemeClr val="accent1"/>
                </a:solidFill>
                <a:latin typeface="TDTD강굴림" panose="020B0600000101010101" charset="-127"/>
                <a:ea typeface="TDTD강굴림" panose="020B0600000101010101" charset="-127"/>
              </a:rPr>
              <a:t>0.3M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3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</p:spTree>
    <p:extLst>
      <p:ext uri="{BB962C8B-B14F-4D97-AF65-F5344CB8AC3E}">
        <p14:creationId xmlns:p14="http://schemas.microsoft.com/office/powerpoint/2010/main" val="27269789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8FF22D-1949-4B12-776C-97B9FBC6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89C2A-95E8-68FA-4800-5AC115B2E042}"/>
              </a:ext>
            </a:extLst>
          </p:cNvPr>
          <p:cNvSpPr txBox="1"/>
          <p:nvPr/>
        </p:nvSpPr>
        <p:spPr>
          <a:xfrm>
            <a:off x="1014882" y="2491456"/>
            <a:ext cx="1645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F504-2F51-34C5-B403-E899F148E777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④ 결론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DE5D0-7DF2-307C-8C2D-73139FF0CE0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ko-KR" altLang="en-US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안박사님과의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미팅 결론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(260615)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8825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14518</TotalTime>
  <Words>5917</Words>
  <Application>Microsoft Office PowerPoint</Application>
  <PresentationFormat>사용자 지정</PresentationFormat>
  <Paragraphs>1151</Paragraphs>
  <Slides>75</Slides>
  <Notes>62</Notes>
  <HiddenSlides>11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75</vt:i4>
      </vt:variant>
    </vt:vector>
  </HeadingPairs>
  <TitlesOfParts>
    <vt:vector size="84" baseType="lpstr">
      <vt:lpstr>TDTD강굴림</vt:lpstr>
      <vt:lpstr>Arial</vt:lpstr>
      <vt:lpstr>Calibri</vt:lpstr>
      <vt:lpstr>맑은 고딕</vt:lpstr>
      <vt:lpstr>Wingdings</vt:lpstr>
      <vt:lpstr>Cambria Math</vt:lpstr>
      <vt:lpstr>Office Theme</vt:lpstr>
      <vt:lpstr>Graph</vt:lpstr>
      <vt:lpstr>Origin 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5344</cp:revision>
  <dcterms:created xsi:type="dcterms:W3CDTF">2006-08-16T00:00:00Z</dcterms:created>
  <dcterms:modified xsi:type="dcterms:W3CDTF">2026-07-24T08:57:33Z</dcterms:modified>
  <dc:identifier>DAGZXtFwl3k</dc:identifier>
</cp:coreProperties>
</file>