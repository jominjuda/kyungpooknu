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352" r:id="rId2"/>
    <p:sldId id="367" r:id="rId3"/>
    <p:sldId id="402" r:id="rId4"/>
    <p:sldId id="403" r:id="rId5"/>
    <p:sldId id="395" r:id="rId6"/>
    <p:sldId id="401" r:id="rId7"/>
    <p:sldId id="396" r:id="rId8"/>
    <p:sldId id="397" r:id="rId9"/>
    <p:sldId id="399" r:id="rId10"/>
    <p:sldId id="400" r:id="rId11"/>
  </p:sldIdLst>
  <p:sldSz cx="18288000" cy="10287000"/>
  <p:notesSz cx="6858000" cy="9144000"/>
  <p:embeddedFontLst>
    <p:embeddedFont>
      <p:font typeface="TDTD강굴림" panose="020B0600000101010101" charset="-127"/>
      <p:regular r:id="rId14"/>
    </p:embeddedFont>
    <p:embeddedFont>
      <p:font typeface="Cambria Math" panose="02040503050406030204" pitchFamily="18" charset="0"/>
      <p:regular r:id="rId15"/>
    </p:embeddedFont>
    <p:embeddedFont>
      <p:font typeface="맑은 고딕" panose="020B0503020000020004" pitchFamily="50" charset="-127"/>
      <p:regular r:id="rId16"/>
      <p:bold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nSu Choi" initials="MC" lastIdx="1" clrIdx="0">
    <p:extLst>
      <p:ext uri="{19B8F6BF-5375-455C-9EA6-DF929625EA0E}">
        <p15:presenceInfo xmlns:p15="http://schemas.microsoft.com/office/powerpoint/2012/main" userId="f9bc62763eeef2f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4D8B"/>
    <a:srgbClr val="9BBB59"/>
    <a:srgbClr val="FFFF99"/>
    <a:srgbClr val="FFFFFF"/>
    <a:srgbClr val="E46C0A"/>
    <a:srgbClr val="254061"/>
    <a:srgbClr val="517BAD"/>
    <a:srgbClr val="AB4845"/>
    <a:srgbClr val="FFC000"/>
    <a:srgbClr val="3D5E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613" autoAdjust="0"/>
    <p:restoredTop sz="94358" autoAdjust="0"/>
  </p:normalViewPr>
  <p:slideViewPr>
    <p:cSldViewPr>
      <p:cViewPr varScale="1">
        <p:scale>
          <a:sx n="70" d="100"/>
          <a:sy n="70" d="100"/>
        </p:scale>
        <p:origin x="1122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58AE9D06-24EE-391D-6892-EA516A89ECA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06A589B-C093-D8CB-3571-7F728794C38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E3A9E3-2605-47BD-86D0-ED87F09E58B9}" type="datetimeFigureOut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CF598F0-25C5-7EE1-00F9-A354552DE41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179E7A6-6205-511C-B773-58BEA4A8FA0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8A2AD7-A13F-457B-AA13-E5583C4056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307155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BDD372-FF62-40DB-9473-14708D75350A}" type="datetimeFigureOut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14312E-9689-48C5-AE4F-AEEE6FEA23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792090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00059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58739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496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26126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7521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94659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24683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81105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38F89-6B61-4DE7-AAB1-EC011206E844}" type="datetime1">
              <a:rPr lang="en-US" altLang="ko-KR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222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AE304-63A9-4A62-92FD-FF38AE02D9F4}" type="datetime1">
              <a:rPr lang="en-US" altLang="ko-KR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222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ADBE3-363C-4CE7-BAFA-3B2ADE911C8E}" type="datetime1">
              <a:rPr lang="en-US" altLang="ko-KR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222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C71E4-421E-4E89-B32B-5A801D9C5F78}" type="datetime1">
              <a:rPr lang="en-US" altLang="ko-KR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222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ED736-7DF6-4ED6-8A6F-60159BB0FAD0}" type="datetime1">
              <a:rPr lang="en-US" altLang="ko-KR" smtClean="0"/>
              <a:t>6/30/2026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222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9F1E3-2B56-4B8E-925A-59A8BB2F8CE0}" type="datetime1">
              <a:rPr lang="en-US" altLang="ko-KR" smtClean="0"/>
              <a:t>6/30/2026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222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2A997-1171-4E6F-B46F-1DA7294F1830}" type="datetime1">
              <a:rPr lang="en-US" altLang="ko-KR" smtClean="0"/>
              <a:t>6/30/2026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222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5697200" y="9426575"/>
            <a:ext cx="2133600" cy="365125"/>
          </a:xfrm>
        </p:spPr>
        <p:txBody>
          <a:bodyPr/>
          <a:lstStyle>
            <a:lvl1pPr>
              <a:defRPr sz="2200" b="0">
                <a:solidFill>
                  <a:schemeClr val="tx1"/>
                </a:solidFill>
                <a:latin typeface="TDTD강굴림" panose="020B0600000101010101" charset="-127"/>
                <a:ea typeface="TDTD강굴림" panose="020B0600000101010101" charset="-127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CA3C5-23E8-4CB7-A85C-B079FAC731C3}" type="datetime1">
              <a:rPr lang="en-US" altLang="ko-KR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222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2AF07-FBA4-4E77-8229-E2BD088F3A72}" type="datetime1">
              <a:rPr lang="en-US" altLang="ko-KR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222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C6C5A-7F47-4C9B-A846-937670938BF3}" type="datetime1">
              <a:rPr lang="en-US" altLang="ko-KR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222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슬라이드 번호 개체 틀 19">
            <a:extLst>
              <a:ext uri="{FF2B5EF4-FFF2-40B4-BE49-F238E27FC236}">
                <a16:creationId xmlns:a16="http://schemas.microsoft.com/office/drawing/2014/main" id="{DF8B8609-0980-2458-3645-8CADA02B3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>
            <a:lvl1pPr>
              <a:defRPr sz="2400" b="0">
                <a:solidFill>
                  <a:srgbClr val="0C3D6E"/>
                </a:solidFill>
                <a:latin typeface="TDTD강굴림" panose="020B0600000101010101" charset="-127"/>
                <a:ea typeface="TDTD강굴림" panose="020B0600000101010101" charset="-127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A346A451-AE6D-F5F4-B56F-9860DB351F2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66" t="11667" r="6666" b="10000"/>
          <a:stretch/>
        </p:blipFill>
        <p:spPr>
          <a:xfrm>
            <a:off x="16154399" y="152400"/>
            <a:ext cx="1981201" cy="1790700"/>
          </a:xfrm>
          <a:prstGeom prst="rect">
            <a:avLst/>
          </a:prstGeom>
        </p:spPr>
      </p:pic>
      <p:sp>
        <p:nvSpPr>
          <p:cNvPr id="20" name="그래픽 10">
            <a:extLst>
              <a:ext uri="{FF2B5EF4-FFF2-40B4-BE49-F238E27FC236}">
                <a16:creationId xmlns:a16="http://schemas.microsoft.com/office/drawing/2014/main" id="{73545BBE-5D1D-B9C9-5FDE-6E659BBF8EB6}"/>
              </a:ext>
            </a:extLst>
          </p:cNvPr>
          <p:cNvSpPr/>
          <p:nvPr userDrawn="1"/>
        </p:nvSpPr>
        <p:spPr>
          <a:xfrm rot="10800000">
            <a:off x="800100" y="4838700"/>
            <a:ext cx="16687800" cy="108000"/>
          </a:xfrm>
          <a:custGeom>
            <a:avLst/>
            <a:gdLst>
              <a:gd name="connsiteX0" fmla="*/ 0 w 12272260"/>
              <a:gd name="connsiteY0" fmla="*/ 0 h 6434320"/>
              <a:gd name="connsiteX1" fmla="*/ 12272261 w 12272260"/>
              <a:gd name="connsiteY1" fmla="*/ 0 h 6434320"/>
              <a:gd name="connsiteX2" fmla="*/ 12272261 w 12272260"/>
              <a:gd name="connsiteY2" fmla="*/ 6434321 h 6434320"/>
              <a:gd name="connsiteX3" fmla="*/ 0 w 12272260"/>
              <a:gd name="connsiteY3" fmla="*/ 6434321 h 6434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72260" h="6434320">
                <a:moveTo>
                  <a:pt x="0" y="0"/>
                </a:moveTo>
                <a:lnTo>
                  <a:pt x="12272261" y="0"/>
                </a:lnTo>
                <a:lnTo>
                  <a:pt x="12272261" y="6434321"/>
                </a:lnTo>
                <a:lnTo>
                  <a:pt x="0" y="6434321"/>
                </a:lnTo>
                <a:close/>
              </a:path>
            </a:pathLst>
          </a:custGeom>
          <a:gradFill>
            <a:gsLst>
              <a:gs pos="0">
                <a:srgbClr val="768CBC"/>
              </a:gs>
              <a:gs pos="50000">
                <a:srgbClr val="3E6098"/>
              </a:gs>
              <a:gs pos="100000">
                <a:srgbClr val="354E87"/>
              </a:gs>
            </a:gsLst>
            <a:lin ang="2700000" scaled="1"/>
          </a:gradFill>
          <a:ln w="23813" cap="flat">
            <a:noFill/>
            <a:prstDash val="solid"/>
            <a:miter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endParaRPr lang="ko-KR" altLang="en-US" sz="135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래픽 10">
            <a:extLst>
              <a:ext uri="{FF2B5EF4-FFF2-40B4-BE49-F238E27FC236}">
                <a16:creationId xmlns:a16="http://schemas.microsoft.com/office/drawing/2014/main" id="{284B9595-ABEF-CFE6-B88E-5CC91FD893D7}"/>
              </a:ext>
            </a:extLst>
          </p:cNvPr>
          <p:cNvSpPr/>
          <p:nvPr userDrawn="1"/>
        </p:nvSpPr>
        <p:spPr>
          <a:xfrm rot="10800000">
            <a:off x="0" y="1257301"/>
            <a:ext cx="18288000" cy="108001"/>
          </a:xfrm>
          <a:custGeom>
            <a:avLst/>
            <a:gdLst>
              <a:gd name="connsiteX0" fmla="*/ 0 w 12272260"/>
              <a:gd name="connsiteY0" fmla="*/ 0 h 6434320"/>
              <a:gd name="connsiteX1" fmla="*/ 12272261 w 12272260"/>
              <a:gd name="connsiteY1" fmla="*/ 0 h 6434320"/>
              <a:gd name="connsiteX2" fmla="*/ 12272261 w 12272260"/>
              <a:gd name="connsiteY2" fmla="*/ 6434321 h 6434320"/>
              <a:gd name="connsiteX3" fmla="*/ 0 w 12272260"/>
              <a:gd name="connsiteY3" fmla="*/ 6434321 h 6434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72260" h="6434320">
                <a:moveTo>
                  <a:pt x="0" y="0"/>
                </a:moveTo>
                <a:lnTo>
                  <a:pt x="12272261" y="0"/>
                </a:lnTo>
                <a:lnTo>
                  <a:pt x="12272261" y="6434321"/>
                </a:lnTo>
                <a:lnTo>
                  <a:pt x="0" y="6434321"/>
                </a:lnTo>
                <a:close/>
              </a:path>
            </a:pathLst>
          </a:custGeom>
          <a:gradFill>
            <a:gsLst>
              <a:gs pos="0">
                <a:srgbClr val="768CBC"/>
              </a:gs>
              <a:gs pos="50000">
                <a:srgbClr val="3E6098"/>
              </a:gs>
              <a:gs pos="100000">
                <a:srgbClr val="354E87"/>
              </a:gs>
            </a:gsLst>
            <a:lin ang="2700000" scaled="1"/>
          </a:gradFill>
          <a:ln w="23813" cap="flat">
            <a:noFill/>
            <a:prstDash val="solid"/>
            <a:miter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endParaRPr lang="ko-KR" altLang="en-US" sz="1350"/>
          </a:p>
        </p:txBody>
      </p:sp>
      <p:sp>
        <p:nvSpPr>
          <p:cNvPr id="5" name="슬라이드 번호 개체 틀 19">
            <a:extLst>
              <a:ext uri="{FF2B5EF4-FFF2-40B4-BE49-F238E27FC236}">
                <a16:creationId xmlns:a16="http://schemas.microsoft.com/office/drawing/2014/main" id="{C2405C96-0007-448F-AEF2-514BF4045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>
            <a:lvl1pPr>
              <a:defRPr sz="2400" b="0">
                <a:solidFill>
                  <a:srgbClr val="0C3D6E"/>
                </a:solidFill>
                <a:latin typeface="TDTD강굴림" panose="020B0600000101010101" charset="-127"/>
                <a:ea typeface="TDTD강굴림" panose="020B0600000101010101" charset="-127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4803AD-3E7B-B2BA-CF5C-8902DA03B66C}"/>
              </a:ext>
            </a:extLst>
          </p:cNvPr>
          <p:cNvSpPr txBox="1"/>
          <p:nvPr userDrawn="1"/>
        </p:nvSpPr>
        <p:spPr>
          <a:xfrm>
            <a:off x="381000" y="266700"/>
            <a:ext cx="1539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5502705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그래픽 10">
            <a:extLst>
              <a:ext uri="{FF2B5EF4-FFF2-40B4-BE49-F238E27FC236}">
                <a16:creationId xmlns:a16="http://schemas.microsoft.com/office/drawing/2014/main" id="{73545BBE-5D1D-B9C9-5FDE-6E659BBF8EB6}"/>
              </a:ext>
            </a:extLst>
          </p:cNvPr>
          <p:cNvSpPr/>
          <p:nvPr userDrawn="1"/>
        </p:nvSpPr>
        <p:spPr>
          <a:xfrm rot="10800000">
            <a:off x="0" y="1257301"/>
            <a:ext cx="18288000" cy="108001"/>
          </a:xfrm>
          <a:custGeom>
            <a:avLst/>
            <a:gdLst>
              <a:gd name="connsiteX0" fmla="*/ 0 w 12272260"/>
              <a:gd name="connsiteY0" fmla="*/ 0 h 6434320"/>
              <a:gd name="connsiteX1" fmla="*/ 12272261 w 12272260"/>
              <a:gd name="connsiteY1" fmla="*/ 0 h 6434320"/>
              <a:gd name="connsiteX2" fmla="*/ 12272261 w 12272260"/>
              <a:gd name="connsiteY2" fmla="*/ 6434321 h 6434320"/>
              <a:gd name="connsiteX3" fmla="*/ 0 w 12272260"/>
              <a:gd name="connsiteY3" fmla="*/ 6434321 h 6434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72260" h="6434320">
                <a:moveTo>
                  <a:pt x="0" y="0"/>
                </a:moveTo>
                <a:lnTo>
                  <a:pt x="12272261" y="0"/>
                </a:lnTo>
                <a:lnTo>
                  <a:pt x="12272261" y="6434321"/>
                </a:lnTo>
                <a:lnTo>
                  <a:pt x="0" y="6434321"/>
                </a:lnTo>
                <a:close/>
              </a:path>
            </a:pathLst>
          </a:custGeom>
          <a:gradFill>
            <a:gsLst>
              <a:gs pos="0">
                <a:srgbClr val="768CBC"/>
              </a:gs>
              <a:gs pos="50000">
                <a:srgbClr val="3E6098"/>
              </a:gs>
              <a:gs pos="100000">
                <a:srgbClr val="354E87"/>
              </a:gs>
            </a:gsLst>
            <a:lin ang="2700000" scaled="1"/>
          </a:gradFill>
          <a:ln w="23813" cap="flat">
            <a:noFill/>
            <a:prstDash val="solid"/>
            <a:miter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endParaRPr lang="ko-KR" altLang="en-US" sz="1350"/>
          </a:p>
        </p:txBody>
      </p:sp>
      <p:sp>
        <p:nvSpPr>
          <p:cNvPr id="3" name="슬라이드 번호 개체 틀 19">
            <a:extLst>
              <a:ext uri="{FF2B5EF4-FFF2-40B4-BE49-F238E27FC236}">
                <a16:creationId xmlns:a16="http://schemas.microsoft.com/office/drawing/2014/main" id="{D8499AC7-0D0F-669C-ECF4-13A5B31C9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>
            <a:lvl1pPr>
              <a:defRPr sz="2400" b="0">
                <a:solidFill>
                  <a:srgbClr val="0C3D6E"/>
                </a:solidFill>
                <a:latin typeface="TDTD강굴림" panose="020B0600000101010101" charset="-127"/>
                <a:ea typeface="TDTD강굴림" panose="020B0600000101010101" charset="-127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26440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4ABA05-BA52-4C3D-A965-8D10C4A52616}" type="datetime1">
              <a:rPr lang="en-US" altLang="ko-KR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222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0" r:id="rId13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tif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if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tif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.tif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tif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tif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0A98829-6BD6-FBDB-0322-9B8FE4CA2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" name="TextBox 12">
            <a:extLst>
              <a:ext uri="{FF2B5EF4-FFF2-40B4-BE49-F238E27FC236}">
                <a16:creationId xmlns:a16="http://schemas.microsoft.com/office/drawing/2014/main" id="{6B42A1CA-0B92-3306-9FCB-2053913A4CBE}"/>
              </a:ext>
            </a:extLst>
          </p:cNvPr>
          <p:cNvSpPr txBox="1"/>
          <p:nvPr/>
        </p:nvSpPr>
        <p:spPr>
          <a:xfrm>
            <a:off x="4610100" y="6111125"/>
            <a:ext cx="9067800" cy="4730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ko-KR" altLang="en-US" sz="26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  <a:cs typeface="Nanum Square Round"/>
                <a:sym typeface="Nanum Square Round"/>
              </a:rPr>
              <a:t>경북대학교 </a:t>
            </a:r>
            <a:r>
              <a:rPr lang="en-US" altLang="ko-KR" sz="26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  <a:cs typeface="Nanum Square Round"/>
                <a:sym typeface="Nanum Square Round"/>
              </a:rPr>
              <a:t>MENLAB 2025000422 </a:t>
            </a:r>
            <a:r>
              <a:rPr lang="ko-KR" altLang="en-US" sz="26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  <a:cs typeface="Nanum Square Round"/>
                <a:sym typeface="Nanum Square Round"/>
              </a:rPr>
              <a:t>최민수</a:t>
            </a:r>
            <a:endParaRPr lang="en-US" sz="2600" dirty="0">
              <a:solidFill>
                <a:srgbClr val="0F4D8B"/>
              </a:solidFill>
              <a:latin typeface="TDTD강굴림" panose="020B0600000101010101" charset="-127"/>
              <a:ea typeface="TDTD강굴림" panose="020B0600000101010101" charset="-127"/>
              <a:cs typeface="Nanum Square Round"/>
              <a:sym typeface="Nanum Square Round"/>
            </a:endParaRPr>
          </a:p>
        </p:txBody>
      </p:sp>
      <p:sp>
        <p:nvSpPr>
          <p:cNvPr id="6" name="TextBox 11">
            <a:extLst>
              <a:ext uri="{FF2B5EF4-FFF2-40B4-BE49-F238E27FC236}">
                <a16:creationId xmlns:a16="http://schemas.microsoft.com/office/drawing/2014/main" id="{949CB741-6186-65B6-FCDE-42BC101EC52C}"/>
              </a:ext>
            </a:extLst>
          </p:cNvPr>
          <p:cNvSpPr txBox="1"/>
          <p:nvPr/>
        </p:nvSpPr>
        <p:spPr>
          <a:xfrm>
            <a:off x="800100" y="2731175"/>
            <a:ext cx="16687800" cy="20313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4400" dirty="0">
                <a:solidFill>
                  <a:srgbClr val="0F4D8B"/>
                </a:solidFill>
                <a:latin typeface="TDTD강굴림"/>
                <a:ea typeface="TDTD강굴림"/>
                <a:cs typeface="TDTD강굴림"/>
                <a:sym typeface="TDTD강굴림"/>
              </a:rPr>
              <a:t>Near-Zero Current Boosting under Driving Condition Stress in Ultrathin-Body Transistors</a:t>
            </a:r>
            <a:br>
              <a:rPr lang="en-US" sz="4400" dirty="0">
                <a:solidFill>
                  <a:srgbClr val="0F4D8B"/>
                </a:solidFill>
                <a:latin typeface="TDTD강굴림"/>
                <a:ea typeface="TDTD강굴림"/>
                <a:cs typeface="TDTD강굴림"/>
                <a:sym typeface="TDTD강굴림"/>
              </a:rPr>
            </a:br>
            <a:r>
              <a:rPr lang="en-US" sz="4400" dirty="0">
                <a:solidFill>
                  <a:srgbClr val="0F4D8B"/>
                </a:solidFill>
                <a:latin typeface="TDTD강굴림"/>
                <a:ea typeface="TDTD강굴림"/>
                <a:cs typeface="TDTD강굴림"/>
                <a:sym typeface="TDTD강굴림"/>
              </a:rPr>
              <a:t>Enabled by Crystalline In</a:t>
            </a:r>
            <a:r>
              <a:rPr lang="en-US" sz="4400" baseline="-25000" dirty="0">
                <a:solidFill>
                  <a:srgbClr val="0F4D8B"/>
                </a:solidFill>
                <a:latin typeface="TDTD강굴림"/>
                <a:ea typeface="TDTD강굴림"/>
                <a:cs typeface="TDTD강굴림"/>
                <a:sym typeface="TDTD강굴림"/>
              </a:rPr>
              <a:t>2</a:t>
            </a:r>
            <a:r>
              <a:rPr lang="en-US" sz="4400" dirty="0">
                <a:solidFill>
                  <a:srgbClr val="0F4D8B"/>
                </a:solidFill>
                <a:latin typeface="TDTD강굴림"/>
                <a:ea typeface="TDTD강굴림"/>
                <a:cs typeface="TDTD강굴림"/>
                <a:sym typeface="TDTD강굴림"/>
              </a:rPr>
              <a:t>O</a:t>
            </a:r>
            <a:r>
              <a:rPr lang="en-US" sz="4400" baseline="-25000" dirty="0">
                <a:solidFill>
                  <a:srgbClr val="0F4D8B"/>
                </a:solidFill>
                <a:latin typeface="TDTD강굴림"/>
                <a:ea typeface="TDTD강굴림"/>
                <a:cs typeface="TDTD강굴림"/>
                <a:sym typeface="TDTD강굴림"/>
              </a:rPr>
              <a:t>3</a:t>
            </a:r>
            <a:r>
              <a:rPr lang="en-US" sz="4400" dirty="0">
                <a:solidFill>
                  <a:srgbClr val="0F4D8B"/>
                </a:solidFill>
                <a:latin typeface="TDTD강굴림"/>
                <a:ea typeface="TDTD강굴림"/>
                <a:cs typeface="TDTD강굴림"/>
                <a:sym typeface="TDTD강굴림"/>
              </a:rPr>
              <a:t>/Y</a:t>
            </a:r>
            <a:r>
              <a:rPr lang="en-US" sz="4400" baseline="-25000" dirty="0">
                <a:solidFill>
                  <a:srgbClr val="0F4D8B"/>
                </a:solidFill>
                <a:latin typeface="TDTD강굴림"/>
                <a:ea typeface="TDTD강굴림"/>
                <a:cs typeface="TDTD강굴림"/>
                <a:sym typeface="TDTD강굴림"/>
              </a:rPr>
              <a:t>2</a:t>
            </a:r>
            <a:r>
              <a:rPr lang="en-US" sz="4400" dirty="0">
                <a:solidFill>
                  <a:srgbClr val="0F4D8B"/>
                </a:solidFill>
                <a:latin typeface="TDTD강굴림"/>
                <a:ea typeface="TDTD강굴림"/>
                <a:cs typeface="TDTD강굴림"/>
                <a:sym typeface="TDTD강굴림"/>
              </a:rPr>
              <a:t>O</a:t>
            </a:r>
            <a:r>
              <a:rPr lang="en-US" sz="4400" baseline="-25000" dirty="0">
                <a:solidFill>
                  <a:srgbClr val="0F4D8B"/>
                </a:solidFill>
                <a:latin typeface="TDTD강굴림"/>
                <a:ea typeface="TDTD강굴림"/>
                <a:cs typeface="TDTD강굴림"/>
                <a:sym typeface="TDTD강굴림"/>
              </a:rPr>
              <a:t>3</a:t>
            </a:r>
            <a:r>
              <a:rPr lang="en-US" sz="4400" dirty="0">
                <a:solidFill>
                  <a:srgbClr val="0F4D8B"/>
                </a:solidFill>
                <a:latin typeface="TDTD강굴림"/>
                <a:ea typeface="TDTD강굴림"/>
                <a:cs typeface="TDTD강굴림"/>
                <a:sym typeface="TDTD강굴림"/>
              </a:rPr>
              <a:t> Heterostructures </a:t>
            </a:r>
            <a:endParaRPr lang="en-US" sz="1600" baseline="-25000" dirty="0">
              <a:solidFill>
                <a:srgbClr val="0F4D8B"/>
              </a:solidFill>
              <a:latin typeface="TDTD강굴림"/>
              <a:ea typeface="TDTD강굴림"/>
              <a:cs typeface="TDTD강굴림"/>
              <a:sym typeface="TDTD강굴림"/>
            </a:endParaRPr>
          </a:p>
        </p:txBody>
      </p:sp>
    </p:spTree>
    <p:extLst>
      <p:ext uri="{BB962C8B-B14F-4D97-AF65-F5344CB8AC3E}">
        <p14:creationId xmlns:p14="http://schemas.microsoft.com/office/powerpoint/2010/main" val="1362901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589495B-DD42-38A9-2B63-5602D05FC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67BEA92D-9624-3058-2CB3-C64AB81777C7}"/>
              </a:ext>
            </a:extLst>
          </p:cNvPr>
          <p:cNvGrpSpPr/>
          <p:nvPr/>
        </p:nvGrpSpPr>
        <p:grpSpPr>
          <a:xfrm>
            <a:off x="1752600" y="2171700"/>
            <a:ext cx="14554200" cy="811143"/>
            <a:chOff x="1676400" y="2171700"/>
            <a:chExt cx="14554200" cy="811143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DEF6606-DE61-B775-9885-F8E385A20B3A}"/>
                </a:ext>
              </a:extLst>
            </p:cNvPr>
            <p:cNvSpPr txBox="1"/>
            <p:nvPr/>
          </p:nvSpPr>
          <p:spPr>
            <a:xfrm>
              <a:off x="3048000" y="2284884"/>
              <a:ext cx="13182600" cy="5847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3200" dirty="0">
                  <a:solidFill>
                    <a:srgbClr val="0F4D8B"/>
                  </a:solidFill>
                  <a:latin typeface="TDTD강굴림" panose="020B0600000101010101" charset="-127"/>
                  <a:ea typeface="TDTD강굴림" panose="020B0600000101010101" charset="-127"/>
                </a:rPr>
                <a:t>Introduction</a:t>
              </a:r>
            </a:p>
          </p:txBody>
        </p:sp>
        <p:sp>
          <p:nvSpPr>
            <p:cNvPr id="26" name="사각형: 잘린 대각선 방향 모서리 25">
              <a:extLst>
                <a:ext uri="{FF2B5EF4-FFF2-40B4-BE49-F238E27FC236}">
                  <a16:creationId xmlns:a16="http://schemas.microsoft.com/office/drawing/2014/main" id="{85ED6AA2-CA1F-D329-EAB9-EBE18181818B}"/>
                </a:ext>
              </a:extLst>
            </p:cNvPr>
            <p:cNvSpPr/>
            <p:nvPr/>
          </p:nvSpPr>
          <p:spPr>
            <a:xfrm>
              <a:off x="1676400" y="2171700"/>
              <a:ext cx="990600" cy="811143"/>
            </a:xfrm>
            <a:prstGeom prst="snip2DiagRect">
              <a:avLst>
                <a:gd name="adj1" fmla="val 0"/>
                <a:gd name="adj2" fmla="val 29535"/>
              </a:avLst>
            </a:prstGeom>
            <a:solidFill>
              <a:srgbClr val="0F4D8B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en-US" altLang="ko-KR" sz="3200" dirty="0">
                  <a:solidFill>
                    <a:schemeClr val="bg1"/>
                  </a:solidFill>
                  <a:latin typeface="TDTD강굴림" panose="020B0600000101010101" charset="-127"/>
                  <a:ea typeface="TDTD강굴림" panose="020B0600000101010101" charset="-127"/>
                </a:rPr>
                <a:t>1</a:t>
              </a:r>
              <a:endParaRPr lang="ko-KR" altLang="en-US" sz="3200" dirty="0">
                <a:solidFill>
                  <a:schemeClr val="bg1"/>
                </a:solidFill>
                <a:latin typeface="TDTD강굴림" panose="020B0600000101010101" charset="-127"/>
                <a:ea typeface="TDTD강굴림" panose="020B0600000101010101" charset="-127"/>
              </a:endParaRP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67BE452D-FFBD-02AD-80C4-7DD8F1A0257E}"/>
              </a:ext>
            </a:extLst>
          </p:cNvPr>
          <p:cNvGrpSpPr/>
          <p:nvPr/>
        </p:nvGrpSpPr>
        <p:grpSpPr>
          <a:xfrm>
            <a:off x="1752600" y="3778664"/>
            <a:ext cx="14554200" cy="811143"/>
            <a:chOff x="1676400" y="2171700"/>
            <a:chExt cx="14554200" cy="811143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4974E5C-3978-DBB9-1397-2F46035CF2AA}"/>
                </a:ext>
              </a:extLst>
            </p:cNvPr>
            <p:cNvSpPr txBox="1"/>
            <p:nvPr/>
          </p:nvSpPr>
          <p:spPr>
            <a:xfrm>
              <a:off x="3048000" y="2284884"/>
              <a:ext cx="13182600" cy="5847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3200" dirty="0">
                  <a:solidFill>
                    <a:srgbClr val="0F4D8B"/>
                  </a:solidFill>
                  <a:latin typeface="TDTD강굴림" panose="020B0600000101010101" charset="-127"/>
                  <a:ea typeface="TDTD강굴림" panose="020B0600000101010101" charset="-127"/>
                </a:rPr>
                <a:t>Device structure &amp; transfer characteristics</a:t>
              </a:r>
            </a:p>
          </p:txBody>
        </p:sp>
        <p:sp>
          <p:nvSpPr>
            <p:cNvPr id="20" name="사각형: 잘린 대각선 방향 모서리 19">
              <a:extLst>
                <a:ext uri="{FF2B5EF4-FFF2-40B4-BE49-F238E27FC236}">
                  <a16:creationId xmlns:a16="http://schemas.microsoft.com/office/drawing/2014/main" id="{66794A16-C591-6816-A06E-9768D5A01327}"/>
                </a:ext>
              </a:extLst>
            </p:cNvPr>
            <p:cNvSpPr/>
            <p:nvPr/>
          </p:nvSpPr>
          <p:spPr>
            <a:xfrm>
              <a:off x="1676400" y="2171700"/>
              <a:ext cx="990600" cy="811143"/>
            </a:xfrm>
            <a:prstGeom prst="snip2DiagRect">
              <a:avLst>
                <a:gd name="adj1" fmla="val 0"/>
                <a:gd name="adj2" fmla="val 29535"/>
              </a:avLst>
            </a:prstGeom>
            <a:solidFill>
              <a:srgbClr val="0F4D8B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en-US" altLang="ko-KR" sz="3200" dirty="0">
                  <a:solidFill>
                    <a:schemeClr val="bg1"/>
                  </a:solidFill>
                  <a:latin typeface="TDTD강굴림" panose="020B0600000101010101" charset="-127"/>
                  <a:ea typeface="TDTD강굴림" panose="020B0600000101010101" charset="-127"/>
                </a:rPr>
                <a:t>2</a:t>
              </a:r>
              <a:endParaRPr lang="ko-KR" altLang="en-US" sz="3200" dirty="0">
                <a:solidFill>
                  <a:schemeClr val="bg1"/>
                </a:solidFill>
                <a:latin typeface="TDTD강굴림" panose="020B0600000101010101" charset="-127"/>
                <a:ea typeface="TDTD강굴림" panose="020B0600000101010101" charset="-127"/>
              </a:endParaRP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BCE0FB16-0312-74E3-405A-61922938B262}"/>
              </a:ext>
            </a:extLst>
          </p:cNvPr>
          <p:cNvGrpSpPr/>
          <p:nvPr/>
        </p:nvGrpSpPr>
        <p:grpSpPr>
          <a:xfrm>
            <a:off x="1752600" y="5385628"/>
            <a:ext cx="14554200" cy="811143"/>
            <a:chOff x="1676400" y="2171700"/>
            <a:chExt cx="14554200" cy="811143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15C61D2-C7B7-4EC0-D3FB-FA2FCB6E623C}"/>
                </a:ext>
              </a:extLst>
            </p:cNvPr>
            <p:cNvSpPr txBox="1"/>
            <p:nvPr/>
          </p:nvSpPr>
          <p:spPr>
            <a:xfrm>
              <a:off x="3048000" y="2284884"/>
              <a:ext cx="13182600" cy="5847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3200" dirty="0">
                  <a:solidFill>
                    <a:srgbClr val="0F4D8B"/>
                  </a:solidFill>
                  <a:latin typeface="TDTD강굴림" panose="020B0600000101010101" charset="-127"/>
                  <a:ea typeface="TDTD강굴림" panose="020B0600000101010101" charset="-127"/>
                </a:rPr>
                <a:t>R</a:t>
              </a:r>
              <a:r>
                <a:rPr lang="en-US" altLang="ko-KR" sz="3200" baseline="-25000" dirty="0">
                  <a:solidFill>
                    <a:srgbClr val="0F4D8B"/>
                  </a:solidFill>
                  <a:latin typeface="TDTD강굴림" panose="020B0600000101010101" charset="-127"/>
                  <a:ea typeface="TDTD강굴림" panose="020B0600000101010101" charset="-127"/>
                </a:rPr>
                <a:t>C</a:t>
              </a:r>
              <a:r>
                <a:rPr lang="en-US" altLang="ko-KR" sz="3200" dirty="0">
                  <a:solidFill>
                    <a:srgbClr val="0F4D8B"/>
                  </a:solidFill>
                  <a:latin typeface="TDTD강굴림" panose="020B0600000101010101" charset="-127"/>
                  <a:ea typeface="TDTD강굴림" panose="020B0600000101010101" charset="-127"/>
                </a:rPr>
                <a:t> and </a:t>
              </a:r>
              <a:r>
                <a:rPr lang="el-GR" altLang="ko-KR" sz="3200" dirty="0">
                  <a:solidFill>
                    <a:srgbClr val="0F4D8B"/>
                  </a:solidFill>
                  <a:latin typeface="TDTD강굴림" panose="020B0600000101010101" charset="-127"/>
                  <a:ea typeface="TDTD강굴림" panose="020B0600000101010101" charset="-127"/>
                </a:rPr>
                <a:t>μ</a:t>
              </a:r>
              <a:r>
                <a:rPr lang="en-US" altLang="ko-KR" sz="3200" baseline="-25000" dirty="0">
                  <a:solidFill>
                    <a:srgbClr val="0F4D8B"/>
                  </a:solidFill>
                  <a:latin typeface="TDTD강굴림" panose="020B0600000101010101" charset="-127"/>
                  <a:ea typeface="TDTD강굴림" panose="020B0600000101010101" charset="-127"/>
                </a:rPr>
                <a:t>int</a:t>
              </a:r>
              <a:r>
                <a:rPr lang="en-US" altLang="ko-KR" sz="3200" dirty="0">
                  <a:solidFill>
                    <a:srgbClr val="0F4D8B"/>
                  </a:solidFill>
                  <a:latin typeface="TDTD강굴림" panose="020B0600000101010101" charset="-127"/>
                  <a:ea typeface="TDTD강굴림" panose="020B0600000101010101" charset="-127"/>
                </a:rPr>
                <a:t> based on the Y-function method</a:t>
              </a:r>
            </a:p>
          </p:txBody>
        </p:sp>
        <p:sp>
          <p:nvSpPr>
            <p:cNvPr id="23" name="사각형: 잘린 대각선 방향 모서리 22">
              <a:extLst>
                <a:ext uri="{FF2B5EF4-FFF2-40B4-BE49-F238E27FC236}">
                  <a16:creationId xmlns:a16="http://schemas.microsoft.com/office/drawing/2014/main" id="{BD086872-4DB2-2CA2-3D19-5E0280FF357A}"/>
                </a:ext>
              </a:extLst>
            </p:cNvPr>
            <p:cNvSpPr/>
            <p:nvPr/>
          </p:nvSpPr>
          <p:spPr>
            <a:xfrm>
              <a:off x="1676400" y="2171700"/>
              <a:ext cx="990600" cy="811143"/>
            </a:xfrm>
            <a:prstGeom prst="snip2DiagRect">
              <a:avLst>
                <a:gd name="adj1" fmla="val 0"/>
                <a:gd name="adj2" fmla="val 29535"/>
              </a:avLst>
            </a:prstGeom>
            <a:solidFill>
              <a:srgbClr val="0F4D8B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en-US" altLang="ko-KR" sz="3200" dirty="0">
                  <a:solidFill>
                    <a:schemeClr val="bg1"/>
                  </a:solidFill>
                  <a:latin typeface="TDTD강굴림" panose="020B0600000101010101" charset="-127"/>
                  <a:ea typeface="TDTD강굴림" panose="020B0600000101010101" charset="-127"/>
                </a:rPr>
                <a:t>3</a:t>
              </a:r>
              <a:endParaRPr lang="ko-KR" altLang="en-US" sz="3200" dirty="0">
                <a:solidFill>
                  <a:schemeClr val="bg1"/>
                </a:solidFill>
                <a:latin typeface="TDTD강굴림" panose="020B0600000101010101" charset="-127"/>
                <a:ea typeface="TDTD강굴림" panose="020B0600000101010101" charset="-127"/>
              </a:endParaRP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0416BB68-1F50-DBBE-0A86-C1280C87353F}"/>
              </a:ext>
            </a:extLst>
          </p:cNvPr>
          <p:cNvGrpSpPr/>
          <p:nvPr/>
        </p:nvGrpSpPr>
        <p:grpSpPr>
          <a:xfrm>
            <a:off x="1752600" y="6992592"/>
            <a:ext cx="14554200" cy="811143"/>
            <a:chOff x="1676400" y="2171700"/>
            <a:chExt cx="14554200" cy="811143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11326A0-0962-7125-0E1E-15328D5AC4A9}"/>
                </a:ext>
              </a:extLst>
            </p:cNvPr>
            <p:cNvSpPr txBox="1"/>
            <p:nvPr/>
          </p:nvSpPr>
          <p:spPr>
            <a:xfrm>
              <a:off x="3048000" y="2284884"/>
              <a:ext cx="13182600" cy="5847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3200" dirty="0">
                  <a:solidFill>
                    <a:srgbClr val="0F4D8B"/>
                  </a:solidFill>
                  <a:latin typeface="TDTD강굴림" panose="020B0600000101010101" charset="-127"/>
                  <a:ea typeface="TDTD강굴림" panose="020B0600000101010101" charset="-127"/>
                </a:rPr>
                <a:t>Transfer characteristics during CS tests</a:t>
              </a:r>
            </a:p>
          </p:txBody>
        </p:sp>
        <p:sp>
          <p:nvSpPr>
            <p:cNvPr id="27" name="사각형: 잘린 대각선 방향 모서리 26">
              <a:extLst>
                <a:ext uri="{FF2B5EF4-FFF2-40B4-BE49-F238E27FC236}">
                  <a16:creationId xmlns:a16="http://schemas.microsoft.com/office/drawing/2014/main" id="{976A353A-F696-EDA8-3217-82C865673269}"/>
                </a:ext>
              </a:extLst>
            </p:cNvPr>
            <p:cNvSpPr/>
            <p:nvPr/>
          </p:nvSpPr>
          <p:spPr>
            <a:xfrm>
              <a:off x="1676400" y="2171700"/>
              <a:ext cx="990600" cy="811143"/>
            </a:xfrm>
            <a:prstGeom prst="snip2DiagRect">
              <a:avLst>
                <a:gd name="adj1" fmla="val 0"/>
                <a:gd name="adj2" fmla="val 29535"/>
              </a:avLst>
            </a:prstGeom>
            <a:solidFill>
              <a:srgbClr val="0F4D8B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en-US" altLang="ko-KR" sz="3200" dirty="0">
                  <a:solidFill>
                    <a:schemeClr val="bg1"/>
                  </a:solidFill>
                  <a:latin typeface="TDTD강굴림" panose="020B0600000101010101" charset="-127"/>
                  <a:ea typeface="TDTD강굴림" panose="020B0600000101010101" charset="-127"/>
                </a:rPr>
                <a:t>4</a:t>
              </a:r>
              <a:endParaRPr lang="ko-KR" altLang="en-US" sz="3200" dirty="0">
                <a:solidFill>
                  <a:schemeClr val="bg1"/>
                </a:solidFill>
                <a:latin typeface="TDTD강굴림" panose="020B0600000101010101" charset="-127"/>
                <a:ea typeface="TDTD강굴림" panose="020B0600000101010101" charset="-127"/>
              </a:endParaRPr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612C1588-3A72-35B5-8765-BB9A473A77F2}"/>
              </a:ext>
            </a:extLst>
          </p:cNvPr>
          <p:cNvGrpSpPr/>
          <p:nvPr/>
        </p:nvGrpSpPr>
        <p:grpSpPr>
          <a:xfrm>
            <a:off x="1752600" y="8599557"/>
            <a:ext cx="14554200" cy="811143"/>
            <a:chOff x="1676400" y="2171700"/>
            <a:chExt cx="14554200" cy="811143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31EC12C-241C-31D5-D94C-6F84C1B0F6B7}"/>
                </a:ext>
              </a:extLst>
            </p:cNvPr>
            <p:cNvSpPr txBox="1"/>
            <p:nvPr/>
          </p:nvSpPr>
          <p:spPr>
            <a:xfrm>
              <a:off x="3048000" y="2284884"/>
              <a:ext cx="13182600" cy="5847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3200" dirty="0">
                  <a:solidFill>
                    <a:srgbClr val="0F4D8B"/>
                  </a:solidFill>
                  <a:latin typeface="TDTD강굴림" panose="020B0600000101010101" charset="-127"/>
                  <a:ea typeface="TDTD강굴림" panose="020B0600000101010101" charset="-127"/>
                </a:rPr>
                <a:t>Near-zero current-boosting in HC-IY TFTs</a:t>
              </a:r>
              <a:r>
                <a:rPr lang="ko-KR" altLang="en-US" sz="3200" dirty="0">
                  <a:solidFill>
                    <a:srgbClr val="0F4D8B"/>
                  </a:solidFill>
                  <a:latin typeface="TDTD강굴림" panose="020B0600000101010101" charset="-127"/>
                  <a:ea typeface="TDTD강굴림" panose="020B0600000101010101" charset="-127"/>
                </a:rPr>
                <a:t> </a:t>
              </a:r>
              <a:endParaRPr lang="en-US" altLang="ko-KR" sz="32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endParaRPr>
            </a:p>
          </p:txBody>
        </p:sp>
        <p:sp>
          <p:nvSpPr>
            <p:cNvPr id="33" name="사각형: 잘린 대각선 방향 모서리 32">
              <a:extLst>
                <a:ext uri="{FF2B5EF4-FFF2-40B4-BE49-F238E27FC236}">
                  <a16:creationId xmlns:a16="http://schemas.microsoft.com/office/drawing/2014/main" id="{F68CDF41-2360-765D-BCF9-207DBAC11989}"/>
                </a:ext>
              </a:extLst>
            </p:cNvPr>
            <p:cNvSpPr/>
            <p:nvPr/>
          </p:nvSpPr>
          <p:spPr>
            <a:xfrm>
              <a:off x="1676400" y="2171700"/>
              <a:ext cx="990600" cy="811143"/>
            </a:xfrm>
            <a:prstGeom prst="snip2DiagRect">
              <a:avLst>
                <a:gd name="adj1" fmla="val 0"/>
                <a:gd name="adj2" fmla="val 29535"/>
              </a:avLst>
            </a:prstGeom>
            <a:solidFill>
              <a:srgbClr val="0F4D8B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en-US" altLang="ko-KR" sz="3200" dirty="0">
                  <a:solidFill>
                    <a:schemeClr val="bg1"/>
                  </a:solidFill>
                  <a:latin typeface="TDTD강굴림" panose="020B0600000101010101" charset="-127"/>
                  <a:ea typeface="TDTD강굴림" panose="020B0600000101010101" charset="-127"/>
                </a:rPr>
                <a:t>5</a:t>
              </a:r>
              <a:endParaRPr lang="ko-KR" altLang="en-US" sz="3200" dirty="0">
                <a:solidFill>
                  <a:schemeClr val="bg1"/>
                </a:solidFill>
                <a:latin typeface="TDTD강굴림" panose="020B0600000101010101" charset="-127"/>
                <a:ea typeface="TDTD강굴림" panose="020B0600000101010101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918549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70EB79-CF14-52E4-CB7F-3A88F62C3D8C}"/>
              </a:ext>
            </a:extLst>
          </p:cNvPr>
          <p:cNvSpPr txBox="1"/>
          <p:nvPr/>
        </p:nvSpPr>
        <p:spPr>
          <a:xfrm>
            <a:off x="381000" y="266700"/>
            <a:ext cx="16230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①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Introduction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1D6DAD-D308-0FC2-C1DE-C34CBB0C80C2}"/>
              </a:ext>
            </a:extLst>
          </p:cNvPr>
          <p:cNvSpPr txBox="1"/>
          <p:nvPr/>
        </p:nvSpPr>
        <p:spPr>
          <a:xfrm>
            <a:off x="410400" y="1616214"/>
            <a:ext cx="176681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■ 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Current-boosting </a:t>
            </a:r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현상</a:t>
            </a:r>
            <a:endParaRPr lang="en-US" altLang="ko-KR" sz="4000" dirty="0">
              <a:solidFill>
                <a:srgbClr val="0F4D8B"/>
              </a:solidFill>
              <a:latin typeface="TDTD강굴림" panose="020B0600000101010101" charset="-127"/>
              <a:ea typeface="TDTD강굴림" panose="020B0600000101010101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F4BEE6-A2DE-2737-E5E2-6C06415FF893}"/>
              </a:ext>
            </a:extLst>
          </p:cNvPr>
          <p:cNvSpPr txBox="1"/>
          <p:nvPr/>
        </p:nvSpPr>
        <p:spPr>
          <a:xfrm>
            <a:off x="685800" y="2400300"/>
            <a:ext cx="16950409" cy="16967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Display </a:t>
            </a:r>
            <a:r>
              <a:rPr lang="ko-KR" altLang="en-US" sz="24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구동 소자 중 </a:t>
            </a:r>
            <a:r>
              <a:rPr lang="en-US" altLang="ko-KR" sz="24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Drive TFT</a:t>
            </a:r>
            <a:r>
              <a:rPr lang="ko-KR" altLang="en-US" sz="24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의 </a:t>
            </a:r>
            <a:r>
              <a:rPr lang="en-US" altLang="ko-KR" sz="24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Driving Condition</a:t>
            </a:r>
            <a:r>
              <a:rPr lang="ko-KR" altLang="en-US" sz="24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에서는 강한 </a:t>
            </a:r>
            <a:r>
              <a:rPr lang="en-US" altLang="ko-KR" sz="24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V</a:t>
            </a:r>
            <a:r>
              <a:rPr lang="en-US" altLang="ko-KR" sz="2400" baseline="-250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D</a:t>
            </a:r>
            <a:r>
              <a:rPr lang="ko-KR" altLang="en-US" sz="24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 인가</a:t>
            </a:r>
            <a:r>
              <a:rPr lang="en-US" altLang="ko-KR" sz="24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(Current-stress; CS)</a:t>
            </a:r>
            <a:r>
              <a:rPr lang="ko-KR" altLang="en-US" sz="24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  </a:t>
            </a:r>
            <a:endParaRPr lang="en-US" altLang="ko-KR" sz="2400" dirty="0">
              <a:latin typeface="TDTD강굴림" panose="020B0600000101010101" charset="-127"/>
              <a:ea typeface="TDTD강굴림" panose="020B0600000101010101" charset="-127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24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    </a:t>
            </a:r>
            <a:r>
              <a:rPr lang="en-US" altLang="ko-KR" sz="11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 </a:t>
            </a:r>
            <a:r>
              <a:rPr lang="en-US" altLang="ko-KR" sz="24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 Drain</a:t>
            </a:r>
            <a:r>
              <a:rPr lang="ko-KR" altLang="en-US" sz="24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과 가까운 </a:t>
            </a:r>
            <a:r>
              <a:rPr lang="en-US" altLang="ko-KR" sz="24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Gate </a:t>
            </a:r>
            <a:r>
              <a:rPr lang="ko-KR" altLang="en-US" sz="24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영역에서 국부적 결함 생성</a:t>
            </a:r>
            <a:endParaRPr lang="en-US" altLang="ko-KR" sz="2400" dirty="0">
              <a:latin typeface="TDTD강굴림" panose="020B0600000101010101" charset="-127"/>
              <a:ea typeface="TDTD강굴림" panose="020B0600000101010101" charset="-127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24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    </a:t>
            </a:r>
            <a:r>
              <a:rPr lang="en-US" altLang="ko-KR" sz="11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 </a:t>
            </a:r>
            <a:r>
              <a:rPr lang="en-US" altLang="ko-KR" sz="24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 </a:t>
            </a:r>
            <a:r>
              <a:rPr lang="ko-KR" altLang="en-US" sz="24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유효 채널 길이</a:t>
            </a:r>
            <a:r>
              <a:rPr lang="en-US" altLang="ko-KR" sz="2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(</a:t>
            </a:r>
            <a:r>
              <a:rPr lang="en-US" altLang="ko-KR" sz="2400" dirty="0" err="1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L</a:t>
            </a:r>
            <a:r>
              <a:rPr lang="en-US" altLang="ko-KR" sz="2400" baseline="-25000" dirty="0" err="1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eff</a:t>
            </a:r>
            <a:r>
              <a:rPr lang="en-US" altLang="ko-KR" sz="2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)</a:t>
            </a:r>
            <a:r>
              <a:rPr lang="ko-KR" altLang="en-US" sz="2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가 짧아지면서 전류 증폭</a:t>
            </a:r>
            <a:r>
              <a:rPr lang="en-US" altLang="ko-KR" sz="24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(Current-boosting)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06D5C6-2E3B-C368-4600-D2DB399C4AD9}"/>
              </a:ext>
            </a:extLst>
          </p:cNvPr>
          <p:cNvSpPr txBox="1"/>
          <p:nvPr/>
        </p:nvSpPr>
        <p:spPr>
          <a:xfrm>
            <a:off x="3886200" y="9791700"/>
            <a:ext cx="137500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fontAlgn="base" latinLnBrk="1">
              <a:spcBef>
                <a:spcPts val="0"/>
              </a:spcBef>
              <a:spcAft>
                <a:spcPts val="0"/>
              </a:spcAft>
            </a:pPr>
            <a:r>
              <a:rPr lang="en-US" altLang="ko-KR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IEEE ELECTRONDEVICE LETTERS, VOL. 44, NO. 1, JANUARY 2023</a:t>
            </a:r>
          </a:p>
          <a:p>
            <a:pPr marL="0" marR="0" indent="0" algn="r" fontAlgn="base" latinLnBrk="1">
              <a:spcBef>
                <a:spcPts val="0"/>
              </a:spcBef>
              <a:spcAft>
                <a:spcPts val="0"/>
              </a:spcAft>
            </a:pPr>
            <a:r>
              <a:rPr lang="en-US" altLang="ko-KR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Adv. Electron. Mater. 2023, 9, 2201109</a:t>
            </a:r>
          </a:p>
        </p:txBody>
      </p:sp>
      <p:pic>
        <p:nvPicPr>
          <p:cNvPr id="13" name="Picture 5">
            <a:extLst>
              <a:ext uri="{FF2B5EF4-FFF2-40B4-BE49-F238E27FC236}">
                <a16:creationId xmlns:a16="http://schemas.microsoft.com/office/drawing/2014/main" id="{86D2D97D-062B-ECBD-E6E0-028587E845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644" t="7118" r="22341" b="13879"/>
          <a:stretch>
            <a:fillRect/>
          </a:stretch>
        </p:blipFill>
        <p:spPr>
          <a:xfrm>
            <a:off x="1143000" y="4762500"/>
            <a:ext cx="3750119" cy="3750119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7" name="Picture 1">
            <a:extLst>
              <a:ext uri="{FF2B5EF4-FFF2-40B4-BE49-F238E27FC236}">
                <a16:creationId xmlns:a16="http://schemas.microsoft.com/office/drawing/2014/main" id="{93373BCD-00F8-D0A9-7D81-81ED12173E5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0806" b="60826"/>
          <a:stretch/>
        </p:blipFill>
        <p:spPr>
          <a:xfrm>
            <a:off x="12573000" y="5600376"/>
            <a:ext cx="4453101" cy="3124524"/>
          </a:xfrm>
          <a:prstGeom prst="rect">
            <a:avLst/>
          </a:prstGeom>
          <a:noFill/>
          <a:ln>
            <a:noFill/>
          </a:ln>
          <a:effectLst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694967A-6044-CC79-63D6-39D6DAC84B15}"/>
                  </a:ext>
                </a:extLst>
              </p:cNvPr>
              <p:cNvSpPr txBox="1"/>
              <p:nvPr/>
            </p:nvSpPr>
            <p:spPr>
              <a:xfrm>
                <a:off x="13335000" y="4926061"/>
                <a:ext cx="3352800" cy="8674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ko-KR" altLang="ko-KR" sz="1800" b="1" i="1" kern="100" smtClean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b="1" i="1" kern="10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en-US" altLang="ko-KR" sz="1800" b="1" i="1" kern="10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𝑫</m:t>
                          </m:r>
                        </m:sub>
                      </m:sSub>
                      <m:r>
                        <a:rPr lang="en-US" altLang="ko-KR" sz="1800" b="1" i="1" kern="100">
                          <a:effectLst/>
                          <a:latin typeface="Cambria Math" panose="020405030504060302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ko-KR" altLang="ko-KR" sz="1800" b="1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ko-KR" sz="1800" b="1" i="1" kern="100">
                              <a:effectLst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𝑾</m:t>
                          </m:r>
                        </m:num>
                        <m:den>
                          <m:r>
                            <a:rPr lang="en-US" altLang="ko-KR" sz="1800" b="1" i="1" kern="100" smtClean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𝑳</m:t>
                          </m:r>
                        </m:den>
                      </m:f>
                      <m:sSub>
                        <m:sSubPr>
                          <m:ctrlPr>
                            <a:rPr lang="ko-KR" altLang="ko-KR" sz="1800" b="1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b="1" i="1" kern="100">
                              <a:effectLst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altLang="ko-KR" sz="1800" b="1" i="1" kern="100">
                              <a:effectLst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𝒆𝒇𝒇</m:t>
                          </m:r>
                        </m:sub>
                      </m:sSub>
                      <m:sSub>
                        <m:sSubPr>
                          <m:ctrlPr>
                            <a:rPr lang="ko-KR" altLang="ko-KR" sz="1800" b="1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b="1" i="1" kern="100">
                              <a:effectLst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en-US" altLang="ko-KR" sz="1800" b="1" i="1" kern="100">
                              <a:effectLst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𝒐𝒙</m:t>
                          </m:r>
                        </m:sub>
                      </m:sSub>
                      <m:r>
                        <a:rPr lang="en-US" altLang="ko-KR" sz="1800" b="1" i="1" kern="100">
                          <a:effectLst/>
                          <a:latin typeface="Cambria Math" panose="020405030504060302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ko-KR" altLang="ko-KR" sz="1800" b="1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b="1" i="1" kern="100">
                              <a:effectLst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altLang="ko-KR" sz="1800" b="1" i="1" kern="100">
                              <a:effectLst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𝑶𝑽</m:t>
                          </m:r>
                        </m:sub>
                      </m:sSub>
                      <m:r>
                        <a:rPr lang="en-US" altLang="ko-KR" sz="1800" b="1" i="1" kern="100">
                          <a:effectLst/>
                          <a:latin typeface="Cambria Math" panose="020405030504060302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ko-KR" altLang="ko-KR" sz="1800" b="1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b="1" i="1" kern="100">
                              <a:effectLst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altLang="ko-KR" sz="1800" b="1" i="1" kern="100">
                              <a:effectLst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𝑫</m:t>
                          </m:r>
                        </m:sub>
                      </m:sSub>
                      <m:r>
                        <a:rPr lang="en-US" altLang="ko-KR" sz="1800" b="1" i="1" kern="100">
                          <a:effectLst/>
                          <a:latin typeface="Cambria Math" panose="020405030504060302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m:t> </m:t>
                      </m:r>
                    </m:oMath>
                  </m:oMathPara>
                </a14:m>
                <a:endParaRPr lang="en-US" altLang="ko-KR" sz="1600" b="1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694967A-6044-CC79-63D6-39D6DAC84B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35000" y="4926061"/>
                <a:ext cx="3352800" cy="86748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직사각형 16">
            <a:extLst>
              <a:ext uri="{FF2B5EF4-FFF2-40B4-BE49-F238E27FC236}">
                <a16:creationId xmlns:a16="http://schemas.microsoft.com/office/drawing/2014/main" id="{1DA7DB70-4733-F6DA-1E38-93D1CB265DC8}"/>
              </a:ext>
            </a:extLst>
          </p:cNvPr>
          <p:cNvSpPr/>
          <p:nvPr/>
        </p:nvSpPr>
        <p:spPr>
          <a:xfrm>
            <a:off x="3260281" y="6286500"/>
            <a:ext cx="1692719" cy="68580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Picture 19">
            <a:extLst>
              <a:ext uri="{FF2B5EF4-FFF2-40B4-BE49-F238E27FC236}">
                <a16:creationId xmlns:a16="http://schemas.microsoft.com/office/drawing/2014/main" id="{25BEA9AF-A0DE-3B15-50A0-F3E76DC8E4E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7295"/>
          <a:stretch>
            <a:fillRect/>
          </a:stretch>
        </p:blipFill>
        <p:spPr>
          <a:xfrm>
            <a:off x="6118304" y="4878637"/>
            <a:ext cx="6073696" cy="4173123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6B0B85E6-2158-8A86-451C-3A551808855B}"/>
              </a:ext>
            </a:extLst>
          </p:cNvPr>
          <p:cNvSpPr/>
          <p:nvPr/>
        </p:nvSpPr>
        <p:spPr>
          <a:xfrm>
            <a:off x="6019800" y="4762500"/>
            <a:ext cx="11353800" cy="441960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화살표: 오른쪽 21">
            <a:extLst>
              <a:ext uri="{FF2B5EF4-FFF2-40B4-BE49-F238E27FC236}">
                <a16:creationId xmlns:a16="http://schemas.microsoft.com/office/drawing/2014/main" id="{F81A5307-035A-7063-0CCE-10A9BD957740}"/>
              </a:ext>
            </a:extLst>
          </p:cNvPr>
          <p:cNvSpPr/>
          <p:nvPr/>
        </p:nvSpPr>
        <p:spPr>
          <a:xfrm>
            <a:off x="5219700" y="6490901"/>
            <a:ext cx="533400" cy="276999"/>
          </a:xfrm>
          <a:prstGeom prst="rightArrow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70007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70EB79-CF14-52E4-CB7F-3A88F62C3D8C}"/>
              </a:ext>
            </a:extLst>
          </p:cNvPr>
          <p:cNvSpPr txBox="1"/>
          <p:nvPr/>
        </p:nvSpPr>
        <p:spPr>
          <a:xfrm>
            <a:off x="381000" y="266700"/>
            <a:ext cx="16230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①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Introduction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1D6DAD-D308-0FC2-C1DE-C34CBB0C80C2}"/>
              </a:ext>
            </a:extLst>
          </p:cNvPr>
          <p:cNvSpPr txBox="1"/>
          <p:nvPr/>
        </p:nvSpPr>
        <p:spPr>
          <a:xfrm>
            <a:off x="410400" y="1616214"/>
            <a:ext cx="176681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■ 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Current-boosting</a:t>
            </a:r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이 야기하는 문제점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F4BEE6-A2DE-2737-E5E2-6C06415FF893}"/>
              </a:ext>
            </a:extLst>
          </p:cNvPr>
          <p:cNvSpPr txBox="1"/>
          <p:nvPr/>
        </p:nvSpPr>
        <p:spPr>
          <a:xfrm>
            <a:off x="685800" y="2548235"/>
            <a:ext cx="169504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AMOLED </a:t>
            </a:r>
            <a:r>
              <a:rPr lang="ko-KR" altLang="en-US" sz="24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디스플레이의 휘도 안정성</a:t>
            </a:r>
            <a:endParaRPr lang="en-US" altLang="ko-KR" sz="2400" dirty="0">
              <a:latin typeface="TDTD강굴림" panose="020B0600000101010101" charset="-127"/>
              <a:ea typeface="TDTD강굴림" panose="020B0600000101010101" charset="-127"/>
              <a:sym typeface="Wingdings" panose="05000000000000000000" pitchFamily="2" charset="2"/>
            </a:endParaRPr>
          </a:p>
          <a:p>
            <a:r>
              <a:rPr lang="en-US" altLang="ko-KR" sz="24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    : Current-boosting</a:t>
            </a:r>
            <a:r>
              <a:rPr lang="ko-KR" altLang="en-US" sz="24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이 일어나면</a:t>
            </a:r>
            <a:r>
              <a:rPr lang="en-US" altLang="ko-KR" sz="24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, </a:t>
            </a:r>
            <a:r>
              <a:rPr lang="ko-KR" altLang="en-US" sz="24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화면이 점점 밝아지거나 특정 픽셀만 튀는 </a:t>
            </a:r>
            <a:r>
              <a:rPr lang="ko-KR" altLang="en-US" sz="2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얼룩</a:t>
            </a:r>
            <a:r>
              <a:rPr lang="en-US" altLang="ko-KR" sz="2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(Mura) </a:t>
            </a:r>
            <a:r>
              <a:rPr lang="ko-KR" altLang="en-US" sz="2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및 잔상</a:t>
            </a:r>
            <a:r>
              <a:rPr lang="en-US" altLang="ko-KR" sz="2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(Burn-in) </a:t>
            </a:r>
            <a:r>
              <a:rPr lang="ko-KR" altLang="en-US" sz="24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문제 발생</a:t>
            </a:r>
            <a:endParaRPr lang="en-US" altLang="ko-KR" sz="2400" dirty="0">
              <a:latin typeface="TDTD강굴림" panose="020B0600000101010101" charset="-127"/>
              <a:ea typeface="TDTD강굴림" panose="020B0600000101010101" charset="-127"/>
              <a:sym typeface="Wingdings" panose="05000000000000000000" pitchFamily="2" charset="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06D5C6-2E3B-C368-4600-D2DB399C4AD9}"/>
              </a:ext>
            </a:extLst>
          </p:cNvPr>
          <p:cNvSpPr txBox="1"/>
          <p:nvPr/>
        </p:nvSpPr>
        <p:spPr>
          <a:xfrm>
            <a:off x="3886200" y="9791700"/>
            <a:ext cx="137500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fontAlgn="base" latinLnBrk="1">
              <a:spcBef>
                <a:spcPts val="0"/>
              </a:spcBef>
              <a:spcAft>
                <a:spcPts val="0"/>
              </a:spcAft>
            </a:pPr>
            <a:r>
              <a:rPr lang="en-US" altLang="ko-KR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https://www.kadidisplay.com/blog-news/lcd-burn-what-causes-it-and-how-to-prevent-it/</a:t>
            </a:r>
          </a:p>
          <a:p>
            <a:pPr marL="0" marR="0" indent="0" algn="r" fontAlgn="base" latinLnBrk="1">
              <a:spcBef>
                <a:spcPts val="0"/>
              </a:spcBef>
              <a:spcAft>
                <a:spcPts val="0"/>
              </a:spcAft>
            </a:pPr>
            <a:r>
              <a:rPr lang="en-US" altLang="ko-KR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ACS Appl. Electron. Mater. 2022, 4, 1427−1448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62A4688-6E93-0257-614B-0FEC6B5ADC4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44" t="6917" b="2395"/>
          <a:stretch/>
        </p:blipFill>
        <p:spPr>
          <a:xfrm>
            <a:off x="1295400" y="3467099"/>
            <a:ext cx="3581400" cy="206242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8119968-0C88-5678-24F8-D6E9E8C1FFF8}"/>
              </a:ext>
            </a:extLst>
          </p:cNvPr>
          <p:cNvSpPr txBox="1"/>
          <p:nvPr/>
        </p:nvSpPr>
        <p:spPr>
          <a:xfrm>
            <a:off x="685800" y="5972786"/>
            <a:ext cx="169504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dirty="0" err="1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뉴로모픽</a:t>
            </a:r>
            <a:r>
              <a:rPr lang="en-US" altLang="ko-KR" sz="24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/</a:t>
            </a:r>
            <a:r>
              <a:rPr lang="ko-KR" altLang="en-US" sz="24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아날로그 회로의 연산 정확도</a:t>
            </a:r>
            <a:endParaRPr lang="en-US" altLang="ko-KR" sz="2400" dirty="0">
              <a:latin typeface="TDTD강굴림" panose="020B0600000101010101" charset="-127"/>
              <a:ea typeface="TDTD강굴림" panose="020B0600000101010101" charset="-127"/>
              <a:sym typeface="Wingdings" panose="05000000000000000000" pitchFamily="2" charset="2"/>
            </a:endParaRPr>
          </a:p>
          <a:p>
            <a:r>
              <a:rPr lang="en-US" altLang="ko-KR" sz="24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    : </a:t>
            </a:r>
            <a:r>
              <a:rPr lang="ko-KR" altLang="en-US" sz="24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차세대 </a:t>
            </a:r>
            <a:r>
              <a:rPr lang="ko-KR" altLang="en-US" sz="2400" dirty="0" err="1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시냅틱</a:t>
            </a:r>
            <a:r>
              <a:rPr lang="ko-KR" altLang="en-US" sz="24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 </a:t>
            </a:r>
            <a:r>
              <a:rPr lang="ko-KR" altLang="en-US" sz="2400" dirty="0" err="1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트렌지스터나</a:t>
            </a:r>
            <a:r>
              <a:rPr lang="ko-KR" altLang="en-US" sz="24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 아날로그 회로에서는 </a:t>
            </a:r>
            <a:r>
              <a:rPr lang="en-US" altLang="ko-KR" sz="24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TFT</a:t>
            </a:r>
            <a:r>
              <a:rPr lang="ko-KR" altLang="en-US" sz="24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의 </a:t>
            </a:r>
            <a:r>
              <a:rPr lang="ko-KR" altLang="en-US" sz="2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전류 레벨을 데이터</a:t>
            </a:r>
            <a:r>
              <a:rPr lang="en-US" altLang="ko-KR" sz="2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(Weight)</a:t>
            </a:r>
            <a:r>
              <a:rPr lang="ko-KR" altLang="en-US" sz="2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로 사용</a:t>
            </a:r>
            <a:endParaRPr lang="en-US" altLang="ko-KR" sz="2400" dirty="0">
              <a:solidFill>
                <a:srgbClr val="FF0000"/>
              </a:solidFill>
              <a:latin typeface="TDTD강굴림" panose="020B0600000101010101" charset="-127"/>
              <a:ea typeface="TDTD강굴림" panose="020B0600000101010101" charset="-127"/>
              <a:sym typeface="Wingdings" panose="05000000000000000000" pitchFamily="2" charset="2"/>
            </a:endParaRPr>
          </a:p>
          <a:p>
            <a:r>
              <a:rPr lang="en-US" altLang="ko-KR" sz="24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        Current-boosting</a:t>
            </a:r>
            <a:r>
              <a:rPr lang="ko-KR" altLang="en-US" sz="24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이 일어나면</a:t>
            </a:r>
            <a:r>
              <a:rPr lang="en-US" altLang="ko-KR" sz="24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, </a:t>
            </a:r>
            <a:r>
              <a:rPr lang="ko-KR" altLang="en-US" sz="24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심각한 </a:t>
            </a:r>
            <a:r>
              <a:rPr lang="ko-KR" altLang="en-US" sz="2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연산 오류</a:t>
            </a:r>
            <a:r>
              <a:rPr lang="ko-KR" altLang="en-US" sz="24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 발생</a:t>
            </a:r>
            <a:endParaRPr lang="en-US" altLang="ko-KR" sz="2400" dirty="0">
              <a:latin typeface="TDTD강굴림" panose="020B0600000101010101" charset="-127"/>
              <a:ea typeface="TDTD강굴림" panose="020B0600000101010101" charset="-127"/>
              <a:sym typeface="Wingdings" panose="05000000000000000000" pitchFamily="2" charset="2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5F8F44F3-A62F-7FB9-B960-EB3ED793A7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8448" y="7247773"/>
            <a:ext cx="3187352" cy="2880000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2766D125-AE8A-1716-0284-0F28092DC1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5400" y="7245290"/>
            <a:ext cx="3352800" cy="2884967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5920653F-FD42-B2F9-C8A8-D6B11200C5A0}"/>
              </a:ext>
            </a:extLst>
          </p:cNvPr>
          <p:cNvSpPr/>
          <p:nvPr/>
        </p:nvSpPr>
        <p:spPr>
          <a:xfrm>
            <a:off x="2667000" y="9410700"/>
            <a:ext cx="2133600" cy="744892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92683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70EB79-CF14-52E4-CB7F-3A88F62C3D8C}"/>
              </a:ext>
            </a:extLst>
          </p:cNvPr>
          <p:cNvSpPr txBox="1"/>
          <p:nvPr/>
        </p:nvSpPr>
        <p:spPr>
          <a:xfrm>
            <a:off x="381000" y="266700"/>
            <a:ext cx="16230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②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Device structure &amp; Transfer characteristics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01E07CB8-2BA8-AF23-BDE6-24EB9E39854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2476500"/>
            <a:ext cx="11503324" cy="771742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FC2FCE4-9833-9413-7E5D-7271AF66A49E}"/>
              </a:ext>
            </a:extLst>
          </p:cNvPr>
          <p:cNvSpPr txBox="1"/>
          <p:nvPr/>
        </p:nvSpPr>
        <p:spPr>
          <a:xfrm>
            <a:off x="410400" y="1616214"/>
            <a:ext cx="176681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■ 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Post-annealing 350℃</a:t>
            </a:r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에서 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High-crystalline </a:t>
            </a:r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형성 </a:t>
            </a:r>
            <a:endParaRPr lang="en-US" altLang="ko-KR" sz="4000" dirty="0">
              <a:solidFill>
                <a:srgbClr val="0F4D8B"/>
              </a:solidFill>
              <a:latin typeface="TDTD강굴림" panose="020B0600000101010101" charset="-127"/>
              <a:ea typeface="TDTD강굴림" panose="020B0600000101010101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6FA2BE9-DF49-5F6D-C6C8-97DDACBFC34D}"/>
              </a:ext>
            </a:extLst>
          </p:cNvPr>
          <p:cNvSpPr txBox="1"/>
          <p:nvPr/>
        </p:nvSpPr>
        <p:spPr>
          <a:xfrm>
            <a:off x="1117979" y="2705100"/>
            <a:ext cx="391122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/>
              <a:t>LC-IO : Low-crystalline In</a:t>
            </a:r>
            <a:r>
              <a:rPr lang="en-US" altLang="ko-KR" b="1" baseline="-25000" dirty="0"/>
              <a:t>2</a:t>
            </a:r>
            <a:r>
              <a:rPr lang="en-US" altLang="ko-KR" b="1" dirty="0"/>
              <a:t>O</a:t>
            </a:r>
            <a:r>
              <a:rPr lang="en-US" altLang="ko-KR" b="1" baseline="-25000" dirty="0"/>
              <a:t>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/>
              <a:t>LC-IY : Low-crystalline In</a:t>
            </a:r>
            <a:r>
              <a:rPr lang="en-US" altLang="ko-KR" b="1" baseline="-25000" dirty="0"/>
              <a:t>2</a:t>
            </a:r>
            <a:r>
              <a:rPr lang="en-US" altLang="ko-KR" b="1" dirty="0"/>
              <a:t>O</a:t>
            </a:r>
            <a:r>
              <a:rPr lang="en-US" altLang="ko-KR" b="1" baseline="-25000" dirty="0"/>
              <a:t>3</a:t>
            </a:r>
            <a:r>
              <a:rPr lang="en-US" altLang="ko-KR" b="1" dirty="0"/>
              <a:t>/Y</a:t>
            </a:r>
            <a:r>
              <a:rPr lang="en-US" altLang="ko-KR" b="1" baseline="-25000" dirty="0"/>
              <a:t>2</a:t>
            </a:r>
            <a:r>
              <a:rPr lang="en-US" altLang="ko-KR" b="1" dirty="0"/>
              <a:t>O</a:t>
            </a:r>
            <a:r>
              <a:rPr lang="en-US" altLang="ko-KR" b="1" baseline="-25000" dirty="0"/>
              <a:t>3</a:t>
            </a:r>
            <a:r>
              <a:rPr lang="en-US" altLang="ko-KR" b="1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>
                <a:solidFill>
                  <a:srgbClr val="FF0000"/>
                </a:solidFill>
              </a:rPr>
              <a:t>HC-IY : High-crystalline In</a:t>
            </a:r>
            <a:r>
              <a:rPr lang="en-US" altLang="ko-KR" b="1" baseline="-25000" dirty="0">
                <a:solidFill>
                  <a:srgbClr val="FF0000"/>
                </a:solidFill>
              </a:rPr>
              <a:t>2</a:t>
            </a:r>
            <a:r>
              <a:rPr lang="en-US" altLang="ko-KR" b="1" dirty="0">
                <a:solidFill>
                  <a:srgbClr val="FF0000"/>
                </a:solidFill>
              </a:rPr>
              <a:t>O</a:t>
            </a:r>
            <a:r>
              <a:rPr lang="en-US" altLang="ko-KR" b="1" baseline="-25000" dirty="0">
                <a:solidFill>
                  <a:srgbClr val="FF0000"/>
                </a:solidFill>
              </a:rPr>
              <a:t>3</a:t>
            </a:r>
            <a:r>
              <a:rPr lang="en-US" altLang="ko-KR" b="1" dirty="0">
                <a:solidFill>
                  <a:srgbClr val="FF0000"/>
                </a:solidFill>
              </a:rPr>
              <a:t>/Y</a:t>
            </a:r>
            <a:r>
              <a:rPr lang="en-US" altLang="ko-KR" b="1" baseline="-25000" dirty="0">
                <a:solidFill>
                  <a:srgbClr val="FF0000"/>
                </a:solidFill>
              </a:rPr>
              <a:t>2</a:t>
            </a:r>
            <a:r>
              <a:rPr lang="en-US" altLang="ko-KR" b="1" dirty="0">
                <a:solidFill>
                  <a:srgbClr val="FF0000"/>
                </a:solidFill>
              </a:rPr>
              <a:t>O</a:t>
            </a:r>
            <a:r>
              <a:rPr lang="en-US" altLang="ko-KR" b="1" baseline="-25000" dirty="0">
                <a:solidFill>
                  <a:srgbClr val="FF0000"/>
                </a:solidFill>
              </a:rPr>
              <a:t>3</a:t>
            </a:r>
            <a:endParaRPr lang="ko-KR" altLang="en-US" b="1" baseline="-25000" dirty="0">
              <a:solidFill>
                <a:srgbClr val="FF0000"/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D1CDF1D-E71F-3C5E-6FFD-0B64059C4A76}"/>
              </a:ext>
            </a:extLst>
          </p:cNvPr>
          <p:cNvSpPr/>
          <p:nvPr/>
        </p:nvSpPr>
        <p:spPr>
          <a:xfrm>
            <a:off x="9829800" y="4457700"/>
            <a:ext cx="4416724" cy="5736221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88798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70EB79-CF14-52E4-CB7F-3A88F62C3D8C}"/>
              </a:ext>
            </a:extLst>
          </p:cNvPr>
          <p:cNvSpPr txBox="1"/>
          <p:nvPr/>
        </p:nvSpPr>
        <p:spPr>
          <a:xfrm>
            <a:off x="381000" y="266700"/>
            <a:ext cx="1539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③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R</a:t>
            </a:r>
            <a:r>
              <a:rPr lang="en-US" altLang="ko-KR" sz="5400" baseline="-25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C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and </a:t>
            </a:r>
            <a:r>
              <a:rPr lang="el-GR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μ</a:t>
            </a:r>
            <a:r>
              <a:rPr lang="en-US" altLang="ko-KR" sz="5400" baseline="-25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int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based on the Y-function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0D9416-0C77-80A8-8CEC-88D3CA69FEDF}"/>
              </a:ext>
            </a:extLst>
          </p:cNvPr>
          <p:cNvSpPr txBox="1"/>
          <p:nvPr/>
        </p:nvSpPr>
        <p:spPr>
          <a:xfrm>
            <a:off x="410400" y="1616214"/>
            <a:ext cx="176681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■ 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Y-function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6D049A0-5FBB-348C-537C-517A10CC8EB9}"/>
                  </a:ext>
                </a:extLst>
              </p:cNvPr>
              <p:cNvSpPr txBox="1"/>
              <p:nvPr/>
            </p:nvSpPr>
            <p:spPr>
              <a:xfrm>
                <a:off x="685800" y="2554666"/>
                <a:ext cx="1695040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ko-KR" altLang="ko-KR" sz="2400" b="1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2400" b="1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𝝁</m:t>
                        </m:r>
                      </m:e>
                      <m:sub>
                        <m:r>
                          <a:rPr lang="en-US" altLang="ko-KR" sz="2400" b="1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𝒊𝒏𝒕</m:t>
                        </m:r>
                      </m:sub>
                    </m:sSub>
                  </m:oMath>
                </a14:m>
                <a:r>
                  <a:rPr lang="en-US" altLang="ko-KR" sz="2400" dirty="0">
                    <a:latin typeface="TDTD강굴림" panose="020B0600000101010101" charset="-127"/>
                    <a:ea typeface="TDTD강굴림" panose="020B0600000101010101" charset="-127"/>
                    <a:sym typeface="Wingdings" panose="05000000000000000000" pitchFamily="2" charset="2"/>
                  </a:rPr>
                  <a:t>: V</a:t>
                </a:r>
                <a:r>
                  <a:rPr lang="en-US" altLang="ko-KR" sz="2400" baseline="-25000" dirty="0">
                    <a:latin typeface="TDTD강굴림" panose="020B0600000101010101" charset="-127"/>
                    <a:ea typeface="TDTD강굴림" panose="020B0600000101010101" charset="-127"/>
                    <a:sym typeface="Wingdings" panose="05000000000000000000" pitchFamily="2" charset="2"/>
                  </a:rPr>
                  <a:t>OV</a:t>
                </a:r>
                <a:r>
                  <a:rPr lang="ko-KR" altLang="en-US" sz="2400" dirty="0">
                    <a:latin typeface="TDTD강굴림" panose="020B0600000101010101" charset="-127"/>
                    <a:ea typeface="TDTD강굴림" panose="020B0600000101010101" charset="-127"/>
                    <a:sym typeface="Wingdings" panose="05000000000000000000" pitchFamily="2" charset="2"/>
                  </a:rPr>
                  <a:t>가 증가함에 따라 발생하는 저항과 산란 효과</a:t>
                </a:r>
                <a:r>
                  <a:rPr lang="en-US" altLang="ko-KR" sz="2400" dirty="0">
                    <a:latin typeface="TDTD강굴림" panose="020B0600000101010101" charset="-127"/>
                    <a:ea typeface="TDTD강굴림" panose="020B0600000101010101" charset="-127"/>
                    <a:sym typeface="Wingdings" panose="05000000000000000000" pitchFamily="2" charset="2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2400" b="1" i="1" kern="100" smtClean="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𝜽</m:t>
                    </m:r>
                  </m:oMath>
                </a14:m>
                <a:r>
                  <a:rPr lang="en-US" altLang="ko-KR" sz="2400" dirty="0">
                    <a:latin typeface="TDTD강굴림" panose="020B0600000101010101" charset="-127"/>
                    <a:ea typeface="TDTD강굴림" panose="020B0600000101010101" charset="-127"/>
                    <a:sym typeface="Wingdings" panose="05000000000000000000" pitchFamily="2" charset="2"/>
                  </a:rPr>
                  <a:t>)</a:t>
                </a:r>
                <a:r>
                  <a:rPr lang="ko-KR" altLang="en-US" sz="2400" dirty="0">
                    <a:latin typeface="TDTD강굴림" panose="020B0600000101010101" charset="-127"/>
                    <a:ea typeface="TDTD강굴림" panose="020B0600000101010101" charset="-127"/>
                    <a:sym typeface="Wingdings" panose="05000000000000000000" pitchFamily="2" charset="2"/>
                  </a:rPr>
                  <a:t>를 제외한 </a:t>
                </a:r>
                <a:r>
                  <a:rPr lang="el-GR" altLang="ko-KR" sz="2400" dirty="0">
                    <a:latin typeface="TDTD강굴림" panose="020B0600000101010101" charset="-127"/>
                    <a:ea typeface="TDTD강굴림" panose="020B0600000101010101" charset="-127"/>
                    <a:sym typeface="Wingdings" panose="05000000000000000000" pitchFamily="2" charset="2"/>
                  </a:rPr>
                  <a:t>μ</a:t>
                </a:r>
                <a:r>
                  <a:rPr lang="en-US" altLang="ko-KR" sz="2400" baseline="-25000" dirty="0">
                    <a:latin typeface="TDTD강굴림" panose="020B0600000101010101" charset="-127"/>
                    <a:ea typeface="TDTD강굴림" panose="020B0600000101010101" charset="-127"/>
                    <a:sym typeface="Wingdings" panose="05000000000000000000" pitchFamily="2" charset="2"/>
                  </a:rPr>
                  <a:t>FE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6D049A0-5FBB-348C-537C-517A10CC8E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2554666"/>
                <a:ext cx="16950409" cy="461665"/>
              </a:xfrm>
              <a:prstGeom prst="rect">
                <a:avLst/>
              </a:prstGeom>
              <a:blipFill>
                <a:blip r:embed="rId3"/>
                <a:stretch>
                  <a:fillRect l="-504" t="-10526" b="-289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1760422-9196-81B6-AAB9-E2E1B90A97F2}"/>
                  </a:ext>
                </a:extLst>
              </p:cNvPr>
              <p:cNvSpPr txBox="1"/>
              <p:nvPr/>
            </p:nvSpPr>
            <p:spPr>
              <a:xfrm>
                <a:off x="1066800" y="3164266"/>
                <a:ext cx="3200400" cy="7898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ko-KR" altLang="ko-KR" sz="24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b="0" i="1" kern="100">
                              <a:effectLst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ko-KR" sz="2400" b="0" i="1" kern="100">
                              <a:effectLst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𝑒𝑓𝑓</m:t>
                          </m:r>
                        </m:sub>
                      </m:sSub>
                      <m:r>
                        <a:rPr lang="en-US" altLang="ko-KR" sz="2400" b="0" i="1" kern="100">
                          <a:effectLst/>
                          <a:latin typeface="Cambria Math" panose="020405030504060302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ko-KR" altLang="ko-KR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ko-KR" altLang="ko-KR" sz="2400" b="1" i="1" kern="100" smtClean="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b="1" i="1" kern="10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맑은 고딕" panose="020B0503020000020004" pitchFamily="50" charset="-127"/>
                                  <a:cs typeface="Times New Roman" panose="020206030504050203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altLang="ko-KR" sz="2400" b="1" i="1" kern="10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맑은 고딕" panose="020B0503020000020004" pitchFamily="50" charset="-127"/>
                                  <a:cs typeface="Times New Roman" panose="02020603050405020304" pitchFamily="18" charset="0"/>
                                </a:rPr>
                                <m:t>𝒊𝒏𝒕</m:t>
                              </m:r>
                            </m:sub>
                          </m:sSub>
                        </m:num>
                        <m:den>
                          <m:r>
                            <a:rPr lang="en-US" altLang="ko-KR" sz="2400" b="0" i="1" kern="100">
                              <a:effectLst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1+</m:t>
                          </m:r>
                          <m:r>
                            <a:rPr lang="en-US" altLang="ko-KR" sz="2400" b="0" i="1" kern="100">
                              <a:effectLst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𝜃</m:t>
                          </m:r>
                          <m:r>
                            <a:rPr lang="en-US" altLang="ko-KR" sz="2400" b="0" i="1" kern="100">
                              <a:effectLst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ko-KR" altLang="ko-KR" sz="24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b="0" i="1" kern="100">
                                  <a:effectLst/>
                                  <a:latin typeface="Cambria Math" panose="02040503050406030204" pitchFamily="18" charset="0"/>
                                  <a:ea typeface="맑은 고딕" panose="020B0503020000020004" pitchFamily="50" charset="-127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ko-KR" sz="2400" b="0" i="1" kern="100">
                                  <a:effectLst/>
                                  <a:latin typeface="Cambria Math" panose="02040503050406030204" pitchFamily="18" charset="0"/>
                                  <a:ea typeface="맑은 고딕" panose="020B0503020000020004" pitchFamily="50" charset="-127"/>
                                  <a:cs typeface="Times New Roman" panose="02020603050405020304" pitchFamily="18" charset="0"/>
                                </a:rPr>
                                <m:t>𝑂𝑉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1760422-9196-81B6-AAB9-E2E1B90A97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3164266"/>
                <a:ext cx="3200400" cy="78989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8144E294-7A81-9744-4509-461B66FE7FD0}"/>
              </a:ext>
            </a:extLst>
          </p:cNvPr>
          <p:cNvSpPr txBox="1"/>
          <p:nvPr/>
        </p:nvSpPr>
        <p:spPr>
          <a:xfrm>
            <a:off x="685800" y="4281602"/>
            <a:ext cx="169504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Linear region(V</a:t>
            </a:r>
            <a:r>
              <a:rPr lang="en-US" altLang="ko-KR" sz="2400" baseline="-250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OV</a:t>
            </a:r>
            <a:r>
              <a:rPr lang="en-US" altLang="ko-KR" sz="24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 &gt; V</a:t>
            </a:r>
            <a:r>
              <a:rPr lang="en-US" altLang="ko-KR" sz="2400" baseline="-250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D</a:t>
            </a:r>
            <a:r>
              <a:rPr lang="en-US" altLang="ko-KR" sz="24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)</a:t>
            </a:r>
            <a:r>
              <a:rPr lang="ko-KR" altLang="en-US" sz="24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에서의 </a:t>
            </a:r>
            <a:r>
              <a:rPr lang="en-US" altLang="ko-KR" sz="24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Y-function</a:t>
            </a:r>
            <a:endParaRPr lang="en-US" altLang="ko-KR" sz="2400" baseline="-25000" dirty="0">
              <a:latin typeface="TDTD강굴림" panose="020B0600000101010101" charset="-127"/>
              <a:ea typeface="TDTD강굴림" panose="020B0600000101010101" charset="-127"/>
              <a:sym typeface="Wingdings" panose="05000000000000000000" pitchFamily="2" charset="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E5B261A-0907-50D0-1BA2-5039612F12DC}"/>
                  </a:ext>
                </a:extLst>
              </p:cNvPr>
              <p:cNvSpPr txBox="1"/>
              <p:nvPr/>
            </p:nvSpPr>
            <p:spPr>
              <a:xfrm>
                <a:off x="1066800" y="4950668"/>
                <a:ext cx="11894234" cy="39529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ko-KR" altLang="ko-KR" sz="24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b="0" i="1" kern="100">
                              <a:effectLst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ko-KR" sz="2400" b="0" i="1" kern="100">
                              <a:effectLst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𝐷</m:t>
                          </m:r>
                        </m:sub>
                      </m:sSub>
                      <m:r>
                        <a:rPr lang="en-US" altLang="ko-KR" sz="2400" b="0" i="1" kern="100">
                          <a:effectLst/>
                          <a:latin typeface="Cambria Math" panose="020405030504060302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ko-KR" altLang="ko-KR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ko-KR" sz="2400" b="0" i="1" kern="100">
                              <a:effectLst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𝑊</m:t>
                          </m:r>
                        </m:num>
                        <m:den>
                          <m:r>
                            <a:rPr lang="en-US" altLang="ko-KR" sz="2400" b="0" i="1" kern="100">
                              <a:effectLst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𝐿</m:t>
                          </m:r>
                        </m:den>
                      </m:f>
                      <m:sSub>
                        <m:sSubPr>
                          <m:ctrlPr>
                            <a:rPr lang="ko-KR" altLang="ko-KR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b="0" i="1" kern="100">
                              <a:effectLst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ko-KR" sz="2400" b="0" i="1" kern="100">
                              <a:effectLst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𝑒𝑓𝑓</m:t>
                          </m:r>
                        </m:sub>
                      </m:sSub>
                      <m:sSub>
                        <m:sSubPr>
                          <m:ctrlPr>
                            <a:rPr lang="ko-KR" altLang="ko-KR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b="0" i="1" kern="100">
                              <a:effectLst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ko-KR" sz="2400" b="0" i="1" kern="100">
                              <a:effectLst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𝑜𝑥</m:t>
                          </m:r>
                        </m:sub>
                      </m:sSub>
                      <m:r>
                        <a:rPr lang="en-US" altLang="ko-KR" sz="2400" b="0" i="1" kern="100">
                          <a:effectLst/>
                          <a:latin typeface="Cambria Math" panose="020405030504060302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ko-KR" altLang="ko-KR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b="0" i="1" kern="100">
                              <a:effectLst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ko-KR" sz="2400" b="0" i="1" kern="100">
                              <a:effectLst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𝑂𝑉</m:t>
                          </m:r>
                        </m:sub>
                      </m:sSub>
                      <m:r>
                        <a:rPr lang="en-US" altLang="ko-KR" sz="2400" b="0" i="1" kern="100">
                          <a:effectLst/>
                          <a:latin typeface="Cambria Math" panose="020405030504060302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ko-KR" altLang="ko-KR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b="0" i="1" kern="100">
                              <a:effectLst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ko-KR" sz="2400" b="0" i="1" kern="100">
                              <a:effectLst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𝐷</m:t>
                          </m:r>
                        </m:sub>
                      </m:sSub>
                      <m:r>
                        <a:rPr lang="en-US" altLang="ko-KR" sz="2400" b="0" i="1" kern="100">
                          <a:effectLst/>
                          <a:latin typeface="Cambria Math" panose="020405030504060302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m:t>=(</m:t>
                      </m:r>
                      <m:f>
                        <m:fPr>
                          <m:ctrlPr>
                            <a:rPr lang="ko-KR" altLang="ko-KR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ko-KR" sz="2400" b="0" i="1" kern="100">
                              <a:effectLst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𝑊</m:t>
                          </m:r>
                        </m:num>
                        <m:den>
                          <m:r>
                            <a:rPr lang="en-US" altLang="ko-KR" sz="2400" b="0" i="1" kern="100">
                              <a:effectLst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𝐿</m:t>
                          </m:r>
                        </m:den>
                      </m:f>
                      <m:sSub>
                        <m:sSubPr>
                          <m:ctrlPr>
                            <a:rPr lang="ko-KR" altLang="ko-KR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ko-KR" altLang="ko-KR" sz="24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b="0" i="1" kern="100">
                                  <a:effectLst/>
                                  <a:latin typeface="Cambria Math" panose="02040503050406030204" pitchFamily="18" charset="0"/>
                                  <a:ea typeface="맑은 고딕" panose="020B0503020000020004" pitchFamily="50" charset="-127"/>
                                  <a:cs typeface="Times New Roman" panose="020206030504050203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ko-KR" sz="2400" b="0" i="1" kern="100">
                                  <a:effectLst/>
                                  <a:latin typeface="Cambria Math" panose="02040503050406030204" pitchFamily="18" charset="0"/>
                                  <a:ea typeface="맑은 고딕" panose="020B0503020000020004" pitchFamily="50" charset="-127"/>
                                  <a:cs typeface="Times New Roman" panose="02020603050405020304" pitchFamily="18" charset="0"/>
                                </a:rPr>
                                <m:t>𝑖𝑛𝑡</m:t>
                              </m:r>
                            </m:sub>
                          </m:sSub>
                          <m:r>
                            <a:rPr lang="en-US" altLang="ko-KR" sz="2400" b="0" i="1" kern="100">
                              <a:effectLst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ko-KR" sz="2400" b="0" i="1" kern="100">
                              <a:effectLst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𝑜𝑥</m:t>
                          </m:r>
                        </m:sub>
                      </m:sSub>
                      <m:r>
                        <a:rPr lang="en-US" altLang="ko-KR" sz="2400" b="0" i="1" kern="100">
                          <a:effectLst/>
                          <a:latin typeface="Cambria Math" panose="020405030504060302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ko-KR" altLang="ko-KR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b="0" i="1" kern="100">
                              <a:effectLst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ko-KR" sz="2400" b="0" i="1" kern="100">
                              <a:effectLst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𝐷</m:t>
                          </m:r>
                        </m:sub>
                      </m:sSub>
                      <m:r>
                        <a:rPr lang="en-US" altLang="ko-KR" sz="2400" b="0" i="1" kern="100">
                          <a:effectLst/>
                          <a:latin typeface="Cambria Math" panose="020405030504060302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m:t>)∙</m:t>
                      </m:r>
                      <m:f>
                        <m:fPr>
                          <m:ctrlPr>
                            <a:rPr lang="ko-KR" altLang="ko-KR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ko-KR" altLang="ko-KR" sz="24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b="0" i="1" kern="100">
                                  <a:effectLst/>
                                  <a:latin typeface="Cambria Math" panose="02040503050406030204" pitchFamily="18" charset="0"/>
                                  <a:ea typeface="맑은 고딕" panose="020B0503020000020004" pitchFamily="50" charset="-127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ko-KR" sz="2400" b="0" i="1" kern="100">
                                  <a:effectLst/>
                                  <a:latin typeface="Cambria Math" panose="02040503050406030204" pitchFamily="18" charset="0"/>
                                  <a:ea typeface="맑은 고딕" panose="020B0503020000020004" pitchFamily="50" charset="-127"/>
                                  <a:cs typeface="Times New Roman" panose="02020603050405020304" pitchFamily="18" charset="0"/>
                                </a:rPr>
                                <m:t>𝑂𝑉</m:t>
                              </m:r>
                            </m:sub>
                          </m:sSub>
                        </m:num>
                        <m:den>
                          <m:r>
                            <a:rPr lang="en-US" altLang="ko-KR" sz="2400" b="0" i="1" kern="100">
                              <a:effectLst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1+</m:t>
                          </m:r>
                          <m:r>
                            <a:rPr lang="en-US" altLang="ko-KR" sz="2400" b="0" i="1" kern="100">
                              <a:effectLst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𝜃</m:t>
                          </m:r>
                          <m:r>
                            <a:rPr lang="en-US" altLang="ko-KR" sz="2400" b="0" i="1" kern="100">
                              <a:effectLst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ko-KR" altLang="ko-KR" sz="24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b="0" i="1" kern="100">
                                  <a:effectLst/>
                                  <a:latin typeface="Cambria Math" panose="02040503050406030204" pitchFamily="18" charset="0"/>
                                  <a:ea typeface="맑은 고딕" panose="020B0503020000020004" pitchFamily="50" charset="-127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ko-KR" sz="2400" b="0" i="1" kern="100">
                                  <a:effectLst/>
                                  <a:latin typeface="Cambria Math" panose="02040503050406030204" pitchFamily="18" charset="0"/>
                                  <a:ea typeface="맑은 고딕" panose="020B0503020000020004" pitchFamily="50" charset="-127"/>
                                  <a:cs typeface="Times New Roman" panose="02020603050405020304" pitchFamily="18" charset="0"/>
                                </a:rPr>
                                <m:t>𝑂𝑉</m:t>
                              </m:r>
                            </m:sub>
                          </m:sSub>
                        </m:den>
                      </m:f>
                      <m:r>
                        <a:rPr lang="en-US" altLang="ko-KR" sz="2400" b="0" i="1" kern="100">
                          <a:effectLst/>
                          <a:latin typeface="Cambria Math" panose="020405030504060302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m:t>=(</m:t>
                      </m:r>
                      <m:r>
                        <a:rPr lang="en-US" altLang="ko-KR" sz="2400" b="0" i="1" kern="100">
                          <a:effectLst/>
                          <a:latin typeface="Cambria Math" panose="020405030504060302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m:t>𝐺</m:t>
                      </m:r>
                      <m:r>
                        <a:rPr lang="en-US" altLang="ko-KR" sz="2400" b="0" i="1" kern="100">
                          <a:effectLst/>
                          <a:latin typeface="Cambria Math" panose="020405030504060302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m:t>)∙</m:t>
                      </m:r>
                      <m:f>
                        <m:fPr>
                          <m:ctrlPr>
                            <a:rPr lang="ko-KR" altLang="ko-KR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ko-KR" altLang="ko-KR" sz="24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b="0" i="1" kern="100">
                                  <a:effectLst/>
                                  <a:latin typeface="Cambria Math" panose="02040503050406030204" pitchFamily="18" charset="0"/>
                                  <a:ea typeface="맑은 고딕" panose="020B0503020000020004" pitchFamily="50" charset="-127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ko-KR" sz="2400" b="0" i="1" kern="100">
                                  <a:effectLst/>
                                  <a:latin typeface="Cambria Math" panose="02040503050406030204" pitchFamily="18" charset="0"/>
                                  <a:ea typeface="맑은 고딕" panose="020B0503020000020004" pitchFamily="50" charset="-127"/>
                                  <a:cs typeface="Times New Roman" panose="02020603050405020304" pitchFamily="18" charset="0"/>
                                </a:rPr>
                                <m:t>𝑂𝑉</m:t>
                              </m:r>
                            </m:sub>
                          </m:sSub>
                        </m:num>
                        <m:den>
                          <m:r>
                            <a:rPr lang="en-US" altLang="ko-KR" sz="2400" b="0" i="1" kern="100">
                              <a:effectLst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1+</m:t>
                          </m:r>
                          <m:r>
                            <a:rPr lang="en-US" altLang="ko-KR" sz="2400" b="0" i="1" kern="100">
                              <a:effectLst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𝜃</m:t>
                          </m:r>
                          <m:r>
                            <a:rPr lang="en-US" altLang="ko-KR" sz="2400" b="0" i="1" kern="100">
                              <a:effectLst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ko-KR" altLang="ko-KR" sz="24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b="0" i="1" kern="100">
                                  <a:effectLst/>
                                  <a:latin typeface="Cambria Math" panose="02040503050406030204" pitchFamily="18" charset="0"/>
                                  <a:ea typeface="맑은 고딕" panose="020B0503020000020004" pitchFamily="50" charset="-127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ko-KR" sz="2400" b="0" i="1" kern="100">
                                  <a:effectLst/>
                                  <a:latin typeface="Cambria Math" panose="02040503050406030204" pitchFamily="18" charset="0"/>
                                  <a:ea typeface="맑은 고딕" panose="020B0503020000020004" pitchFamily="50" charset="-127"/>
                                  <a:cs typeface="Times New Roman" panose="02020603050405020304" pitchFamily="18" charset="0"/>
                                </a:rPr>
                                <m:t>𝑂𝑉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ko-KR" altLang="ko-KR" sz="2400" kern="100" dirty="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latinLnBrk="1"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ko-KR" altLang="ko-KR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b="0" i="1" kern="100">
                              <a:effectLst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ko-KR" sz="2400" b="0" i="1" kern="100">
                              <a:effectLst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altLang="ko-KR" sz="2400" b="0" i="1" kern="100">
                          <a:effectLst/>
                          <a:latin typeface="Cambria Math" panose="020405030504060302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ko-KR" altLang="ko-KR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ko-KR" sz="2400" b="0" i="1" kern="100">
                              <a:effectLst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ko-KR" altLang="ko-KR" sz="24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b="0" i="1" kern="100">
                                  <a:effectLst/>
                                  <a:latin typeface="Cambria Math" panose="02040503050406030204" pitchFamily="18" charset="0"/>
                                  <a:ea typeface="맑은 고딕" panose="020B0503020000020004" pitchFamily="50" charset="-127"/>
                                  <a:cs typeface="Times New Roman" panose="020206030504050203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altLang="ko-KR" sz="2400" b="0" i="1" kern="100">
                                  <a:effectLst/>
                                  <a:latin typeface="Cambria Math" panose="02040503050406030204" pitchFamily="18" charset="0"/>
                                  <a:ea typeface="맑은 고딕" panose="020B0503020000020004" pitchFamily="50" charset="-127"/>
                                  <a:cs typeface="Times New Roman" panose="02020603050405020304" pitchFamily="18" charset="0"/>
                                </a:rPr>
                                <m:t>𝐷</m:t>
                              </m:r>
                            </m:sub>
                          </m:sSub>
                        </m:num>
                        <m:den>
                          <m:r>
                            <a:rPr lang="en-US" altLang="ko-KR" sz="2400" b="0" i="1" kern="100">
                              <a:effectLst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ko-KR" altLang="ko-KR" sz="24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b="0" i="1" kern="100">
                                  <a:effectLst/>
                                  <a:latin typeface="Cambria Math" panose="02040503050406030204" pitchFamily="18" charset="0"/>
                                  <a:ea typeface="맑은 고딕" panose="020B0503020000020004" pitchFamily="50" charset="-127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ko-KR" sz="2400" b="0" i="1" kern="100">
                                  <a:effectLst/>
                                  <a:latin typeface="Cambria Math" panose="02040503050406030204" pitchFamily="18" charset="0"/>
                                  <a:ea typeface="맑은 고딕" panose="020B0503020000020004" pitchFamily="50" charset="-127"/>
                                  <a:cs typeface="Times New Roman" panose="02020603050405020304" pitchFamily="18" charset="0"/>
                                </a:rPr>
                                <m:t>𝐺</m:t>
                              </m:r>
                            </m:sub>
                          </m:sSub>
                        </m:den>
                      </m:f>
                      <m:r>
                        <a:rPr lang="en-US" altLang="ko-KR" sz="2400" b="0" i="1" kern="100">
                          <a:effectLst/>
                          <a:latin typeface="Cambria Math" panose="020405030504060302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ko-KR" altLang="ko-KR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ko-KR" sz="2400" b="0" i="1" kern="100">
                              <a:effectLst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𝐺</m:t>
                          </m:r>
                        </m:num>
                        <m:den>
                          <m:sSup>
                            <m:sSupPr>
                              <m:ctrlPr>
                                <a:rPr lang="ko-KR" altLang="ko-KR" sz="24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ko-KR" altLang="ko-KR" sz="24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400" b="0" i="1" kern="100">
                                      <a:effectLst/>
                                      <a:latin typeface="Cambria Math" panose="02040503050406030204" pitchFamily="18" charset="0"/>
                                      <a:ea typeface="맑은 고딕" panose="020B0503020000020004" pitchFamily="50" charset="-127"/>
                                      <a:cs typeface="Times New Roman" panose="02020603050405020304" pitchFamily="18" charset="0"/>
                                    </a:rPr>
                                    <m:t>1+</m:t>
                                  </m:r>
                                  <m:r>
                                    <a:rPr lang="en-US" altLang="ko-KR" sz="2400" b="0" i="1" kern="100">
                                      <a:effectLst/>
                                      <a:latin typeface="Cambria Math" panose="02040503050406030204" pitchFamily="18" charset="0"/>
                                      <a:ea typeface="맑은 고딕" panose="020B0503020000020004" pitchFamily="50" charset="-127"/>
                                      <a:cs typeface="Times New Roman" panose="02020603050405020304" pitchFamily="18" charset="0"/>
                                    </a:rPr>
                                    <m:t>𝜃</m:t>
                                  </m:r>
                                  <m:r>
                                    <a:rPr lang="en-US" altLang="ko-KR" sz="2400" b="0" i="1" kern="100">
                                      <a:effectLst/>
                                      <a:latin typeface="Cambria Math" panose="02040503050406030204" pitchFamily="18" charset="0"/>
                                      <a:ea typeface="맑은 고딕" panose="020B0503020000020004" pitchFamily="50" charset="-127"/>
                                      <a:cs typeface="Times New Roman" panose="02020603050405020304" pitchFamily="18" charset="0"/>
                                    </a:rPr>
                                    <m:t>∙</m:t>
                                  </m:r>
                                  <m:sSub>
                                    <m:sSubPr>
                                      <m:ctrlPr>
                                        <a:rPr lang="ko-KR" altLang="ko-KR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2400" b="0" i="1" kern="100">
                                          <a:effectLst/>
                                          <a:latin typeface="Cambria Math" panose="02040503050406030204" pitchFamily="18" charset="0"/>
                                          <a:ea typeface="맑은 고딕" panose="020B0503020000020004" pitchFamily="50" charset="-127"/>
                                          <a:cs typeface="Times New Roman" panose="020206030504050203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altLang="ko-KR" sz="2400" b="0" i="1" kern="100">
                                          <a:effectLst/>
                                          <a:latin typeface="Cambria Math" panose="02040503050406030204" pitchFamily="18" charset="0"/>
                                          <a:ea typeface="맑은 고딕" panose="020B0503020000020004" pitchFamily="50" charset="-127"/>
                                          <a:cs typeface="Times New Roman" panose="02020603050405020304" pitchFamily="18" charset="0"/>
                                        </a:rPr>
                                        <m:t>𝑂𝑉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ko-KR" sz="2400" b="0" i="1" kern="100">
                                  <a:effectLst/>
                                  <a:latin typeface="Cambria Math" panose="02040503050406030204" pitchFamily="18" charset="0"/>
                                  <a:ea typeface="맑은 고딕" panose="020B0503020000020004" pitchFamily="50" charset="-127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ko-KR" altLang="ko-KR" sz="2400" kern="100" dirty="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latinLnBrk="1"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ko-KR" altLang="ko-KR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ko-KR" altLang="ko-KR" sz="24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b="0" i="1" kern="100">
                                  <a:effectLst/>
                                  <a:latin typeface="Cambria Math" panose="02040503050406030204" pitchFamily="18" charset="0"/>
                                  <a:ea typeface="맑은 고딕" panose="020B0503020000020004" pitchFamily="50" charset="-127"/>
                                  <a:cs typeface="Times New Roman" panose="020206030504050203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altLang="ko-KR" sz="2400" b="0" i="1" kern="100">
                                  <a:effectLst/>
                                  <a:latin typeface="Cambria Math" panose="02040503050406030204" pitchFamily="18" charset="0"/>
                                  <a:ea typeface="맑은 고딕" panose="020B0503020000020004" pitchFamily="50" charset="-127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rad>
                      <m:r>
                        <a:rPr lang="en-US" altLang="ko-KR" sz="2400" b="0" i="1" kern="100">
                          <a:effectLst/>
                          <a:latin typeface="Cambria Math" panose="020405030504060302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ko-KR" altLang="ko-KR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ko-KR" altLang="ko-KR" sz="24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ko-KR" sz="2400" b="0" i="1" kern="100">
                                  <a:effectLst/>
                                  <a:latin typeface="Cambria Math" panose="02040503050406030204" pitchFamily="18" charset="0"/>
                                  <a:ea typeface="맑은 고딕" panose="020B0503020000020004" pitchFamily="50" charset="-127"/>
                                  <a:cs typeface="Times New Roman" panose="02020603050405020304" pitchFamily="18" charset="0"/>
                                </a:rPr>
                                <m:t>𝐺</m:t>
                              </m:r>
                            </m:e>
                          </m:rad>
                        </m:num>
                        <m:den>
                          <m:r>
                            <a:rPr lang="en-US" altLang="ko-KR" sz="2400" b="0" i="1" kern="100">
                              <a:effectLst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1+</m:t>
                          </m:r>
                          <m:r>
                            <a:rPr lang="en-US" altLang="ko-KR" sz="2400" b="0" i="1" kern="100">
                              <a:effectLst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𝜃</m:t>
                          </m:r>
                          <m:r>
                            <a:rPr lang="en-US" altLang="ko-KR" sz="2400" b="0" i="1" kern="100">
                              <a:effectLst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ko-KR" altLang="ko-KR" sz="24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b="0" i="1" kern="100">
                                  <a:effectLst/>
                                  <a:latin typeface="Cambria Math" panose="02040503050406030204" pitchFamily="18" charset="0"/>
                                  <a:ea typeface="맑은 고딕" panose="020B0503020000020004" pitchFamily="50" charset="-127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ko-KR" sz="2400" b="0" i="1" kern="100">
                                  <a:effectLst/>
                                  <a:latin typeface="Cambria Math" panose="02040503050406030204" pitchFamily="18" charset="0"/>
                                  <a:ea typeface="맑은 고딕" panose="020B0503020000020004" pitchFamily="50" charset="-127"/>
                                  <a:cs typeface="Times New Roman" panose="02020603050405020304" pitchFamily="18" charset="0"/>
                                </a:rPr>
                                <m:t>𝑂𝑉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ko-KR" altLang="ko-KR" sz="2400" kern="100" dirty="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latinLnBrk="1"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400" b="1" i="1" kern="100">
                          <a:effectLst/>
                          <a:latin typeface="Cambria Math" panose="020405030504060302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m:t>∴</m:t>
                      </m:r>
                      <m:r>
                        <a:rPr lang="en-US" altLang="ko-KR" sz="2400" b="1" i="1" kern="10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m:t>𝒀</m:t>
                      </m:r>
                      <m:r>
                        <a:rPr lang="en-US" altLang="ko-KR" sz="2400" b="1" i="1" kern="100">
                          <a:effectLst/>
                          <a:latin typeface="Cambria Math" panose="020405030504060302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ko-KR" altLang="ko-KR" sz="2400" b="1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ko-KR" altLang="ko-KR" sz="2400" b="1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b="1" i="1" kern="100">
                                  <a:effectLst/>
                                  <a:latin typeface="Cambria Math" panose="02040503050406030204" pitchFamily="18" charset="0"/>
                                  <a:ea typeface="맑은 고딕" panose="020B0503020000020004" pitchFamily="50" charset="-127"/>
                                  <a:cs typeface="Times New Roman" panose="02020603050405020304" pitchFamily="18" charset="0"/>
                                </a:rPr>
                                <m:t>𝑰</m:t>
                              </m:r>
                            </m:e>
                            <m:sub>
                              <m:r>
                                <a:rPr lang="en-US" altLang="ko-KR" sz="2400" b="1" i="1" kern="100">
                                  <a:effectLst/>
                                  <a:latin typeface="Cambria Math" panose="02040503050406030204" pitchFamily="18" charset="0"/>
                                  <a:ea typeface="맑은 고딕" panose="020B0503020000020004" pitchFamily="50" charset="-127"/>
                                  <a:cs typeface="Times New Roman" panose="02020603050405020304" pitchFamily="18" charset="0"/>
                                </a:rPr>
                                <m:t>𝑫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lang="ko-KR" altLang="ko-KR" sz="2400" b="1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ko-KR" altLang="ko-KR" sz="2400" b="1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400" b="1" i="1" kern="100">
                                      <a:effectLst/>
                                      <a:latin typeface="Cambria Math" panose="02040503050406030204" pitchFamily="18" charset="0"/>
                                      <a:ea typeface="맑은 고딕" panose="020B0503020000020004" pitchFamily="50" charset="-127"/>
                                      <a:cs typeface="Times New Roman" panose="02020603050405020304" pitchFamily="18" charset="0"/>
                                    </a:rPr>
                                    <m:t>𝒈</m:t>
                                  </m:r>
                                </m:e>
                                <m:sub>
                                  <m:r>
                                    <a:rPr lang="en-US" altLang="ko-KR" sz="2400" b="1" i="1" kern="100">
                                      <a:effectLst/>
                                      <a:latin typeface="Cambria Math" panose="02040503050406030204" pitchFamily="18" charset="0"/>
                                      <a:ea typeface="맑은 고딕" panose="020B0503020000020004" pitchFamily="50" charset="-127"/>
                                      <a:cs typeface="Times New Roman" panose="02020603050405020304" pitchFamily="18" charset="0"/>
                                    </a:rPr>
                                    <m:t>𝒎</m:t>
                                  </m:r>
                                </m:sub>
                              </m:sSub>
                            </m:e>
                          </m:rad>
                        </m:den>
                      </m:f>
                      <m:r>
                        <a:rPr lang="en-US" altLang="ko-KR" sz="2400" b="1" i="1" kern="100">
                          <a:effectLst/>
                          <a:latin typeface="Cambria Math" panose="020405030504060302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ko-KR" altLang="ko-KR" sz="2400" b="1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ko-KR" sz="2400" b="1" i="1" kern="100">
                              <a:effectLst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𝑮</m:t>
                          </m:r>
                        </m:e>
                      </m:rad>
                      <m:r>
                        <a:rPr lang="en-US" altLang="ko-KR" sz="2400" b="1" i="1" kern="100">
                          <a:effectLst/>
                          <a:latin typeface="Cambria Math" panose="020405030504060302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ko-KR" altLang="ko-KR" sz="2400" b="1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b="1" i="1" kern="100">
                              <a:effectLst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altLang="ko-KR" sz="2400" b="1" i="1" kern="100">
                              <a:effectLst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𝑶𝑽</m:t>
                          </m:r>
                        </m:sub>
                      </m:sSub>
                      <m:r>
                        <a:rPr lang="en-US" altLang="ko-KR" sz="2400" b="1" i="1" kern="100">
                          <a:effectLst/>
                          <a:latin typeface="Cambria Math" panose="020405030504060302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ko-KR" altLang="ko-KR" sz="2400" b="1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ko-KR" altLang="ko-KR" sz="2400" b="1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2400" b="1" i="1" kern="100">
                                  <a:effectLst/>
                                  <a:latin typeface="Cambria Math" panose="02040503050406030204" pitchFamily="18" charset="0"/>
                                  <a:ea typeface="맑은 고딕" panose="020B0503020000020004" pitchFamily="50" charset="-127"/>
                                  <a:cs typeface="Times New Roman" panose="02020603050405020304" pitchFamily="18" charset="0"/>
                                </a:rPr>
                                <m:t>𝑾</m:t>
                              </m:r>
                            </m:num>
                            <m:den>
                              <m:r>
                                <a:rPr lang="en-US" altLang="ko-KR" sz="2400" b="1" i="1" kern="100">
                                  <a:effectLst/>
                                  <a:latin typeface="Cambria Math" panose="02040503050406030204" pitchFamily="18" charset="0"/>
                                  <a:ea typeface="맑은 고딕" panose="020B0503020000020004" pitchFamily="50" charset="-127"/>
                                  <a:cs typeface="Times New Roman" panose="02020603050405020304" pitchFamily="18" charset="0"/>
                                </a:rPr>
                                <m:t>𝑳</m:t>
                              </m:r>
                            </m:den>
                          </m:f>
                          <m:sSub>
                            <m:sSubPr>
                              <m:ctrlPr>
                                <a:rPr lang="ko-KR" altLang="ko-KR" sz="2400" b="1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ko-KR" altLang="ko-KR" sz="2400" b="1" i="1" kern="100" smtClean="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400" b="1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맑은 고딕" panose="020B0503020000020004" pitchFamily="50" charset="-127"/>
                                      <a:cs typeface="Times New Roman" panose="020206030504050203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altLang="ko-KR" sz="2400" b="1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맑은 고딕" panose="020B0503020000020004" pitchFamily="50" charset="-127"/>
                                      <a:cs typeface="Times New Roman" panose="02020603050405020304" pitchFamily="18" charset="0"/>
                                    </a:rPr>
                                    <m:t>𝒊𝒏𝒕</m:t>
                                  </m:r>
                                </m:sub>
                              </m:sSub>
                              <m:r>
                                <a:rPr lang="en-US" altLang="ko-KR" sz="2400" b="1" i="1" kern="100">
                                  <a:effectLst/>
                                  <a:latin typeface="Cambria Math" panose="02040503050406030204" pitchFamily="18" charset="0"/>
                                  <a:ea typeface="맑은 고딕" panose="020B0503020000020004" pitchFamily="50" charset="-127"/>
                                  <a:cs typeface="Times New Roman" panose="02020603050405020304" pitchFamily="18" charset="0"/>
                                </a:rPr>
                                <m:t>𝑪</m:t>
                              </m:r>
                            </m:e>
                            <m:sub>
                              <m:r>
                                <a:rPr lang="en-US" altLang="ko-KR" sz="2400" b="1" i="1" kern="100">
                                  <a:effectLst/>
                                  <a:latin typeface="Cambria Math" panose="02040503050406030204" pitchFamily="18" charset="0"/>
                                  <a:ea typeface="맑은 고딕" panose="020B0503020000020004" pitchFamily="50" charset="-127"/>
                                  <a:cs typeface="Times New Roman" panose="02020603050405020304" pitchFamily="18" charset="0"/>
                                </a:rPr>
                                <m:t>𝒐𝒙</m:t>
                              </m:r>
                            </m:sub>
                          </m:sSub>
                          <m:r>
                            <a:rPr lang="en-US" altLang="ko-KR" sz="2400" b="1" i="1" kern="100">
                              <a:effectLst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ko-KR" altLang="ko-KR" sz="2400" b="1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b="1" i="1" kern="100">
                                  <a:effectLst/>
                                  <a:latin typeface="Cambria Math" panose="02040503050406030204" pitchFamily="18" charset="0"/>
                                  <a:ea typeface="맑은 고딕" panose="020B0503020000020004" pitchFamily="50" charset="-127"/>
                                  <a:cs typeface="Times New Roman" panose="020206030504050203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altLang="ko-KR" sz="2400" b="1" i="1" kern="100">
                                  <a:effectLst/>
                                  <a:latin typeface="Cambria Math" panose="02040503050406030204" pitchFamily="18" charset="0"/>
                                  <a:ea typeface="맑은 고딕" panose="020B0503020000020004" pitchFamily="50" charset="-127"/>
                                  <a:cs typeface="Times New Roman" panose="02020603050405020304" pitchFamily="18" charset="0"/>
                                </a:rPr>
                                <m:t>𝑫</m:t>
                              </m:r>
                            </m:sub>
                          </m:sSub>
                        </m:e>
                      </m:rad>
                      <m:r>
                        <a:rPr lang="en-US" altLang="ko-KR" sz="2400" b="1" i="1" kern="100">
                          <a:effectLst/>
                          <a:latin typeface="Cambria Math" panose="020405030504060302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ko-KR" altLang="ko-KR" sz="2400" b="1" i="1" kern="100" smtClean="0">
                              <a:solidFill>
                                <a:srgbClr val="0070C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b="1" i="1" kern="100">
                              <a:solidFill>
                                <a:srgbClr val="0070C0"/>
                              </a:solidFill>
                              <a:effectLst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altLang="ko-KR" sz="2400" b="1" i="1" kern="100">
                              <a:solidFill>
                                <a:srgbClr val="0070C0"/>
                              </a:solidFill>
                              <a:effectLst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𝑶𝑽</m:t>
                          </m:r>
                        </m:sub>
                      </m:sSub>
                    </m:oMath>
                  </m:oMathPara>
                </a14:m>
                <a:endParaRPr lang="ko-KR" altLang="ko-KR" sz="2400" b="1" kern="100" dirty="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E5B261A-0907-50D0-1BA2-5039612F12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4950668"/>
                <a:ext cx="11894234" cy="395294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F424EBA-9B20-DC51-2F88-B4CC60948C2E}"/>
                  </a:ext>
                </a:extLst>
              </p:cNvPr>
              <p:cNvSpPr txBox="1"/>
              <p:nvPr/>
            </p:nvSpPr>
            <p:spPr>
              <a:xfrm>
                <a:off x="4279426" y="9031666"/>
                <a:ext cx="2261548" cy="369332"/>
              </a:xfrm>
              <a:prstGeom prst="rect">
                <a:avLst/>
              </a:prstGeom>
              <a:noFill/>
              <a:ln w="44450"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 algn="ctr" latinLnBrk="1">
                  <a:spcAft>
                    <a:spcPts val="800"/>
                  </a:spcAft>
                </a:pPr>
                <a:r>
                  <a:rPr lang="ko-KR" altLang="en-US" b="1" kern="100" dirty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기울기로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ko-KR" sz="1800" b="1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800" b="1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𝝁</m:t>
                        </m:r>
                      </m:e>
                      <m:sub>
                        <m:r>
                          <a:rPr lang="en-US" altLang="ko-KR" sz="1800" b="1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𝒊𝒏𝒕</m:t>
                        </m:r>
                      </m:sub>
                    </m:sSub>
                  </m:oMath>
                </a14:m>
                <a:r>
                  <a:rPr lang="en-US" altLang="ko-KR" sz="1800" b="1" kern="100" dirty="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ko-KR" sz="1800" b="1" kern="100" dirty="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추출</a:t>
                </a:r>
                <a:endParaRPr lang="ko-KR" altLang="en-US" b="1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F424EBA-9B20-DC51-2F88-B4CC60948C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9426" y="9031666"/>
                <a:ext cx="2261548" cy="369332"/>
              </a:xfrm>
              <a:prstGeom prst="rect">
                <a:avLst/>
              </a:prstGeom>
              <a:blipFill>
                <a:blip r:embed="rId6"/>
                <a:stretch>
                  <a:fillRect t="-7463" b="-14925"/>
                </a:stretch>
              </a:blipFill>
              <a:ln w="4445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FC018AB0-9743-AAEB-1C91-445FC3804C51}"/>
              </a:ext>
            </a:extLst>
          </p:cNvPr>
          <p:cNvCxnSpPr/>
          <p:nvPr/>
        </p:nvCxnSpPr>
        <p:spPr>
          <a:xfrm>
            <a:off x="5105400" y="8498266"/>
            <a:ext cx="609600" cy="0"/>
          </a:xfrm>
          <a:prstGeom prst="line">
            <a:avLst/>
          </a:prstGeom>
          <a:ln w="444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1615DED1-2019-49FD-F840-3E91F1A18C54}"/>
              </a:ext>
            </a:extLst>
          </p:cNvPr>
          <p:cNvCxnSpPr/>
          <p:nvPr/>
        </p:nvCxnSpPr>
        <p:spPr>
          <a:xfrm>
            <a:off x="5410200" y="8498266"/>
            <a:ext cx="0" cy="405344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E100DA5-9F0F-3C4F-79B7-81C972EE241A}"/>
                  </a:ext>
                </a:extLst>
              </p:cNvPr>
              <p:cNvSpPr txBox="1"/>
              <p:nvPr/>
            </p:nvSpPr>
            <p:spPr>
              <a:xfrm>
                <a:off x="7010400" y="8793363"/>
                <a:ext cx="6086615" cy="845937"/>
              </a:xfrm>
              <a:prstGeom prst="rect">
                <a:avLst/>
              </a:prstGeom>
              <a:noFill/>
              <a:ln w="44450"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ko-KR" altLang="ko-KR" sz="2400" b="1" i="1" smtClean="0">
                              <a:solidFill>
                                <a:srgbClr val="0070C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b="1" i="1">
                              <a:solidFill>
                                <a:srgbClr val="0070C0"/>
                              </a:solidFill>
                              <a:effectLst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altLang="ko-KR" sz="2400" b="1" i="1">
                              <a:solidFill>
                                <a:srgbClr val="0070C0"/>
                              </a:solidFill>
                              <a:effectLst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𝒕𝒐𝒕𝒂𝒍</m:t>
                          </m:r>
                        </m:sub>
                      </m:sSub>
                      <m:r>
                        <a:rPr lang="en-US" altLang="ko-KR" sz="2400" b="1">
                          <a:effectLst/>
                          <a:latin typeface="Cambria Math" panose="020405030504060302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ko-KR" altLang="ko-KR" sz="2400" b="1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ko-KR" altLang="ko-KR" sz="2400" b="1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b="1" i="1">
                                  <a:effectLst/>
                                  <a:latin typeface="Cambria Math" panose="02040503050406030204" pitchFamily="18" charset="0"/>
                                  <a:ea typeface="맑은 고딕" panose="020B0503020000020004" pitchFamily="50" charset="-127"/>
                                  <a:cs typeface="Times New Roman" panose="020206030504050203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altLang="ko-KR" sz="2400" b="1" i="1">
                                  <a:effectLst/>
                                  <a:latin typeface="Cambria Math" panose="02040503050406030204" pitchFamily="18" charset="0"/>
                                  <a:ea typeface="맑은 고딕" panose="020B0503020000020004" pitchFamily="50" charset="-127"/>
                                  <a:cs typeface="Times New Roman" panose="02020603050405020304" pitchFamily="18" charset="0"/>
                                </a:rPr>
                                <m:t>𝑫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ko-KR" altLang="ko-KR" sz="2400" b="1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b="1" i="1">
                                  <a:effectLst/>
                                  <a:latin typeface="Cambria Math" panose="02040503050406030204" pitchFamily="18" charset="0"/>
                                  <a:ea typeface="맑은 고딕" panose="020B0503020000020004" pitchFamily="50" charset="-127"/>
                                  <a:cs typeface="Times New Roman" panose="02020603050405020304" pitchFamily="18" charset="0"/>
                                </a:rPr>
                                <m:t>𝑰</m:t>
                              </m:r>
                            </m:e>
                            <m:sub>
                              <m:r>
                                <a:rPr lang="en-US" altLang="ko-KR" sz="2400" b="1" i="1">
                                  <a:effectLst/>
                                  <a:latin typeface="Cambria Math" panose="02040503050406030204" pitchFamily="18" charset="0"/>
                                  <a:ea typeface="맑은 고딕" panose="020B0503020000020004" pitchFamily="50" charset="-127"/>
                                  <a:cs typeface="Times New Roman" panose="02020603050405020304" pitchFamily="18" charset="0"/>
                                </a:rPr>
                                <m:t>𝑫</m:t>
                              </m:r>
                            </m:sub>
                          </m:sSub>
                        </m:den>
                      </m:f>
                      <m:r>
                        <a:rPr lang="en-US" altLang="ko-KR" sz="2400" b="1">
                          <a:effectLst/>
                          <a:latin typeface="Cambria Math" panose="020405030504060302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ko-KR" altLang="ko-KR" sz="2400" b="1" i="1" smtClean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b="1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altLang="ko-KR" sz="2400" b="1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𝑪</m:t>
                          </m:r>
                        </m:sub>
                      </m:sSub>
                      <m:r>
                        <a:rPr lang="en-US" altLang="ko-KR" sz="2400" b="1">
                          <a:effectLst/>
                          <a:latin typeface="Cambria Math" panose="020405030504060302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ko-KR" altLang="ko-KR" sz="2400" b="1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400" b="1" i="1">
                              <a:effectLst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𝑳</m:t>
                          </m:r>
                        </m:num>
                        <m:den>
                          <m:sSub>
                            <m:sSubPr>
                              <m:ctrlPr>
                                <a:rPr lang="ko-KR" altLang="ko-KR" sz="2400" b="1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b="1" i="1">
                                  <a:effectLst/>
                                  <a:latin typeface="Cambria Math" panose="02040503050406030204" pitchFamily="18" charset="0"/>
                                  <a:ea typeface="맑은 고딕" panose="020B0503020000020004" pitchFamily="50" charset="-127"/>
                                  <a:cs typeface="Times New Roman" panose="020206030504050203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altLang="ko-KR" sz="2400" b="1" i="1">
                                  <a:effectLst/>
                                  <a:latin typeface="Cambria Math" panose="02040503050406030204" pitchFamily="18" charset="0"/>
                                  <a:ea typeface="맑은 고딕" panose="020B0503020000020004" pitchFamily="50" charset="-127"/>
                                  <a:cs typeface="Times New Roman" panose="02020603050405020304" pitchFamily="18" charset="0"/>
                                </a:rPr>
                                <m:t>𝒊𝒏𝒕</m:t>
                              </m:r>
                            </m:sub>
                          </m:sSub>
                          <m:sSub>
                            <m:sSubPr>
                              <m:ctrlPr>
                                <a:rPr lang="ko-KR" altLang="ko-KR" sz="2400" b="1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b="1" i="1">
                                  <a:effectLst/>
                                  <a:latin typeface="Cambria Math" panose="02040503050406030204" pitchFamily="18" charset="0"/>
                                  <a:ea typeface="맑은 고딕" panose="020B0503020000020004" pitchFamily="50" charset="-127"/>
                                  <a:cs typeface="Times New Roman" panose="02020603050405020304" pitchFamily="18" charset="0"/>
                                </a:rPr>
                                <m:t>𝑪</m:t>
                              </m:r>
                            </m:e>
                            <m:sub>
                              <m:r>
                                <a:rPr lang="en-US" altLang="ko-KR" sz="2400" b="1" i="1">
                                  <a:effectLst/>
                                  <a:latin typeface="Cambria Math" panose="02040503050406030204" pitchFamily="18" charset="0"/>
                                  <a:ea typeface="맑은 고딕" panose="020B0503020000020004" pitchFamily="50" charset="-127"/>
                                  <a:cs typeface="Times New Roman" panose="02020603050405020304" pitchFamily="18" charset="0"/>
                                </a:rPr>
                                <m:t>𝒐𝒙</m:t>
                              </m:r>
                            </m:sub>
                          </m:sSub>
                          <m:r>
                            <a:rPr lang="en-US" altLang="ko-KR" sz="2400" b="1" i="1">
                              <a:effectLst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𝐖</m:t>
                          </m:r>
                          <m:d>
                            <m:dPr>
                              <m:ctrlPr>
                                <a:rPr lang="ko-KR" altLang="ko-KR" sz="2400" b="1" i="1" smtClean="0">
                                  <a:solidFill>
                                    <a:srgbClr val="0070C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ko-KR" altLang="ko-KR" sz="2400" b="1" i="1">
                                      <a:solidFill>
                                        <a:srgbClr val="0070C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400" b="1" i="1">
                                      <a:solidFill>
                                        <a:srgbClr val="0070C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맑은 고딕" panose="020B0503020000020004" pitchFamily="50" charset="-127"/>
                                      <a:cs typeface="Times New Roman" panose="02020603050405020304" pitchFamily="18" charset="0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altLang="ko-KR" sz="2400" b="1" i="1">
                                      <a:solidFill>
                                        <a:srgbClr val="0070C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맑은 고딕" panose="020B0503020000020004" pitchFamily="50" charset="-127"/>
                                      <a:cs typeface="Times New Roman" panose="02020603050405020304" pitchFamily="18" charset="0"/>
                                    </a:rPr>
                                    <m:t>𝑮</m:t>
                                  </m:r>
                                </m:sub>
                              </m:sSub>
                              <m:r>
                                <a:rPr lang="en-US" altLang="ko-KR" sz="2400" b="1" i="1">
                                  <a:solidFill>
                                    <a:srgbClr val="0070C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맑은 고딕" panose="020B0503020000020004" pitchFamily="50" charset="-127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ko-KR" altLang="ko-KR" sz="2400" b="1" i="1">
                                      <a:solidFill>
                                        <a:srgbClr val="0070C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400" b="1" i="1">
                                      <a:solidFill>
                                        <a:srgbClr val="0070C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맑은 고딕" panose="020B0503020000020004" pitchFamily="50" charset="-127"/>
                                      <a:cs typeface="Times New Roman" panose="02020603050405020304" pitchFamily="18" charset="0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altLang="ko-KR" sz="2400" b="1" i="1">
                                      <a:solidFill>
                                        <a:srgbClr val="0070C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맑은 고딕" panose="020B0503020000020004" pitchFamily="50" charset="-127"/>
                                      <a:cs typeface="Times New Roman" panose="02020603050405020304" pitchFamily="18" charset="0"/>
                                    </a:rPr>
                                    <m:t>𝑻𝑯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ko-KR" altLang="en-US" sz="2400" b="1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E100DA5-9F0F-3C4F-79B7-81C972EE24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0400" y="8793363"/>
                <a:ext cx="6086615" cy="84593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44450"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346ED6C0-41A0-6F0E-91B5-7E1B6383CA7F}"/>
              </a:ext>
            </a:extLst>
          </p:cNvPr>
          <p:cNvCxnSpPr>
            <a:cxnSpLocks/>
          </p:cNvCxnSpPr>
          <p:nvPr/>
        </p:nvCxnSpPr>
        <p:spPr>
          <a:xfrm>
            <a:off x="6540974" y="9216331"/>
            <a:ext cx="533400" cy="0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75046170-BBD4-1F4E-59DC-A67AC955925E}"/>
              </a:ext>
            </a:extLst>
          </p:cNvPr>
          <p:cNvSpPr txBox="1"/>
          <p:nvPr/>
        </p:nvSpPr>
        <p:spPr>
          <a:xfrm>
            <a:off x="8243493" y="8084105"/>
            <a:ext cx="2261548" cy="369332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ctr" latinLnBrk="1">
              <a:spcAft>
                <a:spcPts val="800"/>
              </a:spcAft>
            </a:pPr>
            <a:r>
              <a:rPr lang="en-US" altLang="ko-KR" b="1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y </a:t>
            </a:r>
            <a:r>
              <a:rPr lang="ko-KR" altLang="ko-KR" b="1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절편으로</a:t>
            </a:r>
            <a:r>
              <a:rPr lang="en-US" altLang="ko-KR" b="1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 R</a:t>
            </a:r>
            <a:r>
              <a:rPr lang="en-US" altLang="ko-KR" b="1" kern="100" baseline="-250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C</a:t>
            </a:r>
            <a:r>
              <a:rPr lang="en-US" altLang="ko-KR" b="1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ko-KR" b="1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추출</a:t>
            </a:r>
            <a:endParaRPr lang="ko-KR" altLang="en-US" b="1" dirty="0"/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EEB90CE9-1E86-B04B-5B33-A2FC5B10E6DE}"/>
              </a:ext>
            </a:extLst>
          </p:cNvPr>
          <p:cNvCxnSpPr/>
          <p:nvPr/>
        </p:nvCxnSpPr>
        <p:spPr>
          <a:xfrm>
            <a:off x="9067800" y="8995654"/>
            <a:ext cx="609600" cy="0"/>
          </a:xfrm>
          <a:prstGeom prst="line">
            <a:avLst/>
          </a:prstGeom>
          <a:ln w="444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7A628957-16EC-92C8-4134-43202F8E7DEB}"/>
              </a:ext>
            </a:extLst>
          </p:cNvPr>
          <p:cNvCxnSpPr>
            <a:cxnSpLocks/>
          </p:cNvCxnSpPr>
          <p:nvPr/>
        </p:nvCxnSpPr>
        <p:spPr>
          <a:xfrm flipV="1">
            <a:off x="9372600" y="8574466"/>
            <a:ext cx="0" cy="401554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87106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70EB79-CF14-52E4-CB7F-3A88F62C3D8C}"/>
              </a:ext>
            </a:extLst>
          </p:cNvPr>
          <p:cNvSpPr txBox="1"/>
          <p:nvPr/>
        </p:nvSpPr>
        <p:spPr>
          <a:xfrm>
            <a:off x="381000" y="266700"/>
            <a:ext cx="1539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③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R</a:t>
            </a:r>
            <a:r>
              <a:rPr lang="en-US" altLang="ko-KR" sz="5400" baseline="-25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C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and </a:t>
            </a:r>
            <a:r>
              <a:rPr lang="el-GR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μ</a:t>
            </a:r>
            <a:r>
              <a:rPr lang="en-US" altLang="ko-KR" sz="5400" baseline="-25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int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based on the Y-function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99D5069-D12F-B681-14E6-989188005D6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059" y="5219700"/>
            <a:ext cx="15573341" cy="468215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2B3983A-89D9-6387-E643-E31D93AAB6A2}"/>
              </a:ext>
            </a:extLst>
          </p:cNvPr>
          <p:cNvSpPr txBox="1"/>
          <p:nvPr/>
        </p:nvSpPr>
        <p:spPr>
          <a:xfrm>
            <a:off x="410400" y="1616214"/>
            <a:ext cx="176681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■ 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R</a:t>
            </a:r>
            <a:r>
              <a:rPr lang="en-US" altLang="ko-KR" sz="4000" baseline="-25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C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and </a:t>
            </a:r>
            <a:r>
              <a:rPr lang="el-GR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μ</a:t>
            </a:r>
            <a:r>
              <a:rPr lang="en-US" altLang="ko-KR" sz="4000" baseline="-25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int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</a:t>
            </a: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9FF12A6D-6F07-A6B5-9F9D-FBF810749343}"/>
              </a:ext>
            </a:extLst>
          </p:cNvPr>
          <p:cNvGrpSpPr/>
          <p:nvPr/>
        </p:nvGrpSpPr>
        <p:grpSpPr>
          <a:xfrm>
            <a:off x="1076185" y="2688163"/>
            <a:ext cx="12030215" cy="2150537"/>
            <a:chOff x="3196883" y="5457579"/>
            <a:chExt cx="12030215" cy="215053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2E815F8E-C38B-4A5F-EFC2-44AA91C1EE3B}"/>
                    </a:ext>
                  </a:extLst>
                </p:cNvPr>
                <p:cNvSpPr txBox="1"/>
                <p:nvPr/>
              </p:nvSpPr>
              <p:spPr>
                <a:xfrm>
                  <a:off x="3196883" y="5457579"/>
                  <a:ext cx="11894234" cy="12861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latinLnBrk="1">
                    <a:spcAft>
                      <a:spcPts val="800"/>
                    </a:spcAft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ko-KR" sz="2400" b="1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∴</m:t>
                        </m:r>
                        <m:r>
                          <a:rPr lang="en-US" altLang="ko-KR" sz="2400" b="1" i="1" kern="100" smtClean="0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𝒀</m:t>
                        </m:r>
                        <m:r>
                          <a:rPr lang="en-US" altLang="ko-KR" sz="2400" b="1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ko-KR" altLang="ko-KR" sz="2400" b="1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ko-KR" altLang="ko-KR" sz="2400" b="1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400" b="1" i="1" kern="100">
                                    <a:effectLst/>
                                    <a:latin typeface="Cambria Math" panose="02040503050406030204" pitchFamily="18" charset="0"/>
                                    <a:ea typeface="맑은 고딕" panose="020B0503020000020004" pitchFamily="50" charset="-127"/>
                                    <a:cs typeface="Times New Roman" panose="02020603050405020304" pitchFamily="18" charset="0"/>
                                  </a:rPr>
                                  <m:t>𝑰</m:t>
                                </m:r>
                              </m:e>
                              <m:sub>
                                <m:r>
                                  <a:rPr lang="en-US" altLang="ko-KR" sz="2400" b="1" i="1" kern="100">
                                    <a:effectLst/>
                                    <a:latin typeface="Cambria Math" panose="02040503050406030204" pitchFamily="18" charset="0"/>
                                    <a:ea typeface="맑은 고딕" panose="020B0503020000020004" pitchFamily="50" charset="-127"/>
                                    <a:cs typeface="Times New Roman" panose="02020603050405020304" pitchFamily="18" charset="0"/>
                                  </a:rPr>
                                  <m:t>𝑫</m:t>
                                </m:r>
                              </m:sub>
                            </m:sSub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ko-KR" altLang="ko-KR" sz="2400" b="1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radPr>
                              <m:deg/>
                              <m:e>
                                <m:sSub>
                                  <m:sSubPr>
                                    <m:ctrlPr>
                                      <a:rPr lang="ko-KR" altLang="ko-KR" sz="2400" b="1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400" b="1" i="1" kern="100">
                                        <a:effectLst/>
                                        <a:latin typeface="Cambria Math" panose="02040503050406030204" pitchFamily="18" charset="0"/>
                                        <a:ea typeface="맑은 고딕" panose="020B0503020000020004" pitchFamily="50" charset="-127"/>
                                        <a:cs typeface="Times New Roman" panose="02020603050405020304" pitchFamily="18" charset="0"/>
                                      </a:rPr>
                                      <m:t>𝒈</m:t>
                                    </m:r>
                                  </m:e>
                                  <m:sub>
                                    <m:r>
                                      <a:rPr lang="en-US" altLang="ko-KR" sz="2400" b="1" i="1" kern="100">
                                        <a:effectLst/>
                                        <a:latin typeface="Cambria Math" panose="02040503050406030204" pitchFamily="18" charset="0"/>
                                        <a:ea typeface="맑은 고딕" panose="020B0503020000020004" pitchFamily="50" charset="-127"/>
                                        <a:cs typeface="Times New Roman" panose="02020603050405020304" pitchFamily="18" charset="0"/>
                                      </a:rPr>
                                      <m:t>𝒎</m:t>
                                    </m:r>
                                  </m:sub>
                                </m:sSub>
                              </m:e>
                            </m:rad>
                          </m:den>
                        </m:f>
                        <m:r>
                          <a:rPr lang="en-US" altLang="ko-KR" sz="2400" b="1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=</m:t>
                        </m:r>
                        <m:rad>
                          <m:radPr>
                            <m:degHide m:val="on"/>
                            <m:ctrlPr>
                              <a:rPr lang="ko-KR" altLang="ko-KR" sz="2400" b="1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ko-KR" sz="2400" b="1" i="1" kern="100">
                                <a:effectLst/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Times New Roman" panose="02020603050405020304" pitchFamily="18" charset="0"/>
                              </a:rPr>
                              <m:t>𝑮</m:t>
                            </m:r>
                          </m:e>
                        </m:rad>
                        <m:r>
                          <a:rPr lang="en-US" altLang="ko-KR" sz="2400" b="1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ko-KR" altLang="ko-KR" sz="2400" b="1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b="1" i="1" kern="100">
                                <a:effectLst/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Times New Roman" panose="020206030504050203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altLang="ko-KR" sz="2400" b="1" i="1" kern="100">
                                <a:effectLst/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Times New Roman" panose="02020603050405020304" pitchFamily="18" charset="0"/>
                              </a:rPr>
                              <m:t>𝑶𝑽</m:t>
                            </m:r>
                          </m:sub>
                        </m:sSub>
                        <m:r>
                          <a:rPr lang="en-US" altLang="ko-KR" sz="2400" b="1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=</m:t>
                        </m:r>
                        <m:rad>
                          <m:radPr>
                            <m:degHide m:val="on"/>
                            <m:ctrlPr>
                              <a:rPr lang="ko-KR" altLang="ko-KR" sz="2400" b="1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ko-KR" altLang="ko-KR" sz="2400" b="1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ko-KR" sz="2400" b="1" i="1" kern="100">
                                    <a:effectLst/>
                                    <a:latin typeface="Cambria Math" panose="02040503050406030204" pitchFamily="18" charset="0"/>
                                    <a:ea typeface="맑은 고딕" panose="020B0503020000020004" pitchFamily="50" charset="-127"/>
                                    <a:cs typeface="Times New Roman" panose="02020603050405020304" pitchFamily="18" charset="0"/>
                                  </a:rPr>
                                  <m:t>𝑾</m:t>
                                </m:r>
                              </m:num>
                              <m:den>
                                <m:r>
                                  <a:rPr lang="en-US" altLang="ko-KR" sz="2400" b="1" i="1" kern="100">
                                    <a:effectLst/>
                                    <a:latin typeface="Cambria Math" panose="02040503050406030204" pitchFamily="18" charset="0"/>
                                    <a:ea typeface="맑은 고딕" panose="020B0503020000020004" pitchFamily="50" charset="-127"/>
                                    <a:cs typeface="Times New Roman" panose="02020603050405020304" pitchFamily="18" charset="0"/>
                                  </a:rPr>
                                  <m:t>𝑳</m:t>
                                </m:r>
                              </m:den>
                            </m:f>
                            <m:sSub>
                              <m:sSubPr>
                                <m:ctrlPr>
                                  <a:rPr lang="ko-KR" altLang="ko-KR" sz="2400" b="1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sSub>
                                  <m:sSubPr>
                                    <m:ctrlPr>
                                      <a:rPr lang="ko-KR" altLang="ko-KR" sz="2400" b="1" i="1" kern="100" smtClean="0"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400" b="1" i="1" kern="100"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맑은 고딕" panose="020B0503020000020004" pitchFamily="50" charset="-127"/>
                                        <a:cs typeface="Times New Roman" panose="02020603050405020304" pitchFamily="18" charset="0"/>
                                      </a:rPr>
                                      <m:t>𝝁</m:t>
                                    </m:r>
                                  </m:e>
                                  <m:sub>
                                    <m:r>
                                      <a:rPr lang="en-US" altLang="ko-KR" sz="2400" b="1" i="1" kern="100"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맑은 고딕" panose="020B0503020000020004" pitchFamily="50" charset="-127"/>
                                        <a:cs typeface="Times New Roman" panose="02020603050405020304" pitchFamily="18" charset="0"/>
                                      </a:rPr>
                                      <m:t>𝒊𝒏𝒕</m:t>
                                    </m:r>
                                  </m:sub>
                                </m:sSub>
                                <m:r>
                                  <a:rPr lang="en-US" altLang="ko-KR" sz="2400" b="1" i="1" kern="100">
                                    <a:effectLst/>
                                    <a:latin typeface="Cambria Math" panose="02040503050406030204" pitchFamily="18" charset="0"/>
                                    <a:ea typeface="맑은 고딕" panose="020B0503020000020004" pitchFamily="50" charset="-127"/>
                                    <a:cs typeface="Times New Roman" panose="02020603050405020304" pitchFamily="18" charset="0"/>
                                  </a:rPr>
                                  <m:t>𝑪</m:t>
                                </m:r>
                              </m:e>
                              <m:sub>
                                <m:r>
                                  <a:rPr lang="en-US" altLang="ko-KR" sz="2400" b="1" i="1" kern="100">
                                    <a:effectLst/>
                                    <a:latin typeface="Cambria Math" panose="02040503050406030204" pitchFamily="18" charset="0"/>
                                    <a:ea typeface="맑은 고딕" panose="020B0503020000020004" pitchFamily="50" charset="-127"/>
                                    <a:cs typeface="Times New Roman" panose="02020603050405020304" pitchFamily="18" charset="0"/>
                                  </a:rPr>
                                  <m:t>𝒐𝒙</m:t>
                                </m:r>
                              </m:sub>
                            </m:sSub>
                            <m:r>
                              <a:rPr lang="en-US" altLang="ko-KR" sz="2400" b="1" i="1" kern="100">
                                <a:effectLst/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Times New Roman" panose="02020603050405020304" pitchFamily="18" charset="0"/>
                              </a:rPr>
                              <m:t>∙</m:t>
                            </m:r>
                            <m:sSub>
                              <m:sSubPr>
                                <m:ctrlPr>
                                  <a:rPr lang="ko-KR" altLang="ko-KR" sz="2400" b="1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400" b="1" i="1" kern="100">
                                    <a:effectLst/>
                                    <a:latin typeface="Cambria Math" panose="02040503050406030204" pitchFamily="18" charset="0"/>
                                    <a:ea typeface="맑은 고딕" panose="020B0503020000020004" pitchFamily="50" charset="-127"/>
                                    <a:cs typeface="Times New Roman" panose="02020603050405020304" pitchFamily="18" charset="0"/>
                                  </a:rPr>
                                  <m:t>𝑽</m:t>
                                </m:r>
                              </m:e>
                              <m:sub>
                                <m:r>
                                  <a:rPr lang="en-US" altLang="ko-KR" sz="2400" b="1" i="1" kern="100">
                                    <a:effectLst/>
                                    <a:latin typeface="Cambria Math" panose="02040503050406030204" pitchFamily="18" charset="0"/>
                                    <a:ea typeface="맑은 고딕" panose="020B0503020000020004" pitchFamily="50" charset="-127"/>
                                    <a:cs typeface="Times New Roman" panose="02020603050405020304" pitchFamily="18" charset="0"/>
                                  </a:rPr>
                                  <m:t>𝑫</m:t>
                                </m:r>
                              </m:sub>
                            </m:sSub>
                          </m:e>
                        </m:rad>
                        <m:r>
                          <a:rPr lang="en-US" altLang="ko-KR" sz="2400" b="1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ko-KR" altLang="ko-KR" sz="2400" b="1" i="1" kern="100" smtClean="0">
                                <a:solidFill>
                                  <a:srgbClr val="0070C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b="1" i="1" kern="100">
                                <a:solidFill>
                                  <a:srgbClr val="0070C0"/>
                                </a:solidFill>
                                <a:effectLst/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Times New Roman" panose="020206030504050203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altLang="ko-KR" sz="2400" b="1" i="1" kern="100">
                                <a:solidFill>
                                  <a:srgbClr val="0070C0"/>
                                </a:solidFill>
                                <a:effectLst/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Times New Roman" panose="02020603050405020304" pitchFamily="18" charset="0"/>
                              </a:rPr>
                              <m:t>𝑶𝑽</m:t>
                            </m:r>
                          </m:sub>
                        </m:sSub>
                      </m:oMath>
                    </m:oMathPara>
                  </a14:m>
                  <a:endParaRPr lang="ko-KR" altLang="ko-KR" sz="2400" b="1" kern="100" dirty="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2E815F8E-C38B-4A5F-EFC2-44AA91C1EE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96883" y="5457579"/>
                  <a:ext cx="11894234" cy="1286121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B64D119A-E4D8-803B-1FBD-07082A2ADBD8}"/>
                    </a:ext>
                  </a:extLst>
                </p:cNvPr>
                <p:cNvSpPr txBox="1"/>
                <p:nvPr/>
              </p:nvSpPr>
              <p:spPr>
                <a:xfrm>
                  <a:off x="6409509" y="7000482"/>
                  <a:ext cx="2261548" cy="369332"/>
                </a:xfrm>
                <a:prstGeom prst="rect">
                  <a:avLst/>
                </a:prstGeom>
                <a:noFill/>
                <a:ln w="44450">
                  <a:solidFill>
                    <a:srgbClr val="FF0000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 algn="ctr" latinLnBrk="1">
                    <a:spcAft>
                      <a:spcPts val="800"/>
                    </a:spcAft>
                  </a:pPr>
                  <a:r>
                    <a:rPr lang="ko-KR" altLang="en-US" b="1" kern="100" dirty="0">
                      <a:latin typeface="맑은 고딕" panose="020B0503020000020004" pitchFamily="50" charset="-127"/>
                      <a:cs typeface="Times New Roman" panose="02020603050405020304" pitchFamily="18" charset="0"/>
                    </a:rPr>
                    <a:t>기울기로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ko-KR" altLang="ko-KR" sz="1800" b="1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b="1" i="1" kern="100">
                              <a:effectLst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altLang="ko-KR" sz="1800" b="1" i="1" kern="100">
                              <a:effectLst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𝒊𝒏𝒕</m:t>
                          </m:r>
                        </m:sub>
                      </m:sSub>
                    </m:oMath>
                  </a14:m>
                  <a:r>
                    <a:rPr lang="en-US" altLang="ko-KR" sz="1800" b="1" kern="100" dirty="0">
                      <a:effectLst/>
                      <a:latin typeface="맑은 고딕" panose="020B0503020000020004" pitchFamily="50" charset="-127"/>
                      <a:ea typeface="맑은 고딕" panose="020B0503020000020004" pitchFamily="50" charset="-127"/>
                      <a:cs typeface="Times New Roman" panose="02020603050405020304" pitchFamily="18" charset="0"/>
                    </a:rPr>
                    <a:t> </a:t>
                  </a:r>
                  <a:r>
                    <a:rPr lang="ko-KR" altLang="ko-KR" sz="1800" b="1" kern="100" dirty="0">
                      <a:effectLst/>
                      <a:latin typeface="맑은 고딕" panose="020B0503020000020004" pitchFamily="50" charset="-127"/>
                      <a:ea typeface="맑은 고딕" panose="020B0503020000020004" pitchFamily="50" charset="-127"/>
                      <a:cs typeface="Times New Roman" panose="02020603050405020304" pitchFamily="18" charset="0"/>
                    </a:rPr>
                    <a:t>추출</a:t>
                  </a:r>
                  <a:endParaRPr lang="ko-KR" altLang="en-US" b="1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B64D119A-E4D8-803B-1FBD-07082A2ADB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09509" y="7000482"/>
                  <a:ext cx="2261548" cy="369332"/>
                </a:xfrm>
                <a:prstGeom prst="rect">
                  <a:avLst/>
                </a:prstGeom>
                <a:blipFill>
                  <a:blip r:embed="rId5"/>
                  <a:stretch>
                    <a:fillRect t="-5882" b="-13235"/>
                  </a:stretch>
                </a:blipFill>
                <a:ln w="44450">
                  <a:solidFill>
                    <a:srgbClr val="FF0000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BDBB4621-AD3B-2C68-164D-F3D2773BB5C0}"/>
                </a:ext>
              </a:extLst>
            </p:cNvPr>
            <p:cNvCxnSpPr/>
            <p:nvPr/>
          </p:nvCxnSpPr>
          <p:spPr>
            <a:xfrm>
              <a:off x="7235483" y="6467082"/>
              <a:ext cx="609600" cy="0"/>
            </a:xfrm>
            <a:prstGeom prst="line">
              <a:avLst/>
            </a:prstGeom>
            <a:ln w="444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화살표 연결선 12">
              <a:extLst>
                <a:ext uri="{FF2B5EF4-FFF2-40B4-BE49-F238E27FC236}">
                  <a16:creationId xmlns:a16="http://schemas.microsoft.com/office/drawing/2014/main" id="{6D195C1D-E2E2-F429-F3B2-B17618D3F120}"/>
                </a:ext>
              </a:extLst>
            </p:cNvPr>
            <p:cNvCxnSpPr/>
            <p:nvPr/>
          </p:nvCxnSpPr>
          <p:spPr>
            <a:xfrm>
              <a:off x="7540283" y="6467082"/>
              <a:ext cx="0" cy="405344"/>
            </a:xfrm>
            <a:prstGeom prst="straightConnector1">
              <a:avLst/>
            </a:prstGeom>
            <a:ln w="444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D44B25E4-4187-4318-586B-341B42C3910E}"/>
                    </a:ext>
                  </a:extLst>
                </p:cNvPr>
                <p:cNvSpPr txBox="1"/>
                <p:nvPr/>
              </p:nvSpPr>
              <p:spPr>
                <a:xfrm>
                  <a:off x="9140483" y="6762179"/>
                  <a:ext cx="6086615" cy="845937"/>
                </a:xfrm>
                <a:prstGeom prst="rect">
                  <a:avLst/>
                </a:prstGeom>
                <a:noFill/>
                <a:ln w="44450"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ko-KR" altLang="ko-KR" sz="2400" b="1" i="1" smtClean="0">
                                <a:solidFill>
                                  <a:srgbClr val="0070C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b="1" i="1">
                                <a:solidFill>
                                  <a:srgbClr val="0070C0"/>
                                </a:solidFill>
                                <a:effectLst/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Times New Roman" panose="020206030504050203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ko-KR" sz="2400" b="1" i="1">
                                <a:solidFill>
                                  <a:srgbClr val="0070C0"/>
                                </a:solidFill>
                                <a:effectLst/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Times New Roman" panose="02020603050405020304" pitchFamily="18" charset="0"/>
                              </a:rPr>
                              <m:t>𝒕𝒐𝒕𝒂𝒍</m:t>
                            </m:r>
                          </m:sub>
                        </m:sSub>
                        <m:r>
                          <a:rPr lang="en-US" altLang="ko-KR" sz="2400" b="1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ko-KR" altLang="ko-KR" sz="2400" b="1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ko-KR" altLang="ko-KR" sz="2400" b="1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400" b="1" i="1">
                                    <a:effectLst/>
                                    <a:latin typeface="Cambria Math" panose="02040503050406030204" pitchFamily="18" charset="0"/>
                                    <a:ea typeface="맑은 고딕" panose="020B0503020000020004" pitchFamily="50" charset="-127"/>
                                    <a:cs typeface="Times New Roman" panose="02020603050405020304" pitchFamily="18" charset="0"/>
                                  </a:rPr>
                                  <m:t>𝑽</m:t>
                                </m:r>
                              </m:e>
                              <m:sub>
                                <m:r>
                                  <a:rPr lang="en-US" altLang="ko-KR" sz="2400" b="1" i="1">
                                    <a:effectLst/>
                                    <a:latin typeface="Cambria Math" panose="02040503050406030204" pitchFamily="18" charset="0"/>
                                    <a:ea typeface="맑은 고딕" panose="020B0503020000020004" pitchFamily="50" charset="-127"/>
                                    <a:cs typeface="Times New Roman" panose="02020603050405020304" pitchFamily="18" charset="0"/>
                                  </a:rPr>
                                  <m:t>𝑫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ko-KR" altLang="ko-KR" sz="2400" b="1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400" b="1" i="1">
                                    <a:effectLst/>
                                    <a:latin typeface="Cambria Math" panose="02040503050406030204" pitchFamily="18" charset="0"/>
                                    <a:ea typeface="맑은 고딕" panose="020B0503020000020004" pitchFamily="50" charset="-127"/>
                                    <a:cs typeface="Times New Roman" panose="02020603050405020304" pitchFamily="18" charset="0"/>
                                  </a:rPr>
                                  <m:t>𝑰</m:t>
                                </m:r>
                              </m:e>
                              <m:sub>
                                <m:r>
                                  <a:rPr lang="en-US" altLang="ko-KR" sz="2400" b="1" i="1">
                                    <a:effectLst/>
                                    <a:latin typeface="Cambria Math" panose="02040503050406030204" pitchFamily="18" charset="0"/>
                                    <a:ea typeface="맑은 고딕" panose="020B0503020000020004" pitchFamily="50" charset="-127"/>
                                    <a:cs typeface="Times New Roman" panose="02020603050405020304" pitchFamily="18" charset="0"/>
                                  </a:rPr>
                                  <m:t>𝑫</m:t>
                                </m:r>
                              </m:sub>
                            </m:sSub>
                          </m:den>
                        </m:f>
                        <m:r>
                          <a:rPr lang="en-US" altLang="ko-KR" sz="2400" b="1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ko-KR" altLang="ko-KR" sz="2400" b="1" i="1" smtClean="0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b="1" i="1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Times New Roman" panose="020206030504050203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ko-KR" sz="2400" b="1" i="1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Times New Roman" panose="02020603050405020304" pitchFamily="18" charset="0"/>
                              </a:rPr>
                              <m:t>𝑪</m:t>
                            </m:r>
                          </m:sub>
                        </m:sSub>
                        <m:r>
                          <a:rPr lang="en-US" altLang="ko-KR" sz="2400" b="1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ko-KR" altLang="ko-KR" sz="2400" b="1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2400" b="1" i="1">
                                <a:effectLst/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Times New Roman" panose="02020603050405020304" pitchFamily="18" charset="0"/>
                              </a:rPr>
                              <m:t>𝑳</m:t>
                            </m:r>
                          </m:num>
                          <m:den>
                            <m:sSub>
                              <m:sSubPr>
                                <m:ctrlPr>
                                  <a:rPr lang="ko-KR" altLang="ko-KR" sz="2400" b="1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400" b="1" i="1">
                                    <a:effectLst/>
                                    <a:latin typeface="Cambria Math" panose="02040503050406030204" pitchFamily="18" charset="0"/>
                                    <a:ea typeface="맑은 고딕" panose="020B0503020000020004" pitchFamily="50" charset="-127"/>
                                    <a:cs typeface="Times New Roman" panose="02020603050405020304" pitchFamily="18" charset="0"/>
                                  </a:rPr>
                                  <m:t>𝝁</m:t>
                                </m:r>
                              </m:e>
                              <m:sub>
                                <m:r>
                                  <a:rPr lang="en-US" altLang="ko-KR" sz="2400" b="1" i="1">
                                    <a:effectLst/>
                                    <a:latin typeface="Cambria Math" panose="02040503050406030204" pitchFamily="18" charset="0"/>
                                    <a:ea typeface="맑은 고딕" panose="020B0503020000020004" pitchFamily="50" charset="-127"/>
                                    <a:cs typeface="Times New Roman" panose="02020603050405020304" pitchFamily="18" charset="0"/>
                                  </a:rPr>
                                  <m:t>𝒊𝒏𝒕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ko-KR" altLang="ko-KR" sz="2400" b="1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400" b="1" i="1">
                                    <a:effectLst/>
                                    <a:latin typeface="Cambria Math" panose="02040503050406030204" pitchFamily="18" charset="0"/>
                                    <a:ea typeface="맑은 고딕" panose="020B0503020000020004" pitchFamily="50" charset="-127"/>
                                    <a:cs typeface="Times New Roman" panose="02020603050405020304" pitchFamily="18" charset="0"/>
                                  </a:rPr>
                                  <m:t>𝑪</m:t>
                                </m:r>
                              </m:e>
                              <m:sub>
                                <m:r>
                                  <a:rPr lang="en-US" altLang="ko-KR" sz="2400" b="1" i="1">
                                    <a:effectLst/>
                                    <a:latin typeface="Cambria Math" panose="02040503050406030204" pitchFamily="18" charset="0"/>
                                    <a:ea typeface="맑은 고딕" panose="020B0503020000020004" pitchFamily="50" charset="-127"/>
                                    <a:cs typeface="Times New Roman" panose="02020603050405020304" pitchFamily="18" charset="0"/>
                                  </a:rPr>
                                  <m:t>𝒐𝒙</m:t>
                                </m:r>
                              </m:sub>
                            </m:sSub>
                            <m:r>
                              <a:rPr lang="en-US" altLang="ko-KR" sz="2400" b="1" i="1">
                                <a:effectLst/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Times New Roman" panose="02020603050405020304" pitchFamily="18" charset="0"/>
                              </a:rPr>
                              <m:t>𝐖</m:t>
                            </m:r>
                            <m:d>
                              <m:dPr>
                                <m:ctrlPr>
                                  <a:rPr lang="ko-KR" altLang="ko-KR" sz="2400" b="1" i="1" smtClean="0">
                                    <a:solidFill>
                                      <a:srgbClr val="0070C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ko-KR" altLang="ko-KR" sz="2400" b="1" i="1">
                                        <a:solidFill>
                                          <a:srgbClr val="0070C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400" b="1" i="1">
                                        <a:solidFill>
                                          <a:srgbClr val="0070C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맑은 고딕" panose="020B0503020000020004" pitchFamily="50" charset="-127"/>
                                        <a:cs typeface="Times New Roman" panose="020206030504050203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US" altLang="ko-KR" sz="2400" b="1" i="1">
                                        <a:solidFill>
                                          <a:srgbClr val="0070C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맑은 고딕" panose="020B0503020000020004" pitchFamily="50" charset="-127"/>
                                        <a:cs typeface="Times New Roman" panose="02020603050405020304" pitchFamily="18" charset="0"/>
                                      </a:rPr>
                                      <m:t>𝑮</m:t>
                                    </m:r>
                                  </m:sub>
                                </m:sSub>
                                <m:r>
                                  <a:rPr lang="en-US" altLang="ko-KR" sz="2400" b="1" i="1">
                                    <a:solidFill>
                                      <a:srgbClr val="0070C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맑은 고딕" panose="020B0503020000020004" pitchFamily="50" charset="-127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ko-KR" altLang="ko-KR" sz="2400" b="1" i="1">
                                        <a:solidFill>
                                          <a:srgbClr val="0070C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400" b="1" i="1">
                                        <a:solidFill>
                                          <a:srgbClr val="0070C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맑은 고딕" panose="020B0503020000020004" pitchFamily="50" charset="-127"/>
                                        <a:cs typeface="Times New Roman" panose="020206030504050203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US" altLang="ko-KR" sz="2400" b="1" i="1">
                                        <a:solidFill>
                                          <a:srgbClr val="0070C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맑은 고딕" panose="020B0503020000020004" pitchFamily="50" charset="-127"/>
                                        <a:cs typeface="Times New Roman" panose="02020603050405020304" pitchFamily="18" charset="0"/>
                                      </a:rPr>
                                      <m:t>𝑻𝑯</m:t>
                                    </m:r>
                                  </m:sub>
                                </m:sSub>
                              </m:e>
                            </m:d>
                          </m:den>
                        </m:f>
                      </m:oMath>
                    </m:oMathPara>
                  </a14:m>
                  <a:endParaRPr lang="ko-KR" altLang="en-US" sz="2400" b="1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D44B25E4-4187-4318-586B-341B42C391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40483" y="6762179"/>
                  <a:ext cx="6086615" cy="84593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44450"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878DFC48-5C28-D192-9B86-EFEA75582139}"/>
                </a:ext>
              </a:extLst>
            </p:cNvPr>
            <p:cNvCxnSpPr>
              <a:cxnSpLocks/>
            </p:cNvCxnSpPr>
            <p:nvPr/>
          </p:nvCxnSpPr>
          <p:spPr>
            <a:xfrm>
              <a:off x="8671057" y="7185147"/>
              <a:ext cx="533400" cy="0"/>
            </a:xfrm>
            <a:prstGeom prst="straightConnector1">
              <a:avLst/>
            </a:prstGeom>
            <a:ln w="444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3AEC062-96E1-9D35-F598-8F33A104F83C}"/>
                </a:ext>
              </a:extLst>
            </p:cNvPr>
            <p:cNvSpPr txBox="1"/>
            <p:nvPr/>
          </p:nvSpPr>
          <p:spPr>
            <a:xfrm>
              <a:off x="10373576" y="6052921"/>
              <a:ext cx="2261548" cy="369332"/>
            </a:xfrm>
            <a:prstGeom prst="rect">
              <a:avLst/>
            </a:prstGeom>
            <a:noFill/>
            <a:ln w="44450">
              <a:solidFill>
                <a:srgbClr val="FF0000"/>
              </a:solidFill>
            </a:ln>
          </p:spPr>
          <p:txBody>
            <a:bodyPr wrap="square">
              <a:spAutoFit/>
            </a:bodyPr>
            <a:lstStyle/>
            <a:p>
              <a:pPr algn="ctr" latinLnBrk="1">
                <a:spcAft>
                  <a:spcPts val="800"/>
                </a:spcAft>
              </a:pPr>
              <a:r>
                <a:rPr lang="en-US" altLang="ko-KR" b="1" kern="100" dirty="0">
                  <a:latin typeface="맑은 고딕" panose="020B0503020000020004" pitchFamily="50" charset="-127"/>
                  <a:cs typeface="Times New Roman" panose="02020603050405020304" pitchFamily="18" charset="0"/>
                </a:rPr>
                <a:t>y </a:t>
              </a:r>
              <a:r>
                <a:rPr lang="ko-KR" altLang="ko-KR" b="1" kern="100" dirty="0">
                  <a:latin typeface="맑은 고딕" panose="020B0503020000020004" pitchFamily="50" charset="-127"/>
                  <a:cs typeface="Times New Roman" panose="02020603050405020304" pitchFamily="18" charset="0"/>
                </a:rPr>
                <a:t>절편으로</a:t>
              </a:r>
              <a:r>
                <a:rPr lang="en-US" altLang="ko-KR" b="1" kern="100" dirty="0">
                  <a:latin typeface="맑은 고딕" panose="020B0503020000020004" pitchFamily="50" charset="-127"/>
                  <a:cs typeface="Times New Roman" panose="02020603050405020304" pitchFamily="18" charset="0"/>
                </a:rPr>
                <a:t> R</a:t>
              </a:r>
              <a:r>
                <a:rPr lang="en-US" altLang="ko-KR" b="1" kern="100" baseline="-25000" dirty="0">
                  <a:latin typeface="맑은 고딕" panose="020B0503020000020004" pitchFamily="50" charset="-127"/>
                  <a:cs typeface="Times New Roman" panose="02020603050405020304" pitchFamily="18" charset="0"/>
                </a:rPr>
                <a:t>C</a:t>
              </a:r>
              <a:r>
                <a:rPr lang="en-US" altLang="ko-KR" b="1" kern="100" dirty="0">
                  <a:latin typeface="맑은 고딕" panose="020B0503020000020004" pitchFamily="50" charset="-127"/>
                  <a:cs typeface="Times New Roman" panose="02020603050405020304" pitchFamily="18" charset="0"/>
                </a:rPr>
                <a:t> </a:t>
              </a:r>
              <a:r>
                <a:rPr lang="ko-KR" altLang="ko-KR" b="1" kern="100" dirty="0">
                  <a:latin typeface="맑은 고딕" panose="020B0503020000020004" pitchFamily="50" charset="-127"/>
                  <a:cs typeface="Times New Roman" panose="02020603050405020304" pitchFamily="18" charset="0"/>
                </a:rPr>
                <a:t>추출</a:t>
              </a:r>
              <a:endParaRPr lang="ko-KR" altLang="en-US" b="1" dirty="0"/>
            </a:p>
          </p:txBody>
        </p: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D1B7C637-3539-F10D-C96C-37A05A93E9EF}"/>
                </a:ext>
              </a:extLst>
            </p:cNvPr>
            <p:cNvCxnSpPr/>
            <p:nvPr/>
          </p:nvCxnSpPr>
          <p:spPr>
            <a:xfrm>
              <a:off x="11197883" y="6964470"/>
              <a:ext cx="609600" cy="0"/>
            </a:xfrm>
            <a:prstGeom prst="line">
              <a:avLst/>
            </a:prstGeom>
            <a:ln w="444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화살표 연결선 17">
              <a:extLst>
                <a:ext uri="{FF2B5EF4-FFF2-40B4-BE49-F238E27FC236}">
                  <a16:creationId xmlns:a16="http://schemas.microsoft.com/office/drawing/2014/main" id="{50AB8203-5032-302E-C595-E608A5F5C7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02683" y="6543282"/>
              <a:ext cx="0" cy="401554"/>
            </a:xfrm>
            <a:prstGeom prst="straightConnector1">
              <a:avLst/>
            </a:prstGeom>
            <a:ln w="444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6966597-7794-BF59-53E8-DDFF521250C9}"/>
              </a:ext>
            </a:extLst>
          </p:cNvPr>
          <p:cNvSpPr/>
          <p:nvPr/>
        </p:nvSpPr>
        <p:spPr>
          <a:xfrm>
            <a:off x="11430000" y="5829300"/>
            <a:ext cx="685800" cy="365760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A8611096-734E-7300-AC4F-72A259D56F3E}"/>
              </a:ext>
            </a:extLst>
          </p:cNvPr>
          <p:cNvSpPr/>
          <p:nvPr/>
        </p:nvSpPr>
        <p:spPr>
          <a:xfrm>
            <a:off x="5715000" y="8648700"/>
            <a:ext cx="447815" cy="6096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3663D3-F871-A8C7-8A67-50C8E1819432}"/>
              </a:ext>
            </a:extLst>
          </p:cNvPr>
          <p:cNvSpPr txBox="1"/>
          <p:nvPr/>
        </p:nvSpPr>
        <p:spPr>
          <a:xfrm>
            <a:off x="5343385" y="8781990"/>
            <a:ext cx="4478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rgbClr val="FF0000"/>
                </a:solidFill>
              </a:rPr>
              <a:t>R</a:t>
            </a:r>
            <a:r>
              <a:rPr lang="en-US" altLang="ko-KR" sz="2000" b="1" baseline="-25000" dirty="0">
                <a:solidFill>
                  <a:srgbClr val="FF0000"/>
                </a:solidFill>
              </a:rPr>
              <a:t>C</a:t>
            </a:r>
            <a:endParaRPr lang="ko-KR" altLang="en-US" sz="2000" b="1" baseline="-25000" dirty="0">
              <a:solidFill>
                <a:srgbClr val="FF0000"/>
              </a:solidFill>
            </a:endParaRP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99C0081A-185B-CC2E-6793-48FDC75EEA0E}"/>
              </a:ext>
            </a:extLst>
          </p:cNvPr>
          <p:cNvGrpSpPr/>
          <p:nvPr/>
        </p:nvGrpSpPr>
        <p:grpSpPr>
          <a:xfrm>
            <a:off x="4114800" y="8115300"/>
            <a:ext cx="381000" cy="381000"/>
            <a:chOff x="4114800" y="8267700"/>
            <a:chExt cx="381000" cy="381000"/>
          </a:xfrm>
        </p:grpSpPr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68B6DD7A-EFF9-DB23-278D-958B50CFF60E}"/>
                </a:ext>
              </a:extLst>
            </p:cNvPr>
            <p:cNvCxnSpPr/>
            <p:nvPr/>
          </p:nvCxnSpPr>
          <p:spPr>
            <a:xfrm>
              <a:off x="4114800" y="8648700"/>
              <a:ext cx="381000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화살표 연결선 23">
              <a:extLst>
                <a:ext uri="{FF2B5EF4-FFF2-40B4-BE49-F238E27FC236}">
                  <a16:creationId xmlns:a16="http://schemas.microsoft.com/office/drawing/2014/main" id="{7847D601-3B09-F2AA-7050-ED393683A0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95800" y="8267700"/>
              <a:ext cx="0" cy="38100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32505CDB-5258-BE6E-9EEC-37426F61D9C6}"/>
              </a:ext>
            </a:extLst>
          </p:cNvPr>
          <p:cNvSpPr txBox="1"/>
          <p:nvPr/>
        </p:nvSpPr>
        <p:spPr>
          <a:xfrm>
            <a:off x="4495800" y="8149022"/>
            <a:ext cx="6189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altLang="ko-KR" sz="2000" b="1" dirty="0">
                <a:solidFill>
                  <a:srgbClr val="FF0000"/>
                </a:solidFill>
              </a:rPr>
              <a:t>μ</a:t>
            </a:r>
            <a:r>
              <a:rPr lang="en-US" altLang="ko-KR" sz="2000" b="1" baseline="-25000" dirty="0">
                <a:solidFill>
                  <a:srgbClr val="FF0000"/>
                </a:solidFill>
              </a:rPr>
              <a:t>int</a:t>
            </a:r>
            <a:endParaRPr lang="ko-KR" altLang="en-US" sz="2000" b="1" baseline="-25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90585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70EB79-CF14-52E4-CB7F-3A88F62C3D8C}"/>
              </a:ext>
            </a:extLst>
          </p:cNvPr>
          <p:cNvSpPr txBox="1"/>
          <p:nvPr/>
        </p:nvSpPr>
        <p:spPr>
          <a:xfrm>
            <a:off x="381000" y="266700"/>
            <a:ext cx="17297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④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Transfer characteristics during CS tests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76B05C6-B555-7569-2BF2-5E4F8F7B18E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2324100"/>
            <a:ext cx="7094994" cy="78867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EC0D613-B9DA-B0CF-2187-2502ECA6AFE0}"/>
              </a:ext>
            </a:extLst>
          </p:cNvPr>
          <p:cNvSpPr txBox="1"/>
          <p:nvPr/>
        </p:nvSpPr>
        <p:spPr>
          <a:xfrm>
            <a:off x="410400" y="1616214"/>
            <a:ext cx="176681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■ 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5,000</a:t>
            </a:r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초의 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Current-stress 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( </a:t>
            </a:r>
            <a:r>
              <a:rPr lang="en-US" altLang="ko-KR" sz="4000" dirty="0" err="1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V</a:t>
            </a:r>
            <a:r>
              <a:rPr lang="en-US" altLang="ko-KR" sz="4000" baseline="-25000" dirty="0" err="1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D,str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= 30 V / </a:t>
            </a:r>
            <a:r>
              <a:rPr lang="en-US" altLang="ko-KR" sz="4000" dirty="0" err="1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V</a:t>
            </a:r>
            <a:r>
              <a:rPr lang="en-US" altLang="ko-KR" sz="4000" baseline="-25000" dirty="0" err="1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D,str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= 40 V )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 </a:t>
            </a:r>
            <a:endParaRPr lang="en-US" altLang="ko-KR" sz="4000" dirty="0">
              <a:solidFill>
                <a:srgbClr val="0F4D8B"/>
              </a:solidFill>
              <a:latin typeface="TDTD강굴림" panose="020B0600000101010101" charset="-127"/>
              <a:ea typeface="TDTD강굴림" panose="020B0600000101010101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D427107-46FF-E677-C045-B0BBBE6B8A6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5800" y="4660804"/>
            <a:ext cx="9830924" cy="3073496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4A1EF3CB-57DF-D11F-E496-151BDF670FBF}"/>
              </a:ext>
            </a:extLst>
          </p:cNvPr>
          <p:cNvSpPr/>
          <p:nvPr/>
        </p:nvSpPr>
        <p:spPr>
          <a:xfrm>
            <a:off x="13106400" y="4660804"/>
            <a:ext cx="4953000" cy="3073496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A695B9E6-9036-AC86-7F24-EC1F7A22B6AC}"/>
              </a:ext>
            </a:extLst>
          </p:cNvPr>
          <p:cNvCxnSpPr/>
          <p:nvPr/>
        </p:nvCxnSpPr>
        <p:spPr>
          <a:xfrm>
            <a:off x="15621000" y="7734300"/>
            <a:ext cx="0" cy="405344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A61D686-A7DF-049C-CAA7-41198DC1F5A3}"/>
              </a:ext>
            </a:extLst>
          </p:cNvPr>
          <p:cNvSpPr txBox="1"/>
          <p:nvPr/>
        </p:nvSpPr>
        <p:spPr>
          <a:xfrm>
            <a:off x="13455419" y="8267700"/>
            <a:ext cx="4331162" cy="707886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ctr" latinLnBrk="1">
              <a:spcAft>
                <a:spcPts val="800"/>
              </a:spcAft>
            </a:pPr>
            <a:r>
              <a:rPr lang="en-US" altLang="ko-KR" sz="2000" b="1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Near-zero current-boosting in HC-IY TFTs </a:t>
            </a:r>
          </a:p>
        </p:txBody>
      </p:sp>
    </p:spTree>
    <p:extLst>
      <p:ext uri="{BB962C8B-B14F-4D97-AF65-F5344CB8AC3E}">
        <p14:creationId xmlns:p14="http://schemas.microsoft.com/office/powerpoint/2010/main" val="19704858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70EB79-CF14-52E4-CB7F-3A88F62C3D8C}"/>
              </a:ext>
            </a:extLst>
          </p:cNvPr>
          <p:cNvSpPr txBox="1"/>
          <p:nvPr/>
        </p:nvSpPr>
        <p:spPr>
          <a:xfrm>
            <a:off x="381000" y="266700"/>
            <a:ext cx="16687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⑤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Near-zero current-boosting in HC-IY TFTs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4114021-27FA-0D4B-109E-A5057C4B1F2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3955" y="2324100"/>
            <a:ext cx="9957245" cy="793048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AEF767B-744E-CF33-30CE-6B4E3DDB988B}"/>
              </a:ext>
            </a:extLst>
          </p:cNvPr>
          <p:cNvSpPr txBox="1"/>
          <p:nvPr/>
        </p:nvSpPr>
        <p:spPr>
          <a:xfrm>
            <a:off x="410400" y="1616214"/>
            <a:ext cx="176681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■ 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Current-stress</a:t>
            </a:r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에 의한 </a:t>
            </a:r>
            <a:r>
              <a:rPr lang="en-US" altLang="ko-KR" sz="4000" dirty="0" err="1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L</a:t>
            </a:r>
            <a:r>
              <a:rPr lang="en-US" altLang="ko-KR" sz="4000" baseline="-25000" dirty="0" err="1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trap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and R</a:t>
            </a:r>
            <a:r>
              <a:rPr lang="en-US" altLang="ko-KR" sz="4000" baseline="-25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C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변화</a:t>
            </a:r>
            <a:endParaRPr lang="en-US" altLang="ko-KR" sz="4000" dirty="0">
              <a:solidFill>
                <a:srgbClr val="0F4D8B"/>
              </a:solidFill>
              <a:latin typeface="TDTD강굴림" panose="020B0600000101010101" charset="-127"/>
              <a:ea typeface="TDTD강굴림" panose="020B0600000101010101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D956382-BB6F-A8E4-3A3A-C143ECC9F79B}"/>
                  </a:ext>
                </a:extLst>
              </p:cNvPr>
              <p:cNvSpPr txBox="1"/>
              <p:nvPr/>
            </p:nvSpPr>
            <p:spPr>
              <a:xfrm>
                <a:off x="1219200" y="2739471"/>
                <a:ext cx="5486400" cy="1043171"/>
              </a:xfrm>
              <a:prstGeom prst="rect">
                <a:avLst/>
              </a:prstGeom>
              <a:noFill/>
              <a:ln w="31750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ko-KR" altLang="en-US" sz="2000" dirty="0">
                    <a:latin typeface="TDTD강굴림" panose="020B0600000101010101" charset="-127"/>
                    <a:ea typeface="TDTD강굴림" panose="020B0600000101010101" charset="-127"/>
                    <a:sym typeface="Wingdings" panose="05000000000000000000" pitchFamily="2" charset="2"/>
                  </a:rPr>
                  <a:t>스트레스 전</a:t>
                </a:r>
                <a:r>
                  <a:rPr lang="en-US" altLang="ko-KR" sz="2000" dirty="0">
                    <a:latin typeface="TDTD강굴림" panose="020B0600000101010101" charset="-127"/>
                    <a:ea typeface="TDTD강굴림" panose="020B0600000101010101" charset="-127"/>
                    <a:sym typeface="Wingdings" panose="05000000000000000000" pitchFamily="2" charset="2"/>
                  </a:rPr>
                  <a:t>, </a:t>
                </a:r>
                <a:r>
                  <a:rPr lang="ko-KR" altLang="en-US" sz="2000" dirty="0">
                    <a:latin typeface="TDTD강굴림" panose="020B0600000101010101" charset="-127"/>
                    <a:ea typeface="TDTD강굴림" panose="020B0600000101010101" charset="-127"/>
                    <a:sym typeface="Wingdings" panose="05000000000000000000" pitchFamily="2" charset="2"/>
                  </a:rPr>
                  <a:t>채널 길이</a:t>
                </a:r>
                <a:r>
                  <a:rPr lang="en-US" altLang="ko-KR" sz="2000" dirty="0">
                    <a:latin typeface="TDTD강굴림" panose="020B0600000101010101" charset="-127"/>
                    <a:ea typeface="TDTD강굴림" panose="020B0600000101010101" charset="-127"/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2000" b="1">
                        <a:latin typeface="Cambria Math" panose="02040503050406030204" pitchFamily="18" charset="0"/>
                        <a:ea typeface="TDTD강굴림" panose="020B0600000101010101" charset="-127"/>
                        <a:sym typeface="Wingdings" panose="05000000000000000000" pitchFamily="2" charset="2"/>
                      </a:rPr>
                      <m:t>=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TDTD강굴림" panose="020B0600000101010101" charset="-127"/>
                        <a:sym typeface="Wingdings" panose="05000000000000000000" pitchFamily="2" charset="2"/>
                      </a:rPr>
                      <m:t>𝑳</m:t>
                    </m:r>
                  </m:oMath>
                </a14:m>
                <a:endParaRPr lang="en-US" altLang="ko-KR" sz="2000" b="1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ko-KR" sz="2000" b="1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ko-KR" altLang="en-US" sz="2000" dirty="0">
                    <a:latin typeface="TDTD강굴림" panose="020B0600000101010101" charset="-127"/>
                    <a:ea typeface="TDTD강굴림" panose="020B0600000101010101" charset="-127"/>
                    <a:sym typeface="Wingdings" panose="05000000000000000000" pitchFamily="2" charset="2"/>
                  </a:rPr>
                  <a:t>스트레스 후</a:t>
                </a:r>
                <a:r>
                  <a:rPr lang="en-US" altLang="ko-KR" sz="2000" dirty="0">
                    <a:latin typeface="TDTD강굴림" panose="020B0600000101010101" charset="-127"/>
                    <a:ea typeface="TDTD강굴림" panose="020B0600000101010101" charset="-127"/>
                    <a:sym typeface="Wingdings" panose="05000000000000000000" pitchFamily="2" charset="2"/>
                  </a:rPr>
                  <a:t>,</a:t>
                </a:r>
                <a:r>
                  <a:rPr lang="ko-KR" altLang="en-US" sz="2000" dirty="0">
                    <a:latin typeface="TDTD강굴림" panose="020B0600000101010101" charset="-127"/>
                    <a:ea typeface="TDTD강굴림" panose="020B0600000101010101" charset="-127"/>
                    <a:sym typeface="Wingdings" panose="05000000000000000000" pitchFamily="2" charset="2"/>
                  </a:rPr>
                  <a:t> 채널 길이 </a:t>
                </a:r>
                <a14:m>
                  <m:oMath xmlns:m="http://schemas.openxmlformats.org/officeDocument/2006/math">
                    <m:r>
                      <a:rPr lang="en-US" altLang="ko-KR" sz="2000" b="1" smtClean="0">
                        <a:latin typeface="Cambria Math" panose="02040503050406030204" pitchFamily="18" charset="0"/>
                        <a:ea typeface="TDTD강굴림" panose="020B0600000101010101" charset="-127"/>
                        <a:sym typeface="Wingdings" panose="05000000000000000000" pitchFamily="2" charset="2"/>
                      </a:rPr>
                      <m:t>=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TDTD강굴림" panose="020B0600000101010101" charset="-127"/>
                        <a:sym typeface="Wingdings" panose="05000000000000000000" pitchFamily="2" charset="2"/>
                      </a:rPr>
                      <m:t>𝑳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TDTD강굴림" panose="020B0600000101010101" charset="-127"/>
                        <a:sym typeface="Wingdings" panose="05000000000000000000" pitchFamily="2" charset="2"/>
                      </a:rPr>
                      <m:t>−</m:t>
                    </m:r>
                    <m:sSub>
                      <m:sSubPr>
                        <m:ctrlPr>
                          <a:rPr lang="en-US" altLang="ko-KR" sz="2000" b="1" i="1" smtClean="0">
                            <a:latin typeface="Cambria Math" panose="02040503050406030204" pitchFamily="18" charset="0"/>
                            <a:ea typeface="TDTD강굴림" panose="020B0600000101010101" charset="-127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ko-KR" sz="2000" b="1" i="1" smtClean="0">
                            <a:latin typeface="Cambria Math" panose="02040503050406030204" pitchFamily="18" charset="0"/>
                            <a:ea typeface="TDTD강굴림" panose="020B0600000101010101" charset="-127"/>
                            <a:sym typeface="Wingdings" panose="05000000000000000000" pitchFamily="2" charset="2"/>
                          </a:rPr>
                          <m:t>𝑳</m:t>
                        </m:r>
                      </m:e>
                      <m:sub>
                        <m:r>
                          <a:rPr lang="en-US" altLang="ko-KR" sz="2000" b="1" i="1" smtClean="0">
                            <a:latin typeface="Cambria Math" panose="02040503050406030204" pitchFamily="18" charset="0"/>
                            <a:ea typeface="TDTD강굴림" panose="020B0600000101010101" charset="-127"/>
                            <a:sym typeface="Wingdings" panose="05000000000000000000" pitchFamily="2" charset="2"/>
                          </a:rPr>
                          <m:t>𝒕𝒓𝒂𝒑</m:t>
                        </m:r>
                      </m:sub>
                    </m:sSub>
                  </m:oMath>
                </a14:m>
                <a:endParaRPr lang="en-US" altLang="ko-KR" sz="2000" baseline="-25000" dirty="0">
                  <a:solidFill>
                    <a:srgbClr val="FF0000"/>
                  </a:solidFill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D956382-BB6F-A8E4-3A3A-C143ECC9F7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" y="2739471"/>
                <a:ext cx="5486400" cy="1043171"/>
              </a:xfrm>
              <a:prstGeom prst="rect">
                <a:avLst/>
              </a:prstGeom>
              <a:blipFill>
                <a:blip r:embed="rId4"/>
                <a:stretch>
                  <a:fillRect l="-773" t="-1695" b="-5085"/>
                </a:stretch>
              </a:blipFill>
              <a:ln w="3175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CDD1EA6F-E102-4098-3B9F-9EDBD9A81487}"/>
              </a:ext>
            </a:extLst>
          </p:cNvPr>
          <p:cNvSpPr/>
          <p:nvPr/>
        </p:nvSpPr>
        <p:spPr>
          <a:xfrm rot="5400000">
            <a:off x="3488639" y="3980210"/>
            <a:ext cx="490321" cy="533400"/>
          </a:xfrm>
          <a:prstGeom prst="rightArrow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2DD73F3-3CD7-E378-61E1-5DCD8AA947FA}"/>
                  </a:ext>
                </a:extLst>
              </p:cNvPr>
              <p:cNvSpPr txBox="1"/>
              <p:nvPr/>
            </p:nvSpPr>
            <p:spPr>
              <a:xfrm>
                <a:off x="1219200" y="4705705"/>
                <a:ext cx="5486400" cy="2834366"/>
              </a:xfrm>
              <a:prstGeom prst="rect">
                <a:avLst/>
              </a:prstGeom>
              <a:noFill/>
              <a:ln w="31750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ko-KR" altLang="en-US" sz="2000" dirty="0">
                    <a:latin typeface="TDTD강굴림" panose="020B0600000101010101" charset="-127"/>
                    <a:ea typeface="TDTD강굴림" panose="020B0600000101010101" charset="-127"/>
                    <a:sym typeface="Wingdings" panose="05000000000000000000" pitchFamily="2" charset="2"/>
                  </a:rPr>
                  <a:t>스트레스 전</a:t>
                </a:r>
                <a:r>
                  <a:rPr lang="en-US" altLang="ko-KR" sz="2000" dirty="0">
                    <a:latin typeface="TDTD강굴림" panose="020B0600000101010101" charset="-127"/>
                    <a:ea typeface="TDTD강굴림" panose="020B0600000101010101" charset="-127"/>
                    <a:sym typeface="Wingdings" panose="05000000000000000000" pitchFamily="2" charset="2"/>
                  </a:rPr>
                  <a:t>, Y-function </a:t>
                </a:r>
                <a:r>
                  <a:rPr lang="ko-KR" altLang="en-US" sz="2000" dirty="0">
                    <a:latin typeface="TDTD강굴림" panose="020B0600000101010101" charset="-127"/>
                    <a:ea typeface="TDTD강굴림" panose="020B0600000101010101" charset="-127"/>
                    <a:sym typeface="Wingdings" panose="05000000000000000000" pitchFamily="2" charset="2"/>
                  </a:rPr>
                  <a:t>기울기</a:t>
                </a:r>
                <a:endParaRPr lang="en-US" altLang="ko-KR" sz="2000" b="1" dirty="0">
                  <a:latin typeface="Cambria Math" panose="02040503050406030204" pitchFamily="18" charset="0"/>
                  <a:ea typeface="TDTD강굴림" panose="020B0600000101010101" charset="-127"/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1">
                          <a:latin typeface="Cambria Math" panose="02040503050406030204" pitchFamily="18" charset="0"/>
                          <a:ea typeface="TDTD강굴림" panose="020B0600000101010101" charset="-127"/>
                          <a:sym typeface="Wingdings" panose="05000000000000000000" pitchFamily="2" charset="2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ko-KR" altLang="ko-KR" sz="2000" b="1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ko-KR" altLang="ko-KR" sz="2000" b="1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2000" b="1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𝑾</m:t>
                              </m:r>
                            </m:num>
                            <m:den>
                              <m:r>
                                <a:rPr lang="en-US" altLang="ko-KR" sz="2000" b="1" i="1" kern="10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𝑳</m:t>
                              </m:r>
                            </m:den>
                          </m:f>
                          <m:sSub>
                            <m:sSubPr>
                              <m:ctrlPr>
                                <a:rPr lang="ko-KR" altLang="ko-KR" sz="2000" b="1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ko-KR" altLang="ko-KR" sz="2000" b="1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b="1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altLang="ko-KR" sz="2000" b="1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𝒊𝒏𝒕</m:t>
                                  </m:r>
                                </m:sub>
                              </m:sSub>
                              <m:r>
                                <a:rPr lang="en-US" altLang="ko-KR" sz="2000" b="1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𝑪</m:t>
                              </m:r>
                            </m:e>
                            <m:sub>
                              <m:r>
                                <a:rPr lang="en-US" altLang="ko-KR" sz="2000" b="1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𝒐𝒙</m:t>
                              </m:r>
                            </m:sub>
                          </m:sSub>
                          <m:r>
                            <a:rPr lang="en-US" altLang="ko-KR" sz="2000" b="1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ko-KR" altLang="ko-KR" sz="2000" b="1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1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altLang="ko-KR" sz="2000" b="1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𝑫</m:t>
                              </m:r>
                            </m:sub>
                          </m:sSub>
                        </m:e>
                      </m:rad>
                    </m:oMath>
                  </m:oMathPara>
                </a14:m>
                <a:endParaRPr lang="en-US" altLang="ko-KR" sz="2000" b="1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endParaRPr>
              </a:p>
              <a:p>
                <a:endParaRPr lang="en-US" altLang="ko-KR" sz="2000" b="1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ko-KR" altLang="en-US" sz="2000" dirty="0">
                    <a:latin typeface="TDTD강굴림" panose="020B0600000101010101" charset="-127"/>
                    <a:ea typeface="TDTD강굴림" panose="020B0600000101010101" charset="-127"/>
                    <a:sym typeface="Wingdings" panose="05000000000000000000" pitchFamily="2" charset="2"/>
                  </a:rPr>
                  <a:t>스트레스 후</a:t>
                </a:r>
                <a:r>
                  <a:rPr lang="en-US" altLang="ko-KR" sz="2000" dirty="0">
                    <a:latin typeface="TDTD강굴림" panose="020B0600000101010101" charset="-127"/>
                    <a:ea typeface="TDTD강굴림" panose="020B0600000101010101" charset="-127"/>
                    <a:sym typeface="Wingdings" panose="05000000000000000000" pitchFamily="2" charset="2"/>
                  </a:rPr>
                  <a:t>, Y-function </a:t>
                </a:r>
                <a:r>
                  <a:rPr lang="ko-KR" altLang="en-US" sz="2000" dirty="0">
                    <a:latin typeface="TDTD강굴림" panose="020B0600000101010101" charset="-127"/>
                    <a:ea typeface="TDTD강굴림" panose="020B0600000101010101" charset="-127"/>
                    <a:sym typeface="Wingdings" panose="05000000000000000000" pitchFamily="2" charset="2"/>
                  </a:rPr>
                  <a:t>기울기</a:t>
                </a:r>
                <a:endParaRPr lang="en-US" altLang="ko-KR" sz="2000" b="1" dirty="0">
                  <a:latin typeface="Cambria Math" panose="02040503050406030204" pitchFamily="18" charset="0"/>
                  <a:ea typeface="TDTD강굴림" panose="020B0600000101010101" charset="-127"/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1">
                          <a:latin typeface="Cambria Math" panose="02040503050406030204" pitchFamily="18" charset="0"/>
                          <a:ea typeface="TDTD강굴림" panose="020B0600000101010101" charset="-127"/>
                          <a:sym typeface="Wingdings" panose="05000000000000000000" pitchFamily="2" charset="2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ko-KR" altLang="ko-KR" sz="2000" b="1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ko-KR" altLang="ko-KR" sz="2000" b="1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2000" b="1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𝑾</m:t>
                              </m:r>
                            </m:num>
                            <m:den>
                              <m:r>
                                <a:rPr lang="en-US" altLang="ko-KR" sz="2000" b="1" i="1" kern="10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𝑳</m:t>
                              </m:r>
                              <m:r>
                                <a:rPr lang="en-US" altLang="ko-KR" sz="2000" b="1" i="1" kern="10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ko-KR" sz="2000" b="1" i="1" kern="10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b="1" i="1" kern="10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𝑳</m:t>
                                  </m:r>
                                </m:e>
                                <m:sub>
                                  <m:r>
                                    <a:rPr lang="en-US" altLang="ko-KR" sz="2000" b="1" i="1" kern="10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𝒕𝒓𝒂𝒑</m:t>
                                  </m:r>
                                </m:sub>
                              </m:sSub>
                            </m:den>
                          </m:f>
                          <m:sSub>
                            <m:sSubPr>
                              <m:ctrlPr>
                                <a:rPr lang="ko-KR" altLang="ko-KR" sz="2000" b="1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ko-KR" altLang="ko-KR" sz="2000" b="1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b="1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altLang="ko-KR" sz="2000" b="1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𝒊𝒏𝒕</m:t>
                                  </m:r>
                                </m:sub>
                              </m:sSub>
                              <m:r>
                                <a:rPr lang="en-US" altLang="ko-KR" sz="2000" b="1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𝑪</m:t>
                              </m:r>
                            </m:e>
                            <m:sub>
                              <m:r>
                                <a:rPr lang="en-US" altLang="ko-KR" sz="2000" b="1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𝒐𝒙</m:t>
                              </m:r>
                            </m:sub>
                          </m:sSub>
                          <m:r>
                            <a:rPr lang="en-US" altLang="ko-KR" sz="2000" b="1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ko-KR" altLang="ko-KR" sz="2000" b="1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1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altLang="ko-KR" sz="2000" b="1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𝑫</m:t>
                              </m:r>
                            </m:sub>
                          </m:sSub>
                        </m:e>
                      </m:rad>
                    </m:oMath>
                  </m:oMathPara>
                </a14:m>
                <a:endParaRPr lang="en-US" altLang="ko-KR" sz="2000" baseline="-25000" dirty="0">
                  <a:solidFill>
                    <a:srgbClr val="FF0000"/>
                  </a:solidFill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2DD73F3-3CD7-E378-61E1-5DCD8AA947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" y="4705705"/>
                <a:ext cx="5486400" cy="2834366"/>
              </a:xfrm>
              <a:prstGeom prst="rect">
                <a:avLst/>
              </a:prstGeom>
              <a:blipFill>
                <a:blip r:embed="rId5"/>
                <a:stretch>
                  <a:fillRect l="-773" t="-851"/>
                </a:stretch>
              </a:blipFill>
              <a:ln w="3175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138D0A81-4474-E684-0BE5-ED37C7653E1E}"/>
              </a:ext>
            </a:extLst>
          </p:cNvPr>
          <p:cNvSpPr txBox="1"/>
          <p:nvPr/>
        </p:nvSpPr>
        <p:spPr>
          <a:xfrm>
            <a:off x="4191000" y="4034871"/>
            <a:ext cx="22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b="1" dirty="0"/>
              <a:t>가정</a:t>
            </a:r>
            <a:r>
              <a:rPr lang="en-US" altLang="ko-KR" dirty="0"/>
              <a:t>:  </a:t>
            </a:r>
            <a:r>
              <a:rPr lang="ko-KR" altLang="en-US" dirty="0"/>
              <a:t>𝝁</a:t>
            </a:r>
            <a:r>
              <a:rPr lang="ko-KR" altLang="en-US" baseline="-25000" dirty="0"/>
              <a:t>𝒊𝒏𝒕</a:t>
            </a:r>
            <a:r>
              <a:rPr lang="ko-KR" altLang="en-US" dirty="0"/>
              <a:t> </a:t>
            </a:r>
            <a:r>
              <a:rPr lang="en-US" altLang="ko-KR" dirty="0"/>
              <a:t>is constant</a:t>
            </a:r>
            <a:endParaRPr lang="ko-KR" altLang="en-US" dirty="0"/>
          </a:p>
        </p:txBody>
      </p:sp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8438AE39-2BF7-F4AC-D3CF-766CF2B34759}"/>
              </a:ext>
            </a:extLst>
          </p:cNvPr>
          <p:cNvSpPr/>
          <p:nvPr/>
        </p:nvSpPr>
        <p:spPr>
          <a:xfrm rot="5400000">
            <a:off x="3488639" y="7747132"/>
            <a:ext cx="490321" cy="533400"/>
          </a:xfrm>
          <a:prstGeom prst="rightArrow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33FD7ED-271E-B994-5C35-F232A21E37F5}"/>
                  </a:ext>
                </a:extLst>
              </p:cNvPr>
              <p:cNvSpPr txBox="1"/>
              <p:nvPr/>
            </p:nvSpPr>
            <p:spPr>
              <a:xfrm>
                <a:off x="1219200" y="8482239"/>
                <a:ext cx="5486400" cy="1213666"/>
              </a:xfrm>
              <a:prstGeom prst="rect">
                <a:avLst/>
              </a:prstGeom>
              <a:noFill/>
              <a:ln w="31750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ko-KR" sz="2000" dirty="0">
                    <a:latin typeface="TDTD강굴림" panose="020B0600000101010101" charset="-127"/>
                    <a:ea typeface="TDTD강굴림" panose="020B0600000101010101" charset="-127"/>
                    <a:sym typeface="Wingdings" panose="05000000000000000000" pitchFamily="2" charset="2"/>
                  </a:rPr>
                  <a:t>Current stress </a:t>
                </a:r>
                <a:r>
                  <a:rPr lang="ko-KR" altLang="en-US" sz="2000" dirty="0">
                    <a:latin typeface="TDTD강굴림" panose="020B0600000101010101" charset="-127"/>
                    <a:ea typeface="TDTD강굴림" panose="020B0600000101010101" charset="-127"/>
                    <a:sym typeface="Wingdings" panose="05000000000000000000" pitchFamily="2" charset="2"/>
                  </a:rPr>
                  <a:t>동안의 </a:t>
                </a:r>
                <a:r>
                  <a:rPr lang="en-US" altLang="ko-KR" sz="2000" dirty="0" err="1">
                    <a:latin typeface="TDTD강굴림" panose="020B0600000101010101" charset="-127"/>
                    <a:ea typeface="TDTD강굴림" panose="020B0600000101010101" charset="-127"/>
                    <a:sym typeface="Wingdings" panose="05000000000000000000" pitchFamily="2" charset="2"/>
                  </a:rPr>
                  <a:t>L</a:t>
                </a:r>
                <a:r>
                  <a:rPr lang="en-US" altLang="ko-KR" sz="2000" baseline="-25000" dirty="0" err="1">
                    <a:latin typeface="TDTD강굴림" panose="020B0600000101010101" charset="-127"/>
                    <a:ea typeface="TDTD강굴림" panose="020B0600000101010101" charset="-127"/>
                    <a:sym typeface="Wingdings" panose="05000000000000000000" pitchFamily="2" charset="2"/>
                  </a:rPr>
                  <a:t>trap</a:t>
                </a:r>
                <a:endParaRPr lang="en-US" altLang="ko-KR" sz="2000" b="1" dirty="0">
                  <a:latin typeface="Cambria Math" panose="02040503050406030204" pitchFamily="18" charset="0"/>
                  <a:ea typeface="TDTD강굴림" panose="020B0600000101010101" charset="-127"/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1">
                          <a:latin typeface="Cambria Math" panose="02040503050406030204" pitchFamily="18" charset="0"/>
                          <a:ea typeface="TDTD강굴림" panose="020B0600000101010101" charset="-127"/>
                          <a:sym typeface="Wingdings" panose="05000000000000000000" pitchFamily="2" charset="2"/>
                        </a:rPr>
                        <m:t>=</m:t>
                      </m:r>
                      <m:r>
                        <a:rPr lang="en-US" altLang="ko-KR" sz="2000" b="1" i="1" smtClean="0">
                          <a:latin typeface="Cambria Math" panose="02040503050406030204" pitchFamily="18" charset="0"/>
                          <a:ea typeface="TDTD강굴림" panose="020B0600000101010101" charset="-127"/>
                          <a:sym typeface="Wingdings" panose="05000000000000000000" pitchFamily="2" charset="2"/>
                        </a:rPr>
                        <m:t>𝑳</m:t>
                      </m:r>
                      <m:r>
                        <a:rPr lang="en-US" altLang="ko-KR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∙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r>
                            <a:rPr lang="en-US" altLang="ko-KR" sz="2000" b="1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  <m:r>
                            <a:rPr lang="en-US" altLang="ko-KR" sz="2000" b="1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ko-KR" sz="2000" b="1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ko-KR" sz="2000" b="1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ko-KR" altLang="ko-KR" sz="2000" b="1" i="1" kern="10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m:rPr>
                                          <m:nor/>
                                        </m:rPr>
                                        <a:rPr lang="ko-KR" altLang="en-US" sz="2000" dirty="0">
                                          <a:latin typeface="TDTD강굴림" panose="020B0600000101010101" charset="-127"/>
                                          <a:ea typeface="TDTD강굴림" panose="020B0600000101010101" charset="-127"/>
                                          <a:sym typeface="Wingdings" panose="05000000000000000000" pitchFamily="2" charset="2"/>
                                        </a:rPr>
                                        <m:t>스트레스 전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ko-KR" sz="2000" dirty="0">
                                          <a:latin typeface="TDTD강굴림" panose="020B0600000101010101" charset="-127"/>
                                          <a:ea typeface="TDTD강굴림" panose="020B0600000101010101" charset="-127"/>
                                          <a:sym typeface="Wingdings" panose="05000000000000000000" pitchFamily="2" charset="2"/>
                                        </a:rPr>
                                        <m:t>, 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ko-KR" sz="2000" dirty="0">
                                          <a:latin typeface="TDTD강굴림" panose="020B0600000101010101" charset="-127"/>
                                          <a:ea typeface="TDTD강굴림" panose="020B0600000101010101" charset="-127"/>
                                          <a:sym typeface="Wingdings" panose="05000000000000000000" pitchFamily="2" charset="2"/>
                                        </a:rPr>
                                        <m:t>Y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ko-KR" sz="2000" dirty="0">
                                          <a:latin typeface="TDTD강굴림" panose="020B0600000101010101" charset="-127"/>
                                          <a:ea typeface="TDTD강굴림" panose="020B0600000101010101" charset="-127"/>
                                          <a:sym typeface="Wingdings" panose="05000000000000000000" pitchFamily="2" charset="2"/>
                                        </a:rPr>
                                        <m:t>−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ko-KR" sz="2000" dirty="0">
                                          <a:latin typeface="TDTD강굴림" panose="020B0600000101010101" charset="-127"/>
                                          <a:ea typeface="TDTD강굴림" panose="020B0600000101010101" charset="-127"/>
                                          <a:sym typeface="Wingdings" panose="05000000000000000000" pitchFamily="2" charset="2"/>
                                        </a:rPr>
                                        <m:t>function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ko-KR" sz="2000" dirty="0">
                                          <a:latin typeface="TDTD강굴림" panose="020B0600000101010101" charset="-127"/>
                                          <a:ea typeface="TDTD강굴림" panose="020B0600000101010101" charset="-127"/>
                                          <a:sym typeface="Wingdings" panose="05000000000000000000" pitchFamily="2" charset="2"/>
                                        </a:rPr>
                                        <m:t> 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ko-KR" altLang="en-US" sz="2000" dirty="0">
                                          <a:latin typeface="TDTD강굴림" panose="020B0600000101010101" charset="-127"/>
                                          <a:ea typeface="TDTD강굴림" panose="020B0600000101010101" charset="-127"/>
                                          <a:sym typeface="Wingdings" panose="05000000000000000000" pitchFamily="2" charset="2"/>
                                        </a:rPr>
                                        <m:t>기울기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ko-KR" sz="2000" b="1" dirty="0">
                                          <a:latin typeface="Cambria Math" panose="02040503050406030204" pitchFamily="18" charset="0"/>
                                          <a:ea typeface="TDTD강굴림" panose="020B0600000101010101" charset="-127"/>
                                          <a:sym typeface="Wingdings" panose="05000000000000000000" pitchFamily="2" charset="2"/>
                                        </a:rPr>
                                        <m:t> </m:t>
                                      </m:r>
                                    </m:num>
                                    <m:den>
                                      <m:r>
                                        <m:rPr>
                                          <m:nor/>
                                        </m:rPr>
                                        <a:rPr lang="ko-KR" altLang="en-US" sz="2000" dirty="0">
                                          <a:latin typeface="TDTD강굴림" panose="020B0600000101010101" charset="-127"/>
                                          <a:ea typeface="TDTD강굴림" panose="020B0600000101010101" charset="-127"/>
                                          <a:sym typeface="Wingdings" panose="05000000000000000000" pitchFamily="2" charset="2"/>
                                        </a:rPr>
                                        <m:t>스트레스 </m:t>
                                      </m:r>
                                      <m:r>
                                        <a:rPr lang="ko-KR" altLang="en-US" sz="2000" i="1" dirty="0" smtClean="0">
                                          <a:latin typeface="Cambria Math" panose="02040503050406030204" pitchFamily="18" charset="0"/>
                                          <a:ea typeface="TDTD강굴림" panose="020B0600000101010101" charset="-127"/>
                                          <a:sym typeface="Wingdings" panose="05000000000000000000" pitchFamily="2" charset="2"/>
                                        </a:rPr>
                                        <m:t>후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ko-KR" sz="2000" dirty="0">
                                          <a:latin typeface="TDTD강굴림" panose="020B0600000101010101" charset="-127"/>
                                          <a:ea typeface="TDTD강굴림" panose="020B0600000101010101" charset="-127"/>
                                          <a:sym typeface="Wingdings" panose="05000000000000000000" pitchFamily="2" charset="2"/>
                                        </a:rPr>
                                        <m:t>, 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ko-KR" sz="2000" dirty="0">
                                          <a:latin typeface="TDTD강굴림" panose="020B0600000101010101" charset="-127"/>
                                          <a:ea typeface="TDTD강굴림" panose="020B0600000101010101" charset="-127"/>
                                          <a:sym typeface="Wingdings" panose="05000000000000000000" pitchFamily="2" charset="2"/>
                                        </a:rPr>
                                        <m:t>Y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ko-KR" sz="2000" dirty="0">
                                          <a:latin typeface="TDTD강굴림" panose="020B0600000101010101" charset="-127"/>
                                          <a:ea typeface="TDTD강굴림" panose="020B0600000101010101" charset="-127"/>
                                          <a:sym typeface="Wingdings" panose="05000000000000000000" pitchFamily="2" charset="2"/>
                                        </a:rPr>
                                        <m:t>−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ko-KR" sz="2000" dirty="0">
                                          <a:latin typeface="TDTD강굴림" panose="020B0600000101010101" charset="-127"/>
                                          <a:ea typeface="TDTD강굴림" panose="020B0600000101010101" charset="-127"/>
                                          <a:sym typeface="Wingdings" panose="05000000000000000000" pitchFamily="2" charset="2"/>
                                        </a:rPr>
                                        <m:t>function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ko-KR" sz="2000" dirty="0">
                                          <a:latin typeface="TDTD강굴림" panose="020B0600000101010101" charset="-127"/>
                                          <a:ea typeface="TDTD강굴림" panose="020B0600000101010101" charset="-127"/>
                                          <a:sym typeface="Wingdings" panose="05000000000000000000" pitchFamily="2" charset="2"/>
                                        </a:rPr>
                                        <m:t> 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ko-KR" altLang="en-US" sz="2000" dirty="0">
                                          <a:latin typeface="TDTD강굴림" panose="020B0600000101010101" charset="-127"/>
                                          <a:ea typeface="TDTD강굴림" panose="020B0600000101010101" charset="-127"/>
                                          <a:sym typeface="Wingdings" panose="05000000000000000000" pitchFamily="2" charset="2"/>
                                        </a:rPr>
                                        <m:t>기울기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ko-KR" sz="2000" b="1" dirty="0">
                                          <a:latin typeface="Cambria Math" panose="02040503050406030204" pitchFamily="18" charset="0"/>
                                          <a:ea typeface="TDTD강굴림" panose="020B0600000101010101" charset="-127"/>
                                          <a:sym typeface="Wingdings" panose="05000000000000000000" pitchFamily="2" charset="2"/>
                                        </a:rPr>
                                        <m:t> 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altLang="ko-KR" sz="2000" b="1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altLang="ko-KR" sz="2000" baseline="-25000" dirty="0">
                  <a:solidFill>
                    <a:srgbClr val="FF0000"/>
                  </a:solidFill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33FD7ED-271E-B994-5C35-F232A21E37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" y="8482239"/>
                <a:ext cx="5486400" cy="1213666"/>
              </a:xfrm>
              <a:prstGeom prst="rect">
                <a:avLst/>
              </a:prstGeom>
              <a:blipFill>
                <a:blip r:embed="rId6"/>
                <a:stretch>
                  <a:fillRect l="-773" t="-1463"/>
                </a:stretch>
              </a:blipFill>
              <a:ln w="3175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80C04727-2A3C-337B-E03E-60C1089D8355}"/>
              </a:ext>
            </a:extLst>
          </p:cNvPr>
          <p:cNvCxnSpPr/>
          <p:nvPr/>
        </p:nvCxnSpPr>
        <p:spPr>
          <a:xfrm flipV="1">
            <a:off x="6705600" y="4838700"/>
            <a:ext cx="914400" cy="3643539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B26B83A-2E81-C158-E13F-74A55305CB65}"/>
              </a:ext>
            </a:extLst>
          </p:cNvPr>
          <p:cNvSpPr/>
          <p:nvPr/>
        </p:nvSpPr>
        <p:spPr>
          <a:xfrm>
            <a:off x="7524000" y="3839437"/>
            <a:ext cx="381000" cy="923063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37161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70EB79-CF14-52E4-CB7F-3A88F62C3D8C}"/>
              </a:ext>
            </a:extLst>
          </p:cNvPr>
          <p:cNvSpPr txBox="1"/>
          <p:nvPr/>
        </p:nvSpPr>
        <p:spPr>
          <a:xfrm>
            <a:off x="381000" y="266700"/>
            <a:ext cx="16230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⑤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Near-zero current-boosting in HC-IY TFTs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6FEB5E-E26A-DD68-7E62-81232CC5E1B0}"/>
              </a:ext>
            </a:extLst>
          </p:cNvPr>
          <p:cNvSpPr txBox="1"/>
          <p:nvPr/>
        </p:nvSpPr>
        <p:spPr>
          <a:xfrm>
            <a:off x="410400" y="1616214"/>
            <a:ext cx="176681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■ 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5000</a:t>
            </a:r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초의 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Current-stress 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 ( </a:t>
            </a:r>
            <a:r>
              <a:rPr lang="en-US" altLang="ko-KR" sz="4000" dirty="0" err="1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V</a:t>
            </a:r>
            <a:r>
              <a:rPr lang="en-US" altLang="ko-KR" sz="4000" baseline="-25000" dirty="0" err="1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D,str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= 30 V / </a:t>
            </a:r>
            <a:r>
              <a:rPr lang="en-US" altLang="ko-KR" sz="4000" dirty="0" err="1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V</a:t>
            </a:r>
            <a:r>
              <a:rPr lang="en-US" altLang="ko-KR" sz="4000" baseline="-25000" dirty="0" err="1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D,str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10 ~ 80 V )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9E8445E3-DD65-D027-7040-050D8451A300}"/>
              </a:ext>
            </a:extLst>
          </p:cNvPr>
          <p:cNvGrpSpPr/>
          <p:nvPr/>
        </p:nvGrpSpPr>
        <p:grpSpPr>
          <a:xfrm>
            <a:off x="990600" y="2324100"/>
            <a:ext cx="12877800" cy="7922171"/>
            <a:chOff x="2667000" y="2247900"/>
            <a:chExt cx="12954000" cy="7998371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53C6FB88-0F1C-6341-B2BD-ACBD9B38149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67000" y="2247900"/>
              <a:ext cx="12954000" cy="7998371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EF436E6B-CDC6-B616-FD87-7CDFF299EB6F}"/>
                </a:ext>
              </a:extLst>
            </p:cNvPr>
            <p:cNvSpPr/>
            <p:nvPr/>
          </p:nvSpPr>
          <p:spPr>
            <a:xfrm>
              <a:off x="9144000" y="6591300"/>
              <a:ext cx="6248400" cy="3564292"/>
            </a:xfrm>
            <a:prstGeom prst="rect">
              <a:avLst/>
            </a:prstGeom>
            <a:noFill/>
            <a:ln w="444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3EB268A0-E8AA-25C6-1C55-B23DED29311B}"/>
              </a:ext>
            </a:extLst>
          </p:cNvPr>
          <p:cNvSpPr txBox="1"/>
          <p:nvPr/>
        </p:nvSpPr>
        <p:spPr>
          <a:xfrm>
            <a:off x="14325600" y="8037345"/>
            <a:ext cx="3537181" cy="707886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ctr" latinLnBrk="1">
              <a:spcAft>
                <a:spcPts val="800"/>
              </a:spcAft>
            </a:pPr>
            <a:r>
              <a:rPr lang="en-US" altLang="ko-KR" sz="2000" b="1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Near-zero current-boosting in HC-IY TFTs </a:t>
            </a: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F9A3AC9A-62E0-BE4A-008B-897829000D0C}"/>
              </a:ext>
            </a:extLst>
          </p:cNvPr>
          <p:cNvCxnSpPr>
            <a:cxnSpLocks/>
          </p:cNvCxnSpPr>
          <p:nvPr/>
        </p:nvCxnSpPr>
        <p:spPr>
          <a:xfrm>
            <a:off x="13632976" y="8391288"/>
            <a:ext cx="540224" cy="0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23347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13626</TotalTime>
  <Words>532</Words>
  <Application>Microsoft Office PowerPoint</Application>
  <PresentationFormat>사용자 지정</PresentationFormat>
  <Paragraphs>93</Paragraphs>
  <Slides>10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6" baseType="lpstr">
      <vt:lpstr>Cambria Math</vt:lpstr>
      <vt:lpstr>Arial</vt:lpstr>
      <vt:lpstr>TDTD강굴림</vt:lpstr>
      <vt:lpstr>Calibri</vt:lpstr>
      <vt:lpstr>맑은 고딕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검정색 흰색 심플한 일러스트 마케팅 과제 발표 프레젠테이션</dc:title>
  <dc:creator>USER</dc:creator>
  <cp:lastModifiedBy>Minsu Choi</cp:lastModifiedBy>
  <cp:revision>5236</cp:revision>
  <dcterms:created xsi:type="dcterms:W3CDTF">2006-08-16T00:00:00Z</dcterms:created>
  <dcterms:modified xsi:type="dcterms:W3CDTF">2026-06-30T07:37:09Z</dcterms:modified>
  <dc:identifier>DAGZXtFwl3k</dc:identifier>
</cp:coreProperties>
</file>