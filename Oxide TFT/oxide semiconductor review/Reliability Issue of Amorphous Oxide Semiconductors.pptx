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64" r:id="rId2"/>
    <p:sldId id="257" r:id="rId3"/>
    <p:sldId id="266" r:id="rId4"/>
    <p:sldId id="279" r:id="rId5"/>
    <p:sldId id="259" r:id="rId6"/>
    <p:sldId id="285" r:id="rId7"/>
    <p:sldId id="265" r:id="rId8"/>
    <p:sldId id="258" r:id="rId9"/>
    <p:sldId id="267" r:id="rId10"/>
    <p:sldId id="268" r:id="rId11"/>
    <p:sldId id="271" r:id="rId12"/>
    <p:sldId id="260" r:id="rId13"/>
    <p:sldId id="280" r:id="rId14"/>
    <p:sldId id="286" r:id="rId15"/>
    <p:sldId id="273" r:id="rId16"/>
    <p:sldId id="282" r:id="rId17"/>
    <p:sldId id="283" r:id="rId18"/>
    <p:sldId id="287" r:id="rId19"/>
    <p:sldId id="275" r:id="rId20"/>
    <p:sldId id="281" r:id="rId21"/>
    <p:sldId id="272" r:id="rId22"/>
    <p:sldId id="288" r:id="rId23"/>
    <p:sldId id="261" r:id="rId24"/>
    <p:sldId id="278" r:id="rId25"/>
    <p:sldId id="277" r:id="rId26"/>
    <p:sldId id="274" r:id="rId27"/>
    <p:sldId id="284" r:id="rId28"/>
  </p:sldIdLst>
  <p:sldSz cx="12192000" cy="6858000"/>
  <p:notesSz cx="9926638" cy="679767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F4735E80-85AE-4B29-8620-CCFC61BEC9AD}">
          <p14:sldIdLst>
            <p14:sldId id="264"/>
            <p14:sldId id="257"/>
            <p14:sldId id="266"/>
            <p14:sldId id="279"/>
            <p14:sldId id="259"/>
            <p14:sldId id="285"/>
            <p14:sldId id="265"/>
            <p14:sldId id="258"/>
            <p14:sldId id="267"/>
            <p14:sldId id="268"/>
            <p14:sldId id="271"/>
            <p14:sldId id="260"/>
            <p14:sldId id="280"/>
            <p14:sldId id="286"/>
            <p14:sldId id="273"/>
            <p14:sldId id="282"/>
            <p14:sldId id="283"/>
            <p14:sldId id="287"/>
            <p14:sldId id="275"/>
            <p14:sldId id="281"/>
            <p14:sldId id="272"/>
            <p14:sldId id="288"/>
            <p14:sldId id="261"/>
            <p14:sldId id="278"/>
            <p14:sldId id="277"/>
            <p14:sldId id="274"/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3814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10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2" d="100"/>
          <a:sy n="82" d="100"/>
        </p:scale>
        <p:origin x="3876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22798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69D42D-ABC4-446E-BA9A-A0DD1025B6EE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22798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CCB4D2-7F8C-4D83-A4D3-E4303BE51A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31825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2798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D23CD2-A68C-4D1A-966D-CE2EC4CC5A5F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924175" y="849313"/>
            <a:ext cx="4078288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664" y="3271381"/>
            <a:ext cx="794131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2798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22D906-D3DE-4576-B2D9-AC80C8D89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1537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 mod="1">
    <p:ext uri="{620B2872-D7B9-4A21-9093-7833F8D536E1}">
      <p15:sldGuideLst xmlns:p15="http://schemas.microsoft.com/office/powerpoint/2012/main">
        <p15:guide id="1" orient="horz" pos="2141" userDrawn="1">
          <p15:clr>
            <a:srgbClr val="F26B43"/>
          </p15:clr>
        </p15:guide>
        <p15:guide id="2" pos="3127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D9E2E6F-2C4D-EB9A-3A70-5AE644455D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4162C507-A364-9725-17E7-E3021089B2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6D38BE75-41D5-C802-C409-9118FA7F0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3AEA2-3830-4C18-A411-1916190E2245}" type="datetime1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977BA73E-BBBC-ED17-4045-E7FFE78E0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F9BB6706-B2B3-E062-D900-770C536F4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E1704-955B-45E9-8CC7-423CE14217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9347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8FC63BC9-E8F5-45DB-CE62-7F4D31CDF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6D126BA7-4962-BD6D-D82A-DF6B4C381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C1BCB-AC10-4BFD-9519-2E5832CB874B}" type="datetime1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C901E521-8F16-10EC-6A34-851FEE7DE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F52F1373-506D-AA57-C3C4-1DEED95B5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/25</a:t>
            </a:r>
          </a:p>
        </p:txBody>
      </p:sp>
    </p:spTree>
    <p:extLst>
      <p:ext uri="{BB962C8B-B14F-4D97-AF65-F5344CB8AC3E}">
        <p14:creationId xmlns:p14="http://schemas.microsoft.com/office/powerpoint/2010/main" val="2665434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EF2AA6CA-27CC-DB49-060D-EFC83346C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9C9D171F-E9E8-237A-3447-005B2C41C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  <a:lvl2pPr>
              <a:defRPr>
                <a:latin typeface="Noto Sans KR" panose="020B0200000000000000" pitchFamily="50" charset="-127"/>
                <a:ea typeface="Noto Sans KR" panose="020B0200000000000000" pitchFamily="50" charset="-127"/>
              </a:defRPr>
            </a:lvl2pPr>
            <a:lvl3pPr>
              <a:defRPr>
                <a:latin typeface="Noto Sans KR" panose="020B0200000000000000" pitchFamily="50" charset="-127"/>
                <a:ea typeface="Noto Sans KR" panose="020B0200000000000000" pitchFamily="50" charset="-127"/>
              </a:defRPr>
            </a:lvl3pPr>
            <a:lvl4pPr>
              <a:defRPr>
                <a:latin typeface="Noto Sans KR" panose="020B0200000000000000" pitchFamily="50" charset="-127"/>
                <a:ea typeface="Noto Sans KR" panose="020B0200000000000000" pitchFamily="50" charset="-127"/>
              </a:defRPr>
            </a:lvl4pPr>
            <a:lvl5pPr>
              <a:defRPr>
                <a:latin typeface="Noto Sans KR" panose="020B0200000000000000" pitchFamily="50" charset="-127"/>
                <a:ea typeface="Noto Sans KR" panose="020B0200000000000000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6DA128D2-93C8-3FD5-6685-590435DE4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8FF25B58-6F2A-402D-B877-DA60FA215BB3}" type="datetime1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BA186F05-1573-366A-163E-B91327BF8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C4E59C21-7535-2455-22E5-E1AB30AB1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1800" y="6362700"/>
            <a:ext cx="2387600" cy="365125"/>
          </a:xfrm>
        </p:spPr>
        <p:txBody>
          <a:bodyPr/>
          <a:lstStyle>
            <a:lvl1pPr>
              <a:defRPr sz="1800" b="1">
                <a:solidFill>
                  <a:srgbClr val="156082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FB3E1704-955B-45E9-8CC7-423CE1421702}" type="slidenum">
              <a:rPr lang="ko-KR" altLang="en-US" smtClean="0"/>
              <a:pPr/>
              <a:t>‹#›</a:t>
            </a:fld>
            <a:endParaRPr lang="en-US" altLang="ko-KR" dirty="0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xmlns="" id="{F7757A61-36AA-8710-F1B3-3B7C265F2284}"/>
              </a:ext>
            </a:extLst>
          </p:cNvPr>
          <p:cNvSpPr txBox="1">
            <a:spLocks/>
          </p:cNvSpPr>
          <p:nvPr userDrawn="1"/>
        </p:nvSpPr>
        <p:spPr>
          <a:xfrm>
            <a:off x="11523663" y="6369049"/>
            <a:ext cx="54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800" b="1" kern="1200">
                <a:solidFill>
                  <a:srgbClr val="15608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/27</a:t>
            </a:r>
          </a:p>
        </p:txBody>
      </p:sp>
    </p:spTree>
    <p:extLst>
      <p:ext uri="{BB962C8B-B14F-4D97-AF65-F5344CB8AC3E}">
        <p14:creationId xmlns:p14="http://schemas.microsoft.com/office/powerpoint/2010/main" val="2822387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54ED16A-A9DF-15FE-23C7-1895B95D7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17584936-3FE1-A400-13FB-E4FCDB0BE3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F051F21A-2A86-D864-9C07-CF994F44E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06936-DBCD-4182-86AD-006EAB548F30}" type="datetime1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D805674F-92FE-7C59-3AFC-E3212463C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09325746-4AE8-1459-ED7D-33ADA873C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E1704-955B-45E9-8CC7-423CE14217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1420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6B456042-BAB2-BA94-87BC-69CE95599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38BC1D7F-EF00-EFAC-4F69-1647477717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ADA43B58-46FB-36E5-7329-21D719D95A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BED77115-A25B-D4AC-8AAC-94EC13C38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44686-3342-4287-9E24-6236504FB215}" type="datetime1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18F51B84-0A1B-B601-5D2F-DBB70FCDD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48EE2129-E18C-59FA-6D56-2BBD9122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E1704-955B-45E9-8CC7-423CE14217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2887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4B9E13F8-2654-095F-D388-1440AEDC5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F9340FE2-50B9-CF9D-EBCC-328E3CB9EA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58F2C8BE-9E65-A895-C7BE-001ADCB34B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50202B73-915A-87E7-0620-9A020B97F4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xmlns="" id="{CEFCAEC8-0EAF-C087-2FE0-1462A0FB3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xmlns="" id="{7B94C485-508C-15A3-66FF-932840D46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04065-9658-463A-856E-950BBFAE8C6F}" type="datetime1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xmlns="" id="{DCE5D66C-C6AD-FED6-A3AD-C563C2519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xmlns="" id="{FD1BF1AA-FA84-04FF-96E4-6E98E50EC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E1704-955B-45E9-8CC7-423CE14217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6614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6FE9818D-DC9F-E15E-A28E-25ED2B3E4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965E6BA1-1A48-ED1A-8511-BDBB280E4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DDA71-BDBE-4FEE-9879-33B8095D29E3}" type="datetime1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A76C52CE-A3AA-F489-7F43-DE0B1C172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41DA49C6-2D79-07DB-BEC7-DEC1BEDC7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E1704-955B-45E9-8CC7-423CE14217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8645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8A6B16A2-3919-BBE2-974E-38ABA4B22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882F8-5076-473F-8E01-36190459E3F4}" type="datetime1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BA42B769-E253-69B2-1C83-90B8CB4D6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0955C38B-E4E3-34A3-6186-155B3C046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E1704-955B-45E9-8CC7-423CE14217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79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54ED6D1-A0C6-3129-4080-92D03C8E8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80A6CB-C25A-9686-1A28-C8C09D366A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A63C0E12-74D4-80EF-71C3-B8E8779FE9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ACAF0617-3233-3E56-B967-09D4F3139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A101E-624D-4133-938C-CA02332A4E4F}" type="datetime1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C88C126D-E81B-B09F-5BB5-106F1C5E6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A9FAE94F-3152-F734-B071-FAC426586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E1704-955B-45E9-8CC7-423CE14217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3125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BFBD4D18-A56E-5155-96E9-0E65703C1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BE50264B-073E-B3EC-0550-92BF6F009B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AA9C1221-F211-0380-CC39-D7E1F574A8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2DFF8473-16C8-5492-158D-672058205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F96A4-0117-40BD-B9E9-C56D71E8EAD4}" type="datetime1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72DE484A-64D9-707B-153A-D6170C199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C74CC1A2-1EDD-53A8-435D-35AD5E1D4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E1704-955B-45E9-8CC7-423CE14217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273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8CD7AFB4-56F8-07F3-0302-9D80BA770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1C88AD88-1C86-6A41-152C-9BDED77A7D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3D31C0DB-8974-5820-4C1E-19E1D6C02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512FF-1CA0-4166-A182-F6A180348DF3}" type="datetime1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82FF3A40-448C-70BE-7E5A-AD3AEEAF0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BFC4B7FE-23CC-A5E6-B097-16DD95A32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E1704-955B-45E9-8CC7-423CE14217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23879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44725EAF-0DF6-9271-578C-56008DA2E6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E6725A48-448F-10D2-80FB-DEC5D41EA2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9AABC13A-6802-6F29-0602-391538CC0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920FC-0049-4E12-BD8C-7604A984B9E3}" type="datetime1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859AFF43-B685-3A91-27DB-68C4C7924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1613412E-0717-49BF-9949-DAC530DAA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E1704-955B-45E9-8CC7-423CE14217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352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6537D106-96FE-C499-340F-FB58825FD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8F59EDF2-620C-06D9-2E01-9A6CCCF15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32F1215E-897A-67DA-3744-256D298261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70B2DB-D4AE-407B-A4BE-71C3F43F00A8}" type="datetime1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8F7541EE-9AD8-47F0-46B0-8D39012E5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5AC51B1F-E656-3EA0-BA15-4C728671B4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3E1704-955B-45E9-8CC7-423CE14217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1666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8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xmlns="" id="{1DAE9C8F-AF24-724A-BBBD-8983BC4E27BC}"/>
              </a:ext>
            </a:extLst>
          </p:cNvPr>
          <p:cNvSpPr txBox="1">
            <a:spLocks/>
          </p:cNvSpPr>
          <p:nvPr/>
        </p:nvSpPr>
        <p:spPr>
          <a:xfrm>
            <a:off x="1048840" y="1655594"/>
            <a:ext cx="10119360" cy="19942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6804"/>
              </a:lnSpc>
              <a:defRPr/>
            </a:pPr>
            <a:r>
              <a:rPr lang="en-US" altLang="ko-KR" sz="5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Reliability Issue of Amorphous Oxide Semiconductors</a:t>
            </a:r>
            <a:endParaRPr lang="ko-KR" altLang="en-US" sz="5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xmlns="" id="{2BC48BA3-DACE-834C-F60A-DFA2142ED1D1}"/>
              </a:ext>
            </a:extLst>
          </p:cNvPr>
          <p:cNvSpPr txBox="1">
            <a:spLocks/>
          </p:cNvSpPr>
          <p:nvPr/>
        </p:nvSpPr>
        <p:spPr>
          <a:xfrm>
            <a:off x="3594100" y="5150514"/>
            <a:ext cx="4572000" cy="369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070"/>
              </a:lnSpc>
            </a:pPr>
            <a:r>
              <a:rPr lang="en-US" altLang="ko-KR" b="1" dirty="0">
                <a:solidFill>
                  <a:srgbClr val="1928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조민주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2315DF8F-14A2-759E-1291-F6D8D0E366BC}"/>
              </a:ext>
            </a:extLst>
          </p:cNvPr>
          <p:cNvSpPr txBox="1"/>
          <p:nvPr/>
        </p:nvSpPr>
        <p:spPr>
          <a:xfrm>
            <a:off x="3213283" y="3832309"/>
            <a:ext cx="57904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The trade-off relation between stability and mobility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FC6B884D-B9D6-53BC-ECBD-E8F55BF11F59}"/>
              </a:ext>
            </a:extLst>
          </p:cNvPr>
          <p:cNvSpPr/>
          <p:nvPr/>
        </p:nvSpPr>
        <p:spPr>
          <a:xfrm>
            <a:off x="216627" y="3770811"/>
            <a:ext cx="11783786" cy="60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6E31F32F-D933-9068-702C-4AB2FA376C6D}"/>
              </a:ext>
            </a:extLst>
          </p:cNvPr>
          <p:cNvSpPr txBox="1"/>
          <p:nvPr/>
        </p:nvSpPr>
        <p:spPr>
          <a:xfrm>
            <a:off x="5210686" y="5517633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2026.07.30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02472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xmlns="" id="{BC744DF7-20F6-8606-5154-E92FF6D99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633" y="328611"/>
            <a:ext cx="10182225" cy="826771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Contents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719EB7C1-5E03-CDA8-7D20-BAED609F0FB1}"/>
              </a:ext>
            </a:extLst>
          </p:cNvPr>
          <p:cNvSpPr/>
          <p:nvPr/>
        </p:nvSpPr>
        <p:spPr>
          <a:xfrm>
            <a:off x="123824" y="1094422"/>
            <a:ext cx="11783786" cy="60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xmlns="" id="{99FE6C35-26FE-0929-11A3-6F1ED431E291}"/>
              </a:ext>
            </a:extLst>
          </p:cNvPr>
          <p:cNvGrpSpPr/>
          <p:nvPr/>
        </p:nvGrpSpPr>
        <p:grpSpPr>
          <a:xfrm>
            <a:off x="1658426" y="1463034"/>
            <a:ext cx="8272974" cy="565861"/>
            <a:chOff x="874462" y="1522245"/>
            <a:chExt cx="8398054" cy="565861"/>
          </a:xfrm>
        </p:grpSpPr>
        <p:sp>
          <p:nvSpPr>
            <p:cNvPr id="7" name="사각형: 잘린 대각선 방향 모서리 6">
              <a:extLst>
                <a:ext uri="{FF2B5EF4-FFF2-40B4-BE49-F238E27FC236}">
                  <a16:creationId xmlns:a16="http://schemas.microsoft.com/office/drawing/2014/main" xmlns="" id="{22C35BE6-B686-1F47-DCF6-C4AC05C2069F}"/>
                </a:ext>
              </a:extLst>
            </p:cNvPr>
            <p:cNvSpPr/>
            <p:nvPr/>
          </p:nvSpPr>
          <p:spPr>
            <a:xfrm>
              <a:off x="874462" y="1522245"/>
              <a:ext cx="1990657" cy="565861"/>
            </a:xfrm>
            <a:prstGeom prst="snip2DiagRect">
              <a:avLst>
                <a:gd name="adj1" fmla="val 0"/>
                <a:gd name="adj2" fmla="val 29535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Section 1</a:t>
              </a:r>
              <a:endParaRPr lang="ko-KR" altLang="en-US" sz="28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E7E18D86-E23E-5BFC-08EF-6416EF679447}"/>
                </a:ext>
              </a:extLst>
            </p:cNvPr>
            <p:cNvSpPr txBox="1"/>
            <p:nvPr/>
          </p:nvSpPr>
          <p:spPr>
            <a:xfrm>
              <a:off x="2989550" y="1522245"/>
              <a:ext cx="6282966" cy="5643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sz="2800" b="1" dirty="0">
                  <a:solidFill>
                    <a:srgbClr val="156082"/>
                  </a:solidFill>
                </a:rPr>
                <a:t>Evolution of Oxide Semiconductors</a:t>
              </a:r>
              <a:endParaRPr lang="ko-KR" altLang="en-US" sz="2800" b="1" dirty="0">
                <a:solidFill>
                  <a:srgbClr val="15608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xmlns="" id="{F182418F-838B-7750-4E85-2430B24CCB80}"/>
              </a:ext>
            </a:extLst>
          </p:cNvPr>
          <p:cNvGrpSpPr/>
          <p:nvPr/>
        </p:nvGrpSpPr>
        <p:grpSpPr>
          <a:xfrm>
            <a:off x="1658426" y="2291413"/>
            <a:ext cx="8128142" cy="565861"/>
            <a:chOff x="874462" y="2342645"/>
            <a:chExt cx="8251032" cy="565861"/>
          </a:xfrm>
        </p:grpSpPr>
        <p:sp>
          <p:nvSpPr>
            <p:cNvPr id="10" name="사각형: 잘린 대각선 방향 모서리 9">
              <a:extLst>
                <a:ext uri="{FF2B5EF4-FFF2-40B4-BE49-F238E27FC236}">
                  <a16:creationId xmlns:a16="http://schemas.microsoft.com/office/drawing/2014/main" xmlns="" id="{55A64CFB-455D-E21D-F909-185E55E900A7}"/>
                </a:ext>
              </a:extLst>
            </p:cNvPr>
            <p:cNvSpPr/>
            <p:nvPr/>
          </p:nvSpPr>
          <p:spPr>
            <a:xfrm>
              <a:off x="874462" y="2342645"/>
              <a:ext cx="1990657" cy="565861"/>
            </a:xfrm>
            <a:prstGeom prst="snip2DiagRect">
              <a:avLst>
                <a:gd name="adj1" fmla="val 0"/>
                <a:gd name="adj2" fmla="val 29535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Section 2</a:t>
              </a:r>
              <a:endParaRPr lang="ko-KR" altLang="en-US" sz="28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7E85A4C2-69F4-B596-9ED8-9F8A5E8FC667}"/>
                </a:ext>
              </a:extLst>
            </p:cNvPr>
            <p:cNvSpPr txBox="1"/>
            <p:nvPr/>
          </p:nvSpPr>
          <p:spPr>
            <a:xfrm>
              <a:off x="2996805" y="2342645"/>
              <a:ext cx="6128689" cy="5658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sz="2800" b="1" dirty="0">
                  <a:solidFill>
                    <a:srgbClr val="15608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Power–Performance–Area–Cost</a:t>
              </a:r>
              <a:endParaRPr lang="en-US" altLang="ko-KR" sz="2800" b="1" dirty="0">
                <a:solidFill>
                  <a:srgbClr val="15608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anose="020F0502020204030204" pitchFamily="34" charset="0"/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xmlns="" id="{3974C5F8-7D7C-07EA-F7BC-179DD7C9AB7A}"/>
              </a:ext>
            </a:extLst>
          </p:cNvPr>
          <p:cNvGrpSpPr/>
          <p:nvPr/>
        </p:nvGrpSpPr>
        <p:grpSpPr>
          <a:xfrm>
            <a:off x="1658426" y="3111083"/>
            <a:ext cx="8565074" cy="565861"/>
            <a:chOff x="874462" y="3146400"/>
            <a:chExt cx="8694570" cy="565861"/>
          </a:xfrm>
        </p:grpSpPr>
        <p:sp>
          <p:nvSpPr>
            <p:cNvPr id="13" name="사각형: 잘린 대각선 방향 모서리 12">
              <a:extLst>
                <a:ext uri="{FF2B5EF4-FFF2-40B4-BE49-F238E27FC236}">
                  <a16:creationId xmlns:a16="http://schemas.microsoft.com/office/drawing/2014/main" xmlns="" id="{E3B368CC-2852-6091-968E-AF3828B1E139}"/>
                </a:ext>
              </a:extLst>
            </p:cNvPr>
            <p:cNvSpPr/>
            <p:nvPr/>
          </p:nvSpPr>
          <p:spPr>
            <a:xfrm>
              <a:off x="874462" y="3146400"/>
              <a:ext cx="1990657" cy="565861"/>
            </a:xfrm>
            <a:prstGeom prst="snip2DiagRect">
              <a:avLst>
                <a:gd name="adj1" fmla="val 0"/>
                <a:gd name="adj2" fmla="val 29535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Section 3</a:t>
              </a:r>
              <a:endParaRPr lang="ko-KR" altLang="en-US" sz="28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xmlns="" id="{4BFFA23F-0E62-2B0B-35CA-31A9062A792F}"/>
                </a:ext>
              </a:extLst>
            </p:cNvPr>
            <p:cNvSpPr txBox="1"/>
            <p:nvPr/>
          </p:nvSpPr>
          <p:spPr>
            <a:xfrm>
              <a:off x="2996805" y="3146400"/>
              <a:ext cx="6572227" cy="5658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sz="2800" b="1" dirty="0">
                  <a:solidFill>
                    <a:srgbClr val="15608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Amorphous Oxide Semiconductor </a:t>
              </a:r>
              <a:endParaRPr lang="en-US" altLang="ko-KR" sz="2800" b="1" dirty="0">
                <a:solidFill>
                  <a:srgbClr val="15608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anose="020F0502020204030204" pitchFamily="34" charset="0"/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xmlns="" id="{C2E140FC-6A5F-5C14-0F25-D363139370A8}"/>
              </a:ext>
            </a:extLst>
          </p:cNvPr>
          <p:cNvGrpSpPr/>
          <p:nvPr/>
        </p:nvGrpSpPr>
        <p:grpSpPr>
          <a:xfrm>
            <a:off x="1651172" y="3930753"/>
            <a:ext cx="8128142" cy="565861"/>
            <a:chOff x="874462" y="3146400"/>
            <a:chExt cx="8251032" cy="565861"/>
          </a:xfrm>
        </p:grpSpPr>
        <p:sp>
          <p:nvSpPr>
            <p:cNvPr id="16" name="사각형: 잘린 대각선 방향 모서리 15">
              <a:extLst>
                <a:ext uri="{FF2B5EF4-FFF2-40B4-BE49-F238E27FC236}">
                  <a16:creationId xmlns:a16="http://schemas.microsoft.com/office/drawing/2014/main" xmlns="" id="{0001701E-ECB9-EB81-0505-5A666B52BAEF}"/>
                </a:ext>
              </a:extLst>
            </p:cNvPr>
            <p:cNvSpPr/>
            <p:nvPr/>
          </p:nvSpPr>
          <p:spPr>
            <a:xfrm>
              <a:off x="874462" y="3146400"/>
              <a:ext cx="1990657" cy="565861"/>
            </a:xfrm>
            <a:prstGeom prst="snip2DiagRect">
              <a:avLst>
                <a:gd name="adj1" fmla="val 0"/>
                <a:gd name="adj2" fmla="val 29535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Section 4</a:t>
              </a:r>
              <a:endParaRPr lang="ko-KR" altLang="en-US" sz="28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xmlns="" id="{DDF4CA3B-0D9A-2548-FD41-495A4A5C2E97}"/>
                </a:ext>
              </a:extLst>
            </p:cNvPr>
            <p:cNvSpPr txBox="1"/>
            <p:nvPr/>
          </p:nvSpPr>
          <p:spPr>
            <a:xfrm>
              <a:off x="2996805" y="3146400"/>
              <a:ext cx="6128689" cy="5658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sz="2800" b="1" dirty="0">
                  <a:solidFill>
                    <a:schemeClr val="accent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" panose="020F0502020204030204" pitchFamily="34" charset="0"/>
                </a:rPr>
                <a:t>Transport Mechanisms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xmlns="" id="{B7EE138D-C65E-50E7-2276-B2A59B0536C2}"/>
              </a:ext>
            </a:extLst>
          </p:cNvPr>
          <p:cNvGrpSpPr/>
          <p:nvPr/>
        </p:nvGrpSpPr>
        <p:grpSpPr>
          <a:xfrm>
            <a:off x="1658426" y="4750423"/>
            <a:ext cx="8128142" cy="565861"/>
            <a:chOff x="874462" y="3146400"/>
            <a:chExt cx="8251032" cy="565861"/>
          </a:xfrm>
        </p:grpSpPr>
        <p:sp>
          <p:nvSpPr>
            <p:cNvPr id="3" name="사각형: 잘린 대각선 방향 모서리 2">
              <a:extLst>
                <a:ext uri="{FF2B5EF4-FFF2-40B4-BE49-F238E27FC236}">
                  <a16:creationId xmlns:a16="http://schemas.microsoft.com/office/drawing/2014/main" xmlns="" id="{7FE9A2DF-DDEA-C50F-37B1-98FA50F8D847}"/>
                </a:ext>
              </a:extLst>
            </p:cNvPr>
            <p:cNvSpPr/>
            <p:nvPr/>
          </p:nvSpPr>
          <p:spPr>
            <a:xfrm>
              <a:off x="874462" y="3146400"/>
              <a:ext cx="1990657" cy="565861"/>
            </a:xfrm>
            <a:prstGeom prst="snip2DiagRect">
              <a:avLst>
                <a:gd name="adj1" fmla="val 0"/>
                <a:gd name="adj2" fmla="val 29535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Section 5</a:t>
              </a:r>
              <a:endParaRPr lang="ko-KR" altLang="en-US" sz="28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xmlns="" id="{2133FD7A-E601-8799-421E-2096BF1378CF}"/>
                </a:ext>
              </a:extLst>
            </p:cNvPr>
            <p:cNvSpPr txBox="1"/>
            <p:nvPr/>
          </p:nvSpPr>
          <p:spPr>
            <a:xfrm>
              <a:off x="2996805" y="3146400"/>
              <a:ext cx="6128689" cy="5658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sz="2800" b="1" dirty="0">
                  <a:solidFill>
                    <a:srgbClr val="15608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Bias Stress Mechanisms</a:t>
              </a:r>
              <a:endParaRPr lang="en-US" altLang="ko-KR" sz="2800" b="1" dirty="0">
                <a:solidFill>
                  <a:srgbClr val="15608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anose="020F0502020204030204" pitchFamily="34" charset="0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xmlns="" id="{430DAA06-64A8-3850-B09B-61ECF1037389}"/>
              </a:ext>
            </a:extLst>
          </p:cNvPr>
          <p:cNvGrpSpPr/>
          <p:nvPr/>
        </p:nvGrpSpPr>
        <p:grpSpPr>
          <a:xfrm>
            <a:off x="1651171" y="5570092"/>
            <a:ext cx="8128142" cy="565861"/>
            <a:chOff x="874462" y="3146400"/>
            <a:chExt cx="8251032" cy="565861"/>
          </a:xfrm>
        </p:grpSpPr>
        <p:sp>
          <p:nvSpPr>
            <p:cNvPr id="20" name="사각형: 잘린 대각선 방향 모서리 19">
              <a:extLst>
                <a:ext uri="{FF2B5EF4-FFF2-40B4-BE49-F238E27FC236}">
                  <a16:creationId xmlns:a16="http://schemas.microsoft.com/office/drawing/2014/main" xmlns="" id="{3F633D0D-0B10-1EC3-6F53-C7880492C5F8}"/>
                </a:ext>
              </a:extLst>
            </p:cNvPr>
            <p:cNvSpPr/>
            <p:nvPr/>
          </p:nvSpPr>
          <p:spPr>
            <a:xfrm>
              <a:off x="874462" y="3146400"/>
              <a:ext cx="1990657" cy="565861"/>
            </a:xfrm>
            <a:prstGeom prst="snip2DiagRect">
              <a:avLst>
                <a:gd name="adj1" fmla="val 0"/>
                <a:gd name="adj2" fmla="val 29535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Section 6</a:t>
              </a:r>
              <a:endParaRPr lang="ko-KR" altLang="en-US" sz="28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xmlns="" id="{FF1D8F42-1BC6-840A-DF8A-80AB3972C53A}"/>
                </a:ext>
              </a:extLst>
            </p:cNvPr>
            <p:cNvSpPr txBox="1"/>
            <p:nvPr/>
          </p:nvSpPr>
          <p:spPr>
            <a:xfrm>
              <a:off x="2996805" y="3146400"/>
              <a:ext cx="6128689" cy="5658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sz="2800" b="1" dirty="0">
                  <a:solidFill>
                    <a:srgbClr val="156082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Mobility–Reliability Trade-off </a:t>
              </a:r>
              <a:endParaRPr lang="en-US" altLang="ko-KR" sz="2800" b="1" dirty="0">
                <a:solidFill>
                  <a:srgbClr val="15608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anose="020F0502020204030204" pitchFamily="34" charset="0"/>
              </a:endParaRPr>
            </a:p>
          </p:txBody>
        </p:sp>
      </p:grpSp>
      <p:sp>
        <p:nvSpPr>
          <p:cNvPr id="23" name="슬라이드 번호 개체 틀 22">
            <a:extLst>
              <a:ext uri="{FF2B5EF4-FFF2-40B4-BE49-F238E27FC236}">
                <a16:creationId xmlns:a16="http://schemas.microsoft.com/office/drawing/2014/main" xmlns="" id="{93AF8BEF-1332-DE8E-D71C-FF310DA5D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E1704-955B-45E9-8CC7-423CE1421702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06746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Details are in the caption following the image">
            <a:extLst>
              <a:ext uri="{FF2B5EF4-FFF2-40B4-BE49-F238E27FC236}">
                <a16:creationId xmlns:a16="http://schemas.microsoft.com/office/drawing/2014/main" xmlns="" id="{020ABD60-C161-F36C-342C-5355695360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2" t="-1826" r="-1382" b="37384"/>
          <a:stretch/>
        </p:blipFill>
        <p:spPr bwMode="auto">
          <a:xfrm>
            <a:off x="996408" y="2387336"/>
            <a:ext cx="4805296" cy="3295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xmlns="" id="{314089DC-44AF-A0F9-3D6E-9C93172DB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10" y="298131"/>
            <a:ext cx="12203510" cy="826771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More Moore : Continued Scaling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1DC002E2-CF61-D446-B4DB-26F7B620EFD7}"/>
              </a:ext>
            </a:extLst>
          </p:cNvPr>
          <p:cNvSpPr/>
          <p:nvPr/>
        </p:nvSpPr>
        <p:spPr>
          <a:xfrm>
            <a:off x="123824" y="1094422"/>
            <a:ext cx="11783786" cy="60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C2780E15-8680-B030-E3D1-D9E1096DB3DC}"/>
              </a:ext>
            </a:extLst>
          </p:cNvPr>
          <p:cNvSpPr txBox="1"/>
          <p:nvPr/>
        </p:nvSpPr>
        <p:spPr>
          <a:xfrm>
            <a:off x="7345680" y="58963"/>
            <a:ext cx="484632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Section 1.</a:t>
            </a:r>
            <a:r>
              <a:rPr lang="ko-KR" altLang="en-US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Evolution of Oxide semiconductor </a:t>
            </a:r>
            <a:endParaRPr lang="ko-KR" alt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A7B0DB21-2004-C804-22A9-560BA250B68F}"/>
              </a:ext>
            </a:extLst>
          </p:cNvPr>
          <p:cNvSpPr txBox="1"/>
          <p:nvPr/>
        </p:nvSpPr>
        <p:spPr>
          <a:xfrm>
            <a:off x="254001" y="1259473"/>
            <a:ext cx="11506200" cy="400110"/>
          </a:xfrm>
          <a:prstGeom prst="rect">
            <a:avLst/>
          </a:prstGeom>
          <a:noFill/>
          <a:ln w="28575">
            <a:solidFill>
              <a:srgbClr val="15608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Si 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기반의 소자의 스케일링 한계 → </a:t>
            </a: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Oxide Semiconductors 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연구 진행</a:t>
            </a:r>
            <a:endParaRPr lang="en-US" altLang="ko-KR" sz="2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xmlns="" id="{32FCD6DB-7C97-6AB6-CEE1-92DD927FDACC}"/>
              </a:ext>
            </a:extLst>
          </p:cNvPr>
          <p:cNvSpPr/>
          <p:nvPr/>
        </p:nvSpPr>
        <p:spPr>
          <a:xfrm>
            <a:off x="5801704" y="3759200"/>
            <a:ext cx="726096" cy="30480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604602DD-93F7-DDD8-C107-0BC7CE784A92}"/>
              </a:ext>
            </a:extLst>
          </p:cNvPr>
          <p:cNvSpPr txBox="1"/>
          <p:nvPr/>
        </p:nvSpPr>
        <p:spPr>
          <a:xfrm>
            <a:off x="7625080" y="2624353"/>
            <a:ext cx="28793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Oxide Semiconductor</a:t>
            </a:r>
            <a:endParaRPr lang="ko-KR" altLang="en-US" sz="2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xmlns="" id="{70C76BF4-6867-7D29-E02E-D9A43EEE7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8074" y="3240126"/>
            <a:ext cx="4591691" cy="108600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6263F495-3A7F-081D-5760-1937B3CA2476}"/>
              </a:ext>
            </a:extLst>
          </p:cNvPr>
          <p:cNvSpPr txBox="1"/>
          <p:nvPr/>
        </p:nvSpPr>
        <p:spPr>
          <a:xfrm>
            <a:off x="6888074" y="4435259"/>
            <a:ext cx="480529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Mobility (≥10cm</a:t>
            </a:r>
            <a:r>
              <a:rPr lang="en-US" altLang="ko-KR" sz="1300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V</a:t>
            </a:r>
            <a:r>
              <a:rPr lang="en-US" altLang="ko-KR" sz="1300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−1</a:t>
            </a:r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s</a:t>
            </a:r>
            <a:r>
              <a:rPr lang="en-US" altLang="ko-KR" sz="1300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−1</a:t>
            </a:r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),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off-current(≤ 10⁻¹² A),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lang="en-US" altLang="ko-KR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Leakage current</a:t>
            </a:r>
            <a:r>
              <a:rPr lang="pt-BR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(&lt;10</a:t>
            </a:r>
            <a:r>
              <a:rPr lang="pt-BR" altLang="ko-KR" sz="1300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−18</a:t>
            </a:r>
            <a:r>
              <a:rPr lang="pt-BR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A µm</a:t>
            </a:r>
            <a:r>
              <a:rPr lang="pt-BR" altLang="ko-KR" sz="1300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-1</a:t>
            </a:r>
            <a:r>
              <a:rPr lang="pt-BR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en-US" altLang="ko-KR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ECD6A8DF-FB7A-FDA3-A0ED-81D149CA0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E1704-955B-45E9-8CC7-423CE1421702}" type="slidenum">
              <a:rPr lang="ko-KR" altLang="en-US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43719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xmlns="" id="{6A2C6BF4-116E-2F9A-94AE-029657344DA3}"/>
              </a:ext>
            </a:extLst>
          </p:cNvPr>
          <p:cNvSpPr txBox="1">
            <a:spLocks/>
          </p:cNvSpPr>
          <p:nvPr/>
        </p:nvSpPr>
        <p:spPr>
          <a:xfrm>
            <a:off x="133633" y="328611"/>
            <a:ext cx="11434253" cy="8267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Characteristics of Oxide Semiconductors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97009628-6EE5-E5FF-86B9-58B39EDFF1D4}"/>
              </a:ext>
            </a:extLst>
          </p:cNvPr>
          <p:cNvSpPr/>
          <p:nvPr/>
        </p:nvSpPr>
        <p:spPr>
          <a:xfrm>
            <a:off x="123824" y="1094422"/>
            <a:ext cx="11783786" cy="60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C394B8F0-EE72-8FF0-1F6A-9BD345E4D09F}"/>
              </a:ext>
            </a:extLst>
          </p:cNvPr>
          <p:cNvSpPr txBox="1"/>
          <p:nvPr/>
        </p:nvSpPr>
        <p:spPr>
          <a:xfrm>
            <a:off x="6373814" y="1922351"/>
            <a:ext cx="53713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Suitable for High-Voltage Operation</a:t>
            </a:r>
            <a:endParaRPr lang="ko-KR" altLang="en-US" sz="2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B9340937-1132-A706-B691-840DD8B62562}"/>
              </a:ext>
            </a:extLst>
          </p:cNvPr>
          <p:cNvSpPr txBox="1"/>
          <p:nvPr/>
        </p:nvSpPr>
        <p:spPr>
          <a:xfrm>
            <a:off x="2216464" y="1890834"/>
            <a:ext cx="32769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Optical Transparency</a:t>
            </a:r>
            <a:endParaRPr lang="ko-KR" altLang="en-US" sz="2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xmlns="" id="{A890EE03-B60D-22B9-B4DC-6D98654364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4784664"/>
              </p:ext>
            </p:extLst>
          </p:nvPr>
        </p:nvGraphicFramePr>
        <p:xfrm>
          <a:off x="6702420" y="2960304"/>
          <a:ext cx="4296556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278">
                  <a:extLst>
                    <a:ext uri="{9D8B030D-6E8A-4147-A177-3AD203B41FA5}">
                      <a16:colId xmlns:a16="http://schemas.microsoft.com/office/drawing/2014/main" xmlns="" val="2842437900"/>
                    </a:ext>
                  </a:extLst>
                </a:gridCol>
                <a:gridCol w="2148278">
                  <a:extLst>
                    <a:ext uri="{9D8B030D-6E8A-4147-A177-3AD203B41FA5}">
                      <a16:colId xmlns:a16="http://schemas.microsoft.com/office/drawing/2014/main" xmlns="" val="1868119264"/>
                    </a:ext>
                  </a:extLst>
                </a:gridCol>
              </a:tblGrid>
              <a:tr h="317839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Eg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98181596"/>
                  </a:ext>
                </a:extLst>
              </a:tr>
              <a:tr h="287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ZnO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약 </a:t>
                      </a:r>
                      <a:r>
                        <a:rPr lang="en-US" altLang="ko-KR" dirty="0"/>
                        <a:t>3.3eV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511536575"/>
                  </a:ext>
                </a:extLst>
              </a:tr>
              <a:tr h="287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</a:t>
                      </a:r>
                      <a:r>
                        <a:rPr lang="en-US" altLang="ko-KR" baseline="-25000" dirty="0"/>
                        <a:t>2</a:t>
                      </a:r>
                      <a:r>
                        <a:rPr lang="en-US" altLang="ko-KR" dirty="0"/>
                        <a:t>O</a:t>
                      </a:r>
                      <a:r>
                        <a:rPr lang="en-US" altLang="ko-KR" baseline="-25000" dirty="0"/>
                        <a:t>3</a:t>
                      </a:r>
                      <a:endParaRPr lang="ko-KR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약 </a:t>
                      </a:r>
                      <a:r>
                        <a:rPr lang="en-US" altLang="ko-KR" dirty="0"/>
                        <a:t>2.9eV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94506018"/>
                  </a:ext>
                </a:extLst>
              </a:tr>
              <a:tr h="2879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Ga</a:t>
                      </a:r>
                      <a:r>
                        <a:rPr lang="en-US" altLang="ko-KR" baseline="-25000" dirty="0"/>
                        <a:t>2</a:t>
                      </a:r>
                      <a:r>
                        <a:rPr lang="en-US" altLang="ko-KR" dirty="0"/>
                        <a:t>O</a:t>
                      </a:r>
                      <a:r>
                        <a:rPr lang="en-US" altLang="ko-KR" baseline="-25000" dirty="0"/>
                        <a:t>3</a:t>
                      </a:r>
                      <a:endParaRPr lang="ko-KR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약 </a:t>
                      </a:r>
                      <a:r>
                        <a:rPr lang="en-US" altLang="ko-KR" dirty="0"/>
                        <a:t>4.8eV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46897547"/>
                  </a:ext>
                </a:extLst>
              </a:tr>
            </a:tbl>
          </a:graphicData>
        </a:graphic>
      </p:graphicFrame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xmlns="" id="{96FA7978-80A9-A6E8-2A05-4B646DCE3F6D}"/>
              </a:ext>
            </a:extLst>
          </p:cNvPr>
          <p:cNvCxnSpPr/>
          <p:nvPr/>
        </p:nvCxnSpPr>
        <p:spPr>
          <a:xfrm>
            <a:off x="8318284" y="4603765"/>
            <a:ext cx="2840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98860046-F357-7759-992C-8D8CA51EDB97}"/>
              </a:ext>
            </a:extLst>
          </p:cNvPr>
          <p:cNvSpPr txBox="1"/>
          <p:nvPr/>
        </p:nvSpPr>
        <p:spPr>
          <a:xfrm>
            <a:off x="8555073" y="4465266"/>
            <a:ext cx="24593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일반적으로 </a:t>
            </a:r>
            <a:r>
              <a:rPr lang="en-US" altLang="ko-KR" sz="1200" dirty="0"/>
              <a:t>3eV </a:t>
            </a:r>
            <a:r>
              <a:rPr lang="ko-KR" altLang="en-US" sz="1200" dirty="0"/>
              <a:t>내외는 광대역갭</a:t>
            </a: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xmlns="" id="{7871FD5D-4774-A592-786C-7068CE2C9C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509" r="46262" b="14123"/>
          <a:stretch/>
        </p:blipFill>
        <p:spPr>
          <a:xfrm>
            <a:off x="1177599" y="2577135"/>
            <a:ext cx="4637380" cy="2909444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E55939FE-916B-3806-8667-89BCD49602FE}"/>
              </a:ext>
            </a:extLst>
          </p:cNvPr>
          <p:cNvSpPr txBox="1"/>
          <p:nvPr/>
        </p:nvSpPr>
        <p:spPr>
          <a:xfrm>
            <a:off x="1877020" y="5425792"/>
            <a:ext cx="37028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200" i="1" dirty="0"/>
              <a:t>Lee et al., J. Mater. Chem. C, 11, 5241-5256, 2023. 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A09DD727-4C40-B149-A731-40E5FE6416F7}"/>
              </a:ext>
            </a:extLst>
          </p:cNvPr>
          <p:cNvSpPr/>
          <p:nvPr/>
        </p:nvSpPr>
        <p:spPr>
          <a:xfrm>
            <a:off x="3083398" y="5229917"/>
            <a:ext cx="388348" cy="1958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CDD76022-A64A-4DCC-D56B-6925F6BAADE3}"/>
              </a:ext>
            </a:extLst>
          </p:cNvPr>
          <p:cNvSpPr/>
          <p:nvPr/>
        </p:nvSpPr>
        <p:spPr>
          <a:xfrm>
            <a:off x="3854922" y="5222771"/>
            <a:ext cx="345485" cy="1958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C5501A58-B85C-85E4-C24C-DBFB60768947}"/>
              </a:ext>
            </a:extLst>
          </p:cNvPr>
          <p:cNvSpPr/>
          <p:nvPr/>
        </p:nvSpPr>
        <p:spPr>
          <a:xfrm>
            <a:off x="4619344" y="5222770"/>
            <a:ext cx="464303" cy="2030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82D78FFB-A445-57DC-AB53-A5A6E1429C21}"/>
              </a:ext>
            </a:extLst>
          </p:cNvPr>
          <p:cNvSpPr txBox="1"/>
          <p:nvPr/>
        </p:nvSpPr>
        <p:spPr>
          <a:xfrm>
            <a:off x="7345680" y="58963"/>
            <a:ext cx="484632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Section 1.</a:t>
            </a:r>
            <a:r>
              <a:rPr lang="ko-KR" altLang="en-US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Evolution of Oxide semiconductor </a:t>
            </a:r>
            <a:endParaRPr lang="ko-KR" alt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1A0B80DA-EDDA-5C57-3125-029D9670EBF4}"/>
              </a:ext>
            </a:extLst>
          </p:cNvPr>
          <p:cNvSpPr txBox="1"/>
          <p:nvPr/>
        </p:nvSpPr>
        <p:spPr>
          <a:xfrm>
            <a:off x="1651899" y="5842095"/>
            <a:ext cx="406731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가시광선 </a:t>
            </a:r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380 nm~750 nm</a:t>
            </a:r>
            <a:r>
              <a:rPr lang="ko-KR" altLang="en-US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로 </a:t>
            </a:r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약</a:t>
            </a:r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1.65~3.1eV)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A2442AC6-D7CE-B0B1-1826-AE6B58732C71}"/>
              </a:ext>
            </a:extLst>
          </p:cNvPr>
          <p:cNvSpPr txBox="1"/>
          <p:nvPr/>
        </p:nvSpPr>
        <p:spPr>
          <a:xfrm>
            <a:off x="6877730" y="5061187"/>
            <a:ext cx="401669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Avalanche Breakdown</a:t>
            </a:r>
            <a:r>
              <a:rPr lang="ko-KR" altLang="en-US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</a:t>
            </a:r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발생할 확률이 낮다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xmlns="" id="{DE8928F6-5803-2835-5384-C23722A32AB7}"/>
              </a:ext>
            </a:extLst>
          </p:cNvPr>
          <p:cNvCxnSpPr/>
          <p:nvPr/>
        </p:nvCxnSpPr>
        <p:spPr>
          <a:xfrm>
            <a:off x="3257006" y="4075611"/>
            <a:ext cx="0" cy="748938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xmlns="" id="{71C88F86-08FF-E9DA-E5ED-4553C7B74785}"/>
              </a:ext>
            </a:extLst>
          </p:cNvPr>
          <p:cNvCxnSpPr/>
          <p:nvPr/>
        </p:nvCxnSpPr>
        <p:spPr>
          <a:xfrm>
            <a:off x="4032069" y="4014648"/>
            <a:ext cx="0" cy="748938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xmlns="" id="{1D237D92-E665-8CCE-57B9-92F3AF73AE67}"/>
              </a:ext>
            </a:extLst>
          </p:cNvPr>
          <p:cNvCxnSpPr/>
          <p:nvPr/>
        </p:nvCxnSpPr>
        <p:spPr>
          <a:xfrm>
            <a:off x="4781006" y="3762101"/>
            <a:ext cx="0" cy="1166949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FAD0B87C-D3CE-8FCB-938C-73C8BD920C63}"/>
              </a:ext>
            </a:extLst>
          </p:cNvPr>
          <p:cNvSpPr txBox="1"/>
          <p:nvPr/>
        </p:nvSpPr>
        <p:spPr>
          <a:xfrm>
            <a:off x="3728446" y="6472427"/>
            <a:ext cx="197280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CNL : Charge Neutrality Level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FAD2F931-FAE1-5264-46F7-D8E7EDC15160}"/>
              </a:ext>
            </a:extLst>
          </p:cNvPr>
          <p:cNvSpPr txBox="1"/>
          <p:nvPr/>
        </p:nvSpPr>
        <p:spPr>
          <a:xfrm>
            <a:off x="254001" y="1259473"/>
            <a:ext cx="11506200" cy="400110"/>
          </a:xfrm>
          <a:prstGeom prst="rect">
            <a:avLst/>
          </a:prstGeom>
          <a:noFill/>
          <a:ln w="28575">
            <a:solidFill>
              <a:srgbClr val="15608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Oxide semiconductor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의 투명성과 고전압 안정성으로 인해 </a:t>
            </a: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Si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을 대체할 소재로 주목받음</a:t>
            </a:r>
            <a:endParaRPr lang="en-US" altLang="ko-KR" sz="2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xmlns="" id="{D8CEF884-F332-DB40-8530-A988D72E0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E1704-955B-45E9-8CC7-423CE1421702}" type="slidenum">
              <a:rPr lang="ko-KR" altLang="en-US" smtClean="0"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28407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xmlns="" id="{42B680F7-EFA5-A830-0B0E-1BBEB3A16C02}"/>
              </a:ext>
            </a:extLst>
          </p:cNvPr>
          <p:cNvSpPr txBox="1">
            <a:spLocks/>
          </p:cNvSpPr>
          <p:nvPr/>
        </p:nvSpPr>
        <p:spPr>
          <a:xfrm>
            <a:off x="133633" y="328611"/>
            <a:ext cx="10182225" cy="826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Materials &amp; Process Innovation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1346FE81-9909-B25C-2012-9AA4FE8FDD2E}"/>
              </a:ext>
            </a:extLst>
          </p:cNvPr>
          <p:cNvSpPr/>
          <p:nvPr/>
        </p:nvSpPr>
        <p:spPr>
          <a:xfrm>
            <a:off x="123824" y="1094422"/>
            <a:ext cx="11783786" cy="60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13202D1B-357F-56FC-F1B2-F07C808C06F5}"/>
              </a:ext>
            </a:extLst>
          </p:cNvPr>
          <p:cNvSpPr txBox="1"/>
          <p:nvPr/>
        </p:nvSpPr>
        <p:spPr>
          <a:xfrm>
            <a:off x="6710798" y="58963"/>
            <a:ext cx="548120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Section 2. Power–Performance–Area–Cost  </a:t>
            </a:r>
            <a:endParaRPr lang="ko-KR" altLang="en-US" sz="1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xmlns="" id="{748F4612-3FDE-4106-127D-CF9E8BA8776D}"/>
              </a:ext>
            </a:extLst>
          </p:cNvPr>
          <p:cNvGrpSpPr/>
          <p:nvPr/>
        </p:nvGrpSpPr>
        <p:grpSpPr>
          <a:xfrm>
            <a:off x="1271727" y="2403076"/>
            <a:ext cx="9834826" cy="2750234"/>
            <a:chOff x="1420749" y="2403076"/>
            <a:chExt cx="9834826" cy="2750234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xmlns="" id="{350D923E-326E-AC25-5C90-22054A7593A2}"/>
                </a:ext>
              </a:extLst>
            </p:cNvPr>
            <p:cNvGrpSpPr/>
            <p:nvPr/>
          </p:nvGrpSpPr>
          <p:grpSpPr>
            <a:xfrm>
              <a:off x="1420749" y="2403076"/>
              <a:ext cx="5015294" cy="2750234"/>
              <a:chOff x="826384" y="2431355"/>
              <a:chExt cx="5015294" cy="2750234"/>
            </a:xfrm>
          </p:grpSpPr>
          <p:pic>
            <p:nvPicPr>
              <p:cNvPr id="7" name="그림 6">
                <a:extLst>
                  <a:ext uri="{FF2B5EF4-FFF2-40B4-BE49-F238E27FC236}">
                    <a16:creationId xmlns:a16="http://schemas.microsoft.com/office/drawing/2014/main" xmlns="" id="{52CE76D8-A7E8-B13F-7868-84F9A1F430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545208" y="3025457"/>
                <a:ext cx="2727075" cy="1631950"/>
              </a:xfrm>
              <a:prstGeom prst="rect">
                <a:avLst/>
              </a:prstGeom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xmlns="" id="{5BB450E9-8AD2-0F51-2970-F7E7DA458220}"/>
                  </a:ext>
                </a:extLst>
              </p:cNvPr>
              <p:cNvSpPr txBox="1"/>
              <p:nvPr/>
            </p:nvSpPr>
            <p:spPr>
              <a:xfrm>
                <a:off x="826384" y="2431355"/>
                <a:ext cx="501529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20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High permittivity (κ) gate dielectrics</a:t>
                </a:r>
                <a:endParaRPr lang="ko-KR" altLang="en-US" sz="2000" b="1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xmlns="" id="{81FF0499-2EA2-02C2-6B7C-D2FA902B6816}"/>
                  </a:ext>
                </a:extLst>
              </p:cNvPr>
              <p:cNvSpPr txBox="1"/>
              <p:nvPr/>
            </p:nvSpPr>
            <p:spPr>
              <a:xfrm>
                <a:off x="2096223" y="4812257"/>
                <a:ext cx="189026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K</a:t>
                </a:r>
                <a:r>
                  <a:rPr lang="ko-KR" altLang="en-US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증가 → </a:t>
                </a:r>
                <a:r>
                  <a:rPr lang="en-US" altLang="ko-KR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C</a:t>
                </a:r>
                <a:r>
                  <a:rPr lang="en-US" altLang="ko-KR" b="1" baseline="-25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ox </a:t>
                </a:r>
                <a:r>
                  <a:rPr lang="ko-KR" altLang="en-US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증가</a:t>
                </a:r>
                <a:endParaRPr lang="ko-KR" altLang="en-US" b="1" baseline="-250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xmlns="" id="{267BBF8B-F4F8-5014-F688-1932188E5363}"/>
                </a:ext>
              </a:extLst>
            </p:cNvPr>
            <p:cNvGrpSpPr/>
            <p:nvPr/>
          </p:nvGrpSpPr>
          <p:grpSpPr>
            <a:xfrm>
              <a:off x="6710798" y="2403076"/>
              <a:ext cx="4544777" cy="2657901"/>
              <a:chOff x="6710798" y="2394023"/>
              <a:chExt cx="4544777" cy="2657901"/>
            </a:xfrm>
          </p:grpSpPr>
          <p:pic>
            <p:nvPicPr>
              <p:cNvPr id="9" name="그림 8">
                <a:extLst>
                  <a:ext uri="{FF2B5EF4-FFF2-40B4-BE49-F238E27FC236}">
                    <a16:creationId xmlns:a16="http://schemas.microsoft.com/office/drawing/2014/main" xmlns="" id="{00F4E70F-5793-2616-3BAE-3CC4458BF7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10798" y="3307397"/>
                <a:ext cx="4343545" cy="997902"/>
              </a:xfrm>
              <a:prstGeom prst="rect">
                <a:avLst/>
              </a:prstGeom>
            </p:spPr>
          </p:pic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xmlns="" id="{83603F56-9461-4653-A026-E46A1CF188E5}"/>
                  </a:ext>
                </a:extLst>
              </p:cNvPr>
              <p:cNvSpPr txBox="1"/>
              <p:nvPr/>
            </p:nvSpPr>
            <p:spPr>
              <a:xfrm>
                <a:off x="7776531" y="2394023"/>
                <a:ext cx="26883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2000" b="1" dirty="0"/>
                  <a:t>S</a:t>
                </a:r>
                <a:r>
                  <a:rPr lang="ko-KR" altLang="en-US" sz="2000" b="1" dirty="0" err="1"/>
                  <a:t>train</a:t>
                </a:r>
                <a:r>
                  <a:rPr lang="ko-KR" altLang="en-US" sz="2000" b="1" dirty="0"/>
                  <a:t> </a:t>
                </a:r>
                <a:r>
                  <a:rPr lang="ko-KR" altLang="en-US" sz="20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Engineering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xmlns="" id="{F00FBE59-86C6-6467-C301-E135C261E71B}"/>
                  </a:ext>
                </a:extLst>
              </p:cNvPr>
              <p:cNvSpPr txBox="1"/>
              <p:nvPr/>
            </p:nvSpPr>
            <p:spPr>
              <a:xfrm>
                <a:off x="6859820" y="4774925"/>
                <a:ext cx="43957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b="1" baseline="-25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Strain</a:t>
                </a:r>
                <a:r>
                  <a:rPr lang="ko-KR" altLang="en-US" b="1" baseline="-25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에 따른 </a:t>
                </a:r>
                <a:r>
                  <a:rPr lang="en-US" altLang="ko-KR" b="1" baseline="-25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cannel </a:t>
                </a:r>
                <a:r>
                  <a:rPr lang="ko-KR" altLang="en-US" b="1" baseline="-25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이 늘어나고 줄어들어 </a:t>
                </a:r>
                <a:r>
                  <a:rPr lang="en-US" altLang="ko-KR" b="1" baseline="-25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carrier</a:t>
                </a:r>
                <a:r>
                  <a:rPr lang="ko-KR" altLang="en-US" b="1" baseline="-25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의 이동 변화</a:t>
                </a: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FD5B17EE-D0E2-77C7-9E0F-139770442A72}"/>
              </a:ext>
            </a:extLst>
          </p:cNvPr>
          <p:cNvSpPr txBox="1"/>
          <p:nvPr/>
        </p:nvSpPr>
        <p:spPr>
          <a:xfrm>
            <a:off x="254001" y="1259473"/>
            <a:ext cx="11506200" cy="400110"/>
          </a:xfrm>
          <a:prstGeom prst="rect">
            <a:avLst/>
          </a:prstGeom>
          <a:noFill/>
          <a:ln w="28575">
            <a:solidFill>
              <a:srgbClr val="15608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Si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의</a:t>
            </a: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한계를 극복하기 위해 소재와  </a:t>
            </a: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process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의 변화를 줌</a:t>
            </a:r>
            <a:endParaRPr lang="en-US" altLang="ko-KR" sz="2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9861E335-8914-A142-C20D-3CDDAAB74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E1704-955B-45E9-8CC7-423CE1421702}" type="slidenum">
              <a:rPr lang="ko-KR" altLang="en-US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4050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xmlns="" id="{583B9CE7-F680-1EC4-76F9-3A34C5CD3A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219"/>
          <a:stretch/>
        </p:blipFill>
        <p:spPr bwMode="auto">
          <a:xfrm>
            <a:off x="547315" y="2261919"/>
            <a:ext cx="2138735" cy="1347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xmlns="" id="{D222EE4D-6789-7A5D-3CAC-26FB5C7050B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928"/>
          <a:stretch/>
        </p:blipFill>
        <p:spPr bwMode="auto">
          <a:xfrm>
            <a:off x="2827010" y="2261918"/>
            <a:ext cx="2217529" cy="1347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xmlns="" id="{C205F635-0EC5-02E5-9104-2F43761647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838"/>
          <a:stretch/>
        </p:blipFill>
        <p:spPr bwMode="auto">
          <a:xfrm>
            <a:off x="547315" y="3759079"/>
            <a:ext cx="2138735" cy="1347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xmlns="" id="{D71241D0-4871-3231-3F45-555C421D88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497"/>
          <a:stretch/>
        </p:blipFill>
        <p:spPr bwMode="auto">
          <a:xfrm>
            <a:off x="2830721" y="3759079"/>
            <a:ext cx="2217529" cy="1347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xmlns="" id="{42B680F7-EFA5-A830-0B0E-1BBEB3A16C02}"/>
              </a:ext>
            </a:extLst>
          </p:cNvPr>
          <p:cNvSpPr txBox="1">
            <a:spLocks/>
          </p:cNvSpPr>
          <p:nvPr/>
        </p:nvSpPr>
        <p:spPr>
          <a:xfrm>
            <a:off x="133633" y="328611"/>
            <a:ext cx="10182225" cy="826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Structural Innovation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1346FE81-9909-B25C-2012-9AA4FE8FDD2E}"/>
              </a:ext>
            </a:extLst>
          </p:cNvPr>
          <p:cNvSpPr/>
          <p:nvPr/>
        </p:nvSpPr>
        <p:spPr>
          <a:xfrm>
            <a:off x="123824" y="1094422"/>
            <a:ext cx="11783786" cy="60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E93B1BD5-0807-E027-D8C4-7BF92B0F628F}"/>
              </a:ext>
            </a:extLst>
          </p:cNvPr>
          <p:cNvSpPr txBox="1"/>
          <p:nvPr/>
        </p:nvSpPr>
        <p:spPr>
          <a:xfrm>
            <a:off x="6710798" y="58963"/>
            <a:ext cx="548120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Section 2. Power–Performance–Area–Cost  </a:t>
            </a:r>
            <a:endParaRPr lang="ko-KR" altLang="en-US" sz="1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AAF6B418-A96A-C870-7E1E-3D29EE5F4D71}"/>
              </a:ext>
            </a:extLst>
          </p:cNvPr>
          <p:cNvSpPr txBox="1"/>
          <p:nvPr/>
        </p:nvSpPr>
        <p:spPr>
          <a:xfrm>
            <a:off x="5753100" y="4972088"/>
            <a:ext cx="53584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002060"/>
                </a:solidFill>
              </a:rPr>
              <a:t>위아래 통신 배선이 짧아지면서 소비 전력</a:t>
            </a:r>
            <a:r>
              <a:rPr lang="en-US" altLang="ko-KR" sz="1400" dirty="0">
                <a:solidFill>
                  <a:srgbClr val="002060"/>
                </a:solidFill>
              </a:rPr>
              <a:t>, </a:t>
            </a:r>
            <a:r>
              <a:rPr lang="ko-KR" altLang="en-US" sz="1400" dirty="0">
                <a:solidFill>
                  <a:srgbClr val="002060"/>
                </a:solidFill>
              </a:rPr>
              <a:t>신호지연 감소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C2B19696-127C-732F-390E-F3B1290AFB2A}"/>
              </a:ext>
            </a:extLst>
          </p:cNvPr>
          <p:cNvSpPr txBox="1"/>
          <p:nvPr/>
        </p:nvSpPr>
        <p:spPr>
          <a:xfrm>
            <a:off x="254001" y="1259473"/>
            <a:ext cx="11506200" cy="400110"/>
          </a:xfrm>
          <a:prstGeom prst="rect">
            <a:avLst/>
          </a:prstGeom>
          <a:noFill/>
          <a:ln w="28575">
            <a:solidFill>
              <a:srgbClr val="15608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Si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의</a:t>
            </a: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한계를 극복하기 위해 구조의 변화를 줌 </a:t>
            </a:r>
            <a:endParaRPr lang="en-US" altLang="ko-KR" sz="2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09C2E8AB-7CEC-2E25-67DB-404BC77B4B1F}"/>
              </a:ext>
            </a:extLst>
          </p:cNvPr>
          <p:cNvSpPr txBox="1"/>
          <p:nvPr/>
        </p:nvSpPr>
        <p:spPr>
          <a:xfrm>
            <a:off x="7517441" y="6522038"/>
            <a:ext cx="3824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https://www.youtube.com/watch?v=3otqUu-7WUQ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46AA1E6A-F8DF-1273-0BBA-248D56A44B6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32273"/>
          <a:stretch/>
        </p:blipFill>
        <p:spPr>
          <a:xfrm>
            <a:off x="5253282" y="2295838"/>
            <a:ext cx="4354723" cy="244403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xmlns="" id="{3A5A5D38-9647-90B9-ADB9-1904CA010BC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8197" t="15102" r="1238" b="13993"/>
          <a:stretch/>
        </p:blipFill>
        <p:spPr>
          <a:xfrm>
            <a:off x="9813037" y="2517108"/>
            <a:ext cx="2269811" cy="200149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B51B9DE4-0667-F575-2C8E-1DFDF64ED7B5}"/>
              </a:ext>
            </a:extLst>
          </p:cNvPr>
          <p:cNvSpPr txBox="1"/>
          <p:nvPr/>
        </p:nvSpPr>
        <p:spPr>
          <a:xfrm>
            <a:off x="9429469" y="4561468"/>
            <a:ext cx="27625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i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ACM Trans. </a:t>
            </a:r>
            <a:r>
              <a:rPr lang="ko-KR" altLang="en-US" sz="1200" i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2018</a:t>
            </a:r>
            <a:r>
              <a:rPr lang="en-US" altLang="ko-KR" sz="1200" i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Art. 60, 32223046.</a:t>
            </a:r>
            <a:endParaRPr lang="ko-KR" altLang="en-US" sz="1200" i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슬라이드 번호 개체 틀 19">
            <a:extLst>
              <a:ext uri="{FF2B5EF4-FFF2-40B4-BE49-F238E27FC236}">
                <a16:creationId xmlns:a16="http://schemas.microsoft.com/office/drawing/2014/main" xmlns="" id="{0EBB7209-C6A8-73C6-A204-D87503111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E1704-955B-45E9-8CC7-423CE1421702}" type="slidenum">
              <a:rPr lang="ko-KR" altLang="en-US" smtClean="0"/>
              <a:t>6</a:t>
            </a:fld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CAA0C521-4365-BA8F-D49D-22E2ADB91C15}"/>
              </a:ext>
            </a:extLst>
          </p:cNvPr>
          <p:cNvSpPr/>
          <p:nvPr/>
        </p:nvSpPr>
        <p:spPr>
          <a:xfrm>
            <a:off x="5415381" y="3222594"/>
            <a:ext cx="680619" cy="9144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7C587FB1-E615-C484-B0BD-F0058B705F1B}"/>
              </a:ext>
            </a:extLst>
          </p:cNvPr>
          <p:cNvSpPr/>
          <p:nvPr/>
        </p:nvSpPr>
        <p:spPr>
          <a:xfrm>
            <a:off x="7611771" y="3492057"/>
            <a:ext cx="422520" cy="46025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4048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3A4C0C45-FB1C-A21E-31D1-2464592FB225}"/>
              </a:ext>
            </a:extLst>
          </p:cNvPr>
          <p:cNvSpPr txBox="1"/>
          <p:nvPr/>
        </p:nvSpPr>
        <p:spPr>
          <a:xfrm>
            <a:off x="6710798" y="5832680"/>
            <a:ext cx="33840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200" b="0" i="1" u="none" strike="noStrike" baseline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Adv. Mater. 2022, 34, 2106886.</a:t>
            </a:r>
            <a:endParaRPr lang="ko-KR" altLang="en-US" sz="1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0" name="Picture 2" descr="Details are in the caption following the image">
            <a:extLst>
              <a:ext uri="{FF2B5EF4-FFF2-40B4-BE49-F238E27FC236}">
                <a16:creationId xmlns:a16="http://schemas.microsoft.com/office/drawing/2014/main" xmlns="" id="{5DC906D4-B611-39A5-0AC8-80C81403D5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08" t="66043" r="50572"/>
          <a:stretch/>
        </p:blipFill>
        <p:spPr bwMode="auto">
          <a:xfrm>
            <a:off x="6045943" y="2541774"/>
            <a:ext cx="4143811" cy="3275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12C47938-3169-6E74-FA43-D1D12C54A5C7}"/>
              </a:ext>
            </a:extLst>
          </p:cNvPr>
          <p:cNvSpPr txBox="1"/>
          <p:nvPr/>
        </p:nvSpPr>
        <p:spPr>
          <a:xfrm>
            <a:off x="10626211" y="2860240"/>
            <a:ext cx="13568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Graphene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C599D3A8-DB37-3735-42E8-BF1BE13D21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023" y="2623618"/>
            <a:ext cx="2945086" cy="135249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0BB03F3D-97D2-0B31-0B00-C974535AAE23}"/>
              </a:ext>
            </a:extLst>
          </p:cNvPr>
          <p:cNvSpPr txBox="1"/>
          <p:nvPr/>
        </p:nvSpPr>
        <p:spPr>
          <a:xfrm>
            <a:off x="1920266" y="4179533"/>
            <a:ext cx="33699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ε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ch :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채널 반도체의 유전율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l-G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ε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ox :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게이트 절연막의 유전율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tch : </a:t>
            </a:r>
            <a:r>
              <a:rPr lang="ko-KR" altLang="en-US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채널 또는 반도체 </a:t>
            </a:r>
            <a:r>
              <a:rPr lang="en-US" altLang="ko-KR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body </a:t>
            </a:r>
            <a:r>
              <a:rPr lang="ko-KR" altLang="en-US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두께</a:t>
            </a:r>
            <a:endParaRPr lang="en-US" altLang="ko-KR" dirty="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tox :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게이트 절연막 두께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F62A942E-C211-63A5-2287-64BF9FED9066}"/>
              </a:ext>
            </a:extLst>
          </p:cNvPr>
          <p:cNvSpPr txBox="1"/>
          <p:nvPr/>
        </p:nvSpPr>
        <p:spPr>
          <a:xfrm>
            <a:off x="1840647" y="5601848"/>
            <a:ext cx="33840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t</a:t>
            </a:r>
            <a:r>
              <a:rPr lang="en-US" altLang="ko-KR" sz="2200" b="1" baseline="-25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ch</a:t>
            </a:r>
            <a:r>
              <a:rPr lang="en-US" altLang="ko-KR" sz="2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↓⇒</a:t>
            </a:r>
            <a:r>
              <a:rPr lang="el-GR" altLang="ko-KR" sz="2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λ↓</a:t>
            </a: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or </a:t>
            </a:r>
            <a:r>
              <a:rPr lang="en-US" altLang="ko-KR" sz="2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t</a:t>
            </a:r>
            <a:r>
              <a:rPr lang="en-US" altLang="ko-KR" sz="2200" b="1" baseline="-25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ch</a:t>
            </a:r>
            <a:r>
              <a:rPr lang="en-US" altLang="ko-KR" sz="2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↓⇒</a:t>
            </a:r>
            <a:r>
              <a:rPr lang="el-GR" altLang="ko-KR" sz="2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μ</a:t>
            </a:r>
            <a:r>
              <a:rPr lang="ko-KR" altLang="en-US" sz="2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↑</a:t>
            </a:r>
            <a:endParaRPr lang="ko-KR" altLang="en-US" sz="2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제목 1">
            <a:extLst>
              <a:ext uri="{FF2B5EF4-FFF2-40B4-BE49-F238E27FC236}">
                <a16:creationId xmlns:a16="http://schemas.microsoft.com/office/drawing/2014/main" xmlns="" id="{35EB7F04-F196-4222-2B8D-7650FA92F847}"/>
              </a:ext>
            </a:extLst>
          </p:cNvPr>
          <p:cNvSpPr txBox="1">
            <a:spLocks/>
          </p:cNvSpPr>
          <p:nvPr/>
        </p:nvSpPr>
        <p:spPr>
          <a:xfrm>
            <a:off x="133633" y="328611"/>
            <a:ext cx="10182225" cy="826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Beyond Silicon: 2D Materials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xmlns="" id="{A8AB80E7-78BE-F101-BE6B-D8E3DFBA74F7}"/>
              </a:ext>
            </a:extLst>
          </p:cNvPr>
          <p:cNvSpPr/>
          <p:nvPr/>
        </p:nvSpPr>
        <p:spPr>
          <a:xfrm>
            <a:off x="123824" y="1094422"/>
            <a:ext cx="11783786" cy="60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F492AA90-5E3A-AECB-B94A-705993294F5E}"/>
              </a:ext>
            </a:extLst>
          </p:cNvPr>
          <p:cNvSpPr txBox="1"/>
          <p:nvPr/>
        </p:nvSpPr>
        <p:spPr>
          <a:xfrm>
            <a:off x="6710798" y="58963"/>
            <a:ext cx="548120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Section 2. Power–Performance–Area–Cost  </a:t>
            </a:r>
            <a:endParaRPr lang="ko-KR" altLang="en-US" sz="1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076" name="Picture 4" descr="그래핀 분자 구조 조각 구조흰색으로 구분된 스톡 일러스트 151372268 | Shutterstock">
            <a:extLst>
              <a:ext uri="{FF2B5EF4-FFF2-40B4-BE49-F238E27FC236}">
                <a16:creationId xmlns:a16="http://schemas.microsoft.com/office/drawing/2014/main" xmlns="" id="{D4DE64F5-73BD-077F-8F93-5D7FC78744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45" b="14213"/>
          <a:stretch/>
        </p:blipFill>
        <p:spPr bwMode="auto">
          <a:xfrm>
            <a:off x="10014564" y="1598174"/>
            <a:ext cx="1992776" cy="135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CAFD58A2-1DDC-7914-B6D1-49894AC8BCBF}"/>
              </a:ext>
            </a:extLst>
          </p:cNvPr>
          <p:cNvSpPr txBox="1"/>
          <p:nvPr/>
        </p:nvSpPr>
        <p:spPr>
          <a:xfrm>
            <a:off x="1533328" y="1949030"/>
            <a:ext cx="41438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Characteristic Length(</a:t>
            </a:r>
            <a:r>
              <a:rPr lang="el-GR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λ)</a:t>
            </a:r>
            <a:endParaRPr lang="ko-KR" altLang="en-US" sz="2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2F6AFD4-A9EE-B757-E6CB-C44EA8E1C90A}"/>
              </a:ext>
            </a:extLst>
          </p:cNvPr>
          <p:cNvSpPr txBox="1"/>
          <p:nvPr/>
        </p:nvSpPr>
        <p:spPr>
          <a:xfrm>
            <a:off x="1555207" y="2381707"/>
            <a:ext cx="45407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Drain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전기장이 채널 내부로 침투하는 정도를 나타내는 정전기적 길이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029BA3D-1CFD-799D-8BF4-0213260FF2AD}"/>
              </a:ext>
            </a:extLst>
          </p:cNvPr>
          <p:cNvSpPr txBox="1"/>
          <p:nvPr/>
        </p:nvSpPr>
        <p:spPr>
          <a:xfrm>
            <a:off x="254001" y="1259473"/>
            <a:ext cx="11506200" cy="400110"/>
          </a:xfrm>
          <a:prstGeom prst="rect">
            <a:avLst/>
          </a:prstGeom>
          <a:noFill/>
          <a:ln w="28575">
            <a:solidFill>
              <a:srgbClr val="156082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얇은 두께에서 </a:t>
            </a: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Drain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의 영향을 적게 받고 결정 상태를 유지하여 소자의 성능을 향상시킴</a:t>
            </a:r>
            <a:endParaRPr lang="en-US" altLang="ko-KR" sz="2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3C0AD37-14C3-721D-01F0-A797D969948C}"/>
              </a:ext>
            </a:extLst>
          </p:cNvPr>
          <p:cNvSpPr txBox="1"/>
          <p:nvPr/>
        </p:nvSpPr>
        <p:spPr>
          <a:xfrm>
            <a:off x="10945495" y="3229572"/>
            <a:ext cx="181362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(≤ 0.4 nm)</a:t>
            </a:r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xmlns="" id="{82DB896C-DBC3-61DE-A446-2D7B82A18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E1704-955B-45E9-8CC7-423CE1421702}" type="slidenum">
              <a:rPr lang="ko-KR" altLang="en-US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90013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A4905922-BC2D-016B-CF96-5AD9470FD5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526" t="2695" r="15214" b="11144"/>
          <a:stretch/>
        </p:blipFill>
        <p:spPr>
          <a:xfrm>
            <a:off x="3008435" y="1921193"/>
            <a:ext cx="5743330" cy="4325673"/>
          </a:xfrm>
          <a:prstGeom prst="rect">
            <a:avLst/>
          </a:prstGeom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xmlns="" id="{97C5E745-C7E3-123F-D956-929D8EBC4973}"/>
              </a:ext>
            </a:extLst>
          </p:cNvPr>
          <p:cNvSpPr txBox="1">
            <a:spLocks/>
          </p:cNvSpPr>
          <p:nvPr/>
        </p:nvSpPr>
        <p:spPr>
          <a:xfrm>
            <a:off x="133633" y="328611"/>
            <a:ext cx="10182225" cy="826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Electron Transport in AOS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7F456DE1-75E2-2DAB-7CD6-F66A52B890DB}"/>
              </a:ext>
            </a:extLst>
          </p:cNvPr>
          <p:cNvSpPr/>
          <p:nvPr/>
        </p:nvSpPr>
        <p:spPr>
          <a:xfrm>
            <a:off x="123824" y="1094422"/>
            <a:ext cx="11783786" cy="60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25992BF3-C10D-3D4F-2675-7160302ED79C}"/>
              </a:ext>
            </a:extLst>
          </p:cNvPr>
          <p:cNvSpPr txBox="1"/>
          <p:nvPr/>
        </p:nvSpPr>
        <p:spPr>
          <a:xfrm>
            <a:off x="3008435" y="1315613"/>
            <a:ext cx="30875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i="0" u="none" strike="noStrike" baseline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Silicon:</a:t>
            </a:r>
          </a:p>
          <a:p>
            <a:r>
              <a:rPr lang="en-US" altLang="ko-KR" sz="1800" b="1" i="0" u="none" strike="noStrike" baseline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covalent bonding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0FECAADD-72A0-7590-52C9-7C86E953F7E1}"/>
              </a:ext>
            </a:extLst>
          </p:cNvPr>
          <p:cNvSpPr txBox="1"/>
          <p:nvPr/>
        </p:nvSpPr>
        <p:spPr>
          <a:xfrm>
            <a:off x="5885895" y="1290321"/>
            <a:ext cx="21278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i="0" u="none" strike="noStrike" baseline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Oxide: </a:t>
            </a:r>
          </a:p>
          <a:p>
            <a:r>
              <a:rPr lang="en-US" altLang="ko-KR" sz="1800" b="1" i="0" u="none" strike="noStrike" baseline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Ionic bonding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9A65DDE6-D4F1-DCAE-C2C6-3C95149554F2}"/>
              </a:ext>
            </a:extLst>
          </p:cNvPr>
          <p:cNvSpPr txBox="1"/>
          <p:nvPr/>
        </p:nvSpPr>
        <p:spPr>
          <a:xfrm>
            <a:off x="7803416" y="3456236"/>
            <a:ext cx="23054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Carrier percolation pathway</a:t>
            </a:r>
            <a:endParaRPr lang="ko-KR" altLang="en-US" sz="1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C46790A0-D1A2-20AA-CB1A-C2BF0904734E}"/>
              </a:ext>
            </a:extLst>
          </p:cNvPr>
          <p:cNvSpPr txBox="1"/>
          <p:nvPr/>
        </p:nvSpPr>
        <p:spPr>
          <a:xfrm>
            <a:off x="5897949" y="6214605"/>
            <a:ext cx="273843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KR" panose="020B0200000000000000" pitchFamily="50" charset="-127"/>
                <a:ea typeface="Noto Sans KR" panose="020B0200000000000000" pitchFamily="50" charset="-127"/>
              </a:rPr>
              <a:t>Mobility ≥10cm</a:t>
            </a:r>
            <a:r>
              <a:rPr lang="en-US" altLang="ko-KR" sz="1200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en-US" altLang="ko-K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KR" panose="020B0200000000000000" pitchFamily="50" charset="-127"/>
                <a:ea typeface="Noto Sans KR" panose="020B0200000000000000" pitchFamily="50" charset="-127"/>
              </a:rPr>
              <a:t>V</a:t>
            </a:r>
            <a:r>
              <a:rPr lang="en-US" altLang="ko-KR" sz="1200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KR" panose="020B0200000000000000" pitchFamily="50" charset="-127"/>
                <a:ea typeface="Noto Sans KR" panose="020B0200000000000000" pitchFamily="50" charset="-127"/>
              </a:rPr>
              <a:t>−1</a:t>
            </a:r>
            <a:r>
              <a:rPr lang="en-US" altLang="ko-K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KR" panose="020B0200000000000000" pitchFamily="50" charset="-127"/>
                <a:ea typeface="Noto Sans KR" panose="020B0200000000000000" pitchFamily="50" charset="-127"/>
              </a:rPr>
              <a:t>s</a:t>
            </a:r>
            <a:r>
              <a:rPr lang="en-US" altLang="ko-KR" sz="1200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KR" panose="020B0200000000000000" pitchFamily="50" charset="-127"/>
                <a:ea typeface="Noto Sans KR" panose="020B0200000000000000" pitchFamily="50" charset="-127"/>
              </a:rPr>
              <a:t>−1</a:t>
            </a:r>
            <a:endParaRPr lang="ko-KR" alt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F4B5F09A-C3E9-842C-51F1-109BA6D3C6BB}"/>
              </a:ext>
            </a:extLst>
          </p:cNvPr>
          <p:cNvSpPr txBox="1"/>
          <p:nvPr/>
        </p:nvSpPr>
        <p:spPr>
          <a:xfrm>
            <a:off x="3130771" y="6226206"/>
            <a:ext cx="27034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KR" panose="020B0200000000000000" pitchFamily="50" charset="-127"/>
                <a:ea typeface="Noto Sans KR" panose="020B0200000000000000" pitchFamily="50" charset="-127"/>
              </a:rPr>
              <a:t>Mobility  </a:t>
            </a:r>
            <a:r>
              <a:rPr lang="ko-KR" alt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KR" panose="020B0200000000000000" pitchFamily="50" charset="-127"/>
                <a:ea typeface="Noto Sans KR" panose="020B0200000000000000" pitchFamily="50" charset="-127"/>
              </a:rPr>
              <a:t>약</a:t>
            </a:r>
            <a:r>
              <a:rPr lang="en-US" altLang="ko-K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KR" panose="020B0200000000000000" pitchFamily="50" charset="-127"/>
                <a:ea typeface="Noto Sans KR" panose="020B0200000000000000" pitchFamily="50" charset="-127"/>
              </a:rPr>
              <a:t>1cm</a:t>
            </a:r>
            <a:r>
              <a:rPr lang="en-US" altLang="ko-KR" sz="1200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en-US" altLang="ko-K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KR" panose="020B0200000000000000" pitchFamily="50" charset="-127"/>
                <a:ea typeface="Noto Sans KR" panose="020B0200000000000000" pitchFamily="50" charset="-127"/>
              </a:rPr>
              <a:t>V</a:t>
            </a:r>
            <a:r>
              <a:rPr lang="en-US" altLang="ko-KR" sz="1200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KR" panose="020B0200000000000000" pitchFamily="50" charset="-127"/>
                <a:ea typeface="Noto Sans KR" panose="020B0200000000000000" pitchFamily="50" charset="-127"/>
              </a:rPr>
              <a:t>−1</a:t>
            </a:r>
            <a:r>
              <a:rPr lang="en-US" altLang="ko-K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KR" panose="020B0200000000000000" pitchFamily="50" charset="-127"/>
                <a:ea typeface="Noto Sans KR" panose="020B0200000000000000" pitchFamily="50" charset="-127"/>
              </a:rPr>
              <a:t>s</a:t>
            </a:r>
            <a:r>
              <a:rPr lang="en-US" altLang="ko-KR" sz="1200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KR" panose="020B0200000000000000" pitchFamily="50" charset="-127"/>
                <a:ea typeface="Noto Sans KR" panose="020B0200000000000000" pitchFamily="50" charset="-127"/>
              </a:rPr>
              <a:t>−1</a:t>
            </a:r>
            <a:endParaRPr lang="ko-KR" altLang="en-US" sz="1200" dirty="0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xmlns="" id="{5AF63D09-40DB-1B8E-7A1E-B7A92D892BFF}"/>
              </a:ext>
            </a:extLst>
          </p:cNvPr>
          <p:cNvCxnSpPr/>
          <p:nvPr/>
        </p:nvCxnSpPr>
        <p:spPr>
          <a:xfrm>
            <a:off x="6015717" y="2527395"/>
            <a:ext cx="2826442" cy="30153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xmlns="" id="{67408015-04FF-1AA7-568A-860EB016A759}"/>
              </a:ext>
            </a:extLst>
          </p:cNvPr>
          <p:cNvCxnSpPr>
            <a:cxnSpLocks/>
          </p:cNvCxnSpPr>
          <p:nvPr/>
        </p:nvCxnSpPr>
        <p:spPr>
          <a:xfrm>
            <a:off x="5951538" y="2987272"/>
            <a:ext cx="2835275" cy="40710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xmlns="" id="{920A316E-DCE5-9814-D96F-2C7D15703A2B}"/>
              </a:ext>
            </a:extLst>
          </p:cNvPr>
          <p:cNvCxnSpPr/>
          <p:nvPr/>
        </p:nvCxnSpPr>
        <p:spPr>
          <a:xfrm flipH="1">
            <a:off x="4297680" y="1961944"/>
            <a:ext cx="83820" cy="20380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xmlns="" id="{9823A501-5CF2-030A-39AB-053B6811D63C}"/>
              </a:ext>
            </a:extLst>
          </p:cNvPr>
          <p:cNvCxnSpPr/>
          <p:nvPr/>
        </p:nvCxnSpPr>
        <p:spPr>
          <a:xfrm flipH="1">
            <a:off x="4462698" y="1987236"/>
            <a:ext cx="83820" cy="20380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5EBED859-14C9-CC99-43BE-97837D1F9AB7}"/>
              </a:ext>
            </a:extLst>
          </p:cNvPr>
          <p:cNvSpPr txBox="1"/>
          <p:nvPr/>
        </p:nvSpPr>
        <p:spPr>
          <a:xfrm>
            <a:off x="7340600" y="58963"/>
            <a:ext cx="48514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Section 3.</a:t>
            </a:r>
            <a:r>
              <a:rPr lang="ko-KR" altLang="en-US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Amorphous Oxide Semiconductor </a:t>
            </a:r>
            <a:endParaRPr lang="ko-KR" alt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" name="자유형: 도형 1">
            <a:extLst>
              <a:ext uri="{FF2B5EF4-FFF2-40B4-BE49-F238E27FC236}">
                <a16:creationId xmlns:a16="http://schemas.microsoft.com/office/drawing/2014/main" xmlns="" id="{64A0EB71-9510-858E-CCF0-1CD554964F2B}"/>
              </a:ext>
            </a:extLst>
          </p:cNvPr>
          <p:cNvSpPr/>
          <p:nvPr/>
        </p:nvSpPr>
        <p:spPr>
          <a:xfrm>
            <a:off x="3580987" y="4110361"/>
            <a:ext cx="1097545" cy="2095130"/>
          </a:xfrm>
          <a:custGeom>
            <a:avLst/>
            <a:gdLst>
              <a:gd name="connsiteX0" fmla="*/ 1097545 w 1097545"/>
              <a:gd name="connsiteY0" fmla="*/ 0 h 2095130"/>
              <a:gd name="connsiteX1" fmla="*/ 955502 w 1097545"/>
              <a:gd name="connsiteY1" fmla="*/ 284086 h 2095130"/>
              <a:gd name="connsiteX2" fmla="*/ 786827 w 1097545"/>
              <a:gd name="connsiteY2" fmla="*/ 541538 h 2095130"/>
              <a:gd name="connsiteX3" fmla="*/ 857848 w 1097545"/>
              <a:gd name="connsiteY3" fmla="*/ 772357 h 2095130"/>
              <a:gd name="connsiteX4" fmla="*/ 795704 w 1097545"/>
              <a:gd name="connsiteY4" fmla="*/ 1056443 h 2095130"/>
              <a:gd name="connsiteX5" fmla="*/ 795704 w 1097545"/>
              <a:gd name="connsiteY5" fmla="*/ 1340528 h 2095130"/>
              <a:gd name="connsiteX6" fmla="*/ 618151 w 1097545"/>
              <a:gd name="connsiteY6" fmla="*/ 1624614 h 2095130"/>
              <a:gd name="connsiteX7" fmla="*/ 413964 w 1097545"/>
              <a:gd name="connsiteY7" fmla="*/ 1890944 h 2095130"/>
              <a:gd name="connsiteX8" fmla="*/ 41102 w 1097545"/>
              <a:gd name="connsiteY8" fmla="*/ 2006354 h 2095130"/>
              <a:gd name="connsiteX9" fmla="*/ 14469 w 1097545"/>
              <a:gd name="connsiteY9" fmla="*/ 2095130 h 2095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97545" h="2095130">
                <a:moveTo>
                  <a:pt x="1097545" y="0"/>
                </a:moveTo>
                <a:cubicBezTo>
                  <a:pt x="1052416" y="96915"/>
                  <a:pt x="1007288" y="193830"/>
                  <a:pt x="955502" y="284086"/>
                </a:cubicBezTo>
                <a:cubicBezTo>
                  <a:pt x="903716" y="374342"/>
                  <a:pt x="803103" y="460160"/>
                  <a:pt x="786827" y="541538"/>
                </a:cubicBezTo>
                <a:cubicBezTo>
                  <a:pt x="770551" y="622916"/>
                  <a:pt x="856369" y="686540"/>
                  <a:pt x="857848" y="772357"/>
                </a:cubicBezTo>
                <a:cubicBezTo>
                  <a:pt x="859327" y="858174"/>
                  <a:pt x="806061" y="961748"/>
                  <a:pt x="795704" y="1056443"/>
                </a:cubicBezTo>
                <a:cubicBezTo>
                  <a:pt x="785347" y="1151138"/>
                  <a:pt x="825296" y="1245833"/>
                  <a:pt x="795704" y="1340528"/>
                </a:cubicBezTo>
                <a:cubicBezTo>
                  <a:pt x="766112" y="1435223"/>
                  <a:pt x="681774" y="1532878"/>
                  <a:pt x="618151" y="1624614"/>
                </a:cubicBezTo>
                <a:cubicBezTo>
                  <a:pt x="554528" y="1716350"/>
                  <a:pt x="510139" y="1827321"/>
                  <a:pt x="413964" y="1890944"/>
                </a:cubicBezTo>
                <a:cubicBezTo>
                  <a:pt x="317789" y="1954567"/>
                  <a:pt x="107684" y="1972323"/>
                  <a:pt x="41102" y="2006354"/>
                </a:cubicBezTo>
                <a:cubicBezTo>
                  <a:pt x="-25480" y="2040385"/>
                  <a:pt x="7071" y="2081814"/>
                  <a:pt x="14469" y="209513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xmlns="" id="{FF94FEEA-7B37-DBF4-72BD-92B1EA27ED96}"/>
              </a:ext>
            </a:extLst>
          </p:cNvPr>
          <p:cNvSpPr/>
          <p:nvPr/>
        </p:nvSpPr>
        <p:spPr>
          <a:xfrm>
            <a:off x="3932808" y="4101483"/>
            <a:ext cx="825623" cy="2086304"/>
          </a:xfrm>
          <a:custGeom>
            <a:avLst/>
            <a:gdLst>
              <a:gd name="connsiteX0" fmla="*/ 825623 w 825623"/>
              <a:gd name="connsiteY0" fmla="*/ 0 h 2086304"/>
              <a:gd name="connsiteX1" fmla="*/ 665825 w 825623"/>
              <a:gd name="connsiteY1" fmla="*/ 435006 h 2086304"/>
              <a:gd name="connsiteX2" fmla="*/ 585926 w 825623"/>
              <a:gd name="connsiteY2" fmla="*/ 683581 h 2086304"/>
              <a:gd name="connsiteX3" fmla="*/ 621437 w 825623"/>
              <a:gd name="connsiteY3" fmla="*/ 1074199 h 2086304"/>
              <a:gd name="connsiteX4" fmla="*/ 603681 w 825623"/>
              <a:gd name="connsiteY4" fmla="*/ 1402672 h 2086304"/>
              <a:gd name="connsiteX5" fmla="*/ 497149 w 825623"/>
              <a:gd name="connsiteY5" fmla="*/ 1695635 h 2086304"/>
              <a:gd name="connsiteX6" fmla="*/ 284085 w 825623"/>
              <a:gd name="connsiteY6" fmla="*/ 1899822 h 2086304"/>
              <a:gd name="connsiteX7" fmla="*/ 0 w 825623"/>
              <a:gd name="connsiteY7" fmla="*/ 2086253 h 2086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5623" h="2086304">
                <a:moveTo>
                  <a:pt x="825623" y="0"/>
                </a:moveTo>
                <a:cubicBezTo>
                  <a:pt x="765698" y="160538"/>
                  <a:pt x="705774" y="321076"/>
                  <a:pt x="665825" y="435006"/>
                </a:cubicBezTo>
                <a:cubicBezTo>
                  <a:pt x="625875" y="548936"/>
                  <a:pt x="593324" y="577049"/>
                  <a:pt x="585926" y="683581"/>
                </a:cubicBezTo>
                <a:cubicBezTo>
                  <a:pt x="578528" y="790113"/>
                  <a:pt x="618478" y="954351"/>
                  <a:pt x="621437" y="1074199"/>
                </a:cubicBezTo>
                <a:cubicBezTo>
                  <a:pt x="624396" y="1194047"/>
                  <a:pt x="624396" y="1299099"/>
                  <a:pt x="603681" y="1402672"/>
                </a:cubicBezTo>
                <a:cubicBezTo>
                  <a:pt x="582966" y="1506245"/>
                  <a:pt x="550415" y="1612777"/>
                  <a:pt x="497149" y="1695635"/>
                </a:cubicBezTo>
                <a:cubicBezTo>
                  <a:pt x="443883" y="1778493"/>
                  <a:pt x="366943" y="1834719"/>
                  <a:pt x="284085" y="1899822"/>
                </a:cubicBezTo>
                <a:cubicBezTo>
                  <a:pt x="201227" y="1964925"/>
                  <a:pt x="48827" y="2089212"/>
                  <a:pt x="0" y="2086253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자유형: 도형 6">
            <a:extLst>
              <a:ext uri="{FF2B5EF4-FFF2-40B4-BE49-F238E27FC236}">
                <a16:creationId xmlns:a16="http://schemas.microsoft.com/office/drawing/2014/main" xmlns="" id="{E224ABFD-FB16-5EDB-890C-87A38E70CEE1}"/>
              </a:ext>
            </a:extLst>
          </p:cNvPr>
          <p:cNvSpPr/>
          <p:nvPr/>
        </p:nvSpPr>
        <p:spPr>
          <a:xfrm>
            <a:off x="5992427" y="4525302"/>
            <a:ext cx="1855433" cy="497838"/>
          </a:xfrm>
          <a:custGeom>
            <a:avLst/>
            <a:gdLst>
              <a:gd name="connsiteX0" fmla="*/ 0 w 1855433"/>
              <a:gd name="connsiteY0" fmla="*/ 455071 h 497838"/>
              <a:gd name="connsiteX1" fmla="*/ 745724 w 1855433"/>
              <a:gd name="connsiteY1" fmla="*/ 28943 h 497838"/>
              <a:gd name="connsiteX2" fmla="*/ 1154097 w 1855433"/>
              <a:gd name="connsiteY2" fmla="*/ 82209 h 497838"/>
              <a:gd name="connsiteX3" fmla="*/ 1526959 w 1855433"/>
              <a:gd name="connsiteY3" fmla="*/ 437315 h 497838"/>
              <a:gd name="connsiteX4" fmla="*/ 1757779 w 1855433"/>
              <a:gd name="connsiteY4" fmla="*/ 490581 h 497838"/>
              <a:gd name="connsiteX5" fmla="*/ 1855433 w 1855433"/>
              <a:gd name="connsiteY5" fmla="*/ 357416 h 497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55433" h="497838">
                <a:moveTo>
                  <a:pt x="0" y="455071"/>
                </a:moveTo>
                <a:cubicBezTo>
                  <a:pt x="276687" y="273079"/>
                  <a:pt x="553375" y="91087"/>
                  <a:pt x="745724" y="28943"/>
                </a:cubicBezTo>
                <a:cubicBezTo>
                  <a:pt x="938073" y="-33201"/>
                  <a:pt x="1023891" y="14147"/>
                  <a:pt x="1154097" y="82209"/>
                </a:cubicBezTo>
                <a:cubicBezTo>
                  <a:pt x="1284303" y="150271"/>
                  <a:pt x="1426345" y="369253"/>
                  <a:pt x="1526959" y="437315"/>
                </a:cubicBezTo>
                <a:cubicBezTo>
                  <a:pt x="1627573" y="505377"/>
                  <a:pt x="1703033" y="503898"/>
                  <a:pt x="1757779" y="490581"/>
                </a:cubicBezTo>
                <a:cubicBezTo>
                  <a:pt x="1812525" y="477265"/>
                  <a:pt x="1833979" y="417340"/>
                  <a:pt x="1855433" y="35741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xmlns="" id="{EDF2B742-6376-D1EC-6D71-B8E263728E7B}"/>
              </a:ext>
            </a:extLst>
          </p:cNvPr>
          <p:cNvSpPr/>
          <p:nvPr/>
        </p:nvSpPr>
        <p:spPr>
          <a:xfrm>
            <a:off x="6276513" y="5067864"/>
            <a:ext cx="1828800" cy="512871"/>
          </a:xfrm>
          <a:custGeom>
            <a:avLst/>
            <a:gdLst>
              <a:gd name="connsiteX0" fmla="*/ 0 w 1828800"/>
              <a:gd name="connsiteY0" fmla="*/ 312004 h 512871"/>
              <a:gd name="connsiteX1" fmla="*/ 497149 w 1828800"/>
              <a:gd name="connsiteY1" fmla="*/ 45674 h 512871"/>
              <a:gd name="connsiteX2" fmla="*/ 736846 w 1828800"/>
              <a:gd name="connsiteY2" fmla="*/ 45674 h 512871"/>
              <a:gd name="connsiteX3" fmla="*/ 1189607 w 1828800"/>
              <a:gd name="connsiteY3" fmla="*/ 498435 h 512871"/>
              <a:gd name="connsiteX4" fmla="*/ 1828800 w 1828800"/>
              <a:gd name="connsiteY4" fmla="*/ 356392 h 512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" h="512871">
                <a:moveTo>
                  <a:pt x="0" y="312004"/>
                </a:moveTo>
                <a:cubicBezTo>
                  <a:pt x="187170" y="201033"/>
                  <a:pt x="374341" y="90062"/>
                  <a:pt x="497149" y="45674"/>
                </a:cubicBezTo>
                <a:cubicBezTo>
                  <a:pt x="619957" y="1286"/>
                  <a:pt x="621436" y="-29786"/>
                  <a:pt x="736846" y="45674"/>
                </a:cubicBezTo>
                <a:cubicBezTo>
                  <a:pt x="852256" y="121134"/>
                  <a:pt x="1007615" y="446649"/>
                  <a:pt x="1189607" y="498435"/>
                </a:cubicBezTo>
                <a:cubicBezTo>
                  <a:pt x="1371599" y="550221"/>
                  <a:pt x="1600199" y="453306"/>
                  <a:pt x="1828800" y="35639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xmlns="" id="{F0FCECBF-E9D6-0880-67A5-F809DB8B7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E1704-955B-45E9-8CC7-423CE1421702}" type="slidenum">
              <a:rPr lang="ko-KR" altLang="en-US" smtClean="0"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35696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xmlns="" id="{A0D52664-5AA9-6CAF-6218-3A25DBB69D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990" y="2716413"/>
            <a:ext cx="1414429" cy="1414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BBCC203F-7E15-E2E6-CB53-6F64A28A7912}"/>
              </a:ext>
            </a:extLst>
          </p:cNvPr>
          <p:cNvSpPr txBox="1"/>
          <p:nvPr/>
        </p:nvSpPr>
        <p:spPr>
          <a:xfrm>
            <a:off x="964882" y="1652970"/>
            <a:ext cx="28016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i="0" dirty="0"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Bixbyite </a:t>
            </a:r>
            <a:r>
              <a:rPr lang="ko-KR" altLang="en-US" b="1" i="0" dirty="0"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결정 구조 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In</a:t>
            </a:r>
            <a:r>
              <a:rPr lang="en-US" altLang="ko-KR" b="1" baseline="-25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o</a:t>
            </a:r>
            <a:r>
              <a:rPr lang="en-US" altLang="ko-KR" b="1" baseline="-25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b="1" baseline="-25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xmlns="" id="{E3ABEB55-21D1-7924-0D2E-C495E1D8D6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98" t="14498" r="10216" b="16375"/>
          <a:stretch/>
        </p:blipFill>
        <p:spPr bwMode="auto">
          <a:xfrm>
            <a:off x="8079829" y="2790560"/>
            <a:ext cx="1462951" cy="1370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B035286C-DA0B-C6BF-33BF-2140D58F1D71}"/>
              </a:ext>
            </a:extLst>
          </p:cNvPr>
          <p:cNvSpPr txBox="1"/>
          <p:nvPr/>
        </p:nvSpPr>
        <p:spPr>
          <a:xfrm>
            <a:off x="8257375" y="1715846"/>
            <a:ext cx="2801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Wurtzite </a:t>
            </a:r>
            <a:r>
              <a:rPr lang="ko-KR" altLang="en-US" b="1" i="0" dirty="0"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결정 구조 </a:t>
            </a:r>
            <a:r>
              <a:rPr lang="en-US" altLang="ko-KR" b="1" i="0" dirty="0"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ZnO</a:t>
            </a:r>
            <a:endParaRPr lang="ko-KR" altLang="en-US" b="1" baseline="-25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EFCB59CF-1C24-2C1E-3E1C-F0080FB6F20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585" t="936" r="3665" b="52048"/>
          <a:stretch/>
        </p:blipFill>
        <p:spPr>
          <a:xfrm>
            <a:off x="6148404" y="2524570"/>
            <a:ext cx="702300" cy="11039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2" descr="The Structure and Properties of Amorphous Indium Oxide | Chemistry of  Materials">
            <a:extLst>
              <a:ext uri="{FF2B5EF4-FFF2-40B4-BE49-F238E27FC236}">
                <a16:creationId xmlns:a16="http://schemas.microsoft.com/office/drawing/2014/main" xmlns="" id="{07F053D5-192A-116D-E871-5BADFE7966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649" t="1" r="-377" b="31117"/>
          <a:stretch/>
        </p:blipFill>
        <p:spPr bwMode="auto">
          <a:xfrm>
            <a:off x="2479097" y="2716413"/>
            <a:ext cx="1414429" cy="1765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0" descr="The Structure and Properties of Amorphous Indium Oxide | Chemistry of  Materials">
            <a:extLst>
              <a:ext uri="{FF2B5EF4-FFF2-40B4-BE49-F238E27FC236}">
                <a16:creationId xmlns:a16="http://schemas.microsoft.com/office/drawing/2014/main" xmlns="" id="{1707A6D5-C4FA-C770-581B-BC473235C0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933" b="50000"/>
          <a:stretch/>
        </p:blipFill>
        <p:spPr bwMode="auto">
          <a:xfrm>
            <a:off x="9542780" y="3267875"/>
            <a:ext cx="1793675" cy="1201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2" descr="The Structure and Properties of Amorphous Indium Oxide | Chemistry of  Materials">
            <a:extLst>
              <a:ext uri="{FF2B5EF4-FFF2-40B4-BE49-F238E27FC236}">
                <a16:creationId xmlns:a16="http://schemas.microsoft.com/office/drawing/2014/main" xmlns="" id="{B1E41342-6271-3895-EF21-8D6476E575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649" t="76689" r="6084" b="13267"/>
          <a:stretch/>
        </p:blipFill>
        <p:spPr bwMode="auto">
          <a:xfrm>
            <a:off x="9841774" y="4655286"/>
            <a:ext cx="1323463" cy="286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제목 1">
            <a:extLst>
              <a:ext uri="{FF2B5EF4-FFF2-40B4-BE49-F238E27FC236}">
                <a16:creationId xmlns:a16="http://schemas.microsoft.com/office/drawing/2014/main" xmlns="" id="{1AECB947-9B8F-40EE-3004-9D0803D7E718}"/>
              </a:ext>
            </a:extLst>
          </p:cNvPr>
          <p:cNvSpPr txBox="1">
            <a:spLocks/>
          </p:cNvSpPr>
          <p:nvPr/>
        </p:nvSpPr>
        <p:spPr>
          <a:xfrm>
            <a:off x="133633" y="328611"/>
            <a:ext cx="10182225" cy="826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i="0" u="none" strike="noStrike" baseline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Multi-component AOS Systems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xmlns="" id="{97EC8B46-E339-4E0E-FFCF-CEE127C3A43F}"/>
              </a:ext>
            </a:extLst>
          </p:cNvPr>
          <p:cNvSpPr/>
          <p:nvPr/>
        </p:nvSpPr>
        <p:spPr>
          <a:xfrm>
            <a:off x="123824" y="1094422"/>
            <a:ext cx="11783786" cy="60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xmlns="" id="{A1EF8C5E-CBE0-3029-250C-3C1144A7496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873" t="48770" r="3376" b="-505"/>
          <a:stretch/>
        </p:blipFill>
        <p:spPr>
          <a:xfrm>
            <a:off x="5174473" y="2524571"/>
            <a:ext cx="671512" cy="110397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47898050-76F3-D1D6-6C85-40EBD22B4A1B}"/>
              </a:ext>
            </a:extLst>
          </p:cNvPr>
          <p:cNvSpPr txBox="1"/>
          <p:nvPr/>
        </p:nvSpPr>
        <p:spPr>
          <a:xfrm>
            <a:off x="4222002" y="1639454"/>
            <a:ext cx="39627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In</a:t>
            </a:r>
            <a:r>
              <a:rPr lang="en-US" altLang="ko-KR" b="1" baseline="-25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o</a:t>
            </a:r>
            <a:r>
              <a:rPr lang="en-US" altLang="ko-KR" b="1" baseline="-25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3  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Ga</a:t>
            </a:r>
            <a:r>
              <a:rPr lang="en-US" altLang="ko-KR" b="1" baseline="-25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O</a:t>
            </a:r>
            <a:r>
              <a:rPr lang="en-US" altLang="ko-KR" b="1" baseline="-25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의 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Gibbs free energy</a:t>
            </a:r>
            <a:r>
              <a:rPr lang="en-US" altLang="ko-KR" b="1" baseline="-25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</a:t>
            </a:r>
            <a:endParaRPr lang="ko-KR" altLang="en-US" b="1" baseline="-25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xmlns="" id="{C237331F-585D-332C-E6F1-E770B4C3452E}"/>
              </a:ext>
            </a:extLst>
          </p:cNvPr>
          <p:cNvSpPr/>
          <p:nvPr/>
        </p:nvSpPr>
        <p:spPr>
          <a:xfrm>
            <a:off x="715284" y="2241154"/>
            <a:ext cx="3300843" cy="358374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xmlns="" id="{7D19F283-E737-B9D1-1E96-76DA5995520E}"/>
              </a:ext>
            </a:extLst>
          </p:cNvPr>
          <p:cNvSpPr/>
          <p:nvPr/>
        </p:nvSpPr>
        <p:spPr>
          <a:xfrm>
            <a:off x="7985122" y="2241154"/>
            <a:ext cx="3301200" cy="358374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xmlns="" id="{40A07C3D-23A7-C193-7BF2-716CBC96A084}"/>
              </a:ext>
            </a:extLst>
          </p:cNvPr>
          <p:cNvSpPr/>
          <p:nvPr/>
        </p:nvSpPr>
        <p:spPr>
          <a:xfrm>
            <a:off x="4363655" y="2241153"/>
            <a:ext cx="3300843" cy="35837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xmlns="" id="{B6C263B0-498F-8E80-1976-2F56553025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V="1">
            <a:off x="10564101" y="6582768"/>
            <a:ext cx="391651" cy="177028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xmlns="" id="{F5C183BA-8A2B-049C-3F2A-B92B370358C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49755" b="3585"/>
          <a:stretch/>
        </p:blipFill>
        <p:spPr>
          <a:xfrm>
            <a:off x="11072995" y="6623983"/>
            <a:ext cx="213327" cy="135813"/>
          </a:xfrm>
          <a:prstGeom prst="rect">
            <a:avLst/>
          </a:prstGeom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xmlns="" id="{3C779585-64E5-5B84-CCF8-178CECEF40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174010"/>
              </p:ext>
            </p:extLst>
          </p:nvPr>
        </p:nvGraphicFramePr>
        <p:xfrm>
          <a:off x="4747925" y="3911959"/>
          <a:ext cx="2603388" cy="165608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258736">
                  <a:extLst>
                    <a:ext uri="{9D8B030D-6E8A-4147-A177-3AD203B41FA5}">
                      <a16:colId xmlns:a16="http://schemas.microsoft.com/office/drawing/2014/main" xmlns="" val="2151663079"/>
                    </a:ext>
                  </a:extLst>
                </a:gridCol>
                <a:gridCol w="1344652">
                  <a:extLst>
                    <a:ext uri="{9D8B030D-6E8A-4147-A177-3AD203B41FA5}">
                      <a16:colId xmlns:a16="http://schemas.microsoft.com/office/drawing/2014/main" xmlns="" val="5336078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산화물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altLang="ko-KR" sz="1500" dirty="0"/>
                        <a:t>Δ</a:t>
                      </a:r>
                      <a:r>
                        <a:rPr lang="en-US" altLang="ko-KR" sz="1500" dirty="0"/>
                        <a:t>Gf/oxygen (eV)</a:t>
                      </a:r>
                      <a:endParaRPr lang="ko-KR" altLang="en-US" sz="1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723515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</a:t>
                      </a:r>
                      <a:r>
                        <a:rPr lang="en-US" altLang="ko-KR" baseline="-25000" dirty="0"/>
                        <a:t>2</a:t>
                      </a:r>
                      <a:r>
                        <a:rPr lang="en-US" altLang="ko-KR" dirty="0"/>
                        <a:t>O</a:t>
                      </a:r>
                      <a:r>
                        <a:rPr lang="en-US" altLang="ko-KR" baseline="-250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3.6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941571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Ga</a:t>
                      </a:r>
                      <a:r>
                        <a:rPr lang="en-US" altLang="ko-KR" baseline="-25000" dirty="0"/>
                        <a:t>2</a:t>
                      </a:r>
                      <a:r>
                        <a:rPr lang="en-US" altLang="ko-KR" dirty="0"/>
                        <a:t>O</a:t>
                      </a:r>
                      <a:r>
                        <a:rPr lang="en-US" altLang="ko-KR" baseline="-25000" dirty="0"/>
                        <a:t>3</a:t>
                      </a:r>
                      <a:endParaRPr lang="ko-KR" altLang="en-US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4.33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910338568"/>
                  </a:ext>
                </a:extLst>
              </a:tr>
              <a:tr h="1743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ZnO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6.32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477606239"/>
                  </a:ext>
                </a:extLst>
              </a:tr>
            </a:tbl>
          </a:graphicData>
        </a:graphic>
      </p:graphicFrame>
      <p:sp>
        <p:nvSpPr>
          <p:cNvPr id="31" name="자유형: 도형 30">
            <a:extLst>
              <a:ext uri="{FF2B5EF4-FFF2-40B4-BE49-F238E27FC236}">
                <a16:creationId xmlns:a16="http://schemas.microsoft.com/office/drawing/2014/main" xmlns="" id="{16B75376-78EE-7E0E-DB00-F0CF3E3AFD39}"/>
              </a:ext>
            </a:extLst>
          </p:cNvPr>
          <p:cNvSpPr/>
          <p:nvPr/>
        </p:nvSpPr>
        <p:spPr>
          <a:xfrm>
            <a:off x="1307547" y="4846164"/>
            <a:ext cx="2234039" cy="818413"/>
          </a:xfrm>
          <a:custGeom>
            <a:avLst/>
            <a:gdLst>
              <a:gd name="connsiteX0" fmla="*/ 269966 w 2234039"/>
              <a:gd name="connsiteY0" fmla="*/ 0 h 818413"/>
              <a:gd name="connsiteX1" fmla="*/ 518717 w 2234039"/>
              <a:gd name="connsiteY1" fmla="*/ 178180 h 818413"/>
              <a:gd name="connsiteX2" fmla="*/ 532642 w 2234039"/>
              <a:gd name="connsiteY2" fmla="*/ 252719 h 818413"/>
              <a:gd name="connsiteX3" fmla="*/ 567976 w 2234039"/>
              <a:gd name="connsiteY3" fmla="*/ 240866 h 818413"/>
              <a:gd name="connsiteX4" fmla="*/ 622384 w 2234039"/>
              <a:gd name="connsiteY4" fmla="*/ 234939 h 818413"/>
              <a:gd name="connsiteX5" fmla="*/ 727467 w 2234039"/>
              <a:gd name="connsiteY5" fmla="*/ 257865 h 818413"/>
              <a:gd name="connsiteX6" fmla="*/ 764408 w 2234039"/>
              <a:gd name="connsiteY6" fmla="*/ 279533 h 818413"/>
              <a:gd name="connsiteX7" fmla="*/ 770080 w 2234039"/>
              <a:gd name="connsiteY7" fmla="*/ 249171 h 818413"/>
              <a:gd name="connsiteX8" fmla="*/ 1018831 w 2234039"/>
              <a:gd name="connsiteY8" fmla="*/ 70991 h 818413"/>
              <a:gd name="connsiteX9" fmla="*/ 1267582 w 2234039"/>
              <a:gd name="connsiteY9" fmla="*/ 249171 h 818413"/>
              <a:gd name="connsiteX10" fmla="*/ 1275462 w 2234039"/>
              <a:gd name="connsiteY10" fmla="*/ 291351 h 818413"/>
              <a:gd name="connsiteX11" fmla="*/ 1292044 w 2234039"/>
              <a:gd name="connsiteY11" fmla="*/ 269632 h 818413"/>
              <a:gd name="connsiteX12" fmla="*/ 1482939 w 2234039"/>
              <a:gd name="connsiteY12" fmla="*/ 184184 h 818413"/>
              <a:gd name="connsiteX13" fmla="*/ 1673834 w 2234039"/>
              <a:gd name="connsiteY13" fmla="*/ 269632 h 818413"/>
              <a:gd name="connsiteX14" fmla="*/ 1699710 w 2234039"/>
              <a:gd name="connsiteY14" fmla="*/ 303523 h 818413"/>
              <a:gd name="connsiteX15" fmla="*/ 1715322 w 2234039"/>
              <a:gd name="connsiteY15" fmla="*/ 249171 h 818413"/>
              <a:gd name="connsiteX16" fmla="*/ 1964073 w 2234039"/>
              <a:gd name="connsiteY16" fmla="*/ 70991 h 818413"/>
              <a:gd name="connsiteX17" fmla="*/ 2234039 w 2234039"/>
              <a:gd name="connsiteY17" fmla="*/ 362728 h 818413"/>
              <a:gd name="connsiteX18" fmla="*/ 1964073 w 2234039"/>
              <a:gd name="connsiteY18" fmla="*/ 654465 h 818413"/>
              <a:gd name="connsiteX19" fmla="*/ 1773178 w 2234039"/>
              <a:gd name="connsiteY19" fmla="*/ 569017 h 818413"/>
              <a:gd name="connsiteX20" fmla="*/ 1747303 w 2234039"/>
              <a:gd name="connsiteY20" fmla="*/ 535127 h 818413"/>
              <a:gd name="connsiteX21" fmla="*/ 1731690 w 2234039"/>
              <a:gd name="connsiteY21" fmla="*/ 589479 h 818413"/>
              <a:gd name="connsiteX22" fmla="*/ 1482939 w 2234039"/>
              <a:gd name="connsiteY22" fmla="*/ 767658 h 818413"/>
              <a:gd name="connsiteX23" fmla="*/ 1234188 w 2234039"/>
              <a:gd name="connsiteY23" fmla="*/ 589479 h 818413"/>
              <a:gd name="connsiteX24" fmla="*/ 1226308 w 2234039"/>
              <a:gd name="connsiteY24" fmla="*/ 547299 h 818413"/>
              <a:gd name="connsiteX25" fmla="*/ 1209726 w 2234039"/>
              <a:gd name="connsiteY25" fmla="*/ 569017 h 818413"/>
              <a:gd name="connsiteX26" fmla="*/ 1018831 w 2234039"/>
              <a:gd name="connsiteY26" fmla="*/ 654465 h 818413"/>
              <a:gd name="connsiteX27" fmla="*/ 913748 w 2234039"/>
              <a:gd name="connsiteY27" fmla="*/ 631539 h 818413"/>
              <a:gd name="connsiteX28" fmla="*/ 876807 w 2234039"/>
              <a:gd name="connsiteY28" fmla="*/ 609871 h 818413"/>
              <a:gd name="connsiteX29" fmla="*/ 871135 w 2234039"/>
              <a:gd name="connsiteY29" fmla="*/ 640234 h 818413"/>
              <a:gd name="connsiteX30" fmla="*/ 622384 w 2234039"/>
              <a:gd name="connsiteY30" fmla="*/ 818413 h 818413"/>
              <a:gd name="connsiteX31" fmla="*/ 373633 w 2234039"/>
              <a:gd name="connsiteY31" fmla="*/ 640233 h 818413"/>
              <a:gd name="connsiteX32" fmla="*/ 359708 w 2234039"/>
              <a:gd name="connsiteY32" fmla="*/ 565694 h 818413"/>
              <a:gd name="connsiteX33" fmla="*/ 324374 w 2234039"/>
              <a:gd name="connsiteY33" fmla="*/ 577547 h 818413"/>
              <a:gd name="connsiteX34" fmla="*/ 269966 w 2234039"/>
              <a:gd name="connsiteY34" fmla="*/ 583474 h 818413"/>
              <a:gd name="connsiteX35" fmla="*/ 0 w 2234039"/>
              <a:gd name="connsiteY35" fmla="*/ 291737 h 818413"/>
              <a:gd name="connsiteX36" fmla="*/ 269966 w 2234039"/>
              <a:gd name="connsiteY36" fmla="*/ 0 h 818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2234039" h="818413">
                <a:moveTo>
                  <a:pt x="269966" y="0"/>
                </a:moveTo>
                <a:cubicBezTo>
                  <a:pt x="381789" y="0"/>
                  <a:pt x="477734" y="73471"/>
                  <a:pt x="518717" y="178180"/>
                </a:cubicBezTo>
                <a:lnTo>
                  <a:pt x="532642" y="252719"/>
                </a:lnTo>
                <a:lnTo>
                  <a:pt x="567976" y="240866"/>
                </a:lnTo>
                <a:cubicBezTo>
                  <a:pt x="585551" y="236980"/>
                  <a:pt x="603747" y="234939"/>
                  <a:pt x="622384" y="234939"/>
                </a:cubicBezTo>
                <a:cubicBezTo>
                  <a:pt x="659658" y="234939"/>
                  <a:pt x="695169" y="243103"/>
                  <a:pt x="727467" y="257865"/>
                </a:cubicBezTo>
                <a:lnTo>
                  <a:pt x="764408" y="279533"/>
                </a:lnTo>
                <a:lnTo>
                  <a:pt x="770080" y="249171"/>
                </a:lnTo>
                <a:cubicBezTo>
                  <a:pt x="811063" y="144462"/>
                  <a:pt x="907007" y="70991"/>
                  <a:pt x="1018831" y="70991"/>
                </a:cubicBezTo>
                <a:cubicBezTo>
                  <a:pt x="1130654" y="70991"/>
                  <a:pt x="1226599" y="144462"/>
                  <a:pt x="1267582" y="249171"/>
                </a:cubicBezTo>
                <a:lnTo>
                  <a:pt x="1275462" y="291351"/>
                </a:lnTo>
                <a:lnTo>
                  <a:pt x="1292044" y="269632"/>
                </a:lnTo>
                <a:cubicBezTo>
                  <a:pt x="1340899" y="216838"/>
                  <a:pt x="1408390" y="184184"/>
                  <a:pt x="1482939" y="184184"/>
                </a:cubicBezTo>
                <a:cubicBezTo>
                  <a:pt x="1557488" y="184184"/>
                  <a:pt x="1624980" y="216838"/>
                  <a:pt x="1673834" y="269632"/>
                </a:cubicBezTo>
                <a:lnTo>
                  <a:pt x="1699710" y="303523"/>
                </a:lnTo>
                <a:lnTo>
                  <a:pt x="1715322" y="249171"/>
                </a:lnTo>
                <a:cubicBezTo>
                  <a:pt x="1756306" y="144462"/>
                  <a:pt x="1852250" y="70991"/>
                  <a:pt x="1964073" y="70991"/>
                </a:cubicBezTo>
                <a:cubicBezTo>
                  <a:pt x="2113171" y="70991"/>
                  <a:pt x="2234039" y="201606"/>
                  <a:pt x="2234039" y="362728"/>
                </a:cubicBezTo>
                <a:cubicBezTo>
                  <a:pt x="2234039" y="523850"/>
                  <a:pt x="2113171" y="654465"/>
                  <a:pt x="1964073" y="654465"/>
                </a:cubicBezTo>
                <a:cubicBezTo>
                  <a:pt x="1889524" y="654465"/>
                  <a:pt x="1822033" y="621812"/>
                  <a:pt x="1773178" y="569017"/>
                </a:cubicBezTo>
                <a:lnTo>
                  <a:pt x="1747303" y="535127"/>
                </a:lnTo>
                <a:lnTo>
                  <a:pt x="1731690" y="589479"/>
                </a:lnTo>
                <a:cubicBezTo>
                  <a:pt x="1690707" y="694187"/>
                  <a:pt x="1594763" y="767658"/>
                  <a:pt x="1482939" y="767658"/>
                </a:cubicBezTo>
                <a:cubicBezTo>
                  <a:pt x="1371116" y="767658"/>
                  <a:pt x="1275172" y="694187"/>
                  <a:pt x="1234188" y="589479"/>
                </a:cubicBezTo>
                <a:lnTo>
                  <a:pt x="1226308" y="547299"/>
                </a:lnTo>
                <a:lnTo>
                  <a:pt x="1209726" y="569017"/>
                </a:lnTo>
                <a:cubicBezTo>
                  <a:pt x="1160871" y="621812"/>
                  <a:pt x="1093380" y="654465"/>
                  <a:pt x="1018831" y="654465"/>
                </a:cubicBezTo>
                <a:cubicBezTo>
                  <a:pt x="981556" y="654465"/>
                  <a:pt x="946046" y="646302"/>
                  <a:pt x="913748" y="631539"/>
                </a:cubicBezTo>
                <a:lnTo>
                  <a:pt x="876807" y="609871"/>
                </a:lnTo>
                <a:lnTo>
                  <a:pt x="871135" y="640234"/>
                </a:lnTo>
                <a:cubicBezTo>
                  <a:pt x="830152" y="744942"/>
                  <a:pt x="734207" y="818413"/>
                  <a:pt x="622384" y="818413"/>
                </a:cubicBezTo>
                <a:cubicBezTo>
                  <a:pt x="510560" y="818413"/>
                  <a:pt x="414616" y="744942"/>
                  <a:pt x="373633" y="640233"/>
                </a:cubicBezTo>
                <a:lnTo>
                  <a:pt x="359708" y="565694"/>
                </a:lnTo>
                <a:lnTo>
                  <a:pt x="324374" y="577547"/>
                </a:lnTo>
                <a:cubicBezTo>
                  <a:pt x="306799" y="581433"/>
                  <a:pt x="288603" y="583474"/>
                  <a:pt x="269966" y="583474"/>
                </a:cubicBezTo>
                <a:cubicBezTo>
                  <a:pt x="120868" y="583474"/>
                  <a:pt x="0" y="452859"/>
                  <a:pt x="0" y="291737"/>
                </a:cubicBezTo>
                <a:cubicBezTo>
                  <a:pt x="0" y="130615"/>
                  <a:pt x="120868" y="0"/>
                  <a:pt x="269966" y="0"/>
                </a:cubicBezTo>
                <a:close/>
              </a:path>
            </a:pathLst>
          </a:custGeom>
          <a:solidFill>
            <a:schemeClr val="tx2">
              <a:lumMod val="25000"/>
              <a:lumOff val="75000"/>
            </a:schemeClr>
          </a:solidFill>
          <a:ln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B8ED6B1C-9025-7EA1-A9B5-0F66F3670AB6}"/>
              </a:ext>
            </a:extLst>
          </p:cNvPr>
          <p:cNvSpPr txBox="1"/>
          <p:nvPr/>
        </p:nvSpPr>
        <p:spPr>
          <a:xfrm>
            <a:off x="1765858" y="4763763"/>
            <a:ext cx="10809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In 5s </a:t>
            </a:r>
            <a:r>
              <a:rPr lang="ko-KR" altLang="en-US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오비탈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F3E938AB-4193-0F01-5912-D1996D47FEDB}"/>
              </a:ext>
            </a:extLst>
          </p:cNvPr>
          <p:cNvSpPr txBox="1"/>
          <p:nvPr/>
        </p:nvSpPr>
        <p:spPr>
          <a:xfrm>
            <a:off x="4684502" y="5558931"/>
            <a:ext cx="273023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800" i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K. Banger et al., Chem. Mater. 26, 2, 1195-1203 (2014)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49ECA9D0-93AF-1D31-BBEF-B0B1C5D8A3B6}"/>
              </a:ext>
            </a:extLst>
          </p:cNvPr>
          <p:cNvSpPr txBox="1"/>
          <p:nvPr/>
        </p:nvSpPr>
        <p:spPr>
          <a:xfrm>
            <a:off x="7340600" y="58963"/>
            <a:ext cx="48514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Section 3.</a:t>
            </a:r>
            <a:r>
              <a:rPr lang="ko-KR" altLang="en-US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Amorphous Oxide Semiconductor </a:t>
            </a:r>
            <a:endParaRPr lang="ko-KR" alt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xmlns="" id="{AA455FE5-37BA-6477-E133-4B861F361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E1704-955B-45E9-8CC7-423CE1421702}" type="slidenum">
              <a:rPr lang="ko-KR" altLang="en-US" smtClean="0"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56468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549492D2-FE13-0392-990B-568723583B1C}"/>
              </a:ext>
            </a:extLst>
          </p:cNvPr>
          <p:cNvSpPr/>
          <p:nvPr/>
        </p:nvSpPr>
        <p:spPr>
          <a:xfrm>
            <a:off x="123824" y="1094422"/>
            <a:ext cx="11783786" cy="60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xmlns="" id="{59139194-BD94-DA5A-DD08-2B63F39E34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083"/>
          <a:stretch/>
        </p:blipFill>
        <p:spPr>
          <a:xfrm>
            <a:off x="1130901" y="2748559"/>
            <a:ext cx="9295198" cy="3755951"/>
          </a:xfrm>
          <a:prstGeom prst="rect">
            <a:avLst/>
          </a:prstGeom>
        </p:spPr>
      </p:pic>
      <p:sp>
        <p:nvSpPr>
          <p:cNvPr id="16" name="제목 1">
            <a:extLst>
              <a:ext uri="{FF2B5EF4-FFF2-40B4-BE49-F238E27FC236}">
                <a16:creationId xmlns:a16="http://schemas.microsoft.com/office/drawing/2014/main" xmlns="" id="{0E66F638-9E7B-6200-7BF0-58B593D7AE53}"/>
              </a:ext>
            </a:extLst>
          </p:cNvPr>
          <p:cNvSpPr txBox="1">
            <a:spLocks/>
          </p:cNvSpPr>
          <p:nvPr/>
        </p:nvSpPr>
        <p:spPr>
          <a:xfrm>
            <a:off x="133633" y="328611"/>
            <a:ext cx="10182225" cy="826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i="0" u="none" strike="noStrike" baseline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Multi-component AOS Systems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4419DD32-B508-028F-4715-E6C20A6CB95E}"/>
              </a:ext>
            </a:extLst>
          </p:cNvPr>
          <p:cNvSpPr txBox="1"/>
          <p:nvPr/>
        </p:nvSpPr>
        <p:spPr>
          <a:xfrm>
            <a:off x="254001" y="1259473"/>
            <a:ext cx="11506200" cy="1382127"/>
          </a:xfrm>
          <a:prstGeom prst="rect">
            <a:avLst/>
          </a:prstGeom>
          <a:noFill/>
          <a:ln w="28575">
            <a:solidFill>
              <a:srgbClr val="15608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- In</a:t>
            </a:r>
            <a:r>
              <a:rPr lang="en-US" altLang="ko-KR" sz="20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3+ </a:t>
            </a: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Higher electron density &amp; mobility</a:t>
            </a:r>
          </a:p>
          <a:p>
            <a:pPr>
              <a:lnSpc>
                <a:spcPct val="80000"/>
              </a:lnSpc>
            </a:pPr>
            <a:endParaRPr lang="en-US" altLang="ko-KR" sz="2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80000"/>
              </a:lnSpc>
            </a:pP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- Zn</a:t>
            </a:r>
            <a:r>
              <a:rPr lang="en-US" altLang="ko-KR" sz="20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2+</a:t>
            </a: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: Amorphous structure stability</a:t>
            </a:r>
          </a:p>
          <a:p>
            <a:pPr>
              <a:lnSpc>
                <a:spcPct val="80000"/>
              </a:lnSpc>
            </a:pPr>
            <a:endParaRPr lang="en-US" altLang="ko-KR" sz="2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80000"/>
              </a:lnSpc>
            </a:pP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- Ga</a:t>
            </a:r>
            <a:r>
              <a:rPr lang="en-US" altLang="ko-KR" sz="20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3+</a:t>
            </a: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: Lower carrier density &amp; high resistivity</a:t>
            </a:r>
            <a:endParaRPr lang="ko-KR" altLang="en-US" sz="2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B49C277-EE68-BB64-11B8-F617DB14FC2D}"/>
              </a:ext>
            </a:extLst>
          </p:cNvPr>
          <p:cNvSpPr txBox="1"/>
          <p:nvPr/>
        </p:nvSpPr>
        <p:spPr>
          <a:xfrm>
            <a:off x="7340600" y="58963"/>
            <a:ext cx="48514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Section 3.</a:t>
            </a:r>
            <a:r>
              <a:rPr lang="ko-KR" altLang="en-US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Amorphous Oxide Semiconductor </a:t>
            </a:r>
            <a:endParaRPr lang="ko-KR" alt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02BE5DBF-047F-6E52-15DE-6CD97DB76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E1704-955B-45E9-8CC7-423CE1421702}" type="slidenum">
              <a:rPr lang="ko-KR" altLang="en-US" smtClean="0"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01984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내용 개체 틀 11">
            <a:extLst>
              <a:ext uri="{FF2B5EF4-FFF2-40B4-BE49-F238E27FC236}">
                <a16:creationId xmlns:a16="http://schemas.microsoft.com/office/drawing/2014/main" xmlns="" id="{60EBCCA5-7B65-52D4-9B1D-3C3AB8C2A1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96" t="2323" r="6910" b="1453"/>
          <a:stretch/>
        </p:blipFill>
        <p:spPr>
          <a:xfrm>
            <a:off x="394571" y="1921193"/>
            <a:ext cx="4003945" cy="3939821"/>
          </a:xfrm>
          <a:prstGeom prst="rect">
            <a:avLst/>
          </a:prstGeom>
        </p:spPr>
      </p:pic>
      <p:sp>
        <p:nvSpPr>
          <p:cNvPr id="10" name="제목 1">
            <a:extLst>
              <a:ext uri="{FF2B5EF4-FFF2-40B4-BE49-F238E27FC236}">
                <a16:creationId xmlns:a16="http://schemas.microsoft.com/office/drawing/2014/main" xmlns="" id="{974F3A46-60E0-33C7-0C02-293BC1B41D34}"/>
              </a:ext>
            </a:extLst>
          </p:cNvPr>
          <p:cNvSpPr txBox="1">
            <a:spLocks/>
          </p:cNvSpPr>
          <p:nvPr/>
        </p:nvSpPr>
        <p:spPr>
          <a:xfrm>
            <a:off x="133633" y="328611"/>
            <a:ext cx="10182225" cy="826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Carrier Transport Mechanism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83F3622D-615E-9F4F-3F29-F819689DCCE3}"/>
              </a:ext>
            </a:extLst>
          </p:cNvPr>
          <p:cNvSpPr/>
          <p:nvPr/>
        </p:nvSpPr>
        <p:spPr>
          <a:xfrm>
            <a:off x="123824" y="1094422"/>
            <a:ext cx="11783786" cy="60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19351B31-4B46-E649-175E-CCF2AAB984CA}"/>
              </a:ext>
            </a:extLst>
          </p:cNvPr>
          <p:cNvSpPr txBox="1"/>
          <p:nvPr/>
        </p:nvSpPr>
        <p:spPr>
          <a:xfrm>
            <a:off x="7810501" y="58963"/>
            <a:ext cx="43815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Section 4. Transport Mechanism </a:t>
            </a:r>
            <a:endParaRPr lang="ko-KR" alt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480" name="직사각형 19479">
            <a:extLst>
              <a:ext uri="{FF2B5EF4-FFF2-40B4-BE49-F238E27FC236}">
                <a16:creationId xmlns:a16="http://schemas.microsoft.com/office/drawing/2014/main" xmlns="" id="{A4140F23-A216-CC47-5B66-A3DB20425280}"/>
              </a:ext>
            </a:extLst>
          </p:cNvPr>
          <p:cNvSpPr/>
          <p:nvPr/>
        </p:nvSpPr>
        <p:spPr>
          <a:xfrm>
            <a:off x="5215791" y="1730324"/>
            <a:ext cx="1963998" cy="8794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1087" name="직선 연결선 1086">
            <a:extLst>
              <a:ext uri="{FF2B5EF4-FFF2-40B4-BE49-F238E27FC236}">
                <a16:creationId xmlns:a16="http://schemas.microsoft.com/office/drawing/2014/main" xmlns="" id="{D8F7AEE1-FF4F-16E3-4053-A2728059F4D3}"/>
              </a:ext>
            </a:extLst>
          </p:cNvPr>
          <p:cNvCxnSpPr>
            <a:cxnSpLocks/>
          </p:cNvCxnSpPr>
          <p:nvPr/>
        </p:nvCxnSpPr>
        <p:spPr>
          <a:xfrm>
            <a:off x="5322216" y="2089024"/>
            <a:ext cx="273498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56" name="직선 연결선 19455">
            <a:extLst>
              <a:ext uri="{FF2B5EF4-FFF2-40B4-BE49-F238E27FC236}">
                <a16:creationId xmlns:a16="http://schemas.microsoft.com/office/drawing/2014/main" xmlns="" id="{691EDAB1-C111-5147-5E08-BC9E01CCDD23}"/>
              </a:ext>
            </a:extLst>
          </p:cNvPr>
          <p:cNvCxnSpPr>
            <a:cxnSpLocks/>
          </p:cNvCxnSpPr>
          <p:nvPr/>
        </p:nvCxnSpPr>
        <p:spPr>
          <a:xfrm>
            <a:off x="5931266" y="2089024"/>
            <a:ext cx="261129" cy="55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57" name="직선 연결선 19456">
            <a:extLst>
              <a:ext uri="{FF2B5EF4-FFF2-40B4-BE49-F238E27FC236}">
                <a16:creationId xmlns:a16="http://schemas.microsoft.com/office/drawing/2014/main" xmlns="" id="{DF5D5E78-1D9B-714F-2E0B-69A95DDC2C30}"/>
              </a:ext>
            </a:extLst>
          </p:cNvPr>
          <p:cNvCxnSpPr>
            <a:cxnSpLocks/>
          </p:cNvCxnSpPr>
          <p:nvPr/>
        </p:nvCxnSpPr>
        <p:spPr>
          <a:xfrm>
            <a:off x="6538267" y="2089024"/>
            <a:ext cx="291541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60" name="직선 연결선 19459">
            <a:extLst>
              <a:ext uri="{FF2B5EF4-FFF2-40B4-BE49-F238E27FC236}">
                <a16:creationId xmlns:a16="http://schemas.microsoft.com/office/drawing/2014/main" xmlns="" id="{21458F5C-6029-6148-41AC-A8FBD01F4FA4}"/>
              </a:ext>
            </a:extLst>
          </p:cNvPr>
          <p:cNvCxnSpPr>
            <a:cxnSpLocks/>
          </p:cNvCxnSpPr>
          <p:nvPr/>
        </p:nvCxnSpPr>
        <p:spPr>
          <a:xfrm>
            <a:off x="5630705" y="2081426"/>
            <a:ext cx="273498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61" name="직선 연결선 19460">
            <a:extLst>
              <a:ext uri="{FF2B5EF4-FFF2-40B4-BE49-F238E27FC236}">
                <a16:creationId xmlns:a16="http://schemas.microsoft.com/office/drawing/2014/main" xmlns="" id="{7D33726C-10CF-394F-B8AA-0D6F18D7F13D}"/>
              </a:ext>
            </a:extLst>
          </p:cNvPr>
          <p:cNvCxnSpPr>
            <a:cxnSpLocks/>
          </p:cNvCxnSpPr>
          <p:nvPr/>
        </p:nvCxnSpPr>
        <p:spPr>
          <a:xfrm>
            <a:off x="6239755" y="2081426"/>
            <a:ext cx="261129" cy="55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62" name="직선 연결선 19461">
            <a:extLst>
              <a:ext uri="{FF2B5EF4-FFF2-40B4-BE49-F238E27FC236}">
                <a16:creationId xmlns:a16="http://schemas.microsoft.com/office/drawing/2014/main" xmlns="" id="{B80E93E6-3F1C-A8D6-D04E-9CD75B8FC120}"/>
              </a:ext>
            </a:extLst>
          </p:cNvPr>
          <p:cNvCxnSpPr>
            <a:cxnSpLocks/>
          </p:cNvCxnSpPr>
          <p:nvPr/>
        </p:nvCxnSpPr>
        <p:spPr>
          <a:xfrm>
            <a:off x="6846756" y="2081426"/>
            <a:ext cx="291541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89" name="TextBox 19488">
            <a:extLst>
              <a:ext uri="{FF2B5EF4-FFF2-40B4-BE49-F238E27FC236}">
                <a16:creationId xmlns:a16="http://schemas.microsoft.com/office/drawing/2014/main" xmlns="" id="{326F46E8-3FE4-BBDA-39EF-6ADA0B1F3873}"/>
              </a:ext>
            </a:extLst>
          </p:cNvPr>
          <p:cNvSpPr txBox="1"/>
          <p:nvPr/>
        </p:nvSpPr>
        <p:spPr>
          <a:xfrm>
            <a:off x="5304460" y="2454948"/>
            <a:ext cx="18790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Band</a:t>
            </a:r>
            <a:r>
              <a:rPr lang="ko-KR" altLang="en-US" sz="1400" b="1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400" b="1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like transport</a:t>
            </a:r>
            <a:endParaRPr lang="ko-KR" altLang="en-US" sz="1400" b="1" dirty="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xmlns="" id="{973643DB-F83C-B244-EEB8-A15A144D4FEA}"/>
              </a:ext>
            </a:extLst>
          </p:cNvPr>
          <p:cNvSpPr/>
          <p:nvPr/>
        </p:nvSpPr>
        <p:spPr>
          <a:xfrm>
            <a:off x="5458516" y="1796752"/>
            <a:ext cx="1644650" cy="298528"/>
          </a:xfrm>
          <a:custGeom>
            <a:avLst/>
            <a:gdLst>
              <a:gd name="connsiteX0" fmla="*/ 0 w 1644650"/>
              <a:gd name="connsiteY0" fmla="*/ 298528 h 298528"/>
              <a:gd name="connsiteX1" fmla="*/ 50800 w 1644650"/>
              <a:gd name="connsiteY1" fmla="*/ 78 h 298528"/>
              <a:gd name="connsiteX2" fmla="*/ 266700 w 1644650"/>
              <a:gd name="connsiteY2" fmla="*/ 266778 h 298528"/>
              <a:gd name="connsiteX3" fmla="*/ 336550 w 1644650"/>
              <a:gd name="connsiteY3" fmla="*/ 38178 h 298528"/>
              <a:gd name="connsiteX4" fmla="*/ 584200 w 1644650"/>
              <a:gd name="connsiteY4" fmla="*/ 273128 h 298528"/>
              <a:gd name="connsiteX5" fmla="*/ 692150 w 1644650"/>
              <a:gd name="connsiteY5" fmla="*/ 6428 h 298528"/>
              <a:gd name="connsiteX6" fmla="*/ 901700 w 1644650"/>
              <a:gd name="connsiteY6" fmla="*/ 285828 h 298528"/>
              <a:gd name="connsiteX7" fmla="*/ 1085850 w 1644650"/>
              <a:gd name="connsiteY7" fmla="*/ 38178 h 298528"/>
              <a:gd name="connsiteX8" fmla="*/ 1244600 w 1644650"/>
              <a:gd name="connsiteY8" fmla="*/ 266778 h 298528"/>
              <a:gd name="connsiteX9" fmla="*/ 1403350 w 1644650"/>
              <a:gd name="connsiteY9" fmla="*/ 44528 h 298528"/>
              <a:gd name="connsiteX10" fmla="*/ 1562100 w 1644650"/>
              <a:gd name="connsiteY10" fmla="*/ 266778 h 298528"/>
              <a:gd name="connsiteX11" fmla="*/ 1644650 w 1644650"/>
              <a:gd name="connsiteY11" fmla="*/ 38178 h 298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644650" h="298528">
                <a:moveTo>
                  <a:pt x="0" y="298528"/>
                </a:moveTo>
                <a:cubicBezTo>
                  <a:pt x="3175" y="151949"/>
                  <a:pt x="6350" y="5370"/>
                  <a:pt x="50800" y="78"/>
                </a:cubicBezTo>
                <a:cubicBezTo>
                  <a:pt x="95250" y="-5214"/>
                  <a:pt x="219075" y="260428"/>
                  <a:pt x="266700" y="266778"/>
                </a:cubicBezTo>
                <a:cubicBezTo>
                  <a:pt x="314325" y="273128"/>
                  <a:pt x="283633" y="37120"/>
                  <a:pt x="336550" y="38178"/>
                </a:cubicBezTo>
                <a:cubicBezTo>
                  <a:pt x="389467" y="39236"/>
                  <a:pt x="524933" y="278420"/>
                  <a:pt x="584200" y="273128"/>
                </a:cubicBezTo>
                <a:cubicBezTo>
                  <a:pt x="643467" y="267836"/>
                  <a:pt x="639233" y="4311"/>
                  <a:pt x="692150" y="6428"/>
                </a:cubicBezTo>
                <a:cubicBezTo>
                  <a:pt x="745067" y="8545"/>
                  <a:pt x="836083" y="280536"/>
                  <a:pt x="901700" y="285828"/>
                </a:cubicBezTo>
                <a:cubicBezTo>
                  <a:pt x="967317" y="291120"/>
                  <a:pt x="1028700" y="41353"/>
                  <a:pt x="1085850" y="38178"/>
                </a:cubicBezTo>
                <a:cubicBezTo>
                  <a:pt x="1143000" y="35003"/>
                  <a:pt x="1191683" y="265720"/>
                  <a:pt x="1244600" y="266778"/>
                </a:cubicBezTo>
                <a:cubicBezTo>
                  <a:pt x="1297517" y="267836"/>
                  <a:pt x="1350433" y="44528"/>
                  <a:pt x="1403350" y="44528"/>
                </a:cubicBezTo>
                <a:cubicBezTo>
                  <a:pt x="1456267" y="44528"/>
                  <a:pt x="1521883" y="267836"/>
                  <a:pt x="1562100" y="266778"/>
                </a:cubicBezTo>
                <a:cubicBezTo>
                  <a:pt x="1602317" y="265720"/>
                  <a:pt x="1640417" y="83686"/>
                  <a:pt x="1644650" y="38178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9481" name="그룹 19480">
            <a:extLst>
              <a:ext uri="{FF2B5EF4-FFF2-40B4-BE49-F238E27FC236}">
                <a16:creationId xmlns:a16="http://schemas.microsoft.com/office/drawing/2014/main" xmlns="" id="{495541DB-F8A7-E663-3231-88186C3BA25A}"/>
              </a:ext>
            </a:extLst>
          </p:cNvPr>
          <p:cNvGrpSpPr/>
          <p:nvPr/>
        </p:nvGrpSpPr>
        <p:grpSpPr>
          <a:xfrm>
            <a:off x="5298285" y="1822975"/>
            <a:ext cx="536213" cy="323165"/>
            <a:chOff x="3858681" y="5579966"/>
            <a:chExt cx="536213" cy="323165"/>
          </a:xfrm>
        </p:grpSpPr>
        <p:sp>
          <p:nvSpPr>
            <p:cNvPr id="19482" name="타원 19481">
              <a:extLst>
                <a:ext uri="{FF2B5EF4-FFF2-40B4-BE49-F238E27FC236}">
                  <a16:creationId xmlns:a16="http://schemas.microsoft.com/office/drawing/2014/main" xmlns="" id="{316B8977-7949-77B9-5419-DBD2AB7BDEF9}"/>
                </a:ext>
              </a:extLst>
            </p:cNvPr>
            <p:cNvSpPr/>
            <p:nvPr/>
          </p:nvSpPr>
          <p:spPr>
            <a:xfrm>
              <a:off x="3908730" y="5623559"/>
              <a:ext cx="225677" cy="25671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9483" name="TextBox 19482">
              <a:extLst>
                <a:ext uri="{FF2B5EF4-FFF2-40B4-BE49-F238E27FC236}">
                  <a16:creationId xmlns:a16="http://schemas.microsoft.com/office/drawing/2014/main" xmlns="" id="{18E53236-F49A-FB0E-7E50-338A48B00761}"/>
                </a:ext>
              </a:extLst>
            </p:cNvPr>
            <p:cNvSpPr txBox="1"/>
            <p:nvPr/>
          </p:nvSpPr>
          <p:spPr>
            <a:xfrm>
              <a:off x="3858681" y="5579966"/>
              <a:ext cx="536213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5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e</a:t>
              </a:r>
              <a:r>
                <a:rPr lang="en-US" altLang="ko-KR" sz="1500" b="1" baseline="300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-</a:t>
              </a:r>
              <a:endParaRPr lang="ko-KR" altLang="en-US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xmlns="" id="{822827CA-EAAF-76EA-43C0-BE16183FBD9D}"/>
              </a:ext>
            </a:extLst>
          </p:cNvPr>
          <p:cNvCxnSpPr>
            <a:cxnSpLocks/>
          </p:cNvCxnSpPr>
          <p:nvPr/>
        </p:nvCxnSpPr>
        <p:spPr>
          <a:xfrm>
            <a:off x="5215791" y="2254056"/>
            <a:ext cx="196948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FF8075F8-A399-E92C-513F-3A6E40858DAF}"/>
              </a:ext>
            </a:extLst>
          </p:cNvPr>
          <p:cNvSpPr txBox="1"/>
          <p:nvPr/>
        </p:nvSpPr>
        <p:spPr>
          <a:xfrm>
            <a:off x="7170612" y="2018590"/>
            <a:ext cx="536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b="1" baseline="-25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m</a:t>
            </a:r>
            <a:endParaRPr lang="ko-KR" altLang="en-US" b="1" baseline="-25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970844EA-325D-F891-1446-80C9B0F489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42" r="2495" b="6207"/>
          <a:stretch/>
        </p:blipFill>
        <p:spPr>
          <a:xfrm>
            <a:off x="5010691" y="2426849"/>
            <a:ext cx="6021360" cy="3479459"/>
          </a:xfrm>
          <a:prstGeom prst="rect">
            <a:avLst/>
          </a:prstGeom>
        </p:spPr>
      </p:pic>
      <p:sp>
        <p:nvSpPr>
          <p:cNvPr id="28" name="슬라이드 번호 개체 틀 27">
            <a:extLst>
              <a:ext uri="{FF2B5EF4-FFF2-40B4-BE49-F238E27FC236}">
                <a16:creationId xmlns:a16="http://schemas.microsoft.com/office/drawing/2014/main" xmlns="" id="{13F1CD25-DE2D-CBEA-99CE-0145262D5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E1704-955B-45E9-8CC7-423CE1421702}" type="slidenum">
              <a:rPr lang="ko-KR" altLang="en-US" smtClean="0"/>
              <a:t>11</a:t>
            </a:fld>
            <a:endParaRPr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4F3C3898-1B43-EE6F-41DF-540CEDFE044D}"/>
              </a:ext>
            </a:extLst>
          </p:cNvPr>
          <p:cNvSpPr txBox="1"/>
          <p:nvPr/>
        </p:nvSpPr>
        <p:spPr>
          <a:xfrm>
            <a:off x="7550535" y="1831288"/>
            <a:ext cx="44919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전자가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localized trap state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를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hopping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하는 것이 아니라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</a:p>
          <a:p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CB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의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extended states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를 따라 이동하는 전도 메커니즘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BD65609C-294E-B62D-5E28-E7A0AC6DB7A2}"/>
              </a:ext>
            </a:extLst>
          </p:cNvPr>
          <p:cNvSpPr txBox="1"/>
          <p:nvPr/>
        </p:nvSpPr>
        <p:spPr>
          <a:xfrm>
            <a:off x="7423285" y="1598028"/>
            <a:ext cx="200247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Band like transport</a:t>
            </a:r>
            <a:endParaRPr lang="ko-KR" altLang="en-US" sz="15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19D48241-0F0B-7C80-F4AD-A0D6C87DD194}"/>
              </a:ext>
            </a:extLst>
          </p:cNvPr>
          <p:cNvSpPr txBox="1"/>
          <p:nvPr/>
        </p:nvSpPr>
        <p:spPr>
          <a:xfrm>
            <a:off x="4881780" y="1398871"/>
            <a:ext cx="2621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Oxide Semiconductor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35251746-FED8-28ED-5A81-D6E69024B383}"/>
              </a:ext>
            </a:extLst>
          </p:cNvPr>
          <p:cNvSpPr txBox="1"/>
          <p:nvPr/>
        </p:nvSpPr>
        <p:spPr>
          <a:xfrm>
            <a:off x="6829808" y="6021169"/>
            <a:ext cx="37952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altLang="ko-KR" sz="1200" b="1" i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IEEE Trans. Electron Devices</a:t>
            </a:r>
            <a:r>
              <a:rPr lang="fr-FR" altLang="ko-KR" sz="1200" i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fr-FR" altLang="ko-KR" sz="1200" b="1" i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68</a:t>
            </a:r>
            <a:r>
              <a:rPr lang="fr-FR" altLang="ko-KR" sz="1200" i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2049 (2021)</a:t>
            </a:r>
            <a:endParaRPr lang="ko-KR" altLang="en-US" sz="1200" i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AutoShape 2" descr="반도체 에너지 밴드와 전하 이동 경로">
            <a:extLst>
              <a:ext uri="{FF2B5EF4-FFF2-40B4-BE49-F238E27FC236}">
                <a16:creationId xmlns:a16="http://schemas.microsoft.com/office/drawing/2014/main" xmlns="" id="{96E05D97-7B55-A509-7980-BCECEA926D8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4960BD9E-B5F3-44A5-8D05-3A63684993CF}"/>
              </a:ext>
            </a:extLst>
          </p:cNvPr>
          <p:cNvSpPr txBox="1"/>
          <p:nvPr/>
        </p:nvSpPr>
        <p:spPr>
          <a:xfrm>
            <a:off x="6633967" y="3059357"/>
            <a:ext cx="173808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FFFF00"/>
                </a:highlight>
                <a:latin typeface="Noto Sans KR" panose="020B0200000000000000" pitchFamily="50" charset="-127"/>
                <a:ea typeface="Noto Sans KR" panose="020B0200000000000000" pitchFamily="50" charset="-127"/>
              </a:rPr>
              <a:t>shorter but higher barrier path</a:t>
            </a:r>
            <a:endParaRPr lang="ko-KR" altLang="en-US" sz="800" b="1" dirty="0">
              <a:highlight>
                <a:srgbClr val="FFFF00"/>
              </a:highlight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B9B798CC-6EA7-589D-6161-87EEBE8005DF}"/>
              </a:ext>
            </a:extLst>
          </p:cNvPr>
          <p:cNvSpPr txBox="1"/>
          <p:nvPr/>
        </p:nvSpPr>
        <p:spPr>
          <a:xfrm>
            <a:off x="9140627" y="3080784"/>
            <a:ext cx="179051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FFFF00"/>
                </a:highlight>
                <a:latin typeface="Noto Sans KR" panose="020B0200000000000000" pitchFamily="50" charset="-127"/>
                <a:ea typeface="Noto Sans KR" panose="020B0200000000000000" pitchFamily="50" charset="-127"/>
              </a:rPr>
              <a:t>longer but lower barrier path</a:t>
            </a:r>
            <a:endParaRPr lang="ko-KR" altLang="en-US" sz="800" b="1" dirty="0">
              <a:highlight>
                <a:srgbClr val="FFFF00"/>
              </a:highlight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73733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1847990E-3A63-5A5C-BF59-29B19096F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121" y="1827592"/>
            <a:ext cx="4537726" cy="180110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xmlns="" id="{C193FF10-80CB-3EE0-7C88-7778DF694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6142" y="4055595"/>
            <a:ext cx="3128026" cy="495202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AEF10C1E-E2AF-41FC-0BF5-6DD7ACF0FFB3}"/>
              </a:ext>
            </a:extLst>
          </p:cNvPr>
          <p:cNvSpPr txBox="1"/>
          <p:nvPr/>
        </p:nvSpPr>
        <p:spPr>
          <a:xfrm>
            <a:off x="1760803" y="4724591"/>
            <a:ext cx="400397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μ</a:t>
            </a:r>
            <a:r>
              <a:rPr lang="en-US" altLang="ko-KR" baseline="-25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FE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= Field-Effect Mobility</a:t>
            </a:r>
          </a:p>
          <a:p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K = Mobility perfector(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비례상수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V</a:t>
            </a:r>
            <a:r>
              <a:rPr lang="en-US" altLang="ko-KR" baseline="-25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G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= Gate Voltage</a:t>
            </a:r>
          </a:p>
          <a:p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V</a:t>
            </a:r>
            <a:r>
              <a:rPr lang="en-US" altLang="ko-KR" baseline="-25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T,P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= Threshold Voltage/</a:t>
            </a:r>
          </a:p>
          <a:p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        Percolation Threshold Voltage</a:t>
            </a:r>
          </a:p>
          <a:p>
            <a:r>
              <a:rPr lang="el-GR" altLang="ko-KR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γ</a:t>
            </a:r>
            <a:r>
              <a:rPr lang="en-US" altLang="ko-KR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= Power-law exponent</a:t>
            </a:r>
            <a:endParaRPr lang="ko-KR" altLang="en-US" baseline="-25000" dirty="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xmlns="" id="{B5B99783-2506-DCD6-3197-7C53D16671E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224"/>
          <a:stretch/>
        </p:blipFill>
        <p:spPr>
          <a:xfrm>
            <a:off x="6096000" y="1941472"/>
            <a:ext cx="5560594" cy="385092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25184495-6943-7140-0761-0EF03544ABDF}"/>
              </a:ext>
            </a:extLst>
          </p:cNvPr>
          <p:cNvSpPr txBox="1"/>
          <p:nvPr/>
        </p:nvSpPr>
        <p:spPr>
          <a:xfrm>
            <a:off x="7465660" y="5764778"/>
            <a:ext cx="37952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altLang="ko-KR" sz="1200" b="0" i="1" u="none" strike="noStrike" baseline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Appl. Phys. Lett. </a:t>
            </a:r>
            <a:r>
              <a:rPr lang="fr-FR" altLang="ko-KR" sz="1200" b="1" i="1" u="none" strike="noStrike" baseline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98</a:t>
            </a:r>
            <a:r>
              <a:rPr lang="fr-FR" altLang="ko-KR" sz="1200" b="0" i="1" u="none" strike="noStrike" baseline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203508 2011</a:t>
            </a:r>
            <a:endParaRPr lang="ko-KR" altLang="en-US" sz="1200" i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제목 1">
            <a:extLst>
              <a:ext uri="{FF2B5EF4-FFF2-40B4-BE49-F238E27FC236}">
                <a16:creationId xmlns:a16="http://schemas.microsoft.com/office/drawing/2014/main" xmlns="" id="{6DEE5F56-FA14-BEB4-DF74-9E54EB00F16B}"/>
              </a:ext>
            </a:extLst>
          </p:cNvPr>
          <p:cNvSpPr txBox="1">
            <a:spLocks/>
          </p:cNvSpPr>
          <p:nvPr/>
        </p:nvSpPr>
        <p:spPr>
          <a:xfrm>
            <a:off x="133633" y="328611"/>
            <a:ext cx="10182225" cy="826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/>
              <a:t>Gate Voltage Dependence of μ</a:t>
            </a:r>
            <a:r>
              <a:rPr lang="en-US" altLang="ko-KR" b="1" baseline="-25000" dirty="0"/>
              <a:t>FE</a:t>
            </a:r>
            <a:endParaRPr lang="ko-KR" altLang="en-US" b="1" baseline="-25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xmlns="" id="{53D5AD20-F872-C848-C0ED-A1840A30DFEA}"/>
              </a:ext>
            </a:extLst>
          </p:cNvPr>
          <p:cNvSpPr/>
          <p:nvPr/>
        </p:nvSpPr>
        <p:spPr>
          <a:xfrm>
            <a:off x="123824" y="1094422"/>
            <a:ext cx="11783786" cy="60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578E40F3-29B6-68B6-8DE1-042639C4450C}"/>
              </a:ext>
            </a:extLst>
          </p:cNvPr>
          <p:cNvSpPr txBox="1"/>
          <p:nvPr/>
        </p:nvSpPr>
        <p:spPr>
          <a:xfrm>
            <a:off x="1246744" y="3451251"/>
            <a:ext cx="4131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200" b="1" baseline="-25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m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TLC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와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PC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를 구분하는 기준 준위 </a:t>
            </a:r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    (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실제 실험 후 측정하는게 아니라 이론적 계산을 통해 얻음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sz="1200" baseline="-25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BC4B8B93-073A-C7EF-B5CF-4E311A59CBD4}"/>
              </a:ext>
            </a:extLst>
          </p:cNvPr>
          <p:cNvSpPr txBox="1"/>
          <p:nvPr/>
        </p:nvSpPr>
        <p:spPr>
          <a:xfrm>
            <a:off x="7856572" y="4539996"/>
            <a:ext cx="93487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>
                <a:highlight>
                  <a:srgbClr val="FFFF00"/>
                </a:highlight>
                <a:latin typeface="Noto Sans KR" panose="020B0200000000000000" pitchFamily="50" charset="-127"/>
                <a:ea typeface="Noto Sans KR" panose="020B0200000000000000" pitchFamily="50" charset="-127"/>
              </a:rPr>
              <a:t>K = 7.6</a:t>
            </a:r>
          </a:p>
          <a:p>
            <a:r>
              <a:rPr lang="en-US" altLang="ko-KR" sz="1500" b="1" dirty="0">
                <a:solidFill>
                  <a:srgbClr val="FF0000"/>
                </a:solidFill>
                <a:highlight>
                  <a:srgbClr val="FFFF00"/>
                </a:highlight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l-GR" altLang="ko-KR" sz="1500" b="1" dirty="0">
                <a:solidFill>
                  <a:srgbClr val="FF0000"/>
                </a:solidFill>
                <a:highlight>
                  <a:srgbClr val="FFFF00"/>
                </a:highlight>
                <a:latin typeface="Noto Sans KR" panose="020B0200000000000000" pitchFamily="50" charset="-127"/>
                <a:ea typeface="Noto Sans KR" panose="020B0200000000000000" pitchFamily="50" charset="-127"/>
              </a:rPr>
              <a:t>γ </a:t>
            </a:r>
            <a:r>
              <a:rPr lang="en-US" altLang="ko-KR" sz="1500" b="1" dirty="0">
                <a:solidFill>
                  <a:srgbClr val="FF0000"/>
                </a:solidFill>
                <a:highlight>
                  <a:srgbClr val="FFFF00"/>
                </a:highlight>
                <a:latin typeface="Noto Sans KR" panose="020B0200000000000000" pitchFamily="50" charset="-127"/>
                <a:ea typeface="Noto Sans KR" panose="020B0200000000000000" pitchFamily="50" charset="-127"/>
              </a:rPr>
              <a:t>= 0.7</a:t>
            </a:r>
          </a:p>
          <a:p>
            <a:endParaRPr lang="en-US" altLang="ko-KR" sz="1500" b="1" dirty="0">
              <a:solidFill>
                <a:srgbClr val="FF0000"/>
              </a:solidFill>
              <a:highlight>
                <a:srgbClr val="FFFF00"/>
              </a:highlight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500" b="1" dirty="0">
                <a:solidFill>
                  <a:srgbClr val="FF0000"/>
                </a:solidFill>
                <a:highlight>
                  <a:srgbClr val="FFFF00"/>
                </a:highlight>
                <a:latin typeface="Noto Sans KR" panose="020B0200000000000000" pitchFamily="50" charset="-127"/>
                <a:ea typeface="Noto Sans KR" panose="020B0200000000000000" pitchFamily="50" charset="-127"/>
              </a:rPr>
              <a:t>PC</a:t>
            </a:r>
            <a:r>
              <a:rPr lang="ko-KR" altLang="en-US" sz="1500" b="1" dirty="0">
                <a:solidFill>
                  <a:srgbClr val="FF0000"/>
                </a:solidFill>
                <a:highlight>
                  <a:srgbClr val="FFFF00"/>
                </a:highlight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500" b="1" dirty="0">
                <a:solidFill>
                  <a:srgbClr val="FF0000"/>
                </a:solidFill>
                <a:highlight>
                  <a:srgbClr val="FFFF00"/>
                </a:highlight>
                <a:latin typeface="Noto Sans KR" panose="020B0200000000000000" pitchFamily="50" charset="-127"/>
                <a:ea typeface="Noto Sans KR" panose="020B0200000000000000" pitchFamily="50" charset="-127"/>
              </a:rPr>
              <a:t>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98B1FAE4-04FC-5124-91C2-1D86557767C8}"/>
              </a:ext>
            </a:extLst>
          </p:cNvPr>
          <p:cNvSpPr txBox="1"/>
          <p:nvPr/>
        </p:nvSpPr>
        <p:spPr>
          <a:xfrm>
            <a:off x="9395413" y="3734754"/>
            <a:ext cx="103265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>
                <a:highlight>
                  <a:srgbClr val="FFFF00"/>
                </a:highlight>
                <a:latin typeface="Noto Sans KR" panose="020B0200000000000000" pitchFamily="50" charset="-127"/>
                <a:ea typeface="Noto Sans KR" panose="020B0200000000000000" pitchFamily="50" charset="-127"/>
              </a:rPr>
              <a:t>K = 3.89</a:t>
            </a:r>
          </a:p>
          <a:p>
            <a:r>
              <a:rPr lang="en-US" altLang="ko-KR" sz="1500" b="1" dirty="0">
                <a:solidFill>
                  <a:srgbClr val="FF0000"/>
                </a:solidFill>
                <a:highlight>
                  <a:srgbClr val="FFFF00"/>
                </a:highlight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l-GR" altLang="ko-KR" sz="1500" b="1" dirty="0">
                <a:solidFill>
                  <a:srgbClr val="FF0000"/>
                </a:solidFill>
                <a:highlight>
                  <a:srgbClr val="FFFF00"/>
                </a:highlight>
                <a:latin typeface="Noto Sans KR" panose="020B0200000000000000" pitchFamily="50" charset="-127"/>
                <a:ea typeface="Noto Sans KR" panose="020B0200000000000000" pitchFamily="50" charset="-127"/>
              </a:rPr>
              <a:t>γ </a:t>
            </a:r>
            <a:r>
              <a:rPr lang="en-US" altLang="ko-KR" sz="1500" b="1" dirty="0">
                <a:solidFill>
                  <a:srgbClr val="FF0000"/>
                </a:solidFill>
                <a:highlight>
                  <a:srgbClr val="FFFF00"/>
                </a:highlight>
                <a:latin typeface="Noto Sans KR" panose="020B0200000000000000" pitchFamily="50" charset="-127"/>
                <a:ea typeface="Noto Sans KR" panose="020B0200000000000000" pitchFamily="50" charset="-127"/>
              </a:rPr>
              <a:t>= 0.1</a:t>
            </a:r>
          </a:p>
          <a:p>
            <a:endParaRPr lang="en-US" altLang="ko-KR" sz="1500" b="1" dirty="0">
              <a:solidFill>
                <a:srgbClr val="FF0000"/>
              </a:solidFill>
              <a:highlight>
                <a:srgbClr val="FFFF00"/>
              </a:highlight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500" b="1" dirty="0">
                <a:solidFill>
                  <a:srgbClr val="FF0000"/>
                </a:solidFill>
                <a:highlight>
                  <a:srgbClr val="FFFF00"/>
                </a:highlight>
                <a:latin typeface="Noto Sans KR" panose="020B0200000000000000" pitchFamily="50" charset="-127"/>
                <a:ea typeface="Noto Sans KR" panose="020B0200000000000000" pitchFamily="50" charset="-127"/>
              </a:rPr>
              <a:t>TLC level</a:t>
            </a:r>
            <a:endParaRPr lang="ko-KR" altLang="en-US" sz="1500" b="1" dirty="0">
              <a:highlight>
                <a:srgbClr val="FFFF00"/>
              </a:highlight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A79CE54C-01DF-0E5E-32DA-5865F2D9EE72}"/>
              </a:ext>
            </a:extLst>
          </p:cNvPr>
          <p:cNvSpPr/>
          <p:nvPr/>
        </p:nvSpPr>
        <p:spPr>
          <a:xfrm>
            <a:off x="4884971" y="4288752"/>
            <a:ext cx="66003" cy="1552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7E37B8BF-6D97-121C-E3D0-40A40BEB5629}"/>
              </a:ext>
            </a:extLst>
          </p:cNvPr>
          <p:cNvSpPr txBox="1"/>
          <p:nvPr/>
        </p:nvSpPr>
        <p:spPr>
          <a:xfrm>
            <a:off x="7810501" y="58963"/>
            <a:ext cx="43815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Section 4. Transport Mechanism </a:t>
            </a:r>
            <a:endParaRPr lang="ko-KR" alt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F16EE312-6954-CF37-B988-2628FC77F6AB}"/>
              </a:ext>
            </a:extLst>
          </p:cNvPr>
          <p:cNvSpPr txBox="1"/>
          <p:nvPr/>
        </p:nvSpPr>
        <p:spPr>
          <a:xfrm>
            <a:off x="254001" y="1259473"/>
            <a:ext cx="11506200" cy="400110"/>
          </a:xfrm>
          <a:prstGeom prst="rect">
            <a:avLst/>
          </a:prstGeom>
          <a:noFill/>
          <a:ln w="28575">
            <a:solidFill>
              <a:srgbClr val="15608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Tarp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state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density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와 </a:t>
            </a: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distribution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가 </a:t>
            </a: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mobility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에 영향을 줌</a:t>
            </a:r>
            <a:endParaRPr lang="en-US" altLang="ko-KR" sz="2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xmlns="" id="{A041A76D-D939-41B0-C0A3-C044C65A1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E1704-955B-45E9-8CC7-423CE1421702}" type="slidenum">
              <a:rPr lang="ko-KR" altLang="en-US" smtClean="0"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700839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xmlns="" id="{64884AEA-A8A7-DB7D-0A11-820218946CA8}"/>
              </a:ext>
            </a:extLst>
          </p:cNvPr>
          <p:cNvSpPr txBox="1">
            <a:spLocks/>
          </p:cNvSpPr>
          <p:nvPr/>
        </p:nvSpPr>
        <p:spPr>
          <a:xfrm>
            <a:off x="133633" y="328611"/>
            <a:ext cx="10182225" cy="826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Oxygen Vacancy Engineering(1/2)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92BEA2F9-E3CB-5D80-E529-5D88AD544B8D}"/>
              </a:ext>
            </a:extLst>
          </p:cNvPr>
          <p:cNvSpPr/>
          <p:nvPr/>
        </p:nvSpPr>
        <p:spPr>
          <a:xfrm>
            <a:off x="123824" y="1094422"/>
            <a:ext cx="11783786" cy="60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5465DD12-0828-5544-B4FD-8BD31E5B0004}"/>
              </a:ext>
            </a:extLst>
          </p:cNvPr>
          <p:cNvSpPr txBox="1"/>
          <p:nvPr/>
        </p:nvSpPr>
        <p:spPr>
          <a:xfrm>
            <a:off x="4255499" y="2998113"/>
            <a:ext cx="35301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Oxygen</a:t>
            </a:r>
            <a:r>
              <a:rPr lang="ko-KR" altLang="en-US" sz="2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2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Vacancy(V</a:t>
            </a:r>
            <a:r>
              <a:rPr lang="en-US" altLang="ko-KR" sz="2200" b="1" baseline="-25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O</a:t>
            </a:r>
            <a:r>
              <a:rPr lang="en-US" altLang="ko-KR" sz="2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lang="ko-KR" altLang="en-US" sz="2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증가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1FA9F122-9022-8648-8FDD-4BEA91A06F9F}"/>
              </a:ext>
            </a:extLst>
          </p:cNvPr>
          <p:cNvSpPr txBox="1"/>
          <p:nvPr/>
        </p:nvSpPr>
        <p:spPr>
          <a:xfrm>
            <a:off x="4255499" y="3896860"/>
            <a:ext cx="7009402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V</a:t>
            </a:r>
            <a:r>
              <a:rPr lang="en-US" altLang="ko-KR" sz="2000" b="1" baseline="-25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O 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생성 초기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→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V</a:t>
            </a:r>
            <a:r>
              <a:rPr lang="en-US" altLang="ko-KR" b="1" baseline="-25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O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가 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shallow donor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로 작용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전자 제공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→ 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I</a:t>
            </a:r>
            <a:r>
              <a:rPr lang="en-US" altLang="ko-KR" b="1" baseline="-25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ON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증가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V</a:t>
            </a:r>
            <a:r>
              <a:rPr lang="en-US" altLang="ko-KR" sz="2000" b="1" baseline="-25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O</a:t>
            </a: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과다 생성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→ 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I</a:t>
            </a:r>
            <a:r>
              <a:rPr lang="en-US" altLang="ko-KR" b="1" baseline="-25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OFF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증가 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/ V</a:t>
            </a:r>
            <a:r>
              <a:rPr lang="en-US" altLang="ko-KR" b="1" baseline="-25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th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가 </a:t>
            </a:r>
            <a:r>
              <a:rPr lang="en-US" altLang="ko-KR" b="1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Negative shift</a:t>
            </a:r>
          </a:p>
          <a:p>
            <a:r>
              <a:rPr lang="en-US" altLang="ko-KR" b="1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                    </a:t>
            </a:r>
            <a:endParaRPr lang="ko-KR" altLang="en-US" b="1" dirty="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7B93372F-0546-3458-C787-939E8837303C}"/>
              </a:ext>
            </a:extLst>
          </p:cNvPr>
          <p:cNvSpPr txBox="1"/>
          <p:nvPr/>
        </p:nvSpPr>
        <p:spPr>
          <a:xfrm>
            <a:off x="254001" y="1259473"/>
            <a:ext cx="11506200" cy="400110"/>
          </a:xfrm>
          <a:prstGeom prst="rect">
            <a:avLst/>
          </a:prstGeom>
          <a:noFill/>
          <a:ln w="28575">
            <a:solidFill>
              <a:srgbClr val="15608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Deposition 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시 </a:t>
            </a: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O</a:t>
            </a:r>
            <a:r>
              <a:rPr lang="en-US" altLang="ko-KR" sz="2000" b="1" baseline="-25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를 차단하여 </a:t>
            </a: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V</a:t>
            </a:r>
            <a:r>
              <a:rPr lang="en-US" altLang="ko-KR" sz="2000" b="1" baseline="-25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o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증가 → </a:t>
            </a: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V</a:t>
            </a:r>
            <a:r>
              <a:rPr lang="en-US" altLang="ko-KR" sz="2000" b="1" baseline="-25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ON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와 </a:t>
            </a: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V</a:t>
            </a:r>
            <a:r>
              <a:rPr lang="en-US" altLang="ko-KR" sz="2000" b="1" baseline="-25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TH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가 </a:t>
            </a: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Negative shift</a:t>
            </a:r>
            <a:endParaRPr lang="en-US" altLang="ko-KR" sz="2000" b="1" baseline="-25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xmlns="" id="{0E113CFB-485A-7E09-8A3A-52764AA975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400" t="6952" r="2777" b="9494"/>
          <a:stretch/>
        </p:blipFill>
        <p:spPr>
          <a:xfrm>
            <a:off x="8070640" y="1888868"/>
            <a:ext cx="1733760" cy="1712898"/>
          </a:xfrm>
          <a:prstGeom prst="rect">
            <a:avLst/>
          </a:prstGeom>
        </p:spPr>
      </p:pic>
      <p:sp>
        <p:nvSpPr>
          <p:cNvPr id="21" name="슬라이드 번호 개체 틀 20">
            <a:extLst>
              <a:ext uri="{FF2B5EF4-FFF2-40B4-BE49-F238E27FC236}">
                <a16:creationId xmlns:a16="http://schemas.microsoft.com/office/drawing/2014/main" xmlns="" id="{D1DA3041-BD92-32DF-F237-CF61AA278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E1704-955B-45E9-8CC7-423CE1421702}" type="slidenum">
              <a:rPr lang="ko-KR" altLang="en-US" smtClean="0"/>
              <a:t>13</a:t>
            </a:fld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2C322850-9216-2EE6-6AAC-B70765BDE66C}"/>
              </a:ext>
            </a:extLst>
          </p:cNvPr>
          <p:cNvSpPr txBox="1"/>
          <p:nvPr/>
        </p:nvSpPr>
        <p:spPr>
          <a:xfrm>
            <a:off x="7569200" y="58963"/>
            <a:ext cx="46228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Section 5. Bias Stress Mechanisms </a:t>
            </a:r>
            <a:endParaRPr lang="ko-KR" altLang="en-US" sz="1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xmlns="" id="{A16F453E-0CD0-B0FF-5C88-13DE02774803}"/>
              </a:ext>
            </a:extLst>
          </p:cNvPr>
          <p:cNvGrpSpPr/>
          <p:nvPr/>
        </p:nvGrpSpPr>
        <p:grpSpPr>
          <a:xfrm>
            <a:off x="691938" y="2344677"/>
            <a:ext cx="3092662" cy="3797450"/>
            <a:chOff x="2593841" y="1552379"/>
            <a:chExt cx="2105159" cy="2580678"/>
          </a:xfrm>
        </p:grpSpPr>
        <p:pic>
          <p:nvPicPr>
            <p:cNvPr id="10" name="Picture 10" descr="Summary of turn-on voltage shift during (a) PBS and (b) NBS test.... |  Download Scientific Diagram">
              <a:extLst>
                <a:ext uri="{FF2B5EF4-FFF2-40B4-BE49-F238E27FC236}">
                  <a16:creationId xmlns:a16="http://schemas.microsoft.com/office/drawing/2014/main" xmlns="" id="{5BC0239D-F68D-C811-2866-1718994CF44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/>
            <a:stretch/>
          </p:blipFill>
          <p:spPr bwMode="auto">
            <a:xfrm>
              <a:off x="2593841" y="1552379"/>
              <a:ext cx="2105159" cy="25806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화살표: 오른쪽 10">
              <a:extLst>
                <a:ext uri="{FF2B5EF4-FFF2-40B4-BE49-F238E27FC236}">
                  <a16:creationId xmlns:a16="http://schemas.microsoft.com/office/drawing/2014/main" xmlns="" id="{58C1602D-0DF7-EAC8-E79B-5FB56E5E475A}"/>
                </a:ext>
              </a:extLst>
            </p:cNvPr>
            <p:cNvSpPr/>
            <p:nvPr/>
          </p:nvSpPr>
          <p:spPr>
            <a:xfrm flipH="1">
              <a:off x="3116194" y="2527697"/>
              <a:ext cx="439805" cy="126603"/>
            </a:xfrm>
            <a:prstGeom prst="rightArrow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xmlns="" id="{6E3C8FB3-060D-95C5-5437-36BE508F0D8A}"/>
                </a:ext>
              </a:extLst>
            </p:cNvPr>
            <p:cNvSpPr/>
            <p:nvPr/>
          </p:nvSpPr>
          <p:spPr>
            <a:xfrm>
              <a:off x="3064669" y="1728788"/>
              <a:ext cx="314325" cy="1071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xmlns="" id="{DE3E5ABD-0547-EFA9-D334-B0F19D19C582}"/>
                </a:ext>
              </a:extLst>
            </p:cNvPr>
            <p:cNvSpPr txBox="1"/>
            <p:nvPr/>
          </p:nvSpPr>
          <p:spPr>
            <a:xfrm>
              <a:off x="2976863" y="1647527"/>
              <a:ext cx="718466" cy="247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NBIS</a:t>
              </a:r>
              <a:endParaRPr lang="ko-KR" alt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748699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xmlns="" id="{64884AEA-A8A7-DB7D-0A11-820218946CA8}"/>
              </a:ext>
            </a:extLst>
          </p:cNvPr>
          <p:cNvSpPr txBox="1">
            <a:spLocks/>
          </p:cNvSpPr>
          <p:nvPr/>
        </p:nvSpPr>
        <p:spPr>
          <a:xfrm>
            <a:off x="133633" y="328611"/>
            <a:ext cx="10182225" cy="826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Oxygen Vacancy Engineering(2/2)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92BEA2F9-E3CB-5D80-E529-5D88AD544B8D}"/>
              </a:ext>
            </a:extLst>
          </p:cNvPr>
          <p:cNvSpPr/>
          <p:nvPr/>
        </p:nvSpPr>
        <p:spPr>
          <a:xfrm>
            <a:off x="123824" y="1094422"/>
            <a:ext cx="11783786" cy="60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5465DD12-0828-5544-B4FD-8BD31E5B0004}"/>
              </a:ext>
            </a:extLst>
          </p:cNvPr>
          <p:cNvSpPr txBox="1"/>
          <p:nvPr/>
        </p:nvSpPr>
        <p:spPr>
          <a:xfrm>
            <a:off x="4312225" y="2998113"/>
            <a:ext cx="381707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Oxygen Interstitial(O</a:t>
            </a:r>
            <a:r>
              <a:rPr lang="en-US" altLang="ko-KR" sz="2200" b="1" baseline="-25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i</a:t>
            </a:r>
            <a:r>
              <a:rPr lang="en-US" altLang="ko-KR" sz="2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lang="ko-KR" altLang="en-US" sz="2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증가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1FA9F122-9022-8648-8FDD-4BEA91A06F9F}"/>
              </a:ext>
            </a:extLst>
          </p:cNvPr>
          <p:cNvSpPr txBox="1"/>
          <p:nvPr/>
        </p:nvSpPr>
        <p:spPr>
          <a:xfrm>
            <a:off x="4312225" y="3864218"/>
            <a:ext cx="75263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O</a:t>
            </a:r>
            <a:r>
              <a:rPr lang="en-US" altLang="ko-KR" sz="1800" b="1" baseline="-25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i </a:t>
            </a:r>
            <a:r>
              <a:rPr lang="ko-KR" altLang="en-US" sz="1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전자를 받는걸 좋아함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→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Deep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trap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으로 작용 → 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carrier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농도 감소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                         I</a:t>
            </a:r>
            <a:r>
              <a:rPr lang="en-US" altLang="ko-KR" b="1" baseline="-25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D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감소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V</a:t>
            </a:r>
            <a:r>
              <a:rPr lang="en-US" altLang="ko-KR" b="1" baseline="-25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th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가 </a:t>
            </a:r>
            <a:r>
              <a:rPr lang="en-US" altLang="ko-KR" b="1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Positive shift</a:t>
            </a:r>
            <a:endParaRPr lang="en-US" altLang="ko-KR" b="1" baseline="-25000" dirty="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043A644E-7F33-8A10-1087-0E67071068E4}"/>
              </a:ext>
            </a:extLst>
          </p:cNvPr>
          <p:cNvSpPr txBox="1"/>
          <p:nvPr/>
        </p:nvSpPr>
        <p:spPr>
          <a:xfrm>
            <a:off x="254001" y="1259473"/>
            <a:ext cx="11506200" cy="400110"/>
          </a:xfrm>
          <a:prstGeom prst="rect">
            <a:avLst/>
          </a:prstGeom>
          <a:noFill/>
          <a:ln w="28575">
            <a:solidFill>
              <a:srgbClr val="15608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Deposition 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시 </a:t>
            </a: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O</a:t>
            </a:r>
            <a:r>
              <a:rPr lang="en-US" altLang="ko-KR" sz="2000" b="1" baseline="-25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의 증가로 </a:t>
            </a: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O</a:t>
            </a:r>
            <a:r>
              <a:rPr lang="en-US" altLang="ko-KR" sz="2000" b="1" baseline="-25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i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→</a:t>
            </a: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I</a:t>
            </a:r>
            <a:r>
              <a:rPr lang="en-US" altLang="ko-KR" sz="2000" b="1" baseline="-25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D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와  </a:t>
            </a: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V</a:t>
            </a:r>
            <a:r>
              <a:rPr lang="en-US" altLang="ko-KR" sz="2000" b="1" baseline="-25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th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가 </a:t>
            </a: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Positive shift</a:t>
            </a:r>
            <a:endParaRPr lang="en-US" altLang="ko-KR" sz="2000" b="1" baseline="-25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2BEE50C2-DE1E-05DF-FBEB-7DBD230D8AD6}"/>
              </a:ext>
            </a:extLst>
          </p:cNvPr>
          <p:cNvSpPr/>
          <p:nvPr/>
        </p:nvSpPr>
        <p:spPr>
          <a:xfrm>
            <a:off x="3753492" y="2188387"/>
            <a:ext cx="171236" cy="28183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xmlns="" id="{03462264-6F3F-4DB6-090E-FB2C209A89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570" t="24847" r="570" b="2971"/>
          <a:stretch/>
        </p:blipFill>
        <p:spPr>
          <a:xfrm>
            <a:off x="8267274" y="1814818"/>
            <a:ext cx="1854626" cy="1839046"/>
          </a:xfrm>
          <a:prstGeom prst="rect">
            <a:avLst/>
          </a:prstGeom>
        </p:spPr>
      </p:pic>
      <p:sp>
        <p:nvSpPr>
          <p:cNvPr id="17" name="슬라이드 번호 개체 틀 16">
            <a:extLst>
              <a:ext uri="{FF2B5EF4-FFF2-40B4-BE49-F238E27FC236}">
                <a16:creationId xmlns:a16="http://schemas.microsoft.com/office/drawing/2014/main" xmlns="" id="{F31B0FE0-B68A-B828-43E2-43B3D6994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E1704-955B-45E9-8CC7-423CE1421702}" type="slidenum">
              <a:rPr lang="ko-KR" altLang="en-US" smtClean="0"/>
              <a:t>14</a:t>
            </a:fld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FCA9939A-48EC-4F81-7DC8-6C415761FC5B}"/>
              </a:ext>
            </a:extLst>
          </p:cNvPr>
          <p:cNvSpPr txBox="1"/>
          <p:nvPr/>
        </p:nvSpPr>
        <p:spPr>
          <a:xfrm>
            <a:off x="7569200" y="58963"/>
            <a:ext cx="46228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Section 5. Bias Stress Mechanisms </a:t>
            </a:r>
            <a:endParaRPr lang="ko-KR" altLang="en-US" sz="1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xmlns="" id="{614BCD70-68AB-59CA-6896-E63E3F659826}"/>
              </a:ext>
            </a:extLst>
          </p:cNvPr>
          <p:cNvSpPr/>
          <p:nvPr/>
        </p:nvSpPr>
        <p:spPr>
          <a:xfrm>
            <a:off x="1558247" y="2519378"/>
            <a:ext cx="434571" cy="1479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" name="Picture 12" descr="Summary of turn-on voltage shift during (a) PBS and (b) NBS test.... |  Download Scientific Diagram">
            <a:extLst>
              <a:ext uri="{FF2B5EF4-FFF2-40B4-BE49-F238E27FC236}">
                <a16:creationId xmlns:a16="http://schemas.microsoft.com/office/drawing/2014/main" xmlns="" id="{B2E722C1-AD4A-0FE4-74F1-780A4FCD12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264"/>
          <a:stretch/>
        </p:blipFill>
        <p:spPr bwMode="auto">
          <a:xfrm>
            <a:off x="622763" y="2271050"/>
            <a:ext cx="3234599" cy="3907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화살표: 오른쪽 4">
            <a:extLst>
              <a:ext uri="{FF2B5EF4-FFF2-40B4-BE49-F238E27FC236}">
                <a16:creationId xmlns:a16="http://schemas.microsoft.com/office/drawing/2014/main" xmlns="" id="{637F7BEA-366E-C725-C6AF-7529DA138BA5}"/>
              </a:ext>
            </a:extLst>
          </p:cNvPr>
          <p:cNvSpPr/>
          <p:nvPr/>
        </p:nvSpPr>
        <p:spPr>
          <a:xfrm>
            <a:off x="1907476" y="3661652"/>
            <a:ext cx="522641" cy="162636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6026FDAE-7345-C678-556D-8E0915EB0215}"/>
              </a:ext>
            </a:extLst>
          </p:cNvPr>
          <p:cNvSpPr/>
          <p:nvPr/>
        </p:nvSpPr>
        <p:spPr>
          <a:xfrm>
            <a:off x="3779215" y="2213271"/>
            <a:ext cx="171235" cy="26317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594930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xmlns="" id="{9E377C74-12D7-10A6-474D-B717607490F5}"/>
              </a:ext>
            </a:extLst>
          </p:cNvPr>
          <p:cNvSpPr/>
          <p:nvPr/>
        </p:nvSpPr>
        <p:spPr>
          <a:xfrm>
            <a:off x="1102178" y="4364686"/>
            <a:ext cx="3813070" cy="69294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Gate</a:t>
            </a:r>
            <a:endParaRPr lang="ko-KR" altLang="en-US" sz="20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xmlns="" id="{88E04246-7C06-60D4-A881-FB4D72F617ED}"/>
              </a:ext>
            </a:extLst>
          </p:cNvPr>
          <p:cNvSpPr/>
          <p:nvPr/>
        </p:nvSpPr>
        <p:spPr>
          <a:xfrm>
            <a:off x="1105157" y="4013201"/>
            <a:ext cx="3813070" cy="35359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GI</a:t>
            </a:r>
            <a:endParaRPr lang="ko-KR" altLang="en-US" sz="20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xmlns="" id="{A6E0EB14-F050-189C-5005-8DC6BB25831D}"/>
              </a:ext>
            </a:extLst>
          </p:cNvPr>
          <p:cNvSpPr/>
          <p:nvPr/>
        </p:nvSpPr>
        <p:spPr>
          <a:xfrm>
            <a:off x="1102178" y="3026229"/>
            <a:ext cx="3813070" cy="98500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AOS</a:t>
            </a:r>
            <a:endParaRPr lang="ko-KR" altLang="en-US" sz="20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0671C42B-10C8-DE2C-9360-DA921030A8B4}"/>
              </a:ext>
            </a:extLst>
          </p:cNvPr>
          <p:cNvSpPr/>
          <p:nvPr/>
        </p:nvSpPr>
        <p:spPr>
          <a:xfrm>
            <a:off x="123824" y="1094422"/>
            <a:ext cx="11783786" cy="60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제목 1">
            <a:extLst>
              <a:ext uri="{FF2B5EF4-FFF2-40B4-BE49-F238E27FC236}">
                <a16:creationId xmlns:a16="http://schemas.microsoft.com/office/drawing/2014/main" xmlns="" id="{9C30792B-9802-59DF-9CA2-98A564C201F1}"/>
              </a:ext>
            </a:extLst>
          </p:cNvPr>
          <p:cNvSpPr txBox="1">
            <a:spLocks/>
          </p:cNvSpPr>
          <p:nvPr/>
        </p:nvSpPr>
        <p:spPr>
          <a:xfrm>
            <a:off x="133633" y="328611"/>
            <a:ext cx="10182225" cy="826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NBS/NBIS </a:t>
            </a:r>
            <a:r>
              <a:rPr lang="en-US" altLang="ko-KR" sz="4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Mechanisms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737C50E9-BE34-0DA5-EBE6-A36A98352FEF}"/>
              </a:ext>
            </a:extLst>
          </p:cNvPr>
          <p:cNvSpPr txBox="1"/>
          <p:nvPr/>
        </p:nvSpPr>
        <p:spPr>
          <a:xfrm>
            <a:off x="3927846" y="2996919"/>
            <a:ext cx="53621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7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7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7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62652F4D-7822-25E6-2C3B-C2C5FB0D8F9B}"/>
              </a:ext>
            </a:extLst>
          </p:cNvPr>
          <p:cNvSpPr txBox="1"/>
          <p:nvPr/>
        </p:nvSpPr>
        <p:spPr>
          <a:xfrm>
            <a:off x="3474850" y="3005550"/>
            <a:ext cx="53621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7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7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7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9EC17271-1557-5A68-5373-F983F7D8656C}"/>
              </a:ext>
            </a:extLst>
          </p:cNvPr>
          <p:cNvSpPr txBox="1"/>
          <p:nvPr/>
        </p:nvSpPr>
        <p:spPr>
          <a:xfrm>
            <a:off x="1925232" y="3074743"/>
            <a:ext cx="53621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7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7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7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4AD981F3-4B8F-23FB-531D-70735D615D7E}"/>
              </a:ext>
            </a:extLst>
          </p:cNvPr>
          <p:cNvSpPr txBox="1"/>
          <p:nvPr/>
        </p:nvSpPr>
        <p:spPr>
          <a:xfrm>
            <a:off x="1426369" y="3057644"/>
            <a:ext cx="53621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7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7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7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1F877483-A5A6-1617-0382-3472B26C283B}"/>
              </a:ext>
            </a:extLst>
          </p:cNvPr>
          <p:cNvSpPr txBox="1"/>
          <p:nvPr/>
        </p:nvSpPr>
        <p:spPr>
          <a:xfrm>
            <a:off x="4391735" y="2943640"/>
            <a:ext cx="53621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7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7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7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xmlns="" id="{10BA7B1D-FDF8-6B95-5680-CFA9FB807B85}"/>
              </a:ext>
            </a:extLst>
          </p:cNvPr>
          <p:cNvCxnSpPr>
            <a:cxnSpLocks/>
          </p:cNvCxnSpPr>
          <p:nvPr/>
        </p:nvCxnSpPr>
        <p:spPr>
          <a:xfrm flipV="1">
            <a:off x="2068912" y="3338544"/>
            <a:ext cx="0" cy="21590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xmlns="" id="{F96CA01E-2EAD-E7DE-20E3-C19F42A1F239}"/>
              </a:ext>
            </a:extLst>
          </p:cNvPr>
          <p:cNvCxnSpPr>
            <a:cxnSpLocks/>
          </p:cNvCxnSpPr>
          <p:nvPr/>
        </p:nvCxnSpPr>
        <p:spPr>
          <a:xfrm flipV="1">
            <a:off x="1586312" y="3308745"/>
            <a:ext cx="0" cy="21590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xmlns="" id="{FAC96858-1194-D7E7-ACD0-7E8B92A8830A}"/>
              </a:ext>
            </a:extLst>
          </p:cNvPr>
          <p:cNvCxnSpPr>
            <a:cxnSpLocks/>
          </p:cNvCxnSpPr>
          <p:nvPr/>
        </p:nvCxnSpPr>
        <p:spPr>
          <a:xfrm flipV="1">
            <a:off x="4564462" y="3236562"/>
            <a:ext cx="0" cy="21590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xmlns="" id="{346B337B-4BA3-4612-296F-149D315217E4}"/>
              </a:ext>
            </a:extLst>
          </p:cNvPr>
          <p:cNvCxnSpPr>
            <a:cxnSpLocks/>
          </p:cNvCxnSpPr>
          <p:nvPr/>
        </p:nvCxnSpPr>
        <p:spPr>
          <a:xfrm flipV="1">
            <a:off x="4062812" y="3297583"/>
            <a:ext cx="0" cy="21590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xmlns="" id="{307DBE13-4701-37FF-C031-9B693FDCAF1D}"/>
              </a:ext>
            </a:extLst>
          </p:cNvPr>
          <p:cNvCxnSpPr>
            <a:cxnSpLocks/>
          </p:cNvCxnSpPr>
          <p:nvPr/>
        </p:nvCxnSpPr>
        <p:spPr>
          <a:xfrm flipV="1">
            <a:off x="3631012" y="3306412"/>
            <a:ext cx="0" cy="21590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xmlns="" id="{2E7B5117-C318-E0BD-94D3-4FC353F2C200}"/>
              </a:ext>
            </a:extLst>
          </p:cNvPr>
          <p:cNvSpPr txBox="1"/>
          <p:nvPr/>
        </p:nvSpPr>
        <p:spPr>
          <a:xfrm>
            <a:off x="1102178" y="2213694"/>
            <a:ext cx="40802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IGZO(n-type)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→ 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electron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↑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b="1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hole</a:t>
            </a:r>
            <a:r>
              <a:rPr lang="ko-KR" altLang="en-US" b="1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↓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xmlns="" id="{ADA282AE-7EE4-D6C8-937C-A737DD8D3CE5}"/>
              </a:ext>
            </a:extLst>
          </p:cNvPr>
          <p:cNvSpPr txBox="1"/>
          <p:nvPr/>
        </p:nvSpPr>
        <p:spPr>
          <a:xfrm flipH="1">
            <a:off x="970968" y="5979985"/>
            <a:ext cx="43426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NBS stability &gt; PBS stability</a:t>
            </a:r>
            <a:endParaRPr lang="ko-KR" altLang="en-US" sz="2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xmlns="" id="{F6273B39-AE5A-8687-F9FE-5304D8AA189F}"/>
              </a:ext>
            </a:extLst>
          </p:cNvPr>
          <p:cNvSpPr txBox="1"/>
          <p:nvPr/>
        </p:nvSpPr>
        <p:spPr>
          <a:xfrm>
            <a:off x="2562421" y="5439757"/>
            <a:ext cx="912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V</a:t>
            </a:r>
            <a:r>
              <a:rPr lang="en-US" altLang="ko-KR" b="1" baseline="-25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GS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&lt; 0</a:t>
            </a:r>
            <a:endParaRPr lang="ko-KR" altLang="en-US" sz="1800" b="1" baseline="-25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xmlns="" id="{22259081-BE55-F3C1-C8BC-E8F0918E3C1E}"/>
              </a:ext>
            </a:extLst>
          </p:cNvPr>
          <p:cNvSpPr txBox="1"/>
          <p:nvPr/>
        </p:nvSpPr>
        <p:spPr>
          <a:xfrm>
            <a:off x="7569200" y="58963"/>
            <a:ext cx="46228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Section 5. Bias Stress Mechanisms </a:t>
            </a:r>
            <a:endParaRPr lang="ko-KR" altLang="en-US" sz="1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xmlns="" id="{B2B380CA-81D2-DC87-D1F8-2385DACA3F6F}"/>
              </a:ext>
            </a:extLst>
          </p:cNvPr>
          <p:cNvGrpSpPr/>
          <p:nvPr/>
        </p:nvGrpSpPr>
        <p:grpSpPr>
          <a:xfrm>
            <a:off x="1400436" y="3740654"/>
            <a:ext cx="316112" cy="256711"/>
            <a:chOff x="3311084" y="3546007"/>
            <a:chExt cx="316112" cy="256711"/>
          </a:xfrm>
        </p:grpSpPr>
        <p:sp>
          <p:nvSpPr>
            <p:cNvPr id="2" name="타원 1">
              <a:extLst>
                <a:ext uri="{FF2B5EF4-FFF2-40B4-BE49-F238E27FC236}">
                  <a16:creationId xmlns:a16="http://schemas.microsoft.com/office/drawing/2014/main" xmlns="" id="{65F58DAE-1835-46A2-9BC8-0E0B7E32E89E}"/>
                </a:ext>
              </a:extLst>
            </p:cNvPr>
            <p:cNvSpPr/>
            <p:nvPr/>
          </p:nvSpPr>
          <p:spPr>
            <a:xfrm>
              <a:off x="3346776" y="3546007"/>
              <a:ext cx="225677" cy="25671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xmlns="" id="{DBC0EFC2-CE73-B52F-E3BE-56D69D258A9A}"/>
                </a:ext>
              </a:extLst>
            </p:cNvPr>
            <p:cNvSpPr txBox="1"/>
            <p:nvPr/>
          </p:nvSpPr>
          <p:spPr>
            <a:xfrm>
              <a:off x="3311084" y="3546007"/>
              <a:ext cx="31611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h</a:t>
              </a:r>
              <a:r>
                <a:rPr lang="en-US" altLang="ko-KR" sz="1000" b="1" baseline="300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+</a:t>
              </a:r>
              <a:endParaRPr lang="ko-KR" altLang="en-US" sz="1000" b="1" baseline="300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xmlns="" id="{F4A145D9-C6C6-EB9D-1966-9E560DA29F72}"/>
              </a:ext>
            </a:extLst>
          </p:cNvPr>
          <p:cNvGrpSpPr/>
          <p:nvPr/>
        </p:nvGrpSpPr>
        <p:grpSpPr>
          <a:xfrm>
            <a:off x="2695836" y="3747004"/>
            <a:ext cx="316112" cy="256711"/>
            <a:chOff x="3311084" y="3546007"/>
            <a:chExt cx="316112" cy="256711"/>
          </a:xfrm>
        </p:grpSpPr>
        <p:sp>
          <p:nvSpPr>
            <p:cNvPr id="20" name="타원 19">
              <a:extLst>
                <a:ext uri="{FF2B5EF4-FFF2-40B4-BE49-F238E27FC236}">
                  <a16:creationId xmlns:a16="http://schemas.microsoft.com/office/drawing/2014/main" xmlns="" id="{CD1A4B86-7026-0007-6BD7-331340085A1A}"/>
                </a:ext>
              </a:extLst>
            </p:cNvPr>
            <p:cNvSpPr/>
            <p:nvPr/>
          </p:nvSpPr>
          <p:spPr>
            <a:xfrm>
              <a:off x="3346776" y="3546007"/>
              <a:ext cx="225677" cy="25671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xmlns="" id="{D76D12F1-09FF-BD39-8B09-AAA1AC20D6F4}"/>
                </a:ext>
              </a:extLst>
            </p:cNvPr>
            <p:cNvSpPr txBox="1"/>
            <p:nvPr/>
          </p:nvSpPr>
          <p:spPr>
            <a:xfrm>
              <a:off x="3311084" y="3546007"/>
              <a:ext cx="31611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h</a:t>
              </a:r>
              <a:r>
                <a:rPr lang="en-US" altLang="ko-KR" sz="1000" b="1" baseline="300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+</a:t>
              </a:r>
              <a:endParaRPr lang="ko-KR" altLang="en-US" sz="1000" b="1" baseline="300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xmlns="" id="{EAFA2145-4067-3F4C-513C-BE0353843361}"/>
              </a:ext>
            </a:extLst>
          </p:cNvPr>
          <p:cNvGrpSpPr/>
          <p:nvPr/>
        </p:nvGrpSpPr>
        <p:grpSpPr>
          <a:xfrm>
            <a:off x="3635636" y="3727954"/>
            <a:ext cx="316112" cy="256711"/>
            <a:chOff x="3311084" y="3546007"/>
            <a:chExt cx="316112" cy="256711"/>
          </a:xfrm>
        </p:grpSpPr>
        <p:sp>
          <p:nvSpPr>
            <p:cNvPr id="23" name="타원 22">
              <a:extLst>
                <a:ext uri="{FF2B5EF4-FFF2-40B4-BE49-F238E27FC236}">
                  <a16:creationId xmlns:a16="http://schemas.microsoft.com/office/drawing/2014/main" xmlns="" id="{F7E92081-211D-F8AE-2DDB-A4E2B0F28568}"/>
                </a:ext>
              </a:extLst>
            </p:cNvPr>
            <p:cNvSpPr/>
            <p:nvPr/>
          </p:nvSpPr>
          <p:spPr>
            <a:xfrm>
              <a:off x="3346776" y="3546007"/>
              <a:ext cx="225677" cy="25671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78AB9C30-CD78-FD2E-3C14-8987DF13A987}"/>
                </a:ext>
              </a:extLst>
            </p:cNvPr>
            <p:cNvSpPr txBox="1"/>
            <p:nvPr/>
          </p:nvSpPr>
          <p:spPr>
            <a:xfrm>
              <a:off x="3311084" y="3546007"/>
              <a:ext cx="31611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h</a:t>
              </a:r>
              <a:r>
                <a:rPr lang="en-US" altLang="ko-KR" sz="1000" b="1" baseline="300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+</a:t>
              </a:r>
              <a:endParaRPr lang="ko-KR" altLang="en-US" sz="1000" b="1" baseline="300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46E7D11D-B60E-F916-AEE0-115C2DF5D1FA}"/>
              </a:ext>
            </a:extLst>
          </p:cNvPr>
          <p:cNvSpPr txBox="1"/>
          <p:nvPr/>
        </p:nvSpPr>
        <p:spPr>
          <a:xfrm>
            <a:off x="4544135" y="3096040"/>
            <a:ext cx="53621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7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7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7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xmlns="" id="{EFCC33E3-0B54-712B-2992-1C0092DFAB5D}"/>
              </a:ext>
            </a:extLst>
          </p:cNvPr>
          <p:cNvCxnSpPr>
            <a:cxnSpLocks/>
          </p:cNvCxnSpPr>
          <p:nvPr/>
        </p:nvCxnSpPr>
        <p:spPr>
          <a:xfrm flipV="1">
            <a:off x="4716862" y="3388962"/>
            <a:ext cx="0" cy="21590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F08BE13E-67B1-7330-BA63-A511956D0CDB}"/>
              </a:ext>
            </a:extLst>
          </p:cNvPr>
          <p:cNvSpPr txBox="1"/>
          <p:nvPr/>
        </p:nvSpPr>
        <p:spPr>
          <a:xfrm>
            <a:off x="2264485" y="2949990"/>
            <a:ext cx="53621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7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7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7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xmlns="" id="{0D5582D5-F78F-2F45-2CE4-9BC9138A2F39}"/>
              </a:ext>
            </a:extLst>
          </p:cNvPr>
          <p:cNvCxnSpPr>
            <a:cxnSpLocks/>
          </p:cNvCxnSpPr>
          <p:nvPr/>
        </p:nvCxnSpPr>
        <p:spPr>
          <a:xfrm flipV="1">
            <a:off x="2437212" y="3242912"/>
            <a:ext cx="0" cy="21590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xmlns="" id="{61A497D9-9DFA-F8E1-D83F-72812895B467}"/>
              </a:ext>
            </a:extLst>
          </p:cNvPr>
          <p:cNvSpPr txBox="1"/>
          <p:nvPr/>
        </p:nvSpPr>
        <p:spPr>
          <a:xfrm>
            <a:off x="1105681" y="4320489"/>
            <a:ext cx="5362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5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xmlns="" id="{BA8E9905-6E92-00ED-E03B-BD97F14DA95C}"/>
              </a:ext>
            </a:extLst>
          </p:cNvPr>
          <p:cNvSpPr txBox="1"/>
          <p:nvPr/>
        </p:nvSpPr>
        <p:spPr>
          <a:xfrm>
            <a:off x="1450777" y="4337674"/>
            <a:ext cx="5362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5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xmlns="" id="{A223DF9F-908B-2449-DF95-8D29FF1EF522}"/>
              </a:ext>
            </a:extLst>
          </p:cNvPr>
          <p:cNvSpPr txBox="1"/>
          <p:nvPr/>
        </p:nvSpPr>
        <p:spPr>
          <a:xfrm>
            <a:off x="1795871" y="4321247"/>
            <a:ext cx="5362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5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xmlns="" id="{710C999B-79B7-33F0-B1A7-6D9424CE08DD}"/>
              </a:ext>
            </a:extLst>
          </p:cNvPr>
          <p:cNvSpPr txBox="1"/>
          <p:nvPr/>
        </p:nvSpPr>
        <p:spPr>
          <a:xfrm>
            <a:off x="2130906" y="4329681"/>
            <a:ext cx="5362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5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xmlns="" id="{780EE5CF-6483-38F7-5636-5C3BD1CC929D}"/>
              </a:ext>
            </a:extLst>
          </p:cNvPr>
          <p:cNvSpPr txBox="1"/>
          <p:nvPr/>
        </p:nvSpPr>
        <p:spPr>
          <a:xfrm>
            <a:off x="2465940" y="4320489"/>
            <a:ext cx="5362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5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xmlns="" id="{FAB493C3-6540-538F-0266-CAC5E6598014}"/>
              </a:ext>
            </a:extLst>
          </p:cNvPr>
          <p:cNvSpPr txBox="1"/>
          <p:nvPr/>
        </p:nvSpPr>
        <p:spPr>
          <a:xfrm>
            <a:off x="2756347" y="4320489"/>
            <a:ext cx="5362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5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xmlns="" id="{44B3118C-4C78-F6C9-A7D9-AA4C1ED86060}"/>
              </a:ext>
            </a:extLst>
          </p:cNvPr>
          <p:cNvSpPr txBox="1"/>
          <p:nvPr/>
        </p:nvSpPr>
        <p:spPr>
          <a:xfrm>
            <a:off x="3069080" y="4320489"/>
            <a:ext cx="5362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5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xmlns="" id="{9110CF39-C882-D152-B1D7-34ED5D807835}"/>
              </a:ext>
            </a:extLst>
          </p:cNvPr>
          <p:cNvSpPr txBox="1"/>
          <p:nvPr/>
        </p:nvSpPr>
        <p:spPr>
          <a:xfrm>
            <a:off x="3384149" y="4308752"/>
            <a:ext cx="5362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5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xmlns="" id="{6818A2ED-594E-07EE-2E9B-3A68E3561B7A}"/>
              </a:ext>
            </a:extLst>
          </p:cNvPr>
          <p:cNvSpPr txBox="1"/>
          <p:nvPr/>
        </p:nvSpPr>
        <p:spPr>
          <a:xfrm>
            <a:off x="3690823" y="4320489"/>
            <a:ext cx="5362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5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xmlns="" id="{1761CFAC-40AD-D2CF-68A4-83E24A8993AD}"/>
              </a:ext>
            </a:extLst>
          </p:cNvPr>
          <p:cNvSpPr txBox="1"/>
          <p:nvPr/>
        </p:nvSpPr>
        <p:spPr>
          <a:xfrm>
            <a:off x="3984616" y="4347026"/>
            <a:ext cx="5362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5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xmlns="" id="{9B783B99-87E3-75D9-B6A0-DF9F5C471EB7}"/>
              </a:ext>
            </a:extLst>
          </p:cNvPr>
          <p:cNvSpPr txBox="1"/>
          <p:nvPr/>
        </p:nvSpPr>
        <p:spPr>
          <a:xfrm>
            <a:off x="4248214" y="4337670"/>
            <a:ext cx="5362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5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xmlns="" id="{7CDF11A8-F51A-1C39-B86A-AFD353609D53}"/>
              </a:ext>
            </a:extLst>
          </p:cNvPr>
          <p:cNvSpPr txBox="1"/>
          <p:nvPr/>
        </p:nvSpPr>
        <p:spPr>
          <a:xfrm>
            <a:off x="4509749" y="4337670"/>
            <a:ext cx="5362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5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1113EED7-829F-61C8-AF45-A8DE95DE0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459" y="2308686"/>
            <a:ext cx="3896269" cy="388674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DA2D27DE-F56E-4EA8-29B7-5D72D0405BEA}"/>
              </a:ext>
            </a:extLst>
          </p:cNvPr>
          <p:cNvSpPr txBox="1"/>
          <p:nvPr/>
        </p:nvSpPr>
        <p:spPr>
          <a:xfrm>
            <a:off x="254001" y="1259473"/>
            <a:ext cx="11506200" cy="400110"/>
          </a:xfrm>
          <a:prstGeom prst="rect">
            <a:avLst/>
          </a:prstGeom>
          <a:noFill/>
          <a:ln w="28575">
            <a:solidFill>
              <a:srgbClr val="15608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IGZO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의 </a:t>
            </a: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CB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는 </a:t>
            </a:r>
            <a:r>
              <a:rPr lang="en-US" altLang="ko-KR" sz="2000" b="1" dirty="0"/>
              <a:t>In 5s orbital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로 형성 </a:t>
            </a: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VB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는 </a:t>
            </a:r>
            <a:r>
              <a:rPr lang="en-US" altLang="ko-KR" sz="2000" b="1" dirty="0"/>
              <a:t>O 2p orbital</a:t>
            </a:r>
            <a:r>
              <a:rPr lang="ko-KR" altLang="en-US" sz="2000" b="1" dirty="0"/>
              <a:t>로 되어있어 </a:t>
            </a:r>
            <a:r>
              <a:rPr lang="en-US" altLang="ko-KR" sz="2000" b="1" dirty="0"/>
              <a:t>hole</a:t>
            </a:r>
            <a:r>
              <a:rPr lang="ko-KR" altLang="en-US" sz="2000" b="1" dirty="0"/>
              <a:t>이 쉽게 </a:t>
            </a:r>
            <a:r>
              <a:rPr lang="en-US" altLang="ko-KR" sz="2000" b="1" dirty="0"/>
              <a:t>localization </a:t>
            </a:r>
            <a:r>
              <a:rPr lang="ko-KR" altLang="en-US" sz="2000" b="1" dirty="0"/>
              <a:t>됨</a:t>
            </a:r>
            <a:endParaRPr lang="en-US" altLang="ko-KR" sz="2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97F8CDF-9DB5-5D61-A8D9-9DA1163ECAC0}"/>
              </a:ext>
            </a:extLst>
          </p:cNvPr>
          <p:cNvSpPr txBox="1"/>
          <p:nvPr/>
        </p:nvSpPr>
        <p:spPr>
          <a:xfrm>
            <a:off x="8131189" y="6122872"/>
            <a:ext cx="2502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200" i="1" dirty="0"/>
              <a:t>Adv. Mater. 2021, 33, 2006091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7E7FEF34-D1F8-43F3-48D8-50A1F0ED9405}"/>
              </a:ext>
            </a:extLst>
          </p:cNvPr>
          <p:cNvSpPr txBox="1"/>
          <p:nvPr/>
        </p:nvSpPr>
        <p:spPr>
          <a:xfrm>
            <a:off x="6911926" y="1919577"/>
            <a:ext cx="38962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Negative Bias Illumination Stress</a:t>
            </a:r>
            <a:endParaRPr lang="ko-KR" altLang="en-US" dirty="0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xmlns="" id="{39D5E267-7699-6E9C-F71C-9CFFB3079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E1704-955B-45E9-8CC7-423CE1421702}" type="slidenum">
              <a:rPr lang="ko-KR" altLang="en-US" smtClean="0"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77730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xmlns="" id="{11132E62-3820-BF3D-9E6D-C978B5DFBBE6}"/>
              </a:ext>
            </a:extLst>
          </p:cNvPr>
          <p:cNvGrpSpPr/>
          <p:nvPr/>
        </p:nvGrpSpPr>
        <p:grpSpPr>
          <a:xfrm>
            <a:off x="7885660" y="2656369"/>
            <a:ext cx="3517905" cy="2706922"/>
            <a:chOff x="7885660" y="2702089"/>
            <a:chExt cx="3517905" cy="2706922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ACC9E374-BF0D-56B0-71B9-FCB6504034A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680"/>
            <a:stretch/>
          </p:blipFill>
          <p:spPr bwMode="auto">
            <a:xfrm>
              <a:off x="8136924" y="2718484"/>
              <a:ext cx="3266641" cy="26905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타원 15">
              <a:extLst>
                <a:ext uri="{FF2B5EF4-FFF2-40B4-BE49-F238E27FC236}">
                  <a16:creationId xmlns:a16="http://schemas.microsoft.com/office/drawing/2014/main" xmlns="" id="{6531BDD6-880E-FB98-BAFB-B234BCBED8B4}"/>
                </a:ext>
              </a:extLst>
            </p:cNvPr>
            <p:cNvSpPr/>
            <p:nvPr/>
          </p:nvSpPr>
          <p:spPr>
            <a:xfrm>
              <a:off x="10065248" y="2702089"/>
              <a:ext cx="1026327" cy="573686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xmlns="" id="{EFD00527-1FBA-0F3F-9631-8E9075AB9401}"/>
                </a:ext>
              </a:extLst>
            </p:cNvPr>
            <p:cNvSpPr/>
            <p:nvPr/>
          </p:nvSpPr>
          <p:spPr>
            <a:xfrm>
              <a:off x="8588834" y="4065239"/>
              <a:ext cx="1026327" cy="573686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xmlns="" id="{DA793904-FE57-A5BD-E35A-CE2649E9CE0E}"/>
                </a:ext>
              </a:extLst>
            </p:cNvPr>
            <p:cNvCxnSpPr>
              <a:cxnSpLocks/>
              <a:endCxn id="17" idx="7"/>
            </p:cNvCxnSpPr>
            <p:nvPr/>
          </p:nvCxnSpPr>
          <p:spPr>
            <a:xfrm flipH="1">
              <a:off x="9464859" y="3222063"/>
              <a:ext cx="850999" cy="92719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타원 73">
              <a:extLst>
                <a:ext uri="{FF2B5EF4-FFF2-40B4-BE49-F238E27FC236}">
                  <a16:creationId xmlns:a16="http://schemas.microsoft.com/office/drawing/2014/main" xmlns="" id="{8927311D-AC89-9FB2-0BE6-7A212B8CE5A2}"/>
                </a:ext>
              </a:extLst>
            </p:cNvPr>
            <p:cNvSpPr/>
            <p:nvPr/>
          </p:nvSpPr>
          <p:spPr>
            <a:xfrm>
              <a:off x="10506251" y="2883724"/>
              <a:ext cx="143965" cy="134973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6" name="타원 75">
              <a:extLst>
                <a:ext uri="{FF2B5EF4-FFF2-40B4-BE49-F238E27FC236}">
                  <a16:creationId xmlns:a16="http://schemas.microsoft.com/office/drawing/2014/main" xmlns="" id="{CACAC637-4A27-205D-133E-81922714ED2E}"/>
                </a:ext>
              </a:extLst>
            </p:cNvPr>
            <p:cNvSpPr/>
            <p:nvPr/>
          </p:nvSpPr>
          <p:spPr>
            <a:xfrm>
              <a:off x="9030014" y="4270772"/>
              <a:ext cx="143965" cy="134973"/>
            </a:xfrm>
            <a:prstGeom prst="ellipse">
              <a:avLst/>
            </a:prstGeom>
            <a:noFill/>
            <a:ln>
              <a:solidFill>
                <a:srgbClr val="15608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7" name="타원 76">
              <a:extLst>
                <a:ext uri="{FF2B5EF4-FFF2-40B4-BE49-F238E27FC236}">
                  <a16:creationId xmlns:a16="http://schemas.microsoft.com/office/drawing/2014/main" xmlns="" id="{30606E45-3ABC-4F20-D5A6-50C2D1FFED8B}"/>
                </a:ext>
              </a:extLst>
            </p:cNvPr>
            <p:cNvSpPr/>
            <p:nvPr/>
          </p:nvSpPr>
          <p:spPr>
            <a:xfrm>
              <a:off x="9173979" y="4267647"/>
              <a:ext cx="143965" cy="134973"/>
            </a:xfrm>
            <a:prstGeom prst="ellipse">
              <a:avLst/>
            </a:prstGeom>
            <a:noFill/>
            <a:ln>
              <a:solidFill>
                <a:srgbClr val="15608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xmlns="" id="{832D8C70-00F2-B4DE-C555-6362382B5A09}"/>
                </a:ext>
              </a:extLst>
            </p:cNvPr>
            <p:cNvSpPr txBox="1"/>
            <p:nvPr/>
          </p:nvSpPr>
          <p:spPr>
            <a:xfrm>
              <a:off x="7885660" y="3613453"/>
              <a:ext cx="111280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>
                  <a:highlight>
                    <a:srgbClr val="FFFF00"/>
                  </a:highlight>
                  <a:latin typeface="Noto Sans KR" panose="020B0200000000000000" pitchFamily="50" charset="-127"/>
                  <a:ea typeface="Noto Sans KR" panose="020B0200000000000000" pitchFamily="50" charset="-127"/>
                </a:rPr>
                <a:t>illumination</a:t>
              </a:r>
              <a:endParaRPr lang="ko-KR" altLang="en-US" sz="1200" b="1" dirty="0">
                <a:highlight>
                  <a:srgbClr val="FFFF00"/>
                </a:highlight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cxnSp>
          <p:nvCxnSpPr>
            <p:cNvPr id="82" name="연결선: 구부러짐 81">
              <a:extLst>
                <a:ext uri="{FF2B5EF4-FFF2-40B4-BE49-F238E27FC236}">
                  <a16:creationId xmlns:a16="http://schemas.microsoft.com/office/drawing/2014/main" xmlns="" id="{293F3780-9FAF-F8CE-B11F-1B241BD83DE0}"/>
                </a:ext>
              </a:extLst>
            </p:cNvPr>
            <p:cNvCxnSpPr/>
            <p:nvPr/>
          </p:nvCxnSpPr>
          <p:spPr>
            <a:xfrm>
              <a:off x="8540347" y="3834341"/>
              <a:ext cx="508000" cy="399155"/>
            </a:xfrm>
            <a:prstGeom prst="curvedConnector3">
              <a:avLst>
                <a:gd name="adj1" fmla="val 40000"/>
              </a:avLst>
            </a:prstGeom>
            <a:ln w="38100"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타원 84">
              <a:extLst>
                <a:ext uri="{FF2B5EF4-FFF2-40B4-BE49-F238E27FC236}">
                  <a16:creationId xmlns:a16="http://schemas.microsoft.com/office/drawing/2014/main" xmlns="" id="{5DA2BE09-5975-0009-8100-86C5B7F2E7FA}"/>
                </a:ext>
              </a:extLst>
            </p:cNvPr>
            <p:cNvSpPr/>
            <p:nvPr/>
          </p:nvSpPr>
          <p:spPr>
            <a:xfrm>
              <a:off x="9005111" y="2716084"/>
              <a:ext cx="143965" cy="134973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6" name="타원 85">
              <a:extLst>
                <a:ext uri="{FF2B5EF4-FFF2-40B4-BE49-F238E27FC236}">
                  <a16:creationId xmlns:a16="http://schemas.microsoft.com/office/drawing/2014/main" xmlns="" id="{F3DAD59F-BDE1-C552-93BC-BA32D6EEB056}"/>
                </a:ext>
              </a:extLst>
            </p:cNvPr>
            <p:cNvSpPr/>
            <p:nvPr/>
          </p:nvSpPr>
          <p:spPr>
            <a:xfrm>
              <a:off x="9149076" y="2716085"/>
              <a:ext cx="143965" cy="134973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88" name="직선 화살표 연결선 87">
              <a:extLst>
                <a:ext uri="{FF2B5EF4-FFF2-40B4-BE49-F238E27FC236}">
                  <a16:creationId xmlns:a16="http://schemas.microsoft.com/office/drawing/2014/main" xmlns="" id="{BC93D083-12A0-D109-A246-0F4424FBFF34}"/>
                </a:ext>
              </a:extLst>
            </p:cNvPr>
            <p:cNvCxnSpPr/>
            <p:nvPr/>
          </p:nvCxnSpPr>
          <p:spPr>
            <a:xfrm flipV="1">
              <a:off x="9173979" y="2898964"/>
              <a:ext cx="0" cy="1314119"/>
            </a:xfrm>
            <a:prstGeom prst="straightConnector1">
              <a:avLst/>
            </a:prstGeom>
            <a:ln w="57150">
              <a:solidFill>
                <a:srgbClr val="15608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6EDEAB02-27EA-A22F-18AD-0E4496E4B776}"/>
              </a:ext>
            </a:extLst>
          </p:cNvPr>
          <p:cNvSpPr/>
          <p:nvPr/>
        </p:nvSpPr>
        <p:spPr>
          <a:xfrm>
            <a:off x="123824" y="1094422"/>
            <a:ext cx="11783786" cy="60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D2EF89DA-D1D3-E632-4BA2-4C808E9297C8}"/>
              </a:ext>
            </a:extLst>
          </p:cNvPr>
          <p:cNvSpPr txBox="1"/>
          <p:nvPr/>
        </p:nvSpPr>
        <p:spPr>
          <a:xfrm>
            <a:off x="7569200" y="58963"/>
            <a:ext cx="46228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Section 5. Bias Stress Mechanisms </a:t>
            </a:r>
            <a:endParaRPr lang="ko-KR" altLang="en-US" sz="1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xmlns="" id="{C3B53F47-CFA3-C470-0068-D5D9AE2EA28C}"/>
              </a:ext>
            </a:extLst>
          </p:cNvPr>
          <p:cNvSpPr txBox="1">
            <a:spLocks/>
          </p:cNvSpPr>
          <p:nvPr/>
        </p:nvSpPr>
        <p:spPr>
          <a:xfrm>
            <a:off x="133633" y="328611"/>
            <a:ext cx="10182225" cy="826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NBS/NBIS</a:t>
            </a:r>
            <a:r>
              <a:rPr lang="en-US" altLang="ko-KR" sz="4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Mechanisms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[intrinsic]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2DE0265-C85E-C891-A44C-424036B3ADA4}"/>
              </a:ext>
            </a:extLst>
          </p:cNvPr>
          <p:cNvGrpSpPr/>
          <p:nvPr/>
        </p:nvGrpSpPr>
        <p:grpSpPr>
          <a:xfrm>
            <a:off x="813568" y="3051693"/>
            <a:ext cx="3021353" cy="1935753"/>
            <a:chOff x="7545047" y="6351609"/>
            <a:chExt cx="3021353" cy="1710413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xmlns="" id="{4F280E44-ECFB-7C03-402A-2BC3D33C4975}"/>
                </a:ext>
              </a:extLst>
            </p:cNvPr>
            <p:cNvSpPr/>
            <p:nvPr/>
          </p:nvSpPr>
          <p:spPr>
            <a:xfrm>
              <a:off x="7547136" y="7542088"/>
              <a:ext cx="3019264" cy="51993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altLang="ko-KR" sz="2000" b="1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Gate</a:t>
              </a:r>
              <a:endParaRPr lang="ko-KR" altLang="en-US" sz="2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xmlns="" id="{5F6F25C1-A63F-CE6B-7FDE-3847A9112612}"/>
                </a:ext>
              </a:extLst>
            </p:cNvPr>
            <p:cNvSpPr/>
            <p:nvPr/>
          </p:nvSpPr>
          <p:spPr>
            <a:xfrm>
              <a:off x="7545047" y="6878276"/>
              <a:ext cx="3019264" cy="654389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b="1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GI</a:t>
              </a:r>
              <a:endParaRPr lang="ko-KR" altLang="en-US" sz="2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xmlns="" id="{433EF75D-9C1F-0CEB-9371-DBDDB2307D79}"/>
                </a:ext>
              </a:extLst>
            </p:cNvPr>
            <p:cNvSpPr/>
            <p:nvPr/>
          </p:nvSpPr>
          <p:spPr>
            <a:xfrm>
              <a:off x="7545047" y="6351609"/>
              <a:ext cx="3019264" cy="519935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6BEC9422-290C-EC74-722F-4763D1F6A1F4}"/>
              </a:ext>
            </a:extLst>
          </p:cNvPr>
          <p:cNvSpPr txBox="1"/>
          <p:nvPr/>
        </p:nvSpPr>
        <p:spPr>
          <a:xfrm>
            <a:off x="1868031" y="5068442"/>
            <a:ext cx="912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V</a:t>
            </a:r>
            <a:r>
              <a:rPr lang="en-US" altLang="ko-KR" b="1" baseline="-25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GS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&lt; 0</a:t>
            </a:r>
            <a:endParaRPr lang="ko-KR" altLang="en-US" sz="1800" b="1" baseline="-25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xmlns="" id="{9EB677DA-6FDC-1D99-8B92-4D73155D1868}"/>
              </a:ext>
            </a:extLst>
          </p:cNvPr>
          <p:cNvSpPr/>
          <p:nvPr/>
        </p:nvSpPr>
        <p:spPr>
          <a:xfrm>
            <a:off x="965505" y="3536488"/>
            <a:ext cx="225677" cy="25671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xmlns="" id="{ABC23B8A-B4C9-6BEF-77B1-88051388017E}"/>
              </a:ext>
            </a:extLst>
          </p:cNvPr>
          <p:cNvSpPr txBox="1"/>
          <p:nvPr/>
        </p:nvSpPr>
        <p:spPr>
          <a:xfrm>
            <a:off x="1351027" y="5763578"/>
            <a:ext cx="1752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Negative shift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xmlns="" id="{D3C2755B-39D8-1BB3-4099-D2DADE4A062A}"/>
              </a:ext>
            </a:extLst>
          </p:cNvPr>
          <p:cNvSpPr txBox="1"/>
          <p:nvPr/>
        </p:nvSpPr>
        <p:spPr>
          <a:xfrm>
            <a:off x="1112701" y="1927838"/>
            <a:ext cx="24272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Trap Mechanisms </a:t>
            </a:r>
            <a:endParaRPr lang="ko-KR" altLang="en-US" sz="2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xmlns="" id="{9550FA8B-134C-A791-7C41-F5B8D3DECC22}"/>
              </a:ext>
            </a:extLst>
          </p:cNvPr>
          <p:cNvSpPr txBox="1"/>
          <p:nvPr/>
        </p:nvSpPr>
        <p:spPr>
          <a:xfrm>
            <a:off x="4933869" y="1894605"/>
            <a:ext cx="22060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Oxygen vacancy</a:t>
            </a:r>
            <a:endParaRPr lang="ko-KR" altLang="en-US" sz="2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xmlns="" id="{093B6985-3B3A-62C4-2EEA-28134177D04B}"/>
              </a:ext>
            </a:extLst>
          </p:cNvPr>
          <p:cNvSpPr txBox="1"/>
          <p:nvPr/>
        </p:nvSpPr>
        <p:spPr>
          <a:xfrm>
            <a:off x="8188991" y="1927838"/>
            <a:ext cx="30267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Oxygen interstitial + H </a:t>
            </a:r>
            <a:endParaRPr lang="ko-KR" altLang="en-US" sz="2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62" name="Picture 14">
            <a:extLst>
              <a:ext uri="{FF2B5EF4-FFF2-40B4-BE49-F238E27FC236}">
                <a16:creationId xmlns:a16="http://schemas.microsoft.com/office/drawing/2014/main" xmlns="" id="{3E8480C9-1FDD-9CEF-39CC-2CBF752DBA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50" r="34064"/>
          <a:stretch/>
        </p:blipFill>
        <p:spPr bwMode="auto">
          <a:xfrm>
            <a:off x="4626811" y="2671583"/>
            <a:ext cx="2823880" cy="2690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타원 62">
            <a:extLst>
              <a:ext uri="{FF2B5EF4-FFF2-40B4-BE49-F238E27FC236}">
                <a16:creationId xmlns:a16="http://schemas.microsoft.com/office/drawing/2014/main" xmlns="" id="{63D47046-2D90-1440-AB68-66D60D209288}"/>
              </a:ext>
            </a:extLst>
          </p:cNvPr>
          <p:cNvSpPr/>
          <p:nvPr/>
        </p:nvSpPr>
        <p:spPr>
          <a:xfrm>
            <a:off x="5515427" y="4102116"/>
            <a:ext cx="920106" cy="46825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xmlns="" id="{09FE00C6-BD84-EE47-C688-3FE3C0600683}"/>
              </a:ext>
            </a:extLst>
          </p:cNvPr>
          <p:cNvSpPr/>
          <p:nvPr/>
        </p:nvSpPr>
        <p:spPr>
          <a:xfrm>
            <a:off x="5807573" y="4283362"/>
            <a:ext cx="143965" cy="13497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69" name="연결선: 구부러짐 68">
            <a:extLst>
              <a:ext uri="{FF2B5EF4-FFF2-40B4-BE49-F238E27FC236}">
                <a16:creationId xmlns:a16="http://schemas.microsoft.com/office/drawing/2014/main" xmlns="" id="{04EF816C-0AE4-2FAF-14E5-3E06BD00A57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443657" y="3400618"/>
            <a:ext cx="1406476" cy="334230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타원 69">
            <a:extLst>
              <a:ext uri="{FF2B5EF4-FFF2-40B4-BE49-F238E27FC236}">
                <a16:creationId xmlns:a16="http://schemas.microsoft.com/office/drawing/2014/main" xmlns="" id="{8C55A0DE-E9A6-EC7E-27F5-2CA92517888F}"/>
              </a:ext>
            </a:extLst>
          </p:cNvPr>
          <p:cNvSpPr/>
          <p:nvPr/>
        </p:nvSpPr>
        <p:spPr>
          <a:xfrm>
            <a:off x="6269130" y="2718409"/>
            <a:ext cx="143965" cy="13497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xmlns="" id="{2643866F-8FC9-CAFD-EF4B-2F7CD1FFA530}"/>
              </a:ext>
            </a:extLst>
          </p:cNvPr>
          <p:cNvSpPr/>
          <p:nvPr/>
        </p:nvSpPr>
        <p:spPr>
          <a:xfrm>
            <a:off x="5951538" y="4285591"/>
            <a:ext cx="143965" cy="134973"/>
          </a:xfrm>
          <a:prstGeom prst="ellipse">
            <a:avLst/>
          </a:prstGeom>
          <a:noFill/>
          <a:ln>
            <a:solidFill>
              <a:srgbClr val="15608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xmlns="" id="{F561D7C0-FA8D-922A-6813-E037638FFB41}"/>
              </a:ext>
            </a:extLst>
          </p:cNvPr>
          <p:cNvSpPr/>
          <p:nvPr/>
        </p:nvSpPr>
        <p:spPr>
          <a:xfrm>
            <a:off x="10650216" y="2838005"/>
            <a:ext cx="143965" cy="13497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xmlns="" id="{777406DD-208A-8CD2-A433-92D04E881B84}"/>
              </a:ext>
            </a:extLst>
          </p:cNvPr>
          <p:cNvSpPr txBox="1"/>
          <p:nvPr/>
        </p:nvSpPr>
        <p:spPr>
          <a:xfrm>
            <a:off x="5765207" y="2448775"/>
            <a:ext cx="13406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Electron-hole pair</a:t>
            </a:r>
            <a:endParaRPr lang="ko-KR" altLang="en-US" sz="1000" dirty="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xmlns="" id="{67370364-3E9D-0C2F-DC6F-79237C589F25}"/>
              </a:ext>
            </a:extLst>
          </p:cNvPr>
          <p:cNvSpPr txBox="1"/>
          <p:nvPr/>
        </p:nvSpPr>
        <p:spPr>
          <a:xfrm>
            <a:off x="5113976" y="5734608"/>
            <a:ext cx="1752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Negative shift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xmlns="" id="{0D3711D7-994F-079F-FB6C-953700A3A580}"/>
              </a:ext>
            </a:extLst>
          </p:cNvPr>
          <p:cNvSpPr txBox="1"/>
          <p:nvPr/>
        </p:nvSpPr>
        <p:spPr>
          <a:xfrm>
            <a:off x="8826184" y="5723779"/>
            <a:ext cx="1752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Negative shift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xmlns="" id="{4FF4B465-17EC-4D89-6E4A-DDCA3FAD41AB}"/>
              </a:ext>
            </a:extLst>
          </p:cNvPr>
          <p:cNvSpPr txBox="1"/>
          <p:nvPr/>
        </p:nvSpPr>
        <p:spPr>
          <a:xfrm>
            <a:off x="929813" y="3536488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h</a:t>
            </a:r>
            <a:r>
              <a:rPr lang="en-US" altLang="ko-KR" sz="10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+</a:t>
            </a:r>
            <a:endParaRPr lang="ko-KR" altLang="en-US" sz="10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1" name="타원 90">
            <a:extLst>
              <a:ext uri="{FF2B5EF4-FFF2-40B4-BE49-F238E27FC236}">
                <a16:creationId xmlns:a16="http://schemas.microsoft.com/office/drawing/2014/main" xmlns="" id="{E46CA92E-B4E7-D324-5677-175A2934DFE4}"/>
              </a:ext>
            </a:extLst>
          </p:cNvPr>
          <p:cNvSpPr/>
          <p:nvPr/>
        </p:nvSpPr>
        <p:spPr>
          <a:xfrm>
            <a:off x="1260783" y="3536482"/>
            <a:ext cx="225677" cy="25671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xmlns="" id="{C7D3B9D9-6D68-4B86-7A19-C035B9B04ECB}"/>
              </a:ext>
            </a:extLst>
          </p:cNvPr>
          <p:cNvSpPr txBox="1"/>
          <p:nvPr/>
        </p:nvSpPr>
        <p:spPr>
          <a:xfrm>
            <a:off x="1225091" y="3536482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h</a:t>
            </a:r>
            <a:r>
              <a:rPr lang="en-US" altLang="ko-KR" sz="10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+</a:t>
            </a:r>
            <a:endParaRPr lang="ko-KR" altLang="en-US" sz="10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3" name="타원 92">
            <a:extLst>
              <a:ext uri="{FF2B5EF4-FFF2-40B4-BE49-F238E27FC236}">
                <a16:creationId xmlns:a16="http://schemas.microsoft.com/office/drawing/2014/main" xmlns="" id="{F2ED65E1-9D2B-AE83-F9FA-49CCB9311247}"/>
              </a:ext>
            </a:extLst>
          </p:cNvPr>
          <p:cNvSpPr/>
          <p:nvPr/>
        </p:nvSpPr>
        <p:spPr>
          <a:xfrm>
            <a:off x="1565587" y="3531718"/>
            <a:ext cx="225677" cy="25671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xmlns="" id="{CBA4FE89-B56B-9739-E533-2F66E1470B36}"/>
              </a:ext>
            </a:extLst>
          </p:cNvPr>
          <p:cNvSpPr txBox="1"/>
          <p:nvPr/>
        </p:nvSpPr>
        <p:spPr>
          <a:xfrm>
            <a:off x="1529895" y="3531718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h</a:t>
            </a:r>
            <a:r>
              <a:rPr lang="en-US" altLang="ko-KR" sz="10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+</a:t>
            </a:r>
            <a:endParaRPr lang="ko-KR" altLang="en-US" sz="10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xmlns="" id="{B15B6A2A-8B00-F145-B2CE-152D7133E79F}"/>
              </a:ext>
            </a:extLst>
          </p:cNvPr>
          <p:cNvSpPr/>
          <p:nvPr/>
        </p:nvSpPr>
        <p:spPr>
          <a:xfrm>
            <a:off x="1894191" y="3517435"/>
            <a:ext cx="225677" cy="25671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xmlns="" id="{88AAFDC2-5B2C-BFBC-AEB3-056C67BCCF2B}"/>
              </a:ext>
            </a:extLst>
          </p:cNvPr>
          <p:cNvSpPr txBox="1"/>
          <p:nvPr/>
        </p:nvSpPr>
        <p:spPr>
          <a:xfrm>
            <a:off x="1858499" y="3517435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h</a:t>
            </a:r>
            <a:r>
              <a:rPr lang="en-US" altLang="ko-KR" sz="10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+</a:t>
            </a:r>
            <a:endParaRPr lang="ko-KR" altLang="en-US" sz="10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7" name="타원 96">
            <a:extLst>
              <a:ext uri="{FF2B5EF4-FFF2-40B4-BE49-F238E27FC236}">
                <a16:creationId xmlns:a16="http://schemas.microsoft.com/office/drawing/2014/main" xmlns="" id="{E1CDCB25-D6A3-918C-9FD4-4B382D4BFAFE}"/>
              </a:ext>
            </a:extLst>
          </p:cNvPr>
          <p:cNvSpPr/>
          <p:nvPr/>
        </p:nvSpPr>
        <p:spPr>
          <a:xfrm>
            <a:off x="2218051" y="3517437"/>
            <a:ext cx="225677" cy="25671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xmlns="" id="{4DB53703-BE50-E2FE-0DF3-8CB5FADDE55A}"/>
              </a:ext>
            </a:extLst>
          </p:cNvPr>
          <p:cNvSpPr txBox="1"/>
          <p:nvPr/>
        </p:nvSpPr>
        <p:spPr>
          <a:xfrm>
            <a:off x="2182359" y="3517437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h</a:t>
            </a:r>
            <a:r>
              <a:rPr lang="en-US" altLang="ko-KR" sz="10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+</a:t>
            </a:r>
            <a:endParaRPr lang="ko-KR" altLang="en-US" sz="10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9" name="타원 98">
            <a:extLst>
              <a:ext uri="{FF2B5EF4-FFF2-40B4-BE49-F238E27FC236}">
                <a16:creationId xmlns:a16="http://schemas.microsoft.com/office/drawing/2014/main" xmlns="" id="{FF170250-330D-5248-DDEF-B9FD1ADD0A62}"/>
              </a:ext>
            </a:extLst>
          </p:cNvPr>
          <p:cNvSpPr/>
          <p:nvPr/>
        </p:nvSpPr>
        <p:spPr>
          <a:xfrm>
            <a:off x="2570477" y="3546008"/>
            <a:ext cx="225677" cy="25671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xmlns="" id="{87951B47-0C1C-5752-EA0A-068BFE5B2A47}"/>
              </a:ext>
            </a:extLst>
          </p:cNvPr>
          <p:cNvSpPr txBox="1"/>
          <p:nvPr/>
        </p:nvSpPr>
        <p:spPr>
          <a:xfrm>
            <a:off x="2534785" y="3546008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h</a:t>
            </a:r>
            <a:r>
              <a:rPr lang="en-US" altLang="ko-KR" sz="10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+</a:t>
            </a:r>
            <a:endParaRPr lang="ko-KR" altLang="en-US" sz="10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xmlns="" id="{03C9F92B-7458-D1FB-07B9-D78F65EB5416}"/>
              </a:ext>
            </a:extLst>
          </p:cNvPr>
          <p:cNvSpPr/>
          <p:nvPr/>
        </p:nvSpPr>
        <p:spPr>
          <a:xfrm>
            <a:off x="2941953" y="3560295"/>
            <a:ext cx="225677" cy="25671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xmlns="" id="{7F561C0B-5D24-9FB8-8772-B320D4559A4A}"/>
              </a:ext>
            </a:extLst>
          </p:cNvPr>
          <p:cNvSpPr txBox="1"/>
          <p:nvPr/>
        </p:nvSpPr>
        <p:spPr>
          <a:xfrm>
            <a:off x="2906261" y="3560295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h</a:t>
            </a:r>
            <a:r>
              <a:rPr lang="en-US" altLang="ko-KR" sz="10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+</a:t>
            </a:r>
            <a:endParaRPr lang="ko-KR" altLang="en-US" sz="10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3" name="타원 102">
            <a:extLst>
              <a:ext uri="{FF2B5EF4-FFF2-40B4-BE49-F238E27FC236}">
                <a16:creationId xmlns:a16="http://schemas.microsoft.com/office/drawing/2014/main" xmlns="" id="{2CCB3024-3269-066D-49C7-D4FCE55FC772}"/>
              </a:ext>
            </a:extLst>
          </p:cNvPr>
          <p:cNvSpPr/>
          <p:nvPr/>
        </p:nvSpPr>
        <p:spPr>
          <a:xfrm>
            <a:off x="3346776" y="3546007"/>
            <a:ext cx="225677" cy="25671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xmlns="" id="{7C4ED19F-2F80-F043-C1FA-8181CDDA2F94}"/>
              </a:ext>
            </a:extLst>
          </p:cNvPr>
          <p:cNvSpPr txBox="1"/>
          <p:nvPr/>
        </p:nvSpPr>
        <p:spPr>
          <a:xfrm>
            <a:off x="3311084" y="3546007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h</a:t>
            </a:r>
            <a:r>
              <a:rPr lang="en-US" altLang="ko-KR" sz="10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+</a:t>
            </a:r>
            <a:endParaRPr lang="ko-KR" altLang="en-US" sz="10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5" name="타원 104">
            <a:extLst>
              <a:ext uri="{FF2B5EF4-FFF2-40B4-BE49-F238E27FC236}">
                <a16:creationId xmlns:a16="http://schemas.microsoft.com/office/drawing/2014/main" xmlns="" id="{78436EE7-4BBB-FC48-61CA-E490E7E24C86}"/>
              </a:ext>
            </a:extLst>
          </p:cNvPr>
          <p:cNvSpPr/>
          <p:nvPr/>
        </p:nvSpPr>
        <p:spPr>
          <a:xfrm>
            <a:off x="1148393" y="3874793"/>
            <a:ext cx="225677" cy="25671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xmlns="" id="{30850135-E669-F75C-AC97-B94E28A33196}"/>
              </a:ext>
            </a:extLst>
          </p:cNvPr>
          <p:cNvSpPr txBox="1"/>
          <p:nvPr/>
        </p:nvSpPr>
        <p:spPr>
          <a:xfrm>
            <a:off x="1112701" y="3874793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h</a:t>
            </a:r>
            <a:r>
              <a:rPr lang="en-US" altLang="ko-KR" sz="10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+</a:t>
            </a:r>
            <a:endParaRPr lang="ko-KR" altLang="en-US" sz="10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" name="타원 106">
            <a:extLst>
              <a:ext uri="{FF2B5EF4-FFF2-40B4-BE49-F238E27FC236}">
                <a16:creationId xmlns:a16="http://schemas.microsoft.com/office/drawing/2014/main" xmlns="" id="{542E2FEA-BF15-B0F0-7227-2F44230FEAEF}"/>
              </a:ext>
            </a:extLst>
          </p:cNvPr>
          <p:cNvSpPr/>
          <p:nvPr/>
        </p:nvSpPr>
        <p:spPr>
          <a:xfrm>
            <a:off x="1631968" y="3883247"/>
            <a:ext cx="225677" cy="25671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xmlns="" id="{2D9CD056-AE5C-8F5D-D73C-A6CF14900B4F}"/>
              </a:ext>
            </a:extLst>
          </p:cNvPr>
          <p:cNvSpPr txBox="1"/>
          <p:nvPr/>
        </p:nvSpPr>
        <p:spPr>
          <a:xfrm>
            <a:off x="1596276" y="3883247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h</a:t>
            </a:r>
            <a:r>
              <a:rPr lang="en-US" altLang="ko-KR" sz="10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+</a:t>
            </a:r>
            <a:endParaRPr lang="ko-KR" altLang="en-US" sz="10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xmlns="" id="{2109F280-4144-65DE-B4A8-C3C1DAD4C5D1}"/>
              </a:ext>
            </a:extLst>
          </p:cNvPr>
          <p:cNvSpPr/>
          <p:nvPr/>
        </p:nvSpPr>
        <p:spPr>
          <a:xfrm>
            <a:off x="2709961" y="3908536"/>
            <a:ext cx="225677" cy="25671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xmlns="" id="{311DB7BB-AFA9-11A0-9DC7-7876FEE8B746}"/>
              </a:ext>
            </a:extLst>
          </p:cNvPr>
          <p:cNvSpPr txBox="1"/>
          <p:nvPr/>
        </p:nvSpPr>
        <p:spPr>
          <a:xfrm>
            <a:off x="2674269" y="3908536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h</a:t>
            </a:r>
            <a:r>
              <a:rPr lang="en-US" altLang="ko-KR" sz="10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+</a:t>
            </a:r>
            <a:endParaRPr lang="ko-KR" altLang="en-US" sz="10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1" name="타원 110">
            <a:extLst>
              <a:ext uri="{FF2B5EF4-FFF2-40B4-BE49-F238E27FC236}">
                <a16:creationId xmlns:a16="http://schemas.microsoft.com/office/drawing/2014/main" xmlns="" id="{DC45519A-3999-5029-8D8E-D0579D5AC596}"/>
              </a:ext>
            </a:extLst>
          </p:cNvPr>
          <p:cNvSpPr/>
          <p:nvPr/>
        </p:nvSpPr>
        <p:spPr>
          <a:xfrm>
            <a:off x="3188720" y="3893737"/>
            <a:ext cx="225677" cy="25671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xmlns="" id="{4C1F0B8F-53C1-6AF5-2253-6CBFB11704FA}"/>
              </a:ext>
            </a:extLst>
          </p:cNvPr>
          <p:cNvSpPr txBox="1"/>
          <p:nvPr/>
        </p:nvSpPr>
        <p:spPr>
          <a:xfrm>
            <a:off x="3153028" y="3893737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h</a:t>
            </a:r>
            <a:r>
              <a:rPr lang="en-US" altLang="ko-KR" sz="10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+</a:t>
            </a:r>
            <a:endParaRPr lang="ko-KR" altLang="en-US" sz="10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B3CCBC13-4239-3547-1DE1-C75358F48B16}"/>
              </a:ext>
            </a:extLst>
          </p:cNvPr>
          <p:cNvSpPr txBox="1"/>
          <p:nvPr/>
        </p:nvSpPr>
        <p:spPr>
          <a:xfrm>
            <a:off x="254001" y="1259473"/>
            <a:ext cx="11506200" cy="400110"/>
          </a:xfrm>
          <a:prstGeom prst="rect">
            <a:avLst/>
          </a:prstGeom>
          <a:noFill/>
          <a:ln w="28575">
            <a:solidFill>
              <a:srgbClr val="15608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Hole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의 생성과 </a:t>
            </a: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trap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으로 인해 전위차</a:t>
            </a: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density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의 증가로 </a:t>
            </a: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Vth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가 </a:t>
            </a: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Negative shift</a:t>
            </a:r>
            <a:endParaRPr lang="ko-KR" altLang="en-US" sz="2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04F5A2FD-AAC8-7611-98B3-D4652D4348C1}"/>
              </a:ext>
            </a:extLst>
          </p:cNvPr>
          <p:cNvSpPr txBox="1"/>
          <p:nvPr/>
        </p:nvSpPr>
        <p:spPr>
          <a:xfrm>
            <a:off x="8546507" y="2410370"/>
            <a:ext cx="13406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Electron-hole pair</a:t>
            </a:r>
            <a:endParaRPr lang="ko-KR" altLang="en-US" sz="1000" dirty="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FD0C7E12-F1D7-27E4-6C45-537B5188910E}"/>
              </a:ext>
            </a:extLst>
          </p:cNvPr>
          <p:cNvSpPr txBox="1"/>
          <p:nvPr/>
        </p:nvSpPr>
        <p:spPr>
          <a:xfrm>
            <a:off x="10963045" y="2279308"/>
            <a:ext cx="34496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5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10" name="연결선: 구부러짐 9">
            <a:extLst>
              <a:ext uri="{FF2B5EF4-FFF2-40B4-BE49-F238E27FC236}">
                <a16:creationId xmlns:a16="http://schemas.microsoft.com/office/drawing/2014/main" xmlns="" id="{9E458720-B0FF-F945-60DE-DB6AC62F7AB6}"/>
              </a:ext>
            </a:extLst>
          </p:cNvPr>
          <p:cNvCxnSpPr>
            <a:cxnSpLocks/>
            <a:stCxn id="4" idx="1"/>
          </p:cNvCxnSpPr>
          <p:nvPr/>
        </p:nvCxnSpPr>
        <p:spPr>
          <a:xfrm rot="10800000" flipV="1">
            <a:off x="10778427" y="2440890"/>
            <a:ext cx="184618" cy="264119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슬라이드 번호 개체 틀 18">
            <a:extLst>
              <a:ext uri="{FF2B5EF4-FFF2-40B4-BE49-F238E27FC236}">
                <a16:creationId xmlns:a16="http://schemas.microsoft.com/office/drawing/2014/main" xmlns="" id="{3D2AA1AC-C4ED-68C9-231D-B3CDDC008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E1704-955B-45E9-8CC7-423CE1421702}" type="slidenum">
              <a:rPr lang="ko-KR" altLang="en-US" smtClean="0"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417084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94213D07-C5B4-5A9A-A14D-935E009C408A}"/>
              </a:ext>
            </a:extLst>
          </p:cNvPr>
          <p:cNvSpPr/>
          <p:nvPr/>
        </p:nvSpPr>
        <p:spPr>
          <a:xfrm>
            <a:off x="123824" y="1094422"/>
            <a:ext cx="11783786" cy="60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8921AEA4-8ADE-575D-B69A-0A0A9393EC92}"/>
              </a:ext>
            </a:extLst>
          </p:cNvPr>
          <p:cNvSpPr txBox="1"/>
          <p:nvPr/>
        </p:nvSpPr>
        <p:spPr>
          <a:xfrm>
            <a:off x="7569200" y="58963"/>
            <a:ext cx="46228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Section 5. Bias Stress Mechanisms </a:t>
            </a:r>
            <a:endParaRPr lang="ko-KR" altLang="en-US" sz="1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xmlns="" id="{812DFA04-9F30-6C43-B18B-C090F62E1661}"/>
              </a:ext>
            </a:extLst>
          </p:cNvPr>
          <p:cNvSpPr txBox="1">
            <a:spLocks/>
          </p:cNvSpPr>
          <p:nvPr/>
        </p:nvSpPr>
        <p:spPr>
          <a:xfrm>
            <a:off x="133633" y="328611"/>
            <a:ext cx="10182225" cy="826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NBS/NBIS</a:t>
            </a:r>
            <a:r>
              <a:rPr lang="en-US" altLang="ko-KR" sz="4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Mechanisms [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Extrinsic]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xmlns="" id="{E4F30497-CF90-362C-FE55-778115519292}"/>
              </a:ext>
            </a:extLst>
          </p:cNvPr>
          <p:cNvSpPr txBox="1"/>
          <p:nvPr/>
        </p:nvSpPr>
        <p:spPr>
          <a:xfrm>
            <a:off x="973184" y="1871899"/>
            <a:ext cx="2626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대기 중 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H</a:t>
            </a:r>
            <a:r>
              <a:rPr lang="en-US" altLang="ko-KR" b="1" baseline="-25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O -&gt; H</a:t>
            </a:r>
            <a:r>
              <a:rPr lang="en-US" altLang="ko-KR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+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+ OH</a:t>
            </a:r>
            <a:r>
              <a:rPr lang="en-US" altLang="ko-KR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xmlns="" id="{76D50900-D032-0651-C5D9-96765A5DC815}"/>
              </a:ext>
            </a:extLst>
          </p:cNvPr>
          <p:cNvSpPr/>
          <p:nvPr/>
        </p:nvSpPr>
        <p:spPr>
          <a:xfrm>
            <a:off x="1293727" y="3346058"/>
            <a:ext cx="1847850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85" name="연결선: 구부러짐 84">
            <a:extLst>
              <a:ext uri="{FF2B5EF4-FFF2-40B4-BE49-F238E27FC236}">
                <a16:creationId xmlns:a16="http://schemas.microsoft.com/office/drawing/2014/main" xmlns="" id="{A5D39F9B-FB3E-A649-92E9-8B5BCB3D69A3}"/>
              </a:ext>
            </a:extLst>
          </p:cNvPr>
          <p:cNvCxnSpPr/>
          <p:nvPr/>
        </p:nvCxnSpPr>
        <p:spPr>
          <a:xfrm rot="5400000">
            <a:off x="2295401" y="3001531"/>
            <a:ext cx="479503" cy="209550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xmlns="" id="{7C19648D-EE6D-F454-5BEB-6FE6BDDF402F}"/>
              </a:ext>
            </a:extLst>
          </p:cNvPr>
          <p:cNvSpPr txBox="1"/>
          <p:nvPr/>
        </p:nvSpPr>
        <p:spPr>
          <a:xfrm>
            <a:off x="1804194" y="3000095"/>
            <a:ext cx="379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H</a:t>
            </a:r>
            <a:r>
              <a:rPr lang="en-US" altLang="ko-KR" sz="1400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+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xmlns="" id="{57CA5112-0B05-6150-03B1-7CB68CBC6CCF}"/>
              </a:ext>
            </a:extLst>
          </p:cNvPr>
          <p:cNvSpPr txBox="1"/>
          <p:nvPr/>
        </p:nvSpPr>
        <p:spPr>
          <a:xfrm>
            <a:off x="1878666" y="3422430"/>
            <a:ext cx="4775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OH</a:t>
            </a:r>
            <a:r>
              <a:rPr lang="en-US" altLang="ko-KR" sz="1200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92" name="연결선: 구부러짐 91">
            <a:extLst>
              <a:ext uri="{FF2B5EF4-FFF2-40B4-BE49-F238E27FC236}">
                <a16:creationId xmlns:a16="http://schemas.microsoft.com/office/drawing/2014/main" xmlns="" id="{910A33BE-06A2-4CE4-E801-0F30EBD2B69A}"/>
              </a:ext>
            </a:extLst>
          </p:cNvPr>
          <p:cNvCxnSpPr/>
          <p:nvPr/>
        </p:nvCxnSpPr>
        <p:spPr>
          <a:xfrm rot="10800000">
            <a:off x="2174857" y="3193030"/>
            <a:ext cx="211071" cy="53151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연결선: 구부러짐 93">
            <a:extLst>
              <a:ext uri="{FF2B5EF4-FFF2-40B4-BE49-F238E27FC236}">
                <a16:creationId xmlns:a16="http://schemas.microsoft.com/office/drawing/2014/main" xmlns="" id="{26D54AFA-5709-67D3-D750-EA14C2959CBB}"/>
              </a:ext>
            </a:extLst>
          </p:cNvPr>
          <p:cNvCxnSpPr/>
          <p:nvPr/>
        </p:nvCxnSpPr>
        <p:spPr>
          <a:xfrm rot="5400000">
            <a:off x="2239772" y="3377189"/>
            <a:ext cx="186776" cy="105536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2" name="화살표: 오른쪽 101">
            <a:extLst>
              <a:ext uri="{FF2B5EF4-FFF2-40B4-BE49-F238E27FC236}">
                <a16:creationId xmlns:a16="http://schemas.microsoft.com/office/drawing/2014/main" xmlns="" id="{C428B5F7-8316-D4CE-881C-579B3B62376E}"/>
              </a:ext>
            </a:extLst>
          </p:cNvPr>
          <p:cNvSpPr/>
          <p:nvPr/>
        </p:nvSpPr>
        <p:spPr>
          <a:xfrm>
            <a:off x="8018253" y="4506362"/>
            <a:ext cx="399203" cy="189409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xmlns="" id="{3DB9C600-ECA7-340E-459B-48F5FD9ED8B5}"/>
              </a:ext>
            </a:extLst>
          </p:cNvPr>
          <p:cNvSpPr/>
          <p:nvPr/>
        </p:nvSpPr>
        <p:spPr>
          <a:xfrm>
            <a:off x="3819548" y="5589372"/>
            <a:ext cx="3813070" cy="73257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Gate</a:t>
            </a:r>
            <a:endParaRPr lang="ko-KR" altLang="en-US" sz="20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xmlns="" id="{2FC929D1-A425-B5AD-369E-5C75D8110E11}"/>
              </a:ext>
            </a:extLst>
          </p:cNvPr>
          <p:cNvSpPr/>
          <p:nvPr/>
        </p:nvSpPr>
        <p:spPr>
          <a:xfrm>
            <a:off x="3817459" y="5015093"/>
            <a:ext cx="3810518" cy="55919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GI</a:t>
            </a:r>
            <a:endParaRPr lang="ko-KR" altLang="en-US" sz="20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xmlns="" id="{D2EF2F82-D799-845C-25B6-122CAEC82FA4}"/>
              </a:ext>
            </a:extLst>
          </p:cNvPr>
          <p:cNvSpPr/>
          <p:nvPr/>
        </p:nvSpPr>
        <p:spPr>
          <a:xfrm>
            <a:off x="3817459" y="3454741"/>
            <a:ext cx="3813070" cy="155775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IGZO</a:t>
            </a:r>
            <a:endParaRPr lang="ko-KR" altLang="en-US" sz="20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4EC744EA-DDD0-3523-5136-838444046F7E}"/>
              </a:ext>
            </a:extLst>
          </p:cNvPr>
          <p:cNvSpPr txBox="1"/>
          <p:nvPr/>
        </p:nvSpPr>
        <p:spPr>
          <a:xfrm>
            <a:off x="3866301" y="5557106"/>
            <a:ext cx="5362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5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2774C99D-3043-70D1-5626-5465B9B82F51}"/>
              </a:ext>
            </a:extLst>
          </p:cNvPr>
          <p:cNvSpPr txBox="1"/>
          <p:nvPr/>
        </p:nvSpPr>
        <p:spPr>
          <a:xfrm>
            <a:off x="4211397" y="5574291"/>
            <a:ext cx="5362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5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826DFC92-08A2-3A45-B25E-0D6AE03F324B}"/>
              </a:ext>
            </a:extLst>
          </p:cNvPr>
          <p:cNvSpPr txBox="1"/>
          <p:nvPr/>
        </p:nvSpPr>
        <p:spPr>
          <a:xfrm>
            <a:off x="4556491" y="5557864"/>
            <a:ext cx="5362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5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9B6A0966-C5C8-0131-C1BE-884CA5C61243}"/>
              </a:ext>
            </a:extLst>
          </p:cNvPr>
          <p:cNvSpPr txBox="1"/>
          <p:nvPr/>
        </p:nvSpPr>
        <p:spPr>
          <a:xfrm>
            <a:off x="4891526" y="5566298"/>
            <a:ext cx="5362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5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07FDC28B-6D29-39EC-6F79-295FBEEBE24B}"/>
              </a:ext>
            </a:extLst>
          </p:cNvPr>
          <p:cNvSpPr txBox="1"/>
          <p:nvPr/>
        </p:nvSpPr>
        <p:spPr>
          <a:xfrm>
            <a:off x="5226560" y="5557106"/>
            <a:ext cx="5362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5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95275D51-56F7-A2B0-5857-E82CADE25F0B}"/>
              </a:ext>
            </a:extLst>
          </p:cNvPr>
          <p:cNvSpPr txBox="1"/>
          <p:nvPr/>
        </p:nvSpPr>
        <p:spPr>
          <a:xfrm>
            <a:off x="5516967" y="5557106"/>
            <a:ext cx="5362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5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95B99079-3B34-57A6-D6A6-15AEE6F7CBA4}"/>
              </a:ext>
            </a:extLst>
          </p:cNvPr>
          <p:cNvSpPr txBox="1"/>
          <p:nvPr/>
        </p:nvSpPr>
        <p:spPr>
          <a:xfrm>
            <a:off x="5829700" y="5557106"/>
            <a:ext cx="5362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5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D3F40B83-FC64-45A9-CDBC-7764380ADCE0}"/>
              </a:ext>
            </a:extLst>
          </p:cNvPr>
          <p:cNvSpPr txBox="1"/>
          <p:nvPr/>
        </p:nvSpPr>
        <p:spPr>
          <a:xfrm>
            <a:off x="6144769" y="5545369"/>
            <a:ext cx="5362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5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502BF522-01EB-F358-E4A2-D808CA0F9483}"/>
              </a:ext>
            </a:extLst>
          </p:cNvPr>
          <p:cNvSpPr txBox="1"/>
          <p:nvPr/>
        </p:nvSpPr>
        <p:spPr>
          <a:xfrm>
            <a:off x="6451443" y="5557106"/>
            <a:ext cx="5362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5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0EEDB89A-947D-735D-27DB-C96A5BE26F28}"/>
              </a:ext>
            </a:extLst>
          </p:cNvPr>
          <p:cNvSpPr txBox="1"/>
          <p:nvPr/>
        </p:nvSpPr>
        <p:spPr>
          <a:xfrm>
            <a:off x="6745236" y="5583643"/>
            <a:ext cx="5362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5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D234DC1E-D1FD-E363-DE97-C4F98C643B20}"/>
              </a:ext>
            </a:extLst>
          </p:cNvPr>
          <p:cNvSpPr txBox="1"/>
          <p:nvPr/>
        </p:nvSpPr>
        <p:spPr>
          <a:xfrm>
            <a:off x="7008834" y="5574287"/>
            <a:ext cx="5362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5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27D0E2D4-AD82-CC95-71DC-FB93038AFD8D}"/>
              </a:ext>
            </a:extLst>
          </p:cNvPr>
          <p:cNvSpPr txBox="1"/>
          <p:nvPr/>
        </p:nvSpPr>
        <p:spPr>
          <a:xfrm>
            <a:off x="7270369" y="5574287"/>
            <a:ext cx="5362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5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xmlns="" id="{984F9BC2-20DB-052F-667D-CE9E56AEE0F5}"/>
              </a:ext>
            </a:extLst>
          </p:cNvPr>
          <p:cNvSpPr txBox="1"/>
          <p:nvPr/>
        </p:nvSpPr>
        <p:spPr>
          <a:xfrm>
            <a:off x="5232340" y="6391916"/>
            <a:ext cx="912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V</a:t>
            </a:r>
            <a:r>
              <a:rPr lang="en-US" altLang="ko-KR" b="1" baseline="-25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GS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&lt; 0</a:t>
            </a:r>
            <a:endParaRPr lang="ko-KR" altLang="en-US" sz="1800" b="1" baseline="-25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xmlns="" id="{6DEA3A56-608B-CB71-1229-2F3AB8CFA4AC}"/>
              </a:ext>
            </a:extLst>
          </p:cNvPr>
          <p:cNvCxnSpPr>
            <a:cxnSpLocks/>
          </p:cNvCxnSpPr>
          <p:nvPr/>
        </p:nvCxnSpPr>
        <p:spPr>
          <a:xfrm flipH="1">
            <a:off x="6836213" y="2273538"/>
            <a:ext cx="381356" cy="11696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xmlns="" id="{BC2790D3-2CDD-818B-21D2-844D079ADD93}"/>
              </a:ext>
            </a:extLst>
          </p:cNvPr>
          <p:cNvCxnSpPr>
            <a:cxnSpLocks/>
          </p:cNvCxnSpPr>
          <p:nvPr/>
        </p:nvCxnSpPr>
        <p:spPr>
          <a:xfrm>
            <a:off x="4458574" y="3445012"/>
            <a:ext cx="155132" cy="31293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xmlns="" id="{34478878-8771-BE09-CA9F-E1A25D0C0BED}"/>
              </a:ext>
            </a:extLst>
          </p:cNvPr>
          <p:cNvSpPr txBox="1"/>
          <p:nvPr/>
        </p:nvSpPr>
        <p:spPr>
          <a:xfrm>
            <a:off x="4528951" y="3701566"/>
            <a:ext cx="53621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7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7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7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xmlns="" id="{E410DFC0-5231-A8C6-6432-EA6FF907161C}"/>
              </a:ext>
            </a:extLst>
          </p:cNvPr>
          <p:cNvSpPr txBox="1"/>
          <p:nvPr/>
        </p:nvSpPr>
        <p:spPr>
          <a:xfrm>
            <a:off x="5099128" y="3658548"/>
            <a:ext cx="53621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7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7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7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xmlns="" id="{58A155F0-4435-ABB6-C832-50E7CAADB586}"/>
              </a:ext>
            </a:extLst>
          </p:cNvPr>
          <p:cNvSpPr txBox="1"/>
          <p:nvPr/>
        </p:nvSpPr>
        <p:spPr>
          <a:xfrm>
            <a:off x="6557892" y="4006741"/>
            <a:ext cx="19223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Negative shift</a:t>
            </a:r>
            <a:endParaRPr lang="ko-KR" altLang="en-US" sz="2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115" name="그룹 114">
            <a:extLst>
              <a:ext uri="{FF2B5EF4-FFF2-40B4-BE49-F238E27FC236}">
                <a16:creationId xmlns:a16="http://schemas.microsoft.com/office/drawing/2014/main" xmlns="" id="{0B515F60-B0E8-0CDA-5032-AC4DB704C471}"/>
              </a:ext>
            </a:extLst>
          </p:cNvPr>
          <p:cNvGrpSpPr/>
          <p:nvPr/>
        </p:nvGrpSpPr>
        <p:grpSpPr>
          <a:xfrm>
            <a:off x="7082311" y="1890233"/>
            <a:ext cx="555838" cy="509068"/>
            <a:chOff x="2639928" y="2548270"/>
            <a:chExt cx="397061" cy="382056"/>
          </a:xfrm>
        </p:grpSpPr>
        <p:grpSp>
          <p:nvGrpSpPr>
            <p:cNvPr id="80" name="그룹 79">
              <a:extLst>
                <a:ext uri="{FF2B5EF4-FFF2-40B4-BE49-F238E27FC236}">
                  <a16:creationId xmlns:a16="http://schemas.microsoft.com/office/drawing/2014/main" xmlns="" id="{79158A21-AFA7-5F12-3DB5-E895957A8F2F}"/>
                </a:ext>
              </a:extLst>
            </p:cNvPr>
            <p:cNvGrpSpPr/>
            <p:nvPr/>
          </p:nvGrpSpPr>
          <p:grpSpPr>
            <a:xfrm>
              <a:off x="2639928" y="2548270"/>
              <a:ext cx="397061" cy="308488"/>
              <a:chOff x="5132706" y="2641087"/>
              <a:chExt cx="397061" cy="308488"/>
            </a:xfrm>
          </p:grpSpPr>
          <p:sp>
            <p:nvSpPr>
              <p:cNvPr id="81" name="타원 80">
                <a:extLst>
                  <a:ext uri="{FF2B5EF4-FFF2-40B4-BE49-F238E27FC236}">
                    <a16:creationId xmlns:a16="http://schemas.microsoft.com/office/drawing/2014/main" xmlns="" id="{F6DF69DC-63B2-6956-E969-084EF59A6F21}"/>
                  </a:ext>
                </a:extLst>
              </p:cNvPr>
              <p:cNvSpPr/>
              <p:nvPr/>
            </p:nvSpPr>
            <p:spPr>
              <a:xfrm>
                <a:off x="5224745" y="2641087"/>
                <a:ext cx="305022" cy="308488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noFill/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82" name="타원 81">
                <a:extLst>
                  <a:ext uri="{FF2B5EF4-FFF2-40B4-BE49-F238E27FC236}">
                    <a16:creationId xmlns:a16="http://schemas.microsoft.com/office/drawing/2014/main" xmlns="" id="{A4B9F637-C300-7037-2263-804D67F453CB}"/>
                  </a:ext>
                </a:extLst>
              </p:cNvPr>
              <p:cNvSpPr/>
              <p:nvPr/>
            </p:nvSpPr>
            <p:spPr>
              <a:xfrm>
                <a:off x="5132706" y="2743743"/>
                <a:ext cx="123825" cy="127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xmlns="" id="{112247D2-5C50-06EA-EFFD-F96A4517CAB4}"/>
                </a:ext>
              </a:extLst>
            </p:cNvPr>
            <p:cNvSpPr/>
            <p:nvPr/>
          </p:nvSpPr>
          <p:spPr>
            <a:xfrm>
              <a:off x="2792328" y="2803326"/>
              <a:ext cx="123825" cy="127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116" name="그룹 115">
            <a:extLst>
              <a:ext uri="{FF2B5EF4-FFF2-40B4-BE49-F238E27FC236}">
                <a16:creationId xmlns:a16="http://schemas.microsoft.com/office/drawing/2014/main" xmlns="" id="{91DC95B1-DBC0-13A3-96A2-D2A364BBA9C7}"/>
              </a:ext>
            </a:extLst>
          </p:cNvPr>
          <p:cNvGrpSpPr/>
          <p:nvPr/>
        </p:nvGrpSpPr>
        <p:grpSpPr>
          <a:xfrm rot="19166714">
            <a:off x="5768658" y="3002226"/>
            <a:ext cx="555838" cy="509068"/>
            <a:chOff x="2639928" y="2548270"/>
            <a:chExt cx="397061" cy="382056"/>
          </a:xfrm>
        </p:grpSpPr>
        <p:grpSp>
          <p:nvGrpSpPr>
            <p:cNvPr id="117" name="그룹 116">
              <a:extLst>
                <a:ext uri="{FF2B5EF4-FFF2-40B4-BE49-F238E27FC236}">
                  <a16:creationId xmlns:a16="http://schemas.microsoft.com/office/drawing/2014/main" xmlns="" id="{33B67660-CD6E-0DC7-9FC7-2FCDCD2CA09A}"/>
                </a:ext>
              </a:extLst>
            </p:cNvPr>
            <p:cNvGrpSpPr/>
            <p:nvPr/>
          </p:nvGrpSpPr>
          <p:grpSpPr>
            <a:xfrm>
              <a:off x="2639928" y="2548270"/>
              <a:ext cx="397061" cy="308488"/>
              <a:chOff x="5132706" y="2641087"/>
              <a:chExt cx="397061" cy="308488"/>
            </a:xfrm>
          </p:grpSpPr>
          <p:sp>
            <p:nvSpPr>
              <p:cNvPr id="119" name="타원 118">
                <a:extLst>
                  <a:ext uri="{FF2B5EF4-FFF2-40B4-BE49-F238E27FC236}">
                    <a16:creationId xmlns:a16="http://schemas.microsoft.com/office/drawing/2014/main" xmlns="" id="{75A6A2CF-EE5D-8550-969A-E4DACF703EE7}"/>
                  </a:ext>
                </a:extLst>
              </p:cNvPr>
              <p:cNvSpPr/>
              <p:nvPr/>
            </p:nvSpPr>
            <p:spPr>
              <a:xfrm>
                <a:off x="5224745" y="2641087"/>
                <a:ext cx="305022" cy="308488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noFill/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120" name="타원 119">
                <a:extLst>
                  <a:ext uri="{FF2B5EF4-FFF2-40B4-BE49-F238E27FC236}">
                    <a16:creationId xmlns:a16="http://schemas.microsoft.com/office/drawing/2014/main" xmlns="" id="{D27CD7ED-4042-F1FF-E4AD-07940217217F}"/>
                  </a:ext>
                </a:extLst>
              </p:cNvPr>
              <p:cNvSpPr/>
              <p:nvPr/>
            </p:nvSpPr>
            <p:spPr>
              <a:xfrm>
                <a:off x="5132706" y="2743743"/>
                <a:ext cx="123825" cy="127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  <p:sp>
          <p:nvSpPr>
            <p:cNvPr id="118" name="타원 117">
              <a:extLst>
                <a:ext uri="{FF2B5EF4-FFF2-40B4-BE49-F238E27FC236}">
                  <a16:creationId xmlns:a16="http://schemas.microsoft.com/office/drawing/2014/main" xmlns="" id="{92A9B1B8-41A2-130A-4EA1-2D46A5D5A866}"/>
                </a:ext>
              </a:extLst>
            </p:cNvPr>
            <p:cNvSpPr/>
            <p:nvPr/>
          </p:nvSpPr>
          <p:spPr>
            <a:xfrm>
              <a:off x="2792328" y="2803326"/>
              <a:ext cx="123825" cy="127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121" name="그룹 120">
            <a:extLst>
              <a:ext uri="{FF2B5EF4-FFF2-40B4-BE49-F238E27FC236}">
                <a16:creationId xmlns:a16="http://schemas.microsoft.com/office/drawing/2014/main" xmlns="" id="{847A6799-C94E-A214-A6BB-022A8A20E1E9}"/>
              </a:ext>
            </a:extLst>
          </p:cNvPr>
          <p:cNvGrpSpPr/>
          <p:nvPr/>
        </p:nvGrpSpPr>
        <p:grpSpPr>
          <a:xfrm rot="18963629">
            <a:off x="4973492" y="3017270"/>
            <a:ext cx="555838" cy="509068"/>
            <a:chOff x="2639928" y="2548270"/>
            <a:chExt cx="397061" cy="382056"/>
          </a:xfrm>
        </p:grpSpPr>
        <p:grpSp>
          <p:nvGrpSpPr>
            <p:cNvPr id="122" name="그룹 121">
              <a:extLst>
                <a:ext uri="{FF2B5EF4-FFF2-40B4-BE49-F238E27FC236}">
                  <a16:creationId xmlns:a16="http://schemas.microsoft.com/office/drawing/2014/main" xmlns="" id="{8855506D-85FB-6E73-E0D2-A09DA32517FD}"/>
                </a:ext>
              </a:extLst>
            </p:cNvPr>
            <p:cNvGrpSpPr/>
            <p:nvPr/>
          </p:nvGrpSpPr>
          <p:grpSpPr>
            <a:xfrm>
              <a:off x="2639928" y="2548270"/>
              <a:ext cx="397061" cy="308488"/>
              <a:chOff x="5132706" y="2641087"/>
              <a:chExt cx="397061" cy="308488"/>
            </a:xfrm>
          </p:grpSpPr>
          <p:sp>
            <p:nvSpPr>
              <p:cNvPr id="124" name="타원 123">
                <a:extLst>
                  <a:ext uri="{FF2B5EF4-FFF2-40B4-BE49-F238E27FC236}">
                    <a16:creationId xmlns:a16="http://schemas.microsoft.com/office/drawing/2014/main" xmlns="" id="{E23BC5BB-C902-707E-5798-A9F2EAC1BB0E}"/>
                  </a:ext>
                </a:extLst>
              </p:cNvPr>
              <p:cNvSpPr/>
              <p:nvPr/>
            </p:nvSpPr>
            <p:spPr>
              <a:xfrm>
                <a:off x="5224745" y="2641087"/>
                <a:ext cx="305022" cy="308488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noFill/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125" name="타원 124">
                <a:extLst>
                  <a:ext uri="{FF2B5EF4-FFF2-40B4-BE49-F238E27FC236}">
                    <a16:creationId xmlns:a16="http://schemas.microsoft.com/office/drawing/2014/main" xmlns="" id="{D78B938F-5F84-76A4-ACA4-2E5A9186B86C}"/>
                  </a:ext>
                </a:extLst>
              </p:cNvPr>
              <p:cNvSpPr/>
              <p:nvPr/>
            </p:nvSpPr>
            <p:spPr>
              <a:xfrm>
                <a:off x="5132706" y="2743743"/>
                <a:ext cx="123825" cy="127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  <p:sp>
          <p:nvSpPr>
            <p:cNvPr id="123" name="타원 122">
              <a:extLst>
                <a:ext uri="{FF2B5EF4-FFF2-40B4-BE49-F238E27FC236}">
                  <a16:creationId xmlns:a16="http://schemas.microsoft.com/office/drawing/2014/main" xmlns="" id="{86C1541B-9108-405B-DCAE-896B102A86A0}"/>
                </a:ext>
              </a:extLst>
            </p:cNvPr>
            <p:cNvSpPr/>
            <p:nvPr/>
          </p:nvSpPr>
          <p:spPr>
            <a:xfrm>
              <a:off x="2792328" y="2803326"/>
              <a:ext cx="123825" cy="127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126" name="그룹 125">
            <a:extLst>
              <a:ext uri="{FF2B5EF4-FFF2-40B4-BE49-F238E27FC236}">
                <a16:creationId xmlns:a16="http://schemas.microsoft.com/office/drawing/2014/main" xmlns="" id="{BFD0F9B3-BBA5-62F0-6B3A-5465718020BF}"/>
              </a:ext>
            </a:extLst>
          </p:cNvPr>
          <p:cNvGrpSpPr/>
          <p:nvPr/>
        </p:nvGrpSpPr>
        <p:grpSpPr>
          <a:xfrm rot="19030669">
            <a:off x="4169820" y="3005060"/>
            <a:ext cx="555838" cy="509068"/>
            <a:chOff x="2639928" y="2548270"/>
            <a:chExt cx="397061" cy="382056"/>
          </a:xfrm>
        </p:grpSpPr>
        <p:grpSp>
          <p:nvGrpSpPr>
            <p:cNvPr id="127" name="그룹 126">
              <a:extLst>
                <a:ext uri="{FF2B5EF4-FFF2-40B4-BE49-F238E27FC236}">
                  <a16:creationId xmlns:a16="http://schemas.microsoft.com/office/drawing/2014/main" xmlns="" id="{99FA42B0-45B6-1069-0CD3-4CDB63E376A8}"/>
                </a:ext>
              </a:extLst>
            </p:cNvPr>
            <p:cNvGrpSpPr/>
            <p:nvPr/>
          </p:nvGrpSpPr>
          <p:grpSpPr>
            <a:xfrm>
              <a:off x="2639928" y="2548270"/>
              <a:ext cx="397061" cy="308488"/>
              <a:chOff x="5132706" y="2641087"/>
              <a:chExt cx="397061" cy="308488"/>
            </a:xfrm>
          </p:grpSpPr>
          <p:sp>
            <p:nvSpPr>
              <p:cNvPr id="129" name="타원 128">
                <a:extLst>
                  <a:ext uri="{FF2B5EF4-FFF2-40B4-BE49-F238E27FC236}">
                    <a16:creationId xmlns:a16="http://schemas.microsoft.com/office/drawing/2014/main" xmlns="" id="{A4574DEF-372A-7B85-5151-6E435016E1F3}"/>
                  </a:ext>
                </a:extLst>
              </p:cNvPr>
              <p:cNvSpPr/>
              <p:nvPr/>
            </p:nvSpPr>
            <p:spPr>
              <a:xfrm>
                <a:off x="5224745" y="2641087"/>
                <a:ext cx="305022" cy="308488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noFill/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130" name="타원 129">
                <a:extLst>
                  <a:ext uri="{FF2B5EF4-FFF2-40B4-BE49-F238E27FC236}">
                    <a16:creationId xmlns:a16="http://schemas.microsoft.com/office/drawing/2014/main" xmlns="" id="{9A781AB1-0E40-8EB6-72A6-AD25B2F5D6A5}"/>
                  </a:ext>
                </a:extLst>
              </p:cNvPr>
              <p:cNvSpPr/>
              <p:nvPr/>
            </p:nvSpPr>
            <p:spPr>
              <a:xfrm>
                <a:off x="5132706" y="2743743"/>
                <a:ext cx="123825" cy="127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  <p:sp>
          <p:nvSpPr>
            <p:cNvPr id="128" name="타원 127">
              <a:extLst>
                <a:ext uri="{FF2B5EF4-FFF2-40B4-BE49-F238E27FC236}">
                  <a16:creationId xmlns:a16="http://schemas.microsoft.com/office/drawing/2014/main" xmlns="" id="{EDE24A20-98CE-5389-8885-94BE9CCD2672}"/>
                </a:ext>
              </a:extLst>
            </p:cNvPr>
            <p:cNvSpPr/>
            <p:nvPr/>
          </p:nvSpPr>
          <p:spPr>
            <a:xfrm>
              <a:off x="2792328" y="2803326"/>
              <a:ext cx="123825" cy="127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xmlns="" id="{C911EF0D-D63E-1466-432B-C4E74BD91FD9}"/>
              </a:ext>
            </a:extLst>
          </p:cNvPr>
          <p:cNvGrpSpPr/>
          <p:nvPr/>
        </p:nvGrpSpPr>
        <p:grpSpPr>
          <a:xfrm>
            <a:off x="8805181" y="3750261"/>
            <a:ext cx="3021353" cy="1590591"/>
            <a:chOff x="7545047" y="6351608"/>
            <a:chExt cx="3021353" cy="1590591"/>
          </a:xfrm>
        </p:grpSpPr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xmlns="" id="{F6FAECD6-4BFC-7791-1A4A-D4AA870B8496}"/>
                </a:ext>
              </a:extLst>
            </p:cNvPr>
            <p:cNvSpPr/>
            <p:nvPr/>
          </p:nvSpPr>
          <p:spPr>
            <a:xfrm>
              <a:off x="7547136" y="7542089"/>
              <a:ext cx="3019264" cy="40011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altLang="ko-KR" sz="2000" b="1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Gate</a:t>
              </a:r>
              <a:endParaRPr lang="ko-KR" altLang="en-US" sz="2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xmlns="" id="{3A9AEEE8-B3B7-E676-3AA0-A628E9D51D8F}"/>
                </a:ext>
              </a:extLst>
            </p:cNvPr>
            <p:cNvSpPr/>
            <p:nvPr/>
          </p:nvSpPr>
          <p:spPr>
            <a:xfrm>
              <a:off x="7545047" y="7220513"/>
              <a:ext cx="3019264" cy="305419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b="1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GI</a:t>
              </a:r>
              <a:endParaRPr lang="ko-KR" altLang="en-US" sz="2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xmlns="" id="{FE62A360-213E-54AF-B94D-BE772DC95219}"/>
                </a:ext>
              </a:extLst>
            </p:cNvPr>
            <p:cNvSpPr/>
            <p:nvPr/>
          </p:nvSpPr>
          <p:spPr>
            <a:xfrm>
              <a:off x="7545047" y="6351608"/>
              <a:ext cx="3019264" cy="850806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b="1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IGZO</a:t>
              </a:r>
              <a:endParaRPr lang="ko-KR" altLang="en-US" sz="2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cxnSp>
        <p:nvCxnSpPr>
          <p:cNvPr id="140" name="직선 화살표 연결선 139">
            <a:extLst>
              <a:ext uri="{FF2B5EF4-FFF2-40B4-BE49-F238E27FC236}">
                <a16:creationId xmlns:a16="http://schemas.microsoft.com/office/drawing/2014/main" xmlns="" id="{0C2DF39C-4551-FFAA-9B0B-C197539BAE9F}"/>
              </a:ext>
            </a:extLst>
          </p:cNvPr>
          <p:cNvCxnSpPr>
            <a:cxnSpLocks/>
          </p:cNvCxnSpPr>
          <p:nvPr/>
        </p:nvCxnSpPr>
        <p:spPr>
          <a:xfrm>
            <a:off x="5214134" y="3472599"/>
            <a:ext cx="75454" cy="29294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xmlns="" id="{4E2F776B-BCEA-5EC8-2EEB-C5AC3759DF67}"/>
              </a:ext>
            </a:extLst>
          </p:cNvPr>
          <p:cNvSpPr txBox="1"/>
          <p:nvPr/>
        </p:nvSpPr>
        <p:spPr>
          <a:xfrm>
            <a:off x="8537823" y="3491649"/>
            <a:ext cx="3553979" cy="24622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Passivation Layer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145" name="그룹 144">
            <a:extLst>
              <a:ext uri="{FF2B5EF4-FFF2-40B4-BE49-F238E27FC236}">
                <a16:creationId xmlns:a16="http://schemas.microsoft.com/office/drawing/2014/main" xmlns="" id="{9159419F-D36D-FE0C-69EC-C81C142C478D}"/>
              </a:ext>
            </a:extLst>
          </p:cNvPr>
          <p:cNvGrpSpPr/>
          <p:nvPr/>
        </p:nvGrpSpPr>
        <p:grpSpPr>
          <a:xfrm>
            <a:off x="2527901" y="2372104"/>
            <a:ext cx="555838" cy="509068"/>
            <a:chOff x="2639928" y="2548270"/>
            <a:chExt cx="397061" cy="382056"/>
          </a:xfrm>
        </p:grpSpPr>
        <p:grpSp>
          <p:nvGrpSpPr>
            <p:cNvPr id="146" name="그룹 145">
              <a:extLst>
                <a:ext uri="{FF2B5EF4-FFF2-40B4-BE49-F238E27FC236}">
                  <a16:creationId xmlns:a16="http://schemas.microsoft.com/office/drawing/2014/main" xmlns="" id="{FDEB007C-FF09-7612-DA31-8F2E1036D50B}"/>
                </a:ext>
              </a:extLst>
            </p:cNvPr>
            <p:cNvGrpSpPr/>
            <p:nvPr/>
          </p:nvGrpSpPr>
          <p:grpSpPr>
            <a:xfrm>
              <a:off x="2639928" y="2548270"/>
              <a:ext cx="397061" cy="308488"/>
              <a:chOff x="5132706" y="2641087"/>
              <a:chExt cx="397061" cy="308488"/>
            </a:xfrm>
          </p:grpSpPr>
          <p:sp>
            <p:nvSpPr>
              <p:cNvPr id="148" name="타원 147">
                <a:extLst>
                  <a:ext uri="{FF2B5EF4-FFF2-40B4-BE49-F238E27FC236}">
                    <a16:creationId xmlns:a16="http://schemas.microsoft.com/office/drawing/2014/main" xmlns="" id="{CD56A031-8103-3FDB-71B6-F6FED47E1A16}"/>
                  </a:ext>
                </a:extLst>
              </p:cNvPr>
              <p:cNvSpPr/>
              <p:nvPr/>
            </p:nvSpPr>
            <p:spPr>
              <a:xfrm>
                <a:off x="5224745" y="2641087"/>
                <a:ext cx="305022" cy="308488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noFill/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149" name="타원 148">
                <a:extLst>
                  <a:ext uri="{FF2B5EF4-FFF2-40B4-BE49-F238E27FC236}">
                    <a16:creationId xmlns:a16="http://schemas.microsoft.com/office/drawing/2014/main" xmlns="" id="{1537E6E7-74C1-7576-51B4-C11EB00CF6C0}"/>
                  </a:ext>
                </a:extLst>
              </p:cNvPr>
              <p:cNvSpPr/>
              <p:nvPr/>
            </p:nvSpPr>
            <p:spPr>
              <a:xfrm>
                <a:off x="5132706" y="2743743"/>
                <a:ext cx="123825" cy="127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  <p:sp>
          <p:nvSpPr>
            <p:cNvPr id="147" name="타원 146">
              <a:extLst>
                <a:ext uri="{FF2B5EF4-FFF2-40B4-BE49-F238E27FC236}">
                  <a16:creationId xmlns:a16="http://schemas.microsoft.com/office/drawing/2014/main" xmlns="" id="{ABD8AEFB-222F-D017-5747-6B84FEFD9FEB}"/>
                </a:ext>
              </a:extLst>
            </p:cNvPr>
            <p:cNvSpPr/>
            <p:nvPr/>
          </p:nvSpPr>
          <p:spPr>
            <a:xfrm>
              <a:off x="2792328" y="2803326"/>
              <a:ext cx="123825" cy="127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150" name="TextBox 149">
            <a:extLst>
              <a:ext uri="{FF2B5EF4-FFF2-40B4-BE49-F238E27FC236}">
                <a16:creationId xmlns:a16="http://schemas.microsoft.com/office/drawing/2014/main" xmlns="" id="{67818EEB-9B28-5367-E26E-F4F83A9B2ED8}"/>
              </a:ext>
            </a:extLst>
          </p:cNvPr>
          <p:cNvSpPr txBox="1"/>
          <p:nvPr/>
        </p:nvSpPr>
        <p:spPr>
          <a:xfrm>
            <a:off x="5475216" y="2129228"/>
            <a:ext cx="14558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H</a:t>
            </a:r>
            <a:r>
              <a:rPr lang="en-US" altLang="ko-KR" sz="2000" b="1" baseline="-25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O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의 흡착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477D7814-275F-60C3-B8DF-4B7435D4B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849" y="4210812"/>
            <a:ext cx="3224531" cy="52024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B4956476-258B-E4D5-2F38-973475D3D4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777" y="4718551"/>
            <a:ext cx="3137093" cy="62604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14895CB5-0BAD-4B93-F328-536ACDACE9AF}"/>
              </a:ext>
            </a:extLst>
          </p:cNvPr>
          <p:cNvSpPr txBox="1"/>
          <p:nvPr/>
        </p:nvSpPr>
        <p:spPr>
          <a:xfrm>
            <a:off x="325850" y="5403217"/>
            <a:ext cx="32092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nl-NL" altLang="ko-KR" sz="700" i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Yang, Y.; Wang, J.; Wang, X.; et al.</a:t>
            </a:r>
          </a:p>
          <a:p>
            <a:pPr algn="r"/>
            <a:r>
              <a:rPr lang="nl-NL" altLang="ko-KR" sz="700" i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RSC Advances </a:t>
            </a:r>
            <a:r>
              <a:rPr lang="nl-NL" altLang="ko-KR" sz="700" b="1" i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2018</a:t>
            </a:r>
            <a:r>
              <a:rPr lang="nl-NL" altLang="ko-KR" sz="700" i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nl-NL" altLang="ko-KR" sz="700" b="1" i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8</a:t>
            </a:r>
            <a:r>
              <a:rPr lang="nl-NL" altLang="ko-KR" sz="700" i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15078–15086.</a:t>
            </a:r>
            <a:endParaRPr lang="ko-KR" altLang="en-US" sz="700" i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153D3C4-8230-4C52-8D09-29F83118CC79}"/>
              </a:ext>
            </a:extLst>
          </p:cNvPr>
          <p:cNvSpPr txBox="1"/>
          <p:nvPr/>
        </p:nvSpPr>
        <p:spPr>
          <a:xfrm>
            <a:off x="254001" y="1259473"/>
            <a:ext cx="11506200" cy="400110"/>
          </a:xfrm>
          <a:prstGeom prst="rect">
            <a:avLst/>
          </a:prstGeom>
          <a:noFill/>
          <a:ln w="28575">
            <a:solidFill>
              <a:srgbClr val="15608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H</a:t>
            </a:r>
            <a:r>
              <a:rPr lang="en-US" altLang="ko-KR" sz="2000" b="1" baseline="-25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O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가 </a:t>
            </a:r>
            <a:r>
              <a:rPr lang="en-US" altLang="ko-KR" sz="2000" b="1" dirty="0"/>
              <a:t>Oxide surface</a:t>
            </a:r>
            <a:r>
              <a:rPr lang="ko-KR" altLang="en-US" sz="2000" b="1" dirty="0"/>
              <a:t>에 접촉하면 전자를 제공함</a:t>
            </a:r>
            <a:endParaRPr lang="ko-KR" altLang="en-US" sz="2000" b="1" baseline="-25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6AEBD795-AAE1-227F-9E27-36F5C6330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E1704-955B-45E9-8CC7-423CE1421702}" type="slidenum">
              <a:rPr lang="ko-KR" altLang="en-US" smtClean="0"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664968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791349F4-B256-2748-A58C-289660C27562}"/>
              </a:ext>
            </a:extLst>
          </p:cNvPr>
          <p:cNvSpPr/>
          <p:nvPr/>
        </p:nvSpPr>
        <p:spPr>
          <a:xfrm>
            <a:off x="123824" y="1094422"/>
            <a:ext cx="11783786" cy="60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260D8DC3-DE8E-6CB9-9DE9-A58E076077B2}"/>
              </a:ext>
            </a:extLst>
          </p:cNvPr>
          <p:cNvSpPr txBox="1"/>
          <p:nvPr/>
        </p:nvSpPr>
        <p:spPr>
          <a:xfrm>
            <a:off x="7569200" y="58963"/>
            <a:ext cx="46228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Section 5. Bias Stress Mechanisms </a:t>
            </a:r>
            <a:endParaRPr lang="ko-KR" altLang="en-US" sz="1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xmlns="" id="{EB4E307B-E58B-2CEF-C7A8-8881220CC5CC}"/>
              </a:ext>
            </a:extLst>
          </p:cNvPr>
          <p:cNvSpPr txBox="1">
            <a:spLocks/>
          </p:cNvSpPr>
          <p:nvPr/>
        </p:nvSpPr>
        <p:spPr>
          <a:xfrm>
            <a:off x="133633" y="328611"/>
            <a:ext cx="10182225" cy="826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산화물 표면에서의 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H</a:t>
            </a:r>
            <a:r>
              <a:rPr lang="en-US" altLang="ko-KR" b="1" baseline="-25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O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반응</a:t>
            </a:r>
            <a:endParaRPr lang="ko-KR" altLang="en-US" b="1" baseline="-25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E3A6133-91EB-3FDB-283B-E4F16E6C2685}"/>
              </a:ext>
            </a:extLst>
          </p:cNvPr>
          <p:cNvSpPr txBox="1"/>
          <p:nvPr/>
        </p:nvSpPr>
        <p:spPr>
          <a:xfrm>
            <a:off x="7569200" y="6089705"/>
            <a:ext cx="40798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200" i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RSC Advances, 2018, 8, 15078–15086</a:t>
            </a:r>
            <a:endParaRPr lang="ko-KR" altLang="en-US" sz="1200" i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CC79AA14-9526-3830-2CAE-03DA0EA13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4745" y="4763264"/>
            <a:ext cx="3397539" cy="55288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3821CF01-671F-CD03-D3F5-C29BFA383D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998" y="1487586"/>
            <a:ext cx="4794773" cy="305011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xmlns="" id="{B493686B-5603-AEFC-DEEE-576820F69E4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4213" r="50454"/>
          <a:stretch/>
        </p:blipFill>
        <p:spPr>
          <a:xfrm>
            <a:off x="8630385" y="4142615"/>
            <a:ext cx="3063038" cy="79016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xmlns="" id="{33D01B72-FD47-1FE4-023B-D9BA3978596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454" b="49592"/>
          <a:stretch/>
        </p:blipFill>
        <p:spPr>
          <a:xfrm>
            <a:off x="8630385" y="4938033"/>
            <a:ext cx="3063038" cy="1112984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A0887B13-956C-EB81-855A-303FAEF1F756}"/>
              </a:ext>
            </a:extLst>
          </p:cNvPr>
          <p:cNvSpPr/>
          <p:nvPr/>
        </p:nvSpPr>
        <p:spPr>
          <a:xfrm>
            <a:off x="614140" y="5240995"/>
            <a:ext cx="3813070" cy="73257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Gate</a:t>
            </a:r>
            <a:endParaRPr lang="ko-KR" altLang="en-US" sz="20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xmlns="" id="{75186795-0608-3836-0F52-C575C9119775}"/>
              </a:ext>
            </a:extLst>
          </p:cNvPr>
          <p:cNvSpPr/>
          <p:nvPr/>
        </p:nvSpPr>
        <p:spPr>
          <a:xfrm>
            <a:off x="612051" y="4666716"/>
            <a:ext cx="3810518" cy="55919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GI</a:t>
            </a:r>
            <a:endParaRPr lang="ko-KR" altLang="en-US" sz="20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6CC11E19-44E2-A8B3-8409-1FDF43773439}"/>
              </a:ext>
            </a:extLst>
          </p:cNvPr>
          <p:cNvSpPr/>
          <p:nvPr/>
        </p:nvSpPr>
        <p:spPr>
          <a:xfrm>
            <a:off x="612051" y="3106364"/>
            <a:ext cx="3813070" cy="155775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IGZO</a:t>
            </a:r>
            <a:endParaRPr lang="ko-KR" altLang="en-US" sz="20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2421E398-1FCE-3AB2-ADE8-E144AB5B6538}"/>
              </a:ext>
            </a:extLst>
          </p:cNvPr>
          <p:cNvSpPr txBox="1"/>
          <p:nvPr/>
        </p:nvSpPr>
        <p:spPr>
          <a:xfrm>
            <a:off x="660893" y="5208729"/>
            <a:ext cx="5362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5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050D74AA-6572-FCDA-ABAC-19CC51F8A4F5}"/>
              </a:ext>
            </a:extLst>
          </p:cNvPr>
          <p:cNvSpPr txBox="1"/>
          <p:nvPr/>
        </p:nvSpPr>
        <p:spPr>
          <a:xfrm>
            <a:off x="1351083" y="5209487"/>
            <a:ext cx="5362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5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99092261-B042-63BA-FBA8-4536006885D1}"/>
              </a:ext>
            </a:extLst>
          </p:cNvPr>
          <p:cNvSpPr txBox="1"/>
          <p:nvPr/>
        </p:nvSpPr>
        <p:spPr>
          <a:xfrm>
            <a:off x="1686118" y="5217921"/>
            <a:ext cx="5362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5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9F30288E-D9FE-BCAB-9A33-77DC543EE0BB}"/>
              </a:ext>
            </a:extLst>
          </p:cNvPr>
          <p:cNvSpPr txBox="1"/>
          <p:nvPr/>
        </p:nvSpPr>
        <p:spPr>
          <a:xfrm>
            <a:off x="2021152" y="5208729"/>
            <a:ext cx="5362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5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7970522A-F4F8-60BB-195C-03F00012F076}"/>
              </a:ext>
            </a:extLst>
          </p:cNvPr>
          <p:cNvSpPr txBox="1"/>
          <p:nvPr/>
        </p:nvSpPr>
        <p:spPr>
          <a:xfrm>
            <a:off x="2311559" y="5208729"/>
            <a:ext cx="5362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5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118F1E4C-D5B0-33CE-01CC-30727F2E783D}"/>
              </a:ext>
            </a:extLst>
          </p:cNvPr>
          <p:cNvSpPr txBox="1"/>
          <p:nvPr/>
        </p:nvSpPr>
        <p:spPr>
          <a:xfrm>
            <a:off x="2624292" y="5208729"/>
            <a:ext cx="5362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5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A3D2F18A-06A7-8C2C-D1D7-B293E62FF04A}"/>
              </a:ext>
            </a:extLst>
          </p:cNvPr>
          <p:cNvSpPr txBox="1"/>
          <p:nvPr/>
        </p:nvSpPr>
        <p:spPr>
          <a:xfrm>
            <a:off x="2939361" y="5196992"/>
            <a:ext cx="5362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5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D8A88EF3-C75B-5DE0-1D9A-F7F2D8303C21}"/>
              </a:ext>
            </a:extLst>
          </p:cNvPr>
          <p:cNvSpPr txBox="1"/>
          <p:nvPr/>
        </p:nvSpPr>
        <p:spPr>
          <a:xfrm>
            <a:off x="3246035" y="5208729"/>
            <a:ext cx="5362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5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B8E40761-351E-5D70-05A0-8711B21113C7}"/>
              </a:ext>
            </a:extLst>
          </p:cNvPr>
          <p:cNvSpPr txBox="1"/>
          <p:nvPr/>
        </p:nvSpPr>
        <p:spPr>
          <a:xfrm>
            <a:off x="3539828" y="5235266"/>
            <a:ext cx="5362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5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9F277D3C-536C-E8FB-03AD-91F6D0EBDC72}"/>
              </a:ext>
            </a:extLst>
          </p:cNvPr>
          <p:cNvSpPr txBox="1"/>
          <p:nvPr/>
        </p:nvSpPr>
        <p:spPr>
          <a:xfrm>
            <a:off x="3803426" y="5225910"/>
            <a:ext cx="5362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5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1D1DB01F-2A82-1C3F-24FB-B4C280BD7EC4}"/>
              </a:ext>
            </a:extLst>
          </p:cNvPr>
          <p:cNvSpPr txBox="1"/>
          <p:nvPr/>
        </p:nvSpPr>
        <p:spPr>
          <a:xfrm>
            <a:off x="4064961" y="5225910"/>
            <a:ext cx="5362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5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2BA3B75B-4E4E-0BD9-16AF-563133C38F00}"/>
              </a:ext>
            </a:extLst>
          </p:cNvPr>
          <p:cNvSpPr txBox="1"/>
          <p:nvPr/>
        </p:nvSpPr>
        <p:spPr>
          <a:xfrm>
            <a:off x="2026932" y="6043539"/>
            <a:ext cx="912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V</a:t>
            </a:r>
            <a:r>
              <a:rPr lang="en-US" altLang="ko-KR" b="1" baseline="-25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GS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&lt; 0</a:t>
            </a:r>
            <a:endParaRPr lang="ko-KR" altLang="en-US" sz="1800" b="1" baseline="-25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xmlns="" id="{3E0CEBD4-0B6C-55FC-6266-2213991F6C61}"/>
              </a:ext>
            </a:extLst>
          </p:cNvPr>
          <p:cNvCxnSpPr>
            <a:cxnSpLocks/>
          </p:cNvCxnSpPr>
          <p:nvPr/>
        </p:nvCxnSpPr>
        <p:spPr>
          <a:xfrm flipH="1">
            <a:off x="3630805" y="1925161"/>
            <a:ext cx="381356" cy="11696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2713C94F-8848-25FA-C25B-270B3198C04E}"/>
              </a:ext>
            </a:extLst>
          </p:cNvPr>
          <p:cNvSpPr txBox="1"/>
          <p:nvPr/>
        </p:nvSpPr>
        <p:spPr>
          <a:xfrm>
            <a:off x="1893720" y="3310171"/>
            <a:ext cx="53621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7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7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7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0903130D-3C9D-0BC2-EFF9-4EF0385405E5}"/>
              </a:ext>
            </a:extLst>
          </p:cNvPr>
          <p:cNvSpPr txBox="1"/>
          <p:nvPr/>
        </p:nvSpPr>
        <p:spPr>
          <a:xfrm>
            <a:off x="3302424" y="3436790"/>
            <a:ext cx="19223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Negative shift</a:t>
            </a:r>
            <a:endParaRPr lang="ko-KR" altLang="en-US" sz="2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xmlns="" id="{5F412BBE-FF52-BB17-5D55-D315CE12220D}"/>
              </a:ext>
            </a:extLst>
          </p:cNvPr>
          <p:cNvGrpSpPr/>
          <p:nvPr/>
        </p:nvGrpSpPr>
        <p:grpSpPr>
          <a:xfrm>
            <a:off x="3876903" y="1541856"/>
            <a:ext cx="555838" cy="509068"/>
            <a:chOff x="2639928" y="2548270"/>
            <a:chExt cx="397061" cy="382056"/>
          </a:xfrm>
        </p:grpSpPr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xmlns="" id="{74442754-4C1E-2384-71C3-CA25E9CC337B}"/>
                </a:ext>
              </a:extLst>
            </p:cNvPr>
            <p:cNvGrpSpPr/>
            <p:nvPr/>
          </p:nvGrpSpPr>
          <p:grpSpPr>
            <a:xfrm>
              <a:off x="2639928" y="2548270"/>
              <a:ext cx="397061" cy="308488"/>
              <a:chOff x="5132706" y="2641087"/>
              <a:chExt cx="397061" cy="308488"/>
            </a:xfrm>
          </p:grpSpPr>
          <p:sp>
            <p:nvSpPr>
              <p:cNvPr id="41" name="타원 40">
                <a:extLst>
                  <a:ext uri="{FF2B5EF4-FFF2-40B4-BE49-F238E27FC236}">
                    <a16:creationId xmlns:a16="http://schemas.microsoft.com/office/drawing/2014/main" xmlns="" id="{947E3C36-A980-C433-55C4-63227D574061}"/>
                  </a:ext>
                </a:extLst>
              </p:cNvPr>
              <p:cNvSpPr/>
              <p:nvPr/>
            </p:nvSpPr>
            <p:spPr>
              <a:xfrm>
                <a:off x="5224745" y="2641087"/>
                <a:ext cx="305022" cy="308488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noFill/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42" name="타원 41">
                <a:extLst>
                  <a:ext uri="{FF2B5EF4-FFF2-40B4-BE49-F238E27FC236}">
                    <a16:creationId xmlns:a16="http://schemas.microsoft.com/office/drawing/2014/main" xmlns="" id="{F4309624-51AD-9157-FEF1-CD0E2D6FD934}"/>
                  </a:ext>
                </a:extLst>
              </p:cNvPr>
              <p:cNvSpPr/>
              <p:nvPr/>
            </p:nvSpPr>
            <p:spPr>
              <a:xfrm>
                <a:off x="5132706" y="2743743"/>
                <a:ext cx="123825" cy="127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xmlns="" id="{C01470F4-7C64-8FF3-9F7F-B025E3722F6A}"/>
                </a:ext>
              </a:extLst>
            </p:cNvPr>
            <p:cNvSpPr/>
            <p:nvPr/>
          </p:nvSpPr>
          <p:spPr>
            <a:xfrm>
              <a:off x="2792328" y="2803326"/>
              <a:ext cx="123825" cy="127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xmlns="" id="{2C1581F3-5E3F-8523-E909-BE99C03ADC57}"/>
              </a:ext>
            </a:extLst>
          </p:cNvPr>
          <p:cNvGrpSpPr/>
          <p:nvPr/>
        </p:nvGrpSpPr>
        <p:grpSpPr>
          <a:xfrm rot="19166714">
            <a:off x="2563250" y="2653849"/>
            <a:ext cx="555838" cy="509068"/>
            <a:chOff x="2639928" y="2548270"/>
            <a:chExt cx="397061" cy="382056"/>
          </a:xfrm>
        </p:grpSpPr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xmlns="" id="{6CF10826-CBEE-CB73-BD4D-2BBB34F1C31D}"/>
                </a:ext>
              </a:extLst>
            </p:cNvPr>
            <p:cNvGrpSpPr/>
            <p:nvPr/>
          </p:nvGrpSpPr>
          <p:grpSpPr>
            <a:xfrm>
              <a:off x="2639928" y="2548270"/>
              <a:ext cx="397061" cy="308488"/>
              <a:chOff x="5132706" y="2641087"/>
              <a:chExt cx="397061" cy="308488"/>
            </a:xfrm>
          </p:grpSpPr>
          <p:sp>
            <p:nvSpPr>
              <p:cNvPr id="46" name="타원 45">
                <a:extLst>
                  <a:ext uri="{FF2B5EF4-FFF2-40B4-BE49-F238E27FC236}">
                    <a16:creationId xmlns:a16="http://schemas.microsoft.com/office/drawing/2014/main" xmlns="" id="{404AAEDD-7CF0-0E9D-525C-BF062C70EAD9}"/>
                  </a:ext>
                </a:extLst>
              </p:cNvPr>
              <p:cNvSpPr/>
              <p:nvPr/>
            </p:nvSpPr>
            <p:spPr>
              <a:xfrm>
                <a:off x="5224745" y="2641087"/>
                <a:ext cx="305022" cy="308488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noFill/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47" name="타원 46">
                <a:extLst>
                  <a:ext uri="{FF2B5EF4-FFF2-40B4-BE49-F238E27FC236}">
                    <a16:creationId xmlns:a16="http://schemas.microsoft.com/office/drawing/2014/main" xmlns="" id="{3D17393E-5764-D087-230A-ED27E764E011}"/>
                  </a:ext>
                </a:extLst>
              </p:cNvPr>
              <p:cNvSpPr/>
              <p:nvPr/>
            </p:nvSpPr>
            <p:spPr>
              <a:xfrm>
                <a:off x="5132706" y="2743743"/>
                <a:ext cx="123825" cy="127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xmlns="" id="{9FC61C47-1CEA-3B76-23D9-0C133FE917AA}"/>
                </a:ext>
              </a:extLst>
            </p:cNvPr>
            <p:cNvSpPr/>
            <p:nvPr/>
          </p:nvSpPr>
          <p:spPr>
            <a:xfrm>
              <a:off x="2792328" y="2803326"/>
              <a:ext cx="123825" cy="127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xmlns="" id="{E597B5FE-2A2D-B4A0-DC7D-159E8C7E35D2}"/>
              </a:ext>
            </a:extLst>
          </p:cNvPr>
          <p:cNvGrpSpPr/>
          <p:nvPr/>
        </p:nvGrpSpPr>
        <p:grpSpPr>
          <a:xfrm rot="18963629">
            <a:off x="1768084" y="2668893"/>
            <a:ext cx="555838" cy="509068"/>
            <a:chOff x="2639928" y="2548270"/>
            <a:chExt cx="397061" cy="382056"/>
          </a:xfrm>
        </p:grpSpPr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xmlns="" id="{37627312-AEB4-31DD-85E8-549455ED76A4}"/>
                </a:ext>
              </a:extLst>
            </p:cNvPr>
            <p:cNvGrpSpPr/>
            <p:nvPr/>
          </p:nvGrpSpPr>
          <p:grpSpPr>
            <a:xfrm>
              <a:off x="2639928" y="2548270"/>
              <a:ext cx="397061" cy="308488"/>
              <a:chOff x="5132706" y="2641087"/>
              <a:chExt cx="397061" cy="308488"/>
            </a:xfrm>
          </p:grpSpPr>
          <p:sp>
            <p:nvSpPr>
              <p:cNvPr id="51" name="타원 50">
                <a:extLst>
                  <a:ext uri="{FF2B5EF4-FFF2-40B4-BE49-F238E27FC236}">
                    <a16:creationId xmlns:a16="http://schemas.microsoft.com/office/drawing/2014/main" xmlns="" id="{E4F7029D-1330-90D9-06C5-64643B5F626F}"/>
                  </a:ext>
                </a:extLst>
              </p:cNvPr>
              <p:cNvSpPr/>
              <p:nvPr/>
            </p:nvSpPr>
            <p:spPr>
              <a:xfrm>
                <a:off x="5224745" y="2641087"/>
                <a:ext cx="305022" cy="308488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noFill/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52" name="타원 51">
                <a:extLst>
                  <a:ext uri="{FF2B5EF4-FFF2-40B4-BE49-F238E27FC236}">
                    <a16:creationId xmlns:a16="http://schemas.microsoft.com/office/drawing/2014/main" xmlns="" id="{02E94ADF-02AB-7A67-E8F3-1E3B0D4B50E7}"/>
                  </a:ext>
                </a:extLst>
              </p:cNvPr>
              <p:cNvSpPr/>
              <p:nvPr/>
            </p:nvSpPr>
            <p:spPr>
              <a:xfrm>
                <a:off x="5132706" y="2743743"/>
                <a:ext cx="123825" cy="127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xmlns="" id="{8D26F4C5-8006-DCA7-72A7-0BCB3E11DC31}"/>
                </a:ext>
              </a:extLst>
            </p:cNvPr>
            <p:cNvSpPr/>
            <p:nvPr/>
          </p:nvSpPr>
          <p:spPr>
            <a:xfrm>
              <a:off x="2792328" y="2803326"/>
              <a:ext cx="123825" cy="127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xmlns="" id="{9455A0DF-DDC8-4CD8-0ECD-C3459274C58B}"/>
              </a:ext>
            </a:extLst>
          </p:cNvPr>
          <p:cNvGrpSpPr/>
          <p:nvPr/>
        </p:nvGrpSpPr>
        <p:grpSpPr>
          <a:xfrm rot="19030669">
            <a:off x="964412" y="2656683"/>
            <a:ext cx="555838" cy="509068"/>
            <a:chOff x="2639928" y="2548270"/>
            <a:chExt cx="397061" cy="382056"/>
          </a:xfrm>
        </p:grpSpPr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xmlns="" id="{1AB5E128-BFBE-FF00-0EEC-A13A52936962}"/>
                </a:ext>
              </a:extLst>
            </p:cNvPr>
            <p:cNvGrpSpPr/>
            <p:nvPr/>
          </p:nvGrpSpPr>
          <p:grpSpPr>
            <a:xfrm>
              <a:off x="2639928" y="2548270"/>
              <a:ext cx="397061" cy="308488"/>
              <a:chOff x="5132706" y="2641087"/>
              <a:chExt cx="397061" cy="308488"/>
            </a:xfrm>
          </p:grpSpPr>
          <p:sp>
            <p:nvSpPr>
              <p:cNvPr id="56" name="타원 55">
                <a:extLst>
                  <a:ext uri="{FF2B5EF4-FFF2-40B4-BE49-F238E27FC236}">
                    <a16:creationId xmlns:a16="http://schemas.microsoft.com/office/drawing/2014/main" xmlns="" id="{5E0796CE-F80C-C496-E4AD-893692EF6ADA}"/>
                  </a:ext>
                </a:extLst>
              </p:cNvPr>
              <p:cNvSpPr/>
              <p:nvPr/>
            </p:nvSpPr>
            <p:spPr>
              <a:xfrm>
                <a:off x="5224745" y="2641087"/>
                <a:ext cx="305022" cy="308488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noFill/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57" name="타원 56">
                <a:extLst>
                  <a:ext uri="{FF2B5EF4-FFF2-40B4-BE49-F238E27FC236}">
                    <a16:creationId xmlns:a16="http://schemas.microsoft.com/office/drawing/2014/main" xmlns="" id="{FE6E4B72-AAE0-1D68-2B44-04316EAE7364}"/>
                  </a:ext>
                </a:extLst>
              </p:cNvPr>
              <p:cNvSpPr/>
              <p:nvPr/>
            </p:nvSpPr>
            <p:spPr>
              <a:xfrm>
                <a:off x="5132706" y="2743743"/>
                <a:ext cx="123825" cy="127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  <p:sp>
          <p:nvSpPr>
            <p:cNvPr id="55" name="타원 54">
              <a:extLst>
                <a:ext uri="{FF2B5EF4-FFF2-40B4-BE49-F238E27FC236}">
                  <a16:creationId xmlns:a16="http://schemas.microsoft.com/office/drawing/2014/main" xmlns="" id="{A095E9EE-9FE8-33C7-BCAF-E3EF80C2272A}"/>
                </a:ext>
              </a:extLst>
            </p:cNvPr>
            <p:cNvSpPr/>
            <p:nvPr/>
          </p:nvSpPr>
          <p:spPr>
            <a:xfrm>
              <a:off x="2792328" y="2803326"/>
              <a:ext cx="123825" cy="127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xmlns="" id="{AC63BD11-9103-381F-3434-7521C9E1E7B3}"/>
              </a:ext>
            </a:extLst>
          </p:cNvPr>
          <p:cNvCxnSpPr>
            <a:cxnSpLocks/>
          </p:cNvCxnSpPr>
          <p:nvPr/>
        </p:nvCxnSpPr>
        <p:spPr>
          <a:xfrm>
            <a:off x="2008726" y="3124222"/>
            <a:ext cx="75454" cy="29294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xmlns="" id="{A5EA9795-95F0-FEAB-CAAF-7F0A9EC2F9B0}"/>
              </a:ext>
            </a:extLst>
          </p:cNvPr>
          <p:cNvSpPr txBox="1"/>
          <p:nvPr/>
        </p:nvSpPr>
        <p:spPr>
          <a:xfrm>
            <a:off x="2269808" y="1780851"/>
            <a:ext cx="14558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H</a:t>
            </a:r>
            <a:r>
              <a:rPr lang="en-US" altLang="ko-KR" sz="2000" b="1" baseline="-25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O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의 흡착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xmlns="" id="{3794038C-FC4E-ABE4-4E3C-83E24DB49C0C}"/>
              </a:ext>
            </a:extLst>
          </p:cNvPr>
          <p:cNvSpPr/>
          <p:nvPr/>
        </p:nvSpPr>
        <p:spPr>
          <a:xfrm>
            <a:off x="12556629" y="5114568"/>
            <a:ext cx="3813070" cy="73257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Gate</a:t>
            </a:r>
            <a:endParaRPr lang="ko-KR" altLang="en-US" sz="20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xmlns="" id="{903E6400-5876-52FC-D01B-F0FB5716E049}"/>
              </a:ext>
            </a:extLst>
          </p:cNvPr>
          <p:cNvSpPr/>
          <p:nvPr/>
        </p:nvSpPr>
        <p:spPr>
          <a:xfrm>
            <a:off x="12554540" y="4540289"/>
            <a:ext cx="3810518" cy="55919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GI</a:t>
            </a:r>
            <a:endParaRPr lang="ko-KR" altLang="en-US" sz="20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xmlns="" id="{B572B53D-2ADF-097F-5691-128B90155654}"/>
              </a:ext>
            </a:extLst>
          </p:cNvPr>
          <p:cNvSpPr/>
          <p:nvPr/>
        </p:nvSpPr>
        <p:spPr>
          <a:xfrm>
            <a:off x="12554540" y="2979937"/>
            <a:ext cx="3813070" cy="155775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IGZO</a:t>
            </a:r>
            <a:endParaRPr lang="ko-KR" altLang="en-US" sz="20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xmlns="" id="{49E89434-37C1-8BE5-055D-5B7B326BCF71}"/>
              </a:ext>
            </a:extLst>
          </p:cNvPr>
          <p:cNvSpPr txBox="1"/>
          <p:nvPr/>
        </p:nvSpPr>
        <p:spPr>
          <a:xfrm>
            <a:off x="13969421" y="5917112"/>
            <a:ext cx="912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V</a:t>
            </a:r>
            <a:r>
              <a:rPr lang="en-US" altLang="ko-KR" b="1" baseline="-25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GS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&gt; 0</a:t>
            </a:r>
            <a:endParaRPr lang="ko-KR" altLang="en-US" sz="1800" b="1" baseline="-25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xmlns="" id="{275B8F33-27CD-9CCA-0900-5C4F93015C3C}"/>
              </a:ext>
            </a:extLst>
          </p:cNvPr>
          <p:cNvCxnSpPr>
            <a:cxnSpLocks/>
          </p:cNvCxnSpPr>
          <p:nvPr/>
        </p:nvCxnSpPr>
        <p:spPr>
          <a:xfrm flipV="1">
            <a:off x="15417312" y="1817074"/>
            <a:ext cx="564269" cy="16865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xmlns="" id="{88B0E704-968B-789E-8E1F-67D815EB041C}"/>
              </a:ext>
            </a:extLst>
          </p:cNvPr>
          <p:cNvSpPr txBox="1"/>
          <p:nvPr/>
        </p:nvSpPr>
        <p:spPr>
          <a:xfrm>
            <a:off x="13453852" y="2060263"/>
            <a:ext cx="8001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H</a:t>
            </a:r>
            <a:r>
              <a:rPr lang="en-US" altLang="ko-KR" b="1" baseline="-25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O</a:t>
            </a:r>
            <a:r>
              <a:rPr lang="en-US" altLang="ko-KR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+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xmlns="" id="{0E40115B-256A-4D81-ACDD-C313851EB199}"/>
              </a:ext>
            </a:extLst>
          </p:cNvPr>
          <p:cNvSpPr txBox="1"/>
          <p:nvPr/>
        </p:nvSpPr>
        <p:spPr>
          <a:xfrm>
            <a:off x="15244913" y="3310363"/>
            <a:ext cx="18213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Positive shift</a:t>
            </a:r>
            <a:endParaRPr lang="ko-KR" altLang="en-US" sz="2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xmlns="" id="{EA77C5B3-3CB2-EECF-98E5-A9FF4CD8884D}"/>
              </a:ext>
            </a:extLst>
          </p:cNvPr>
          <p:cNvGrpSpPr/>
          <p:nvPr/>
        </p:nvGrpSpPr>
        <p:grpSpPr>
          <a:xfrm>
            <a:off x="15819392" y="1415429"/>
            <a:ext cx="555838" cy="509068"/>
            <a:chOff x="2639928" y="2548270"/>
            <a:chExt cx="397061" cy="382056"/>
          </a:xfrm>
        </p:grpSpPr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xmlns="" id="{A4B02687-1857-A227-A995-4EFFD515D04B}"/>
                </a:ext>
              </a:extLst>
            </p:cNvPr>
            <p:cNvGrpSpPr/>
            <p:nvPr/>
          </p:nvGrpSpPr>
          <p:grpSpPr>
            <a:xfrm>
              <a:off x="2639928" y="2548270"/>
              <a:ext cx="397061" cy="308488"/>
              <a:chOff x="5132706" y="2641087"/>
              <a:chExt cx="397061" cy="308488"/>
            </a:xfrm>
          </p:grpSpPr>
          <p:sp>
            <p:nvSpPr>
              <p:cNvPr id="85" name="타원 84">
                <a:extLst>
                  <a:ext uri="{FF2B5EF4-FFF2-40B4-BE49-F238E27FC236}">
                    <a16:creationId xmlns:a16="http://schemas.microsoft.com/office/drawing/2014/main" xmlns="" id="{CA5BB821-ED5B-A550-1FEF-F32F821DAE44}"/>
                  </a:ext>
                </a:extLst>
              </p:cNvPr>
              <p:cNvSpPr/>
              <p:nvPr/>
            </p:nvSpPr>
            <p:spPr>
              <a:xfrm>
                <a:off x="5224745" y="2641087"/>
                <a:ext cx="305022" cy="308488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noFill/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86" name="타원 85">
                <a:extLst>
                  <a:ext uri="{FF2B5EF4-FFF2-40B4-BE49-F238E27FC236}">
                    <a16:creationId xmlns:a16="http://schemas.microsoft.com/office/drawing/2014/main" xmlns="" id="{1234FA8E-3008-FFA6-CCE0-679055C8B3CA}"/>
                  </a:ext>
                </a:extLst>
              </p:cNvPr>
              <p:cNvSpPr/>
              <p:nvPr/>
            </p:nvSpPr>
            <p:spPr>
              <a:xfrm>
                <a:off x="5132706" y="2743743"/>
                <a:ext cx="123825" cy="127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xmlns="" id="{C2DFC2F1-58BA-1E3C-81B1-409E6EB75473}"/>
                </a:ext>
              </a:extLst>
            </p:cNvPr>
            <p:cNvSpPr/>
            <p:nvPr/>
          </p:nvSpPr>
          <p:spPr>
            <a:xfrm>
              <a:off x="2792328" y="2803326"/>
              <a:ext cx="123825" cy="127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87" name="그룹 86">
            <a:extLst>
              <a:ext uri="{FF2B5EF4-FFF2-40B4-BE49-F238E27FC236}">
                <a16:creationId xmlns:a16="http://schemas.microsoft.com/office/drawing/2014/main" xmlns="" id="{DE276EF6-7EB5-6011-02FE-FA459090CB72}"/>
              </a:ext>
            </a:extLst>
          </p:cNvPr>
          <p:cNvGrpSpPr/>
          <p:nvPr/>
        </p:nvGrpSpPr>
        <p:grpSpPr>
          <a:xfrm rot="10038160">
            <a:off x="14508949" y="2413413"/>
            <a:ext cx="555838" cy="509068"/>
            <a:chOff x="2639928" y="2548270"/>
            <a:chExt cx="397061" cy="382056"/>
          </a:xfrm>
        </p:grpSpPr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xmlns="" id="{C7EDC1A8-A561-1C79-CB3A-9E1F59499F6B}"/>
                </a:ext>
              </a:extLst>
            </p:cNvPr>
            <p:cNvGrpSpPr/>
            <p:nvPr/>
          </p:nvGrpSpPr>
          <p:grpSpPr>
            <a:xfrm>
              <a:off x="2639928" y="2548270"/>
              <a:ext cx="397061" cy="308488"/>
              <a:chOff x="5132706" y="2641087"/>
              <a:chExt cx="397061" cy="308488"/>
            </a:xfrm>
          </p:grpSpPr>
          <p:sp>
            <p:nvSpPr>
              <p:cNvPr id="90" name="타원 89">
                <a:extLst>
                  <a:ext uri="{FF2B5EF4-FFF2-40B4-BE49-F238E27FC236}">
                    <a16:creationId xmlns:a16="http://schemas.microsoft.com/office/drawing/2014/main" xmlns="" id="{C7DA55FC-0B7D-E792-A1AC-8F212137508F}"/>
                  </a:ext>
                </a:extLst>
              </p:cNvPr>
              <p:cNvSpPr/>
              <p:nvPr/>
            </p:nvSpPr>
            <p:spPr>
              <a:xfrm>
                <a:off x="5224745" y="2641087"/>
                <a:ext cx="305022" cy="308488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noFill/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91" name="타원 90">
                <a:extLst>
                  <a:ext uri="{FF2B5EF4-FFF2-40B4-BE49-F238E27FC236}">
                    <a16:creationId xmlns:a16="http://schemas.microsoft.com/office/drawing/2014/main" xmlns="" id="{6F34990C-D123-9B5F-21DE-7C5937FFC81F}"/>
                  </a:ext>
                </a:extLst>
              </p:cNvPr>
              <p:cNvSpPr/>
              <p:nvPr/>
            </p:nvSpPr>
            <p:spPr>
              <a:xfrm>
                <a:off x="5132706" y="2743743"/>
                <a:ext cx="123825" cy="127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  <p:sp>
          <p:nvSpPr>
            <p:cNvPr id="89" name="타원 88">
              <a:extLst>
                <a:ext uri="{FF2B5EF4-FFF2-40B4-BE49-F238E27FC236}">
                  <a16:creationId xmlns:a16="http://schemas.microsoft.com/office/drawing/2014/main" xmlns="" id="{BF7FC8D9-A660-E29C-A668-031C5EE5CB7A}"/>
                </a:ext>
              </a:extLst>
            </p:cNvPr>
            <p:cNvSpPr/>
            <p:nvPr/>
          </p:nvSpPr>
          <p:spPr>
            <a:xfrm>
              <a:off x="2792328" y="2803326"/>
              <a:ext cx="123825" cy="127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92" name="그룹 91">
            <a:extLst>
              <a:ext uri="{FF2B5EF4-FFF2-40B4-BE49-F238E27FC236}">
                <a16:creationId xmlns:a16="http://schemas.microsoft.com/office/drawing/2014/main" xmlns="" id="{F7F0267E-55D9-5DE8-72DA-38F45AF7DC41}"/>
              </a:ext>
            </a:extLst>
          </p:cNvPr>
          <p:cNvGrpSpPr/>
          <p:nvPr/>
        </p:nvGrpSpPr>
        <p:grpSpPr>
          <a:xfrm rot="9291262">
            <a:off x="13712518" y="2462362"/>
            <a:ext cx="555838" cy="509068"/>
            <a:chOff x="2639928" y="2548270"/>
            <a:chExt cx="397061" cy="382056"/>
          </a:xfrm>
        </p:grpSpPr>
        <p:grpSp>
          <p:nvGrpSpPr>
            <p:cNvPr id="93" name="그룹 92">
              <a:extLst>
                <a:ext uri="{FF2B5EF4-FFF2-40B4-BE49-F238E27FC236}">
                  <a16:creationId xmlns:a16="http://schemas.microsoft.com/office/drawing/2014/main" xmlns="" id="{1BB2862C-2B6C-D2C6-B757-16745FB56877}"/>
                </a:ext>
              </a:extLst>
            </p:cNvPr>
            <p:cNvGrpSpPr/>
            <p:nvPr/>
          </p:nvGrpSpPr>
          <p:grpSpPr>
            <a:xfrm>
              <a:off x="2639928" y="2548270"/>
              <a:ext cx="397061" cy="308488"/>
              <a:chOff x="5132706" y="2641087"/>
              <a:chExt cx="397061" cy="308488"/>
            </a:xfrm>
          </p:grpSpPr>
          <p:sp>
            <p:nvSpPr>
              <p:cNvPr id="95" name="타원 94">
                <a:extLst>
                  <a:ext uri="{FF2B5EF4-FFF2-40B4-BE49-F238E27FC236}">
                    <a16:creationId xmlns:a16="http://schemas.microsoft.com/office/drawing/2014/main" xmlns="" id="{849E48F9-C275-FCC5-56D8-B1B6D8284D4D}"/>
                  </a:ext>
                </a:extLst>
              </p:cNvPr>
              <p:cNvSpPr/>
              <p:nvPr/>
            </p:nvSpPr>
            <p:spPr>
              <a:xfrm>
                <a:off x="5224745" y="2641087"/>
                <a:ext cx="305022" cy="308488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noFill/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xmlns="" id="{96512A35-1564-39F8-9C87-86B4A13CE782}"/>
                  </a:ext>
                </a:extLst>
              </p:cNvPr>
              <p:cNvSpPr/>
              <p:nvPr/>
            </p:nvSpPr>
            <p:spPr>
              <a:xfrm>
                <a:off x="5132706" y="2743743"/>
                <a:ext cx="123825" cy="127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  <p:sp>
          <p:nvSpPr>
            <p:cNvPr id="94" name="타원 93">
              <a:extLst>
                <a:ext uri="{FF2B5EF4-FFF2-40B4-BE49-F238E27FC236}">
                  <a16:creationId xmlns:a16="http://schemas.microsoft.com/office/drawing/2014/main" xmlns="" id="{910C2AC3-53DC-1288-8B6F-35FB226DD72B}"/>
                </a:ext>
              </a:extLst>
            </p:cNvPr>
            <p:cNvSpPr/>
            <p:nvPr/>
          </p:nvSpPr>
          <p:spPr>
            <a:xfrm>
              <a:off x="2792328" y="2803326"/>
              <a:ext cx="123825" cy="127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97" name="그룹 96">
            <a:extLst>
              <a:ext uri="{FF2B5EF4-FFF2-40B4-BE49-F238E27FC236}">
                <a16:creationId xmlns:a16="http://schemas.microsoft.com/office/drawing/2014/main" xmlns="" id="{51D3F488-5BEE-31FE-7F11-D1ECED89BE46}"/>
              </a:ext>
            </a:extLst>
          </p:cNvPr>
          <p:cNvGrpSpPr/>
          <p:nvPr/>
        </p:nvGrpSpPr>
        <p:grpSpPr>
          <a:xfrm rot="8713054">
            <a:off x="12891157" y="2463497"/>
            <a:ext cx="555838" cy="509068"/>
            <a:chOff x="2639928" y="2548270"/>
            <a:chExt cx="397061" cy="382056"/>
          </a:xfrm>
        </p:grpSpPr>
        <p:grpSp>
          <p:nvGrpSpPr>
            <p:cNvPr id="98" name="그룹 97">
              <a:extLst>
                <a:ext uri="{FF2B5EF4-FFF2-40B4-BE49-F238E27FC236}">
                  <a16:creationId xmlns:a16="http://schemas.microsoft.com/office/drawing/2014/main" xmlns="" id="{C2E202F4-3127-D69D-A428-C5F9F2629DEE}"/>
                </a:ext>
              </a:extLst>
            </p:cNvPr>
            <p:cNvGrpSpPr/>
            <p:nvPr/>
          </p:nvGrpSpPr>
          <p:grpSpPr>
            <a:xfrm>
              <a:off x="2639928" y="2548270"/>
              <a:ext cx="397061" cy="308488"/>
              <a:chOff x="5132706" y="2641087"/>
              <a:chExt cx="397061" cy="308488"/>
            </a:xfrm>
          </p:grpSpPr>
          <p:sp>
            <p:nvSpPr>
              <p:cNvPr id="100" name="타원 99">
                <a:extLst>
                  <a:ext uri="{FF2B5EF4-FFF2-40B4-BE49-F238E27FC236}">
                    <a16:creationId xmlns:a16="http://schemas.microsoft.com/office/drawing/2014/main" xmlns="" id="{CA9E0CBA-7B38-69DA-B92C-8C0191216388}"/>
                  </a:ext>
                </a:extLst>
              </p:cNvPr>
              <p:cNvSpPr/>
              <p:nvPr/>
            </p:nvSpPr>
            <p:spPr>
              <a:xfrm>
                <a:off x="5224745" y="2641087"/>
                <a:ext cx="305022" cy="308488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noFill/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101" name="타원 100">
                <a:extLst>
                  <a:ext uri="{FF2B5EF4-FFF2-40B4-BE49-F238E27FC236}">
                    <a16:creationId xmlns:a16="http://schemas.microsoft.com/office/drawing/2014/main" xmlns="" id="{487B9EF0-83A3-2D26-8125-8B6E9946CAC9}"/>
                  </a:ext>
                </a:extLst>
              </p:cNvPr>
              <p:cNvSpPr/>
              <p:nvPr/>
            </p:nvSpPr>
            <p:spPr>
              <a:xfrm>
                <a:off x="5132706" y="2743743"/>
                <a:ext cx="123825" cy="127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  <p:sp>
          <p:nvSpPr>
            <p:cNvPr id="99" name="타원 98">
              <a:extLst>
                <a:ext uri="{FF2B5EF4-FFF2-40B4-BE49-F238E27FC236}">
                  <a16:creationId xmlns:a16="http://schemas.microsoft.com/office/drawing/2014/main" xmlns="" id="{93DA4F5F-A106-51A5-4ED2-FB06022AE398}"/>
                </a:ext>
              </a:extLst>
            </p:cNvPr>
            <p:cNvSpPr/>
            <p:nvPr/>
          </p:nvSpPr>
          <p:spPr>
            <a:xfrm>
              <a:off x="2792328" y="2803326"/>
              <a:ext cx="123825" cy="127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103" name="TextBox 102">
            <a:extLst>
              <a:ext uri="{FF2B5EF4-FFF2-40B4-BE49-F238E27FC236}">
                <a16:creationId xmlns:a16="http://schemas.microsoft.com/office/drawing/2014/main" xmlns="" id="{4DE18279-5EC2-9ACB-9B7F-E7E1694E674D}"/>
              </a:ext>
            </a:extLst>
          </p:cNvPr>
          <p:cNvSpPr txBox="1"/>
          <p:nvPr/>
        </p:nvSpPr>
        <p:spPr>
          <a:xfrm>
            <a:off x="14212297" y="1654424"/>
            <a:ext cx="14558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H</a:t>
            </a:r>
            <a:r>
              <a:rPr lang="en-US" altLang="ko-KR" sz="2000" b="1" baseline="-25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O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의 탈착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xmlns="" id="{6DECECD1-3F14-1AA9-80E5-94359BE6824F}"/>
              </a:ext>
            </a:extLst>
          </p:cNvPr>
          <p:cNvSpPr txBox="1"/>
          <p:nvPr/>
        </p:nvSpPr>
        <p:spPr>
          <a:xfrm>
            <a:off x="13063344" y="3240627"/>
            <a:ext cx="53621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7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7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7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106" name="직선 화살표 연결선 105">
            <a:extLst>
              <a:ext uri="{FF2B5EF4-FFF2-40B4-BE49-F238E27FC236}">
                <a16:creationId xmlns:a16="http://schemas.microsoft.com/office/drawing/2014/main" xmlns="" id="{CBB27F91-C3AB-206B-30C1-18AD7E64FCD4}"/>
              </a:ext>
            </a:extLst>
          </p:cNvPr>
          <p:cNvCxnSpPr>
            <a:cxnSpLocks/>
          </p:cNvCxnSpPr>
          <p:nvPr/>
        </p:nvCxnSpPr>
        <p:spPr>
          <a:xfrm>
            <a:off x="13178350" y="3054678"/>
            <a:ext cx="75454" cy="29294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xmlns="" id="{F2D5C561-6B4F-E8F5-6AE0-D30425DFE753}"/>
              </a:ext>
            </a:extLst>
          </p:cNvPr>
          <p:cNvCxnSpPr/>
          <p:nvPr/>
        </p:nvCxnSpPr>
        <p:spPr>
          <a:xfrm>
            <a:off x="13062676" y="3034146"/>
            <a:ext cx="229305" cy="26075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xmlns="" id="{E58E984D-155E-A6D9-4A0E-75C97C675CD7}"/>
              </a:ext>
            </a:extLst>
          </p:cNvPr>
          <p:cNvCxnSpPr>
            <a:cxnSpLocks/>
          </p:cNvCxnSpPr>
          <p:nvPr/>
        </p:nvCxnSpPr>
        <p:spPr>
          <a:xfrm flipH="1">
            <a:off x="13096208" y="3025016"/>
            <a:ext cx="152400" cy="28691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xmlns="" id="{16D67379-B6C1-BD91-93C5-BCF4F6839759}"/>
              </a:ext>
            </a:extLst>
          </p:cNvPr>
          <p:cNvSpPr txBox="1"/>
          <p:nvPr/>
        </p:nvSpPr>
        <p:spPr>
          <a:xfrm>
            <a:off x="12573493" y="4192729"/>
            <a:ext cx="5362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5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xmlns="" id="{D67555B6-C14C-2537-AE45-717B40C5E213}"/>
              </a:ext>
            </a:extLst>
          </p:cNvPr>
          <p:cNvSpPr txBox="1"/>
          <p:nvPr/>
        </p:nvSpPr>
        <p:spPr>
          <a:xfrm>
            <a:off x="12918589" y="4209914"/>
            <a:ext cx="5362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5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xmlns="" id="{D9EA03F3-CDB1-BEB4-794F-30189C45645F}"/>
              </a:ext>
            </a:extLst>
          </p:cNvPr>
          <p:cNvSpPr txBox="1"/>
          <p:nvPr/>
        </p:nvSpPr>
        <p:spPr>
          <a:xfrm>
            <a:off x="13263683" y="4193487"/>
            <a:ext cx="5362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5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xmlns="" id="{9F19D211-3354-E6F6-EE07-C5859FC75606}"/>
              </a:ext>
            </a:extLst>
          </p:cNvPr>
          <p:cNvSpPr txBox="1"/>
          <p:nvPr/>
        </p:nvSpPr>
        <p:spPr>
          <a:xfrm>
            <a:off x="13598718" y="4201921"/>
            <a:ext cx="5362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5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xmlns="" id="{42D681A9-A34E-EFC1-4554-823B6BAA7BA0}"/>
              </a:ext>
            </a:extLst>
          </p:cNvPr>
          <p:cNvSpPr txBox="1"/>
          <p:nvPr/>
        </p:nvSpPr>
        <p:spPr>
          <a:xfrm>
            <a:off x="13933752" y="4192729"/>
            <a:ext cx="5362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5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xmlns="" id="{A20045C0-93C9-3CE8-2EEA-DCE11A297ADD}"/>
              </a:ext>
            </a:extLst>
          </p:cNvPr>
          <p:cNvSpPr txBox="1"/>
          <p:nvPr/>
        </p:nvSpPr>
        <p:spPr>
          <a:xfrm>
            <a:off x="14224159" y="4192729"/>
            <a:ext cx="5362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5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xmlns="" id="{78FE5DC7-8C4F-0021-D355-E2905BF8193C}"/>
              </a:ext>
            </a:extLst>
          </p:cNvPr>
          <p:cNvSpPr txBox="1"/>
          <p:nvPr/>
        </p:nvSpPr>
        <p:spPr>
          <a:xfrm>
            <a:off x="14536892" y="4192729"/>
            <a:ext cx="5362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5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xmlns="" id="{B800B763-4382-99CA-39D7-96947A98003C}"/>
              </a:ext>
            </a:extLst>
          </p:cNvPr>
          <p:cNvSpPr txBox="1"/>
          <p:nvPr/>
        </p:nvSpPr>
        <p:spPr>
          <a:xfrm>
            <a:off x="14851961" y="4180992"/>
            <a:ext cx="5362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5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xmlns="" id="{9B724423-6721-C212-5014-38342DED879F}"/>
              </a:ext>
            </a:extLst>
          </p:cNvPr>
          <p:cNvSpPr txBox="1"/>
          <p:nvPr/>
        </p:nvSpPr>
        <p:spPr>
          <a:xfrm>
            <a:off x="15158635" y="4192729"/>
            <a:ext cx="5362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5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xmlns="" id="{D7663F7B-18F7-3C4C-D67A-334C6068694D}"/>
              </a:ext>
            </a:extLst>
          </p:cNvPr>
          <p:cNvSpPr txBox="1"/>
          <p:nvPr/>
        </p:nvSpPr>
        <p:spPr>
          <a:xfrm>
            <a:off x="15452428" y="4219266"/>
            <a:ext cx="5362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5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xmlns="" id="{D7195C28-7497-E9B8-F48F-12533360DDE0}"/>
              </a:ext>
            </a:extLst>
          </p:cNvPr>
          <p:cNvSpPr txBox="1"/>
          <p:nvPr/>
        </p:nvSpPr>
        <p:spPr>
          <a:xfrm>
            <a:off x="15716026" y="4209910"/>
            <a:ext cx="5362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5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xmlns="" id="{D2677942-7674-0A54-4C72-D16381F3B309}"/>
              </a:ext>
            </a:extLst>
          </p:cNvPr>
          <p:cNvSpPr txBox="1"/>
          <p:nvPr/>
        </p:nvSpPr>
        <p:spPr>
          <a:xfrm>
            <a:off x="15977561" y="4209910"/>
            <a:ext cx="5362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5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xmlns="" id="{560E2C80-D6B7-AEBF-8FC6-1ADA2C79A93B}"/>
              </a:ext>
            </a:extLst>
          </p:cNvPr>
          <p:cNvSpPr txBox="1"/>
          <p:nvPr/>
        </p:nvSpPr>
        <p:spPr>
          <a:xfrm>
            <a:off x="660893" y="3913329"/>
            <a:ext cx="5362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5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xmlns="" id="{A96D62CF-4C6F-ACF2-1606-EDBFE17AE582}"/>
              </a:ext>
            </a:extLst>
          </p:cNvPr>
          <p:cNvSpPr txBox="1"/>
          <p:nvPr/>
        </p:nvSpPr>
        <p:spPr>
          <a:xfrm>
            <a:off x="1005989" y="3930514"/>
            <a:ext cx="5362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5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xmlns="" id="{C5C68896-F78B-6843-BA47-C23BF9070BDD}"/>
              </a:ext>
            </a:extLst>
          </p:cNvPr>
          <p:cNvSpPr txBox="1"/>
          <p:nvPr/>
        </p:nvSpPr>
        <p:spPr>
          <a:xfrm>
            <a:off x="1351083" y="3914087"/>
            <a:ext cx="5362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5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xmlns="" id="{61719DA4-5D15-07D9-C881-A8A8A185AF12}"/>
              </a:ext>
            </a:extLst>
          </p:cNvPr>
          <p:cNvSpPr txBox="1"/>
          <p:nvPr/>
        </p:nvSpPr>
        <p:spPr>
          <a:xfrm>
            <a:off x="1686118" y="3922521"/>
            <a:ext cx="5362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5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xmlns="" id="{5B714EA8-C948-7B49-9952-4699F62272F6}"/>
              </a:ext>
            </a:extLst>
          </p:cNvPr>
          <p:cNvSpPr txBox="1"/>
          <p:nvPr/>
        </p:nvSpPr>
        <p:spPr>
          <a:xfrm>
            <a:off x="2021152" y="3913329"/>
            <a:ext cx="5362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5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xmlns="" id="{94EC0DE3-4789-38BE-26C7-084FFBFBFEEE}"/>
              </a:ext>
            </a:extLst>
          </p:cNvPr>
          <p:cNvSpPr txBox="1"/>
          <p:nvPr/>
        </p:nvSpPr>
        <p:spPr>
          <a:xfrm>
            <a:off x="2311559" y="3913329"/>
            <a:ext cx="5362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5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xmlns="" id="{A6D82786-6BFC-9B74-D39F-DB1657D619DC}"/>
              </a:ext>
            </a:extLst>
          </p:cNvPr>
          <p:cNvSpPr txBox="1"/>
          <p:nvPr/>
        </p:nvSpPr>
        <p:spPr>
          <a:xfrm>
            <a:off x="2624292" y="3913329"/>
            <a:ext cx="5362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5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xmlns="" id="{AA1F0DB0-32EB-F976-8087-08C522D73A75}"/>
              </a:ext>
            </a:extLst>
          </p:cNvPr>
          <p:cNvSpPr txBox="1"/>
          <p:nvPr/>
        </p:nvSpPr>
        <p:spPr>
          <a:xfrm>
            <a:off x="2939361" y="3901592"/>
            <a:ext cx="5362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5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xmlns="" id="{98D7F2AC-101B-D74E-45D1-D7781085C735}"/>
              </a:ext>
            </a:extLst>
          </p:cNvPr>
          <p:cNvSpPr txBox="1"/>
          <p:nvPr/>
        </p:nvSpPr>
        <p:spPr>
          <a:xfrm>
            <a:off x="3246035" y="3913329"/>
            <a:ext cx="5362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5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xmlns="" id="{C5C3D671-2336-9F5A-7F8C-908FCA6AF77A}"/>
              </a:ext>
            </a:extLst>
          </p:cNvPr>
          <p:cNvSpPr txBox="1"/>
          <p:nvPr/>
        </p:nvSpPr>
        <p:spPr>
          <a:xfrm>
            <a:off x="3539828" y="3939866"/>
            <a:ext cx="5362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5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xmlns="" id="{96AAFE82-3A9F-9247-BB76-E002CB85F7DE}"/>
              </a:ext>
            </a:extLst>
          </p:cNvPr>
          <p:cNvSpPr txBox="1"/>
          <p:nvPr/>
        </p:nvSpPr>
        <p:spPr>
          <a:xfrm>
            <a:off x="3803426" y="3930510"/>
            <a:ext cx="5362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5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xmlns="" id="{C6C39EF2-8DA8-2D53-EAEA-FB9DD3BF9151}"/>
              </a:ext>
            </a:extLst>
          </p:cNvPr>
          <p:cNvSpPr txBox="1"/>
          <p:nvPr/>
        </p:nvSpPr>
        <p:spPr>
          <a:xfrm>
            <a:off x="4064961" y="3930510"/>
            <a:ext cx="5362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5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136" name="직선 화살표 연결선 135">
            <a:extLst>
              <a:ext uri="{FF2B5EF4-FFF2-40B4-BE49-F238E27FC236}">
                <a16:creationId xmlns:a16="http://schemas.microsoft.com/office/drawing/2014/main" xmlns="" id="{5A1AD01D-F158-3785-A996-5510353F63D5}"/>
              </a:ext>
            </a:extLst>
          </p:cNvPr>
          <p:cNvCxnSpPr>
            <a:cxnSpLocks/>
          </p:cNvCxnSpPr>
          <p:nvPr/>
        </p:nvCxnSpPr>
        <p:spPr>
          <a:xfrm flipV="1">
            <a:off x="893096" y="4201921"/>
            <a:ext cx="0" cy="39313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직선 화살표 연결선 137">
            <a:extLst>
              <a:ext uri="{FF2B5EF4-FFF2-40B4-BE49-F238E27FC236}">
                <a16:creationId xmlns:a16="http://schemas.microsoft.com/office/drawing/2014/main" xmlns="" id="{D9AB465C-DBC4-36A3-14F1-A9E77E5D6C1E}"/>
              </a:ext>
            </a:extLst>
          </p:cNvPr>
          <p:cNvCxnSpPr>
            <a:cxnSpLocks/>
          </p:cNvCxnSpPr>
          <p:nvPr/>
        </p:nvCxnSpPr>
        <p:spPr>
          <a:xfrm flipV="1">
            <a:off x="1350296" y="4214621"/>
            <a:ext cx="0" cy="39313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직선 화살표 연결선 138">
            <a:extLst>
              <a:ext uri="{FF2B5EF4-FFF2-40B4-BE49-F238E27FC236}">
                <a16:creationId xmlns:a16="http://schemas.microsoft.com/office/drawing/2014/main" xmlns="" id="{FFBE2E12-2530-2B72-6AA0-DB6F398D05B1}"/>
              </a:ext>
            </a:extLst>
          </p:cNvPr>
          <p:cNvCxnSpPr>
            <a:cxnSpLocks/>
          </p:cNvCxnSpPr>
          <p:nvPr/>
        </p:nvCxnSpPr>
        <p:spPr>
          <a:xfrm flipV="1">
            <a:off x="1782096" y="4214621"/>
            <a:ext cx="0" cy="39313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직선 화살표 연결선 139">
            <a:extLst>
              <a:ext uri="{FF2B5EF4-FFF2-40B4-BE49-F238E27FC236}">
                <a16:creationId xmlns:a16="http://schemas.microsoft.com/office/drawing/2014/main" xmlns="" id="{A030AA31-1B00-E38B-4E3A-9C44E248B2A5}"/>
              </a:ext>
            </a:extLst>
          </p:cNvPr>
          <p:cNvCxnSpPr>
            <a:cxnSpLocks/>
          </p:cNvCxnSpPr>
          <p:nvPr/>
        </p:nvCxnSpPr>
        <p:spPr>
          <a:xfrm flipV="1">
            <a:off x="2264696" y="4214621"/>
            <a:ext cx="0" cy="39313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직선 화살표 연결선 140">
            <a:extLst>
              <a:ext uri="{FF2B5EF4-FFF2-40B4-BE49-F238E27FC236}">
                <a16:creationId xmlns:a16="http://schemas.microsoft.com/office/drawing/2014/main" xmlns="" id="{F582D7A9-D6A1-C04C-48F9-9780475F487D}"/>
              </a:ext>
            </a:extLst>
          </p:cNvPr>
          <p:cNvCxnSpPr>
            <a:cxnSpLocks/>
          </p:cNvCxnSpPr>
          <p:nvPr/>
        </p:nvCxnSpPr>
        <p:spPr>
          <a:xfrm flipV="1">
            <a:off x="2772696" y="4227321"/>
            <a:ext cx="0" cy="39313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직선 화살표 연결선 141">
            <a:extLst>
              <a:ext uri="{FF2B5EF4-FFF2-40B4-BE49-F238E27FC236}">
                <a16:creationId xmlns:a16="http://schemas.microsoft.com/office/drawing/2014/main" xmlns="" id="{6EC51702-AAF6-BAA3-B335-1929AA5FD757}"/>
              </a:ext>
            </a:extLst>
          </p:cNvPr>
          <p:cNvCxnSpPr>
            <a:cxnSpLocks/>
          </p:cNvCxnSpPr>
          <p:nvPr/>
        </p:nvCxnSpPr>
        <p:spPr>
          <a:xfrm flipV="1">
            <a:off x="3255296" y="4201921"/>
            <a:ext cx="0" cy="39313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직선 화살표 연결선 142">
            <a:extLst>
              <a:ext uri="{FF2B5EF4-FFF2-40B4-BE49-F238E27FC236}">
                <a16:creationId xmlns:a16="http://schemas.microsoft.com/office/drawing/2014/main" xmlns="" id="{05A11EF2-6BD7-5F7D-7C56-8B4EBF998A83}"/>
              </a:ext>
            </a:extLst>
          </p:cNvPr>
          <p:cNvCxnSpPr>
            <a:cxnSpLocks/>
          </p:cNvCxnSpPr>
          <p:nvPr/>
        </p:nvCxnSpPr>
        <p:spPr>
          <a:xfrm flipH="1">
            <a:off x="12942714" y="3710473"/>
            <a:ext cx="33949" cy="48416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직선 화살표 연결선 145">
            <a:extLst>
              <a:ext uri="{FF2B5EF4-FFF2-40B4-BE49-F238E27FC236}">
                <a16:creationId xmlns:a16="http://schemas.microsoft.com/office/drawing/2014/main" xmlns="" id="{DD19CE29-18CD-32EF-A29F-BBCF2FB6E8C7}"/>
              </a:ext>
            </a:extLst>
          </p:cNvPr>
          <p:cNvCxnSpPr>
            <a:cxnSpLocks/>
          </p:cNvCxnSpPr>
          <p:nvPr/>
        </p:nvCxnSpPr>
        <p:spPr>
          <a:xfrm flipH="1">
            <a:off x="13438014" y="3685073"/>
            <a:ext cx="33949" cy="48416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직선 화살표 연결선 146">
            <a:extLst>
              <a:ext uri="{FF2B5EF4-FFF2-40B4-BE49-F238E27FC236}">
                <a16:creationId xmlns:a16="http://schemas.microsoft.com/office/drawing/2014/main" xmlns="" id="{6B36BE18-7EE4-6AD0-8C33-354FE9663C68}"/>
              </a:ext>
            </a:extLst>
          </p:cNvPr>
          <p:cNvCxnSpPr>
            <a:cxnSpLocks/>
          </p:cNvCxnSpPr>
          <p:nvPr/>
        </p:nvCxnSpPr>
        <p:spPr>
          <a:xfrm flipH="1">
            <a:off x="13933314" y="3685073"/>
            <a:ext cx="33949" cy="48416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직선 화살표 연결선 147">
            <a:extLst>
              <a:ext uri="{FF2B5EF4-FFF2-40B4-BE49-F238E27FC236}">
                <a16:creationId xmlns:a16="http://schemas.microsoft.com/office/drawing/2014/main" xmlns="" id="{FF8E3E81-C444-93F1-2E96-34BAFD537329}"/>
              </a:ext>
            </a:extLst>
          </p:cNvPr>
          <p:cNvCxnSpPr>
            <a:cxnSpLocks/>
          </p:cNvCxnSpPr>
          <p:nvPr/>
        </p:nvCxnSpPr>
        <p:spPr>
          <a:xfrm flipH="1">
            <a:off x="15114414" y="3735873"/>
            <a:ext cx="33949" cy="48416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직선 화살표 연결선 148">
            <a:extLst>
              <a:ext uri="{FF2B5EF4-FFF2-40B4-BE49-F238E27FC236}">
                <a16:creationId xmlns:a16="http://schemas.microsoft.com/office/drawing/2014/main" xmlns="" id="{7F838BFC-99DA-A3ED-F31D-0154FECB7B56}"/>
              </a:ext>
            </a:extLst>
          </p:cNvPr>
          <p:cNvCxnSpPr>
            <a:cxnSpLocks/>
          </p:cNvCxnSpPr>
          <p:nvPr/>
        </p:nvCxnSpPr>
        <p:spPr>
          <a:xfrm flipH="1">
            <a:off x="15546214" y="3735873"/>
            <a:ext cx="33949" cy="48416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xmlns="" id="{AF5C915D-BEB1-9219-ACAE-4697728D7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E1704-955B-45E9-8CC7-423CE1421702}" type="slidenum">
              <a:rPr lang="ko-KR" altLang="en-US" smtClean="0"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970439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B985E981-BA4A-610E-DC0C-210C6B7429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29"/>
          <a:stretch/>
        </p:blipFill>
        <p:spPr>
          <a:xfrm>
            <a:off x="4881387" y="2359265"/>
            <a:ext cx="2981091" cy="1522097"/>
          </a:xfrm>
          <a:prstGeom prst="rect">
            <a:avLst/>
          </a:prstGeom>
        </p:spPr>
      </p:pic>
      <p:pic>
        <p:nvPicPr>
          <p:cNvPr id="3" name="Picture 14">
            <a:extLst>
              <a:ext uri="{FF2B5EF4-FFF2-40B4-BE49-F238E27FC236}">
                <a16:creationId xmlns:a16="http://schemas.microsoft.com/office/drawing/2014/main" xmlns="" id="{846360D3-DD84-9F4B-6002-2D8F559B00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140"/>
          <a:stretch/>
        </p:blipFill>
        <p:spPr bwMode="auto">
          <a:xfrm>
            <a:off x="5274631" y="4203858"/>
            <a:ext cx="2116163" cy="1726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AEF5283-9E2C-D3C3-95B6-26C2CE72EB10}"/>
              </a:ext>
            </a:extLst>
          </p:cNvPr>
          <p:cNvSpPr txBox="1"/>
          <p:nvPr/>
        </p:nvSpPr>
        <p:spPr>
          <a:xfrm>
            <a:off x="4793584" y="5873697"/>
            <a:ext cx="25972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200" i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materials 2010,3,2643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xmlns="" id="{76BB1B15-21AC-E454-D3B2-E0AF5153886A}"/>
              </a:ext>
            </a:extLst>
          </p:cNvPr>
          <p:cNvSpPr/>
          <p:nvPr/>
        </p:nvSpPr>
        <p:spPr>
          <a:xfrm>
            <a:off x="6473824" y="4224369"/>
            <a:ext cx="539144" cy="26726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xmlns="" id="{A53B88F2-1ACD-E131-F8AF-9E8BD7A15E4F}"/>
              </a:ext>
            </a:extLst>
          </p:cNvPr>
          <p:cNvSpPr/>
          <p:nvPr/>
        </p:nvSpPr>
        <p:spPr>
          <a:xfrm>
            <a:off x="6473824" y="5168689"/>
            <a:ext cx="472469" cy="27699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xmlns="" id="{4EC44669-E59B-E5AF-9368-D9B8263CB62B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6544656" y="4436038"/>
            <a:ext cx="165403" cy="73265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그림 24">
            <a:extLst>
              <a:ext uri="{FF2B5EF4-FFF2-40B4-BE49-F238E27FC236}">
                <a16:creationId xmlns:a16="http://schemas.microsoft.com/office/drawing/2014/main" xmlns="" id="{A4286A13-E27F-1A68-9EA0-0FBC3D4CD7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0785" y="2905162"/>
            <a:ext cx="1669916" cy="229402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96F0F421-9B4F-0832-24DE-3A45CF572CD9}"/>
              </a:ext>
            </a:extLst>
          </p:cNvPr>
          <p:cNvSpPr txBox="1"/>
          <p:nvPr/>
        </p:nvSpPr>
        <p:spPr>
          <a:xfrm>
            <a:off x="9283174" y="5199890"/>
            <a:ext cx="26244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200" i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Phys. Rev. Mater. 2019, 3, 074604</a:t>
            </a:r>
            <a:endParaRPr lang="ko-KR" altLang="en-US" sz="1200" i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제목 1">
            <a:extLst>
              <a:ext uri="{FF2B5EF4-FFF2-40B4-BE49-F238E27FC236}">
                <a16:creationId xmlns:a16="http://schemas.microsoft.com/office/drawing/2014/main" xmlns="" id="{C276A766-1C96-1AC2-CD5F-F0F60588D3EA}"/>
              </a:ext>
            </a:extLst>
          </p:cNvPr>
          <p:cNvSpPr txBox="1">
            <a:spLocks/>
          </p:cNvSpPr>
          <p:nvPr/>
        </p:nvSpPr>
        <p:spPr>
          <a:xfrm>
            <a:off x="133633" y="328611"/>
            <a:ext cx="10182225" cy="826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PBS</a:t>
            </a:r>
            <a:r>
              <a:rPr lang="en-US" altLang="ko-KR" sz="4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Mechanisms [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Intrinsic]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xmlns="" id="{AD3E42C2-E0B7-18B8-C9CA-06A93FA6D511}"/>
              </a:ext>
            </a:extLst>
          </p:cNvPr>
          <p:cNvSpPr/>
          <p:nvPr/>
        </p:nvSpPr>
        <p:spPr>
          <a:xfrm>
            <a:off x="123824" y="1094422"/>
            <a:ext cx="11783786" cy="60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19FCBD08-1D82-9DC7-6DD3-2F3D588DBFE2}"/>
              </a:ext>
            </a:extLst>
          </p:cNvPr>
          <p:cNvSpPr txBox="1"/>
          <p:nvPr/>
        </p:nvSpPr>
        <p:spPr>
          <a:xfrm>
            <a:off x="7569200" y="58963"/>
            <a:ext cx="46228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Section 5. Bias Stress Mechanisms </a:t>
            </a:r>
            <a:endParaRPr lang="ko-KR" altLang="en-US" sz="1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xmlns="" id="{6057EBA7-BC08-748F-BE02-E79A8747DCFF}"/>
              </a:ext>
            </a:extLst>
          </p:cNvPr>
          <p:cNvGrpSpPr/>
          <p:nvPr/>
        </p:nvGrpSpPr>
        <p:grpSpPr>
          <a:xfrm>
            <a:off x="814614" y="3075254"/>
            <a:ext cx="3021353" cy="1929585"/>
            <a:chOff x="7545047" y="6357058"/>
            <a:chExt cx="3021353" cy="1704964"/>
          </a:xfrm>
        </p:grpSpPr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xmlns="" id="{DEAD2913-F515-DCE2-16CA-B5907D08D55A}"/>
                </a:ext>
              </a:extLst>
            </p:cNvPr>
            <p:cNvSpPr/>
            <p:nvPr/>
          </p:nvSpPr>
          <p:spPr>
            <a:xfrm>
              <a:off x="7547136" y="7542088"/>
              <a:ext cx="3019264" cy="51993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altLang="ko-KR" sz="2000" b="1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Gate</a:t>
              </a:r>
              <a:endParaRPr lang="ko-KR" altLang="en-US" sz="2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xmlns="" id="{33DED483-6766-4A33-133A-05D7550440D5}"/>
                </a:ext>
              </a:extLst>
            </p:cNvPr>
            <p:cNvSpPr/>
            <p:nvPr/>
          </p:nvSpPr>
          <p:spPr>
            <a:xfrm>
              <a:off x="7545047" y="6878276"/>
              <a:ext cx="3019264" cy="654389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b="1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GI</a:t>
              </a:r>
              <a:endParaRPr lang="ko-KR" altLang="en-US" sz="2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xmlns="" id="{648B52B9-7732-E2AF-CBEB-0E1E94932C28}"/>
                </a:ext>
              </a:extLst>
            </p:cNvPr>
            <p:cNvSpPr/>
            <p:nvPr/>
          </p:nvSpPr>
          <p:spPr>
            <a:xfrm>
              <a:off x="7545047" y="6357058"/>
              <a:ext cx="3019264" cy="519935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83" name="그룹 82">
            <a:extLst>
              <a:ext uri="{FF2B5EF4-FFF2-40B4-BE49-F238E27FC236}">
                <a16:creationId xmlns:a16="http://schemas.microsoft.com/office/drawing/2014/main" xmlns="" id="{2D19B702-F916-6451-F728-238101FB9CDF}"/>
              </a:ext>
            </a:extLst>
          </p:cNvPr>
          <p:cNvGrpSpPr/>
          <p:nvPr/>
        </p:nvGrpSpPr>
        <p:grpSpPr>
          <a:xfrm>
            <a:off x="915456" y="3492895"/>
            <a:ext cx="536213" cy="323165"/>
            <a:chOff x="3858681" y="5579966"/>
            <a:chExt cx="536213" cy="323165"/>
          </a:xfrm>
        </p:grpSpPr>
        <p:sp>
          <p:nvSpPr>
            <p:cNvPr id="84" name="타원 83">
              <a:extLst>
                <a:ext uri="{FF2B5EF4-FFF2-40B4-BE49-F238E27FC236}">
                  <a16:creationId xmlns:a16="http://schemas.microsoft.com/office/drawing/2014/main" xmlns="" id="{E0AB33B9-852E-65FD-393D-2CBA18CFFD10}"/>
                </a:ext>
              </a:extLst>
            </p:cNvPr>
            <p:cNvSpPr/>
            <p:nvPr/>
          </p:nvSpPr>
          <p:spPr>
            <a:xfrm>
              <a:off x="3908730" y="5623559"/>
              <a:ext cx="225677" cy="25671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xmlns="" id="{0462744C-3CDE-8A0C-EDB9-B2FEB9DA443D}"/>
                </a:ext>
              </a:extLst>
            </p:cNvPr>
            <p:cNvSpPr txBox="1"/>
            <p:nvPr/>
          </p:nvSpPr>
          <p:spPr>
            <a:xfrm>
              <a:off x="3858681" y="5579966"/>
              <a:ext cx="536213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5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e</a:t>
              </a:r>
              <a:r>
                <a:rPr lang="en-US" altLang="ko-KR" sz="1500" b="1" baseline="300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-</a:t>
              </a:r>
              <a:endParaRPr lang="ko-KR" altLang="en-US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89" name="그룹 88">
            <a:extLst>
              <a:ext uri="{FF2B5EF4-FFF2-40B4-BE49-F238E27FC236}">
                <a16:creationId xmlns:a16="http://schemas.microsoft.com/office/drawing/2014/main" xmlns="" id="{5F96E4B1-E215-D5B4-816B-181AD1EE11F2}"/>
              </a:ext>
            </a:extLst>
          </p:cNvPr>
          <p:cNvGrpSpPr/>
          <p:nvPr/>
        </p:nvGrpSpPr>
        <p:grpSpPr>
          <a:xfrm>
            <a:off x="1645732" y="3508133"/>
            <a:ext cx="536213" cy="323165"/>
            <a:chOff x="3858681" y="5579966"/>
            <a:chExt cx="536213" cy="323165"/>
          </a:xfrm>
        </p:grpSpPr>
        <p:sp>
          <p:nvSpPr>
            <p:cNvPr id="90" name="타원 89">
              <a:extLst>
                <a:ext uri="{FF2B5EF4-FFF2-40B4-BE49-F238E27FC236}">
                  <a16:creationId xmlns:a16="http://schemas.microsoft.com/office/drawing/2014/main" xmlns="" id="{F6DD3415-32CA-DE55-FC9A-8967F0448C82}"/>
                </a:ext>
              </a:extLst>
            </p:cNvPr>
            <p:cNvSpPr/>
            <p:nvPr/>
          </p:nvSpPr>
          <p:spPr>
            <a:xfrm>
              <a:off x="3908730" y="5623559"/>
              <a:ext cx="225677" cy="25671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xmlns="" id="{32C00917-55BA-95E1-0624-F850B4BA59BA}"/>
                </a:ext>
              </a:extLst>
            </p:cNvPr>
            <p:cNvSpPr txBox="1"/>
            <p:nvPr/>
          </p:nvSpPr>
          <p:spPr>
            <a:xfrm>
              <a:off x="3858681" y="5579966"/>
              <a:ext cx="536213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5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e</a:t>
              </a:r>
              <a:r>
                <a:rPr lang="en-US" altLang="ko-KR" sz="1500" b="1" baseline="300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-</a:t>
              </a:r>
              <a:endParaRPr lang="ko-KR" altLang="en-US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92" name="그룹 91">
            <a:extLst>
              <a:ext uri="{FF2B5EF4-FFF2-40B4-BE49-F238E27FC236}">
                <a16:creationId xmlns:a16="http://schemas.microsoft.com/office/drawing/2014/main" xmlns="" id="{76D53684-550F-1291-3306-07E716C1521D}"/>
              </a:ext>
            </a:extLst>
          </p:cNvPr>
          <p:cNvGrpSpPr/>
          <p:nvPr/>
        </p:nvGrpSpPr>
        <p:grpSpPr>
          <a:xfrm>
            <a:off x="2053589" y="3505846"/>
            <a:ext cx="536213" cy="323165"/>
            <a:chOff x="3858681" y="5579966"/>
            <a:chExt cx="536213" cy="323165"/>
          </a:xfrm>
        </p:grpSpPr>
        <p:sp>
          <p:nvSpPr>
            <p:cNvPr id="93" name="타원 92">
              <a:extLst>
                <a:ext uri="{FF2B5EF4-FFF2-40B4-BE49-F238E27FC236}">
                  <a16:creationId xmlns:a16="http://schemas.microsoft.com/office/drawing/2014/main" xmlns="" id="{86847C09-D781-6CA6-5789-1B947F5BE416}"/>
                </a:ext>
              </a:extLst>
            </p:cNvPr>
            <p:cNvSpPr/>
            <p:nvPr/>
          </p:nvSpPr>
          <p:spPr>
            <a:xfrm>
              <a:off x="3908730" y="5623559"/>
              <a:ext cx="225677" cy="25671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xmlns="" id="{8875D1E9-8212-2601-9F3B-D1D0D27A9F1E}"/>
                </a:ext>
              </a:extLst>
            </p:cNvPr>
            <p:cNvSpPr txBox="1"/>
            <p:nvPr/>
          </p:nvSpPr>
          <p:spPr>
            <a:xfrm>
              <a:off x="3858681" y="5579966"/>
              <a:ext cx="536213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5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e</a:t>
              </a:r>
              <a:r>
                <a:rPr lang="en-US" altLang="ko-KR" sz="1500" b="1" baseline="300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-</a:t>
              </a:r>
              <a:endParaRPr lang="ko-KR" altLang="en-US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xmlns="" id="{29640AF6-736D-F5EB-49E9-E02311538D86}"/>
              </a:ext>
            </a:extLst>
          </p:cNvPr>
          <p:cNvGrpSpPr/>
          <p:nvPr/>
        </p:nvGrpSpPr>
        <p:grpSpPr>
          <a:xfrm>
            <a:off x="2471151" y="3500514"/>
            <a:ext cx="536213" cy="323165"/>
            <a:chOff x="3858681" y="5579966"/>
            <a:chExt cx="536213" cy="323165"/>
          </a:xfrm>
        </p:grpSpPr>
        <p:sp>
          <p:nvSpPr>
            <p:cNvPr id="96" name="타원 95">
              <a:extLst>
                <a:ext uri="{FF2B5EF4-FFF2-40B4-BE49-F238E27FC236}">
                  <a16:creationId xmlns:a16="http://schemas.microsoft.com/office/drawing/2014/main" xmlns="" id="{85464BAB-B6D9-512F-857F-BEEDE8794D05}"/>
                </a:ext>
              </a:extLst>
            </p:cNvPr>
            <p:cNvSpPr/>
            <p:nvPr/>
          </p:nvSpPr>
          <p:spPr>
            <a:xfrm>
              <a:off x="3908730" y="5623559"/>
              <a:ext cx="225677" cy="25671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xmlns="" id="{D3CB0E51-962D-5E6A-BC8B-8CB936E404C2}"/>
                </a:ext>
              </a:extLst>
            </p:cNvPr>
            <p:cNvSpPr txBox="1"/>
            <p:nvPr/>
          </p:nvSpPr>
          <p:spPr>
            <a:xfrm>
              <a:off x="3858681" y="5579966"/>
              <a:ext cx="536213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5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e</a:t>
              </a:r>
              <a:r>
                <a:rPr lang="en-US" altLang="ko-KR" sz="1500" b="1" baseline="300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-</a:t>
              </a:r>
              <a:endParaRPr lang="ko-KR" altLang="en-US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xmlns="" id="{7E86C15B-098B-6F4E-AC74-F19721B2DA0A}"/>
              </a:ext>
            </a:extLst>
          </p:cNvPr>
          <p:cNvGrpSpPr/>
          <p:nvPr/>
        </p:nvGrpSpPr>
        <p:grpSpPr>
          <a:xfrm>
            <a:off x="2900162" y="3482379"/>
            <a:ext cx="536213" cy="323165"/>
            <a:chOff x="3858681" y="5579966"/>
            <a:chExt cx="536213" cy="323165"/>
          </a:xfrm>
        </p:grpSpPr>
        <p:sp>
          <p:nvSpPr>
            <p:cNvPr id="99" name="타원 98">
              <a:extLst>
                <a:ext uri="{FF2B5EF4-FFF2-40B4-BE49-F238E27FC236}">
                  <a16:creationId xmlns:a16="http://schemas.microsoft.com/office/drawing/2014/main" xmlns="" id="{458190E3-9CD7-C13E-228A-F34A5517F4D1}"/>
                </a:ext>
              </a:extLst>
            </p:cNvPr>
            <p:cNvSpPr/>
            <p:nvPr/>
          </p:nvSpPr>
          <p:spPr>
            <a:xfrm>
              <a:off x="3908730" y="5623559"/>
              <a:ext cx="225677" cy="25671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xmlns="" id="{C6AC58E4-5979-2565-76B0-D468432E1709}"/>
                </a:ext>
              </a:extLst>
            </p:cNvPr>
            <p:cNvSpPr txBox="1"/>
            <p:nvPr/>
          </p:nvSpPr>
          <p:spPr>
            <a:xfrm>
              <a:off x="3858681" y="5579966"/>
              <a:ext cx="536213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5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e</a:t>
              </a:r>
              <a:r>
                <a:rPr lang="en-US" altLang="ko-KR" sz="1500" b="1" baseline="300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-</a:t>
              </a:r>
              <a:endParaRPr lang="ko-KR" altLang="en-US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xmlns="" id="{40EE0BEE-C4D9-D8E2-563B-C362D9F5B4AE}"/>
              </a:ext>
            </a:extLst>
          </p:cNvPr>
          <p:cNvGrpSpPr/>
          <p:nvPr/>
        </p:nvGrpSpPr>
        <p:grpSpPr>
          <a:xfrm>
            <a:off x="3310049" y="3500514"/>
            <a:ext cx="536213" cy="323165"/>
            <a:chOff x="3858681" y="5579966"/>
            <a:chExt cx="536213" cy="323165"/>
          </a:xfrm>
        </p:grpSpPr>
        <p:sp>
          <p:nvSpPr>
            <p:cNvPr id="102" name="타원 101">
              <a:extLst>
                <a:ext uri="{FF2B5EF4-FFF2-40B4-BE49-F238E27FC236}">
                  <a16:creationId xmlns:a16="http://schemas.microsoft.com/office/drawing/2014/main" xmlns="" id="{CBB40634-9A0E-2BAB-D94C-D56C81155EB4}"/>
                </a:ext>
              </a:extLst>
            </p:cNvPr>
            <p:cNvSpPr/>
            <p:nvPr/>
          </p:nvSpPr>
          <p:spPr>
            <a:xfrm>
              <a:off x="3908730" y="5623559"/>
              <a:ext cx="225677" cy="25671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xmlns="" id="{379B6294-E3A3-7DDA-5BDC-0E12D145DAAA}"/>
                </a:ext>
              </a:extLst>
            </p:cNvPr>
            <p:cNvSpPr txBox="1"/>
            <p:nvPr/>
          </p:nvSpPr>
          <p:spPr>
            <a:xfrm>
              <a:off x="3858681" y="5579966"/>
              <a:ext cx="536213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5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e</a:t>
              </a:r>
              <a:r>
                <a:rPr lang="en-US" altLang="ko-KR" sz="1500" b="1" baseline="300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-</a:t>
              </a:r>
              <a:endParaRPr lang="ko-KR" altLang="en-US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104" name="그룹 103">
            <a:extLst>
              <a:ext uri="{FF2B5EF4-FFF2-40B4-BE49-F238E27FC236}">
                <a16:creationId xmlns:a16="http://schemas.microsoft.com/office/drawing/2014/main" xmlns="" id="{65295AD2-276D-204D-57B0-4E170945F21D}"/>
              </a:ext>
            </a:extLst>
          </p:cNvPr>
          <p:cNvGrpSpPr/>
          <p:nvPr/>
        </p:nvGrpSpPr>
        <p:grpSpPr>
          <a:xfrm>
            <a:off x="1049086" y="3837037"/>
            <a:ext cx="536213" cy="323165"/>
            <a:chOff x="3858681" y="5579966"/>
            <a:chExt cx="536213" cy="323165"/>
          </a:xfrm>
        </p:grpSpPr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xmlns="" id="{7D52A749-850B-EE96-F1B3-3E8324E1D7B3}"/>
                </a:ext>
              </a:extLst>
            </p:cNvPr>
            <p:cNvSpPr/>
            <p:nvPr/>
          </p:nvSpPr>
          <p:spPr>
            <a:xfrm>
              <a:off x="3908730" y="5623559"/>
              <a:ext cx="225677" cy="25671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xmlns="" id="{C1BA8BAA-5D9F-92E8-3F18-533DE61A148F}"/>
                </a:ext>
              </a:extLst>
            </p:cNvPr>
            <p:cNvSpPr txBox="1"/>
            <p:nvPr/>
          </p:nvSpPr>
          <p:spPr>
            <a:xfrm>
              <a:off x="3858681" y="5579966"/>
              <a:ext cx="536213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5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e</a:t>
              </a:r>
              <a:r>
                <a:rPr lang="en-US" altLang="ko-KR" sz="1500" b="1" baseline="300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-</a:t>
              </a:r>
              <a:endParaRPr lang="ko-KR" altLang="en-US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107" name="그룹 106">
            <a:extLst>
              <a:ext uri="{FF2B5EF4-FFF2-40B4-BE49-F238E27FC236}">
                <a16:creationId xmlns:a16="http://schemas.microsoft.com/office/drawing/2014/main" xmlns="" id="{31992CBE-EFC3-A771-D32C-429D327BD6C4}"/>
              </a:ext>
            </a:extLst>
          </p:cNvPr>
          <p:cNvGrpSpPr/>
          <p:nvPr/>
        </p:nvGrpSpPr>
        <p:grpSpPr>
          <a:xfrm>
            <a:off x="1382666" y="3729010"/>
            <a:ext cx="536213" cy="323165"/>
            <a:chOff x="3858681" y="5579966"/>
            <a:chExt cx="536213" cy="323165"/>
          </a:xfrm>
        </p:grpSpPr>
        <p:sp>
          <p:nvSpPr>
            <p:cNvPr id="108" name="타원 107">
              <a:extLst>
                <a:ext uri="{FF2B5EF4-FFF2-40B4-BE49-F238E27FC236}">
                  <a16:creationId xmlns:a16="http://schemas.microsoft.com/office/drawing/2014/main" xmlns="" id="{11BC57ED-B601-07C2-1B13-C7EFA3BA2B3D}"/>
                </a:ext>
              </a:extLst>
            </p:cNvPr>
            <p:cNvSpPr/>
            <p:nvPr/>
          </p:nvSpPr>
          <p:spPr>
            <a:xfrm>
              <a:off x="3908730" y="5623559"/>
              <a:ext cx="225677" cy="25671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xmlns="" id="{4E383637-8FAC-4EB2-07E0-3707CA48B129}"/>
                </a:ext>
              </a:extLst>
            </p:cNvPr>
            <p:cNvSpPr txBox="1"/>
            <p:nvPr/>
          </p:nvSpPr>
          <p:spPr>
            <a:xfrm>
              <a:off x="3858681" y="5579966"/>
              <a:ext cx="536213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5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e</a:t>
              </a:r>
              <a:r>
                <a:rPr lang="en-US" altLang="ko-KR" sz="1500" b="1" baseline="300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-</a:t>
              </a:r>
              <a:endParaRPr lang="ko-KR" altLang="en-US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110" name="그룹 109">
            <a:extLst>
              <a:ext uri="{FF2B5EF4-FFF2-40B4-BE49-F238E27FC236}">
                <a16:creationId xmlns:a16="http://schemas.microsoft.com/office/drawing/2014/main" xmlns="" id="{162F8194-812C-AEEC-F7EE-E225B58B5338}"/>
              </a:ext>
            </a:extLst>
          </p:cNvPr>
          <p:cNvGrpSpPr/>
          <p:nvPr/>
        </p:nvGrpSpPr>
        <p:grpSpPr>
          <a:xfrm>
            <a:off x="2632808" y="3775779"/>
            <a:ext cx="536213" cy="323165"/>
            <a:chOff x="3858681" y="5579966"/>
            <a:chExt cx="536213" cy="323165"/>
          </a:xfrm>
        </p:grpSpPr>
        <p:sp>
          <p:nvSpPr>
            <p:cNvPr id="111" name="타원 110">
              <a:extLst>
                <a:ext uri="{FF2B5EF4-FFF2-40B4-BE49-F238E27FC236}">
                  <a16:creationId xmlns:a16="http://schemas.microsoft.com/office/drawing/2014/main" xmlns="" id="{216DD028-961D-C887-E31D-6754FF668665}"/>
                </a:ext>
              </a:extLst>
            </p:cNvPr>
            <p:cNvSpPr/>
            <p:nvPr/>
          </p:nvSpPr>
          <p:spPr>
            <a:xfrm>
              <a:off x="3908730" y="5623559"/>
              <a:ext cx="225677" cy="25671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xmlns="" id="{5A45B614-9560-010E-8E25-2E2D56A63C9C}"/>
                </a:ext>
              </a:extLst>
            </p:cNvPr>
            <p:cNvSpPr txBox="1"/>
            <p:nvPr/>
          </p:nvSpPr>
          <p:spPr>
            <a:xfrm>
              <a:off x="3858681" y="5579966"/>
              <a:ext cx="536213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5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e</a:t>
              </a:r>
              <a:r>
                <a:rPr lang="en-US" altLang="ko-KR" sz="1500" b="1" baseline="300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-</a:t>
              </a:r>
              <a:endParaRPr lang="ko-KR" altLang="en-US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xmlns="" id="{4A2018AD-2FE9-E94B-B624-218B22B19660}"/>
              </a:ext>
            </a:extLst>
          </p:cNvPr>
          <p:cNvGrpSpPr/>
          <p:nvPr/>
        </p:nvGrpSpPr>
        <p:grpSpPr>
          <a:xfrm>
            <a:off x="3066105" y="3841814"/>
            <a:ext cx="536213" cy="323165"/>
            <a:chOff x="3858681" y="5579966"/>
            <a:chExt cx="536213" cy="323165"/>
          </a:xfrm>
        </p:grpSpPr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xmlns="" id="{94816996-C88E-BF2D-FF06-DFFB8A7BF0A3}"/>
                </a:ext>
              </a:extLst>
            </p:cNvPr>
            <p:cNvSpPr/>
            <p:nvPr/>
          </p:nvSpPr>
          <p:spPr>
            <a:xfrm>
              <a:off x="3908730" y="5623559"/>
              <a:ext cx="225677" cy="25671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xmlns="" id="{D9CE22E6-B2B5-69BE-9639-2C3C03F063BF}"/>
                </a:ext>
              </a:extLst>
            </p:cNvPr>
            <p:cNvSpPr txBox="1"/>
            <p:nvPr/>
          </p:nvSpPr>
          <p:spPr>
            <a:xfrm>
              <a:off x="3858681" y="5579966"/>
              <a:ext cx="536213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5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e</a:t>
              </a:r>
              <a:r>
                <a:rPr lang="en-US" altLang="ko-KR" sz="1500" b="1" baseline="300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-</a:t>
              </a:r>
              <a:endParaRPr lang="ko-KR" altLang="en-US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xmlns="" id="{3A80C0C3-6D6F-D8AA-7E33-AB3079E89FEC}"/>
              </a:ext>
            </a:extLst>
          </p:cNvPr>
          <p:cNvSpPr txBox="1"/>
          <p:nvPr/>
        </p:nvSpPr>
        <p:spPr>
          <a:xfrm>
            <a:off x="1158507" y="1984630"/>
            <a:ext cx="24272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Trap Mechanisms </a:t>
            </a:r>
            <a:endParaRPr lang="ko-KR" altLang="en-US" sz="2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xmlns="" id="{5A348879-DC03-3B40-46B9-AF43058C22EB}"/>
              </a:ext>
            </a:extLst>
          </p:cNvPr>
          <p:cNvSpPr txBox="1"/>
          <p:nvPr/>
        </p:nvSpPr>
        <p:spPr>
          <a:xfrm>
            <a:off x="1870120" y="5201900"/>
            <a:ext cx="912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V</a:t>
            </a:r>
            <a:r>
              <a:rPr lang="en-US" altLang="ko-KR" b="1" baseline="-25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GS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&gt; 0</a:t>
            </a:r>
            <a:endParaRPr lang="ko-KR" altLang="en-US" sz="1800" b="1" baseline="-25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xmlns="" id="{C67CBCA6-9E20-A311-F68C-EFA62DA2ECF0}"/>
              </a:ext>
            </a:extLst>
          </p:cNvPr>
          <p:cNvSpPr txBox="1"/>
          <p:nvPr/>
        </p:nvSpPr>
        <p:spPr>
          <a:xfrm>
            <a:off x="5397427" y="2036639"/>
            <a:ext cx="22060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Oxygen vacancy</a:t>
            </a:r>
            <a:endParaRPr lang="ko-KR" altLang="en-US" sz="2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xmlns="" id="{23958A43-4B0C-C90A-2F8E-414102F2B918}"/>
              </a:ext>
            </a:extLst>
          </p:cNvPr>
          <p:cNvSpPr txBox="1"/>
          <p:nvPr/>
        </p:nvSpPr>
        <p:spPr>
          <a:xfrm>
            <a:off x="8733525" y="2081731"/>
            <a:ext cx="2624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Oxygen interstitial  </a:t>
            </a:r>
            <a:endParaRPr lang="ko-KR" altLang="en-US" sz="2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xmlns="" id="{3E4BFF7B-B618-2C0D-8B4A-6519182A5794}"/>
              </a:ext>
            </a:extLst>
          </p:cNvPr>
          <p:cNvSpPr txBox="1"/>
          <p:nvPr/>
        </p:nvSpPr>
        <p:spPr>
          <a:xfrm>
            <a:off x="5494982" y="3816060"/>
            <a:ext cx="167545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lattice relaxation</a:t>
            </a:r>
            <a:endParaRPr lang="ko-KR" alt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xmlns="" id="{89184307-B965-2602-1C69-FC4F827952EC}"/>
              </a:ext>
            </a:extLst>
          </p:cNvPr>
          <p:cNvSpPr txBox="1"/>
          <p:nvPr/>
        </p:nvSpPr>
        <p:spPr>
          <a:xfrm>
            <a:off x="9035307" y="5644755"/>
            <a:ext cx="206819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O</a:t>
            </a:r>
            <a:r>
              <a:rPr lang="en-US" altLang="ko-KR" sz="1500" b="1" baseline="-25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i</a:t>
            </a:r>
            <a:r>
              <a:rPr lang="en-US" altLang="ko-KR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0</a:t>
            </a:r>
            <a:r>
              <a:rPr lang="ko-KR" altLang="en-US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→ </a:t>
            </a:r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O</a:t>
            </a:r>
            <a:r>
              <a:rPr lang="en-US" altLang="ko-KR" sz="1500" b="1" baseline="-25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i</a:t>
            </a:r>
            <a:r>
              <a:rPr lang="en-US" altLang="ko-KR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2-</a:t>
            </a:r>
            <a:r>
              <a:rPr lang="ko-KR" altLang="en-US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가 더 안정적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xmlns="" id="{E2EB794E-B3C5-3B69-8404-F31B226DE70F}"/>
              </a:ext>
            </a:extLst>
          </p:cNvPr>
          <p:cNvSpPr txBox="1"/>
          <p:nvPr/>
        </p:nvSpPr>
        <p:spPr>
          <a:xfrm>
            <a:off x="5456449" y="6224886"/>
            <a:ext cx="1662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positive shift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xmlns="" id="{4C80AAC5-815E-25F5-3365-C9565F9CAEF8}"/>
              </a:ext>
            </a:extLst>
          </p:cNvPr>
          <p:cNvSpPr txBox="1"/>
          <p:nvPr/>
        </p:nvSpPr>
        <p:spPr>
          <a:xfrm>
            <a:off x="9328799" y="6210817"/>
            <a:ext cx="1662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positive shift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xmlns="" id="{63893464-D0B4-D63E-CF98-C30BE647C6D0}"/>
              </a:ext>
            </a:extLst>
          </p:cNvPr>
          <p:cNvCxnSpPr/>
          <p:nvPr/>
        </p:nvCxnSpPr>
        <p:spPr>
          <a:xfrm>
            <a:off x="1234553" y="3465513"/>
            <a:ext cx="396000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xmlns="" id="{CCB31ED6-4D65-3487-CD79-35A94B123D19}"/>
              </a:ext>
            </a:extLst>
          </p:cNvPr>
          <p:cNvSpPr txBox="1"/>
          <p:nvPr/>
        </p:nvSpPr>
        <p:spPr>
          <a:xfrm>
            <a:off x="1466742" y="6195844"/>
            <a:ext cx="1662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positive shift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86" name="그룹 85">
            <a:extLst>
              <a:ext uri="{FF2B5EF4-FFF2-40B4-BE49-F238E27FC236}">
                <a16:creationId xmlns:a16="http://schemas.microsoft.com/office/drawing/2014/main" xmlns="" id="{C9DA5FAD-5D1C-DA32-B7F6-C4EE8AB97E9B}"/>
              </a:ext>
            </a:extLst>
          </p:cNvPr>
          <p:cNvGrpSpPr/>
          <p:nvPr/>
        </p:nvGrpSpPr>
        <p:grpSpPr>
          <a:xfrm>
            <a:off x="1284404" y="3305205"/>
            <a:ext cx="536213" cy="323165"/>
            <a:chOff x="3858681" y="5579966"/>
            <a:chExt cx="536213" cy="323165"/>
          </a:xfrm>
        </p:grpSpPr>
        <p:sp>
          <p:nvSpPr>
            <p:cNvPr id="87" name="타원 86">
              <a:extLst>
                <a:ext uri="{FF2B5EF4-FFF2-40B4-BE49-F238E27FC236}">
                  <a16:creationId xmlns:a16="http://schemas.microsoft.com/office/drawing/2014/main" xmlns="" id="{DA2D9DA6-0F28-AFB8-7664-C3C31B7180BF}"/>
                </a:ext>
              </a:extLst>
            </p:cNvPr>
            <p:cNvSpPr/>
            <p:nvPr/>
          </p:nvSpPr>
          <p:spPr>
            <a:xfrm>
              <a:off x="3908730" y="5623559"/>
              <a:ext cx="225677" cy="25671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xmlns="" id="{14479712-3DB5-603E-EFD8-5509C572AD9D}"/>
                </a:ext>
              </a:extLst>
            </p:cNvPr>
            <p:cNvSpPr txBox="1"/>
            <p:nvPr/>
          </p:nvSpPr>
          <p:spPr>
            <a:xfrm>
              <a:off x="3858681" y="5579966"/>
              <a:ext cx="536213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5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e</a:t>
              </a:r>
              <a:r>
                <a:rPr lang="en-US" altLang="ko-KR" sz="1500" b="1" baseline="300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-</a:t>
              </a:r>
              <a:endParaRPr lang="ko-KR" altLang="en-US" sz="1500" b="1" baseline="300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pic>
        <p:nvPicPr>
          <p:cNvPr id="129" name="그림 128">
            <a:extLst>
              <a:ext uri="{FF2B5EF4-FFF2-40B4-BE49-F238E27FC236}">
                <a16:creationId xmlns:a16="http://schemas.microsoft.com/office/drawing/2014/main" xmlns="" id="{87D39C8F-C7F0-1277-21D1-48886A4655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9084" y="3031041"/>
            <a:ext cx="298374" cy="3560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A67389B-2BAC-E2BE-AEB9-D724FC1972AA}"/>
              </a:ext>
            </a:extLst>
          </p:cNvPr>
          <p:cNvSpPr txBox="1"/>
          <p:nvPr/>
        </p:nvSpPr>
        <p:spPr>
          <a:xfrm>
            <a:off x="6654494" y="4780969"/>
            <a:ext cx="8819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Defect level</a:t>
            </a:r>
            <a:endParaRPr lang="ko-KR" altLang="en-US" sz="1000" dirty="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B6CBC6CF-A09D-5F41-B9AE-E5FD1CEF20A6}"/>
              </a:ext>
            </a:extLst>
          </p:cNvPr>
          <p:cNvSpPr txBox="1"/>
          <p:nvPr/>
        </p:nvSpPr>
        <p:spPr>
          <a:xfrm>
            <a:off x="254001" y="1259473"/>
            <a:ext cx="11506200" cy="400110"/>
          </a:xfrm>
          <a:prstGeom prst="rect">
            <a:avLst/>
          </a:prstGeom>
          <a:noFill/>
          <a:ln w="28575">
            <a:solidFill>
              <a:srgbClr val="15608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electron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의 생성과 </a:t>
            </a: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trap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으로 인해 전위차 감소</a:t>
            </a: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density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의 증가로 </a:t>
            </a: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Vth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가 </a:t>
            </a: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Positive shift</a:t>
            </a:r>
            <a:endParaRPr lang="ko-KR" altLang="en-US" sz="2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xmlns="" id="{AB1EA475-18A0-B0BE-03BF-C379C7637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E1704-955B-45E9-8CC7-423CE1421702}" type="slidenum">
              <a:rPr lang="ko-KR" altLang="en-US" smtClean="0"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218705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E39D8698-78A6-107B-E142-79B9A5E91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731" y="1842549"/>
            <a:ext cx="1708861" cy="1929563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xmlns="" id="{3CDFF5B6-30BB-563F-AD83-22D8C40F65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2051" y="4177642"/>
            <a:ext cx="662928" cy="176295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989FF40D-F953-66D5-3287-53E5420C0DA7}"/>
              </a:ext>
            </a:extLst>
          </p:cNvPr>
          <p:cNvSpPr txBox="1"/>
          <p:nvPr/>
        </p:nvSpPr>
        <p:spPr>
          <a:xfrm>
            <a:off x="2231469" y="6222162"/>
            <a:ext cx="36486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da-DK" altLang="ko-KR" sz="1200" i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Kang et al., Adv. Electron. Mater. 2014, 1400006</a:t>
            </a:r>
            <a:endParaRPr lang="ko-KR" altLang="en-US" sz="1200" i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xmlns="" id="{3374719A-255A-C2C5-49A2-8EDEAC9AFC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8095" y="1467008"/>
            <a:ext cx="4189065" cy="4755154"/>
          </a:xfrm>
          <a:prstGeom prst="rect">
            <a:avLst/>
          </a:prstGeom>
        </p:spPr>
      </p:pic>
      <p:sp>
        <p:nvSpPr>
          <p:cNvPr id="20" name="타원 19">
            <a:extLst>
              <a:ext uri="{FF2B5EF4-FFF2-40B4-BE49-F238E27FC236}">
                <a16:creationId xmlns:a16="http://schemas.microsoft.com/office/drawing/2014/main" xmlns="" id="{1EC1E02C-3BBA-3FF4-B9B5-BA5BD20FB242}"/>
              </a:ext>
            </a:extLst>
          </p:cNvPr>
          <p:cNvSpPr/>
          <p:nvPr/>
        </p:nvSpPr>
        <p:spPr>
          <a:xfrm>
            <a:off x="8326211" y="4161540"/>
            <a:ext cx="2319493" cy="1450934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xmlns="" id="{DBFF8B94-C0A6-D748-E6EA-F102990A43C9}"/>
              </a:ext>
            </a:extLst>
          </p:cNvPr>
          <p:cNvSpPr/>
          <p:nvPr/>
        </p:nvSpPr>
        <p:spPr>
          <a:xfrm>
            <a:off x="123824" y="1094422"/>
            <a:ext cx="11783786" cy="60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제목 1">
            <a:extLst>
              <a:ext uri="{FF2B5EF4-FFF2-40B4-BE49-F238E27FC236}">
                <a16:creationId xmlns:a16="http://schemas.microsoft.com/office/drawing/2014/main" xmlns="" id="{99D55423-F392-5678-7EAD-86C4AFF18251}"/>
              </a:ext>
            </a:extLst>
          </p:cNvPr>
          <p:cNvSpPr txBox="1">
            <a:spLocks/>
          </p:cNvSpPr>
          <p:nvPr/>
        </p:nvSpPr>
        <p:spPr>
          <a:xfrm>
            <a:off x="133633" y="328611"/>
            <a:ext cx="10182225" cy="826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PBS</a:t>
            </a:r>
            <a:r>
              <a:rPr lang="en-US" altLang="ko-KR" sz="4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Mechanisms [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Hydrogen]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96EA5D00-34BF-D340-8FB1-898D45CCA407}"/>
              </a:ext>
            </a:extLst>
          </p:cNvPr>
          <p:cNvSpPr txBox="1"/>
          <p:nvPr/>
        </p:nvSpPr>
        <p:spPr>
          <a:xfrm>
            <a:off x="7569200" y="58963"/>
            <a:ext cx="46228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Section 5. Bias Stress Mechanisms </a:t>
            </a:r>
            <a:endParaRPr lang="ko-KR" altLang="en-US" sz="1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A5FA23EE-6082-E8F7-3E67-C44FC7A8A248}"/>
              </a:ext>
            </a:extLst>
          </p:cNvPr>
          <p:cNvSpPr txBox="1"/>
          <p:nvPr/>
        </p:nvSpPr>
        <p:spPr>
          <a:xfrm>
            <a:off x="867250" y="1504398"/>
            <a:ext cx="21636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interstitial  H(H</a:t>
            </a:r>
            <a:r>
              <a:rPr lang="en-US" altLang="ko-KR" sz="1800" b="1" baseline="-25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i</a:t>
            </a:r>
            <a:r>
              <a:rPr lang="en-US" altLang="ko-KR" sz="18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+</a:t>
            </a:r>
            <a:r>
              <a:rPr lang="en-US" altLang="ko-KR" sz="1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baseline="30000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xmlns="" id="{1D15B326-571A-F5D2-E912-0BC90E340FA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9333" t="-806" r="531" b="806"/>
          <a:stretch/>
        </p:blipFill>
        <p:spPr>
          <a:xfrm>
            <a:off x="2000860" y="4177642"/>
            <a:ext cx="1820417" cy="2076781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B3758724-EAD3-AAAA-A8B0-262203A11374}"/>
              </a:ext>
            </a:extLst>
          </p:cNvPr>
          <p:cNvSpPr txBox="1"/>
          <p:nvPr/>
        </p:nvSpPr>
        <p:spPr>
          <a:xfrm>
            <a:off x="1991875" y="3863280"/>
            <a:ext cx="21372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V</a:t>
            </a:r>
            <a:r>
              <a:rPr lang="en-US" altLang="ko-KR" b="1" baseline="-25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O</a:t>
            </a:r>
            <a:r>
              <a:rPr lang="en-US" altLang="ko-KR" sz="1800" b="1" baseline="-25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+ H</a:t>
            </a:r>
            <a:r>
              <a:rPr lang="en-US" altLang="ko-KR" sz="1800" b="1" baseline="-25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i</a:t>
            </a:r>
            <a:r>
              <a:rPr lang="en-US" altLang="ko-KR" sz="18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+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→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H-DX</a:t>
            </a:r>
            <a:r>
              <a:rPr lang="en-US" altLang="ko-KR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−</a:t>
            </a:r>
            <a:endParaRPr lang="ko-KR" altLang="en-US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xmlns="" id="{C36429ED-CA17-C292-83D2-77B141D438F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9864"/>
          <a:stretch/>
        </p:blipFill>
        <p:spPr>
          <a:xfrm>
            <a:off x="3374950" y="1841468"/>
            <a:ext cx="1820418" cy="2076782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4803366C-5743-0193-DE63-C8EADD1F0855}"/>
              </a:ext>
            </a:extLst>
          </p:cNvPr>
          <p:cNvSpPr txBox="1"/>
          <p:nvPr/>
        </p:nvSpPr>
        <p:spPr>
          <a:xfrm>
            <a:off x="3159513" y="1504398"/>
            <a:ext cx="26355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substitutional</a:t>
            </a:r>
            <a:r>
              <a:rPr lang="en-US" altLang="ko-KR" sz="1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H(H</a:t>
            </a:r>
            <a:r>
              <a:rPr lang="en-US" altLang="ko-KR" sz="1800" b="1" baseline="-25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O</a:t>
            </a:r>
            <a:r>
              <a:rPr lang="en-US" altLang="ko-KR" sz="18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+</a:t>
            </a:r>
            <a:r>
              <a:rPr lang="en-US" altLang="ko-KR" sz="1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baseline="30000" dirty="0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xmlns="" id="{5D0F74B6-FD13-C35C-870A-70972657D4FD}"/>
              </a:ext>
            </a:extLst>
          </p:cNvPr>
          <p:cNvSpPr/>
          <p:nvPr/>
        </p:nvSpPr>
        <p:spPr>
          <a:xfrm>
            <a:off x="8289981" y="2696460"/>
            <a:ext cx="1728926" cy="576213"/>
          </a:xfrm>
          <a:prstGeom prst="ellipse">
            <a:avLst/>
          </a:prstGeom>
          <a:noFill/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0000FF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xmlns="" id="{128D1CDB-AB5B-2175-970F-1512768F7441}"/>
              </a:ext>
            </a:extLst>
          </p:cNvPr>
          <p:cNvSpPr txBox="1"/>
          <p:nvPr/>
        </p:nvSpPr>
        <p:spPr>
          <a:xfrm>
            <a:off x="10136509" y="2886556"/>
            <a:ext cx="149271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solidFill>
                  <a:srgbClr val="15608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Shallow donor</a:t>
            </a:r>
            <a:endParaRPr lang="ko-KR" altLang="en-US" sz="1500" dirty="0">
              <a:solidFill>
                <a:srgbClr val="15608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xmlns="" id="{C8B88DD9-23BF-B6E9-4D06-AF12FD779E0E}"/>
              </a:ext>
            </a:extLst>
          </p:cNvPr>
          <p:cNvSpPr txBox="1"/>
          <p:nvPr/>
        </p:nvSpPr>
        <p:spPr>
          <a:xfrm>
            <a:off x="10067301" y="4017120"/>
            <a:ext cx="184377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Deep electron trap</a:t>
            </a:r>
            <a:endParaRPr lang="ko-KR" altLang="en-US" sz="1500" dirty="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xmlns="" id="{841B57BF-2B60-07FE-A984-1CB07DD82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E1704-955B-45E9-8CC7-423CE1421702}" type="slidenum">
              <a:rPr lang="ko-KR" altLang="en-US" smtClean="0"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3588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7021AA79-24DC-6879-E911-A85436E433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816" t="4347" r="48139" b="13780"/>
          <a:stretch/>
        </p:blipFill>
        <p:spPr>
          <a:xfrm>
            <a:off x="1043866" y="2218637"/>
            <a:ext cx="4474725" cy="3544941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A1F03CE0-492E-1668-6551-5E2742FBF056}"/>
              </a:ext>
            </a:extLst>
          </p:cNvPr>
          <p:cNvSpPr/>
          <p:nvPr/>
        </p:nvSpPr>
        <p:spPr>
          <a:xfrm>
            <a:off x="123824" y="1094422"/>
            <a:ext cx="11783786" cy="60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제목 1">
            <a:extLst>
              <a:ext uri="{FF2B5EF4-FFF2-40B4-BE49-F238E27FC236}">
                <a16:creationId xmlns:a16="http://schemas.microsoft.com/office/drawing/2014/main" xmlns="" id="{04A12D58-74B1-1796-1533-E4619402EC2D}"/>
              </a:ext>
            </a:extLst>
          </p:cNvPr>
          <p:cNvSpPr txBox="1">
            <a:spLocks/>
          </p:cNvSpPr>
          <p:nvPr/>
        </p:nvSpPr>
        <p:spPr>
          <a:xfrm>
            <a:off x="133633" y="328611"/>
            <a:ext cx="10182225" cy="826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PBS</a:t>
            </a:r>
            <a:r>
              <a:rPr lang="en-US" altLang="ko-KR" sz="4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Mechanisms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[Extrinsic]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5EC08639-D663-CD3B-4E6B-3D4B382B9AFD}"/>
              </a:ext>
            </a:extLst>
          </p:cNvPr>
          <p:cNvSpPr txBox="1"/>
          <p:nvPr/>
        </p:nvSpPr>
        <p:spPr>
          <a:xfrm>
            <a:off x="7569200" y="58963"/>
            <a:ext cx="46228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Section 5. Bias Stress Mechanisms </a:t>
            </a:r>
            <a:endParaRPr lang="ko-KR" altLang="en-US" sz="1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A6DDA019-F3DB-B556-ACB1-589615E8D972}"/>
              </a:ext>
            </a:extLst>
          </p:cNvPr>
          <p:cNvSpPr txBox="1"/>
          <p:nvPr/>
        </p:nvSpPr>
        <p:spPr>
          <a:xfrm>
            <a:off x="1665973" y="1721138"/>
            <a:ext cx="24897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대기 중 </a:t>
            </a: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Oxygen 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흡착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B1A88E02-6A53-8DB6-18F5-57BA93E58328}"/>
              </a:ext>
            </a:extLst>
          </p:cNvPr>
          <p:cNvSpPr txBox="1"/>
          <p:nvPr/>
        </p:nvSpPr>
        <p:spPr>
          <a:xfrm>
            <a:off x="7515408" y="1721138"/>
            <a:ext cx="14558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H</a:t>
            </a:r>
            <a:r>
              <a:rPr lang="en-US" altLang="ko-KR" sz="2000" b="1" baseline="-25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O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의 탈착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xmlns="" id="{52574C13-A179-5755-A625-093CEA4BBB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971" t="4621" r="13488" b="13505"/>
          <a:stretch/>
        </p:blipFill>
        <p:spPr>
          <a:xfrm>
            <a:off x="6410861" y="2218636"/>
            <a:ext cx="4073103" cy="354494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035DE830-6497-7055-F37C-A1819D23F918}"/>
              </a:ext>
            </a:extLst>
          </p:cNvPr>
          <p:cNvSpPr txBox="1"/>
          <p:nvPr/>
        </p:nvSpPr>
        <p:spPr>
          <a:xfrm>
            <a:off x="1855961" y="5948127"/>
            <a:ext cx="2227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acceptor-like traps</a:t>
            </a:r>
            <a:endParaRPr lang="ko-KR" altLang="en-US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E7A57001-D8BE-5A89-EF8B-30DAC2DA5A2B}"/>
              </a:ext>
            </a:extLst>
          </p:cNvPr>
          <p:cNvSpPr txBox="1"/>
          <p:nvPr/>
        </p:nvSpPr>
        <p:spPr>
          <a:xfrm>
            <a:off x="7188428" y="5948127"/>
            <a:ext cx="2227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acceptor-like traps</a:t>
            </a:r>
            <a:endParaRPr lang="ko-KR" altLang="en-US" b="1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xmlns="" id="{5DDC7288-FA17-A9A6-424C-7782FB83B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E1704-955B-45E9-8CC7-423CE1421702}" type="slidenum">
              <a:rPr lang="ko-KR" altLang="en-US" smtClean="0"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309086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2074009A-9B68-0D52-4037-13597CCC8C0A}"/>
              </a:ext>
            </a:extLst>
          </p:cNvPr>
          <p:cNvSpPr/>
          <p:nvPr/>
        </p:nvSpPr>
        <p:spPr>
          <a:xfrm>
            <a:off x="123824" y="1094422"/>
            <a:ext cx="11783786" cy="60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xmlns="" id="{08FC09FB-2577-CF17-BD9E-7BEFD0F01445}"/>
              </a:ext>
            </a:extLst>
          </p:cNvPr>
          <p:cNvSpPr txBox="1">
            <a:spLocks/>
          </p:cNvSpPr>
          <p:nvPr/>
        </p:nvSpPr>
        <p:spPr>
          <a:xfrm>
            <a:off x="133633" y="328611"/>
            <a:ext cx="10182225" cy="826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Trap States in Oxide Semiconductors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3021052-D73F-161F-FB42-28CACD7E7738}"/>
              </a:ext>
            </a:extLst>
          </p:cNvPr>
          <p:cNvSpPr txBox="1"/>
          <p:nvPr/>
        </p:nvSpPr>
        <p:spPr>
          <a:xfrm>
            <a:off x="7569200" y="58963"/>
            <a:ext cx="46228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Section 5. Bias Stress Mechanisms </a:t>
            </a:r>
            <a:endParaRPr lang="ko-KR" altLang="en-US" sz="1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0FE072B4-20C0-4126-D104-7909B20FAF41}"/>
              </a:ext>
            </a:extLst>
          </p:cNvPr>
          <p:cNvSpPr txBox="1"/>
          <p:nvPr/>
        </p:nvSpPr>
        <p:spPr>
          <a:xfrm>
            <a:off x="5782962" y="6529389"/>
            <a:ext cx="56454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i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Advanced Electrical Characterization of Charge Trapping in MOS Transistors</a:t>
            </a:r>
            <a:endParaRPr lang="ko-KR" altLang="en-US" sz="1200" i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xmlns="" id="{C0F4A1C6-320D-D2A6-7ADE-FFB5C30C6EEB}"/>
              </a:ext>
            </a:extLst>
          </p:cNvPr>
          <p:cNvCxnSpPr>
            <a:cxnSpLocks/>
          </p:cNvCxnSpPr>
          <p:nvPr/>
        </p:nvCxnSpPr>
        <p:spPr>
          <a:xfrm>
            <a:off x="3474225" y="2061920"/>
            <a:ext cx="53903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xmlns="" id="{4CDAA9A6-587C-1AE7-5EC9-FC771F3E17A9}"/>
              </a:ext>
            </a:extLst>
          </p:cNvPr>
          <p:cNvCxnSpPr>
            <a:cxnSpLocks/>
          </p:cNvCxnSpPr>
          <p:nvPr/>
        </p:nvCxnSpPr>
        <p:spPr>
          <a:xfrm>
            <a:off x="3474225" y="4182820"/>
            <a:ext cx="53903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A4801D2D-9B3C-828B-E5AE-364FB9062BB2}"/>
              </a:ext>
            </a:extLst>
          </p:cNvPr>
          <p:cNvSpPr txBox="1"/>
          <p:nvPr/>
        </p:nvSpPr>
        <p:spPr>
          <a:xfrm>
            <a:off x="2959100" y="1826454"/>
            <a:ext cx="67817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Ec</a:t>
            </a:r>
            <a:endParaRPr lang="ko-KR" altLang="en-US" sz="25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6A1347C2-F900-78AD-EEA7-800336C2BF29}"/>
              </a:ext>
            </a:extLst>
          </p:cNvPr>
          <p:cNvSpPr txBox="1"/>
          <p:nvPr/>
        </p:nvSpPr>
        <p:spPr>
          <a:xfrm>
            <a:off x="2959101" y="3947354"/>
            <a:ext cx="67817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Ev</a:t>
            </a:r>
            <a:endParaRPr lang="ko-KR" altLang="en-US" sz="25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xmlns="" id="{7FA29DAF-240F-A38D-4FBB-697E2A862552}"/>
              </a:ext>
            </a:extLst>
          </p:cNvPr>
          <p:cNvCxnSpPr/>
          <p:nvPr/>
        </p:nvCxnSpPr>
        <p:spPr>
          <a:xfrm>
            <a:off x="4635500" y="3086100"/>
            <a:ext cx="8001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xmlns="" id="{E907B100-A06F-27A4-4C68-A1443CD57F35}"/>
              </a:ext>
            </a:extLst>
          </p:cNvPr>
          <p:cNvCxnSpPr/>
          <p:nvPr/>
        </p:nvCxnSpPr>
        <p:spPr>
          <a:xfrm>
            <a:off x="6692900" y="3086100"/>
            <a:ext cx="8001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타원 31">
            <a:extLst>
              <a:ext uri="{FF2B5EF4-FFF2-40B4-BE49-F238E27FC236}">
                <a16:creationId xmlns:a16="http://schemas.microsoft.com/office/drawing/2014/main" xmlns="" id="{1AF0AFC3-800A-9521-371F-277FAE0390F7}"/>
              </a:ext>
            </a:extLst>
          </p:cNvPr>
          <p:cNvSpPr/>
          <p:nvPr/>
        </p:nvSpPr>
        <p:spPr>
          <a:xfrm>
            <a:off x="4903929" y="2945594"/>
            <a:ext cx="263242" cy="28019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xmlns="" id="{33B86950-F814-FCCF-CF19-9F16FFA4FCC0}"/>
              </a:ext>
            </a:extLst>
          </p:cNvPr>
          <p:cNvSpPr/>
          <p:nvPr/>
        </p:nvSpPr>
        <p:spPr>
          <a:xfrm>
            <a:off x="6961329" y="2945594"/>
            <a:ext cx="263242" cy="28019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C3F9C201-63EB-4D2E-C426-A3CAD650BC6C}"/>
              </a:ext>
            </a:extLst>
          </p:cNvPr>
          <p:cNvSpPr txBox="1"/>
          <p:nvPr/>
        </p:nvSpPr>
        <p:spPr>
          <a:xfrm flipV="1">
            <a:off x="4077217" y="2065561"/>
            <a:ext cx="461665" cy="176894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ko-KR" dirty="0">
                <a:solidFill>
                  <a:srgbClr val="156082"/>
                </a:solidFill>
              </a:rPr>
              <a:t>Acceptor-like</a:t>
            </a:r>
            <a:endParaRPr lang="ko-KR" altLang="en-US" dirty="0">
              <a:solidFill>
                <a:srgbClr val="156082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90617514-0AD7-6D9B-16AB-B170991431C8}"/>
              </a:ext>
            </a:extLst>
          </p:cNvPr>
          <p:cNvSpPr txBox="1"/>
          <p:nvPr/>
        </p:nvSpPr>
        <p:spPr>
          <a:xfrm flipV="1">
            <a:off x="7923639" y="1956500"/>
            <a:ext cx="461665" cy="176894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Donor-like</a:t>
            </a:r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41" name="연결선: 구부러짐 40">
            <a:extLst>
              <a:ext uri="{FF2B5EF4-FFF2-40B4-BE49-F238E27FC236}">
                <a16:creationId xmlns:a16="http://schemas.microsoft.com/office/drawing/2014/main" xmlns="" id="{66B4D081-01B3-18E7-1841-363FFB660338}"/>
              </a:ext>
            </a:extLst>
          </p:cNvPr>
          <p:cNvCxnSpPr>
            <a:cxnSpLocks/>
          </p:cNvCxnSpPr>
          <p:nvPr/>
        </p:nvCxnSpPr>
        <p:spPr>
          <a:xfrm rot="5400000">
            <a:off x="4556912" y="2471272"/>
            <a:ext cx="901120" cy="93070"/>
          </a:xfrm>
          <a:prstGeom prst="curvedConnector3">
            <a:avLst>
              <a:gd name="adj1" fmla="val -311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xmlns="" id="{80ED954B-93C7-B069-9842-C87F56B855B9}"/>
              </a:ext>
            </a:extLst>
          </p:cNvPr>
          <p:cNvSpPr txBox="1"/>
          <p:nvPr/>
        </p:nvSpPr>
        <p:spPr>
          <a:xfrm>
            <a:off x="4427149" y="1474220"/>
            <a:ext cx="17422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15608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</a:t>
            </a:r>
            <a:r>
              <a:rPr lang="en-US" altLang="ko-KR" b="1" baseline="-25000" dirty="0">
                <a:solidFill>
                  <a:srgbClr val="15608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</a:t>
            </a:r>
            <a:r>
              <a:rPr lang="en-US" altLang="ko-KR" b="1" dirty="0">
                <a:solidFill>
                  <a:srgbClr val="15608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+ e</a:t>
            </a:r>
            <a:r>
              <a:rPr lang="en-US" altLang="ko-KR" b="1" baseline="30000" dirty="0">
                <a:solidFill>
                  <a:srgbClr val="15608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− </a:t>
            </a:r>
            <a:r>
              <a:rPr lang="en-US" altLang="ko-KR" b="1" dirty="0">
                <a:solidFill>
                  <a:srgbClr val="15608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→ A</a:t>
            </a:r>
            <a:r>
              <a:rPr lang="en-US" altLang="ko-KR" b="1" baseline="30000" dirty="0">
                <a:solidFill>
                  <a:srgbClr val="15608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−</a:t>
            </a:r>
            <a:endParaRPr lang="ko-KR" altLang="en-US" b="1" baseline="30000" dirty="0">
              <a:solidFill>
                <a:srgbClr val="15608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xmlns="" id="{57710BEC-24C7-61D8-CA97-2646E707F680}"/>
              </a:ext>
            </a:extLst>
          </p:cNvPr>
          <p:cNvSpPr txBox="1"/>
          <p:nvPr/>
        </p:nvSpPr>
        <p:spPr>
          <a:xfrm>
            <a:off x="4621527" y="3225788"/>
            <a:ext cx="9085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156082"/>
                </a:solidFill>
              </a:rPr>
              <a:t>0 → −</a:t>
            </a:r>
            <a:endParaRPr lang="ko-KR" altLang="en-US" b="1" dirty="0">
              <a:solidFill>
                <a:srgbClr val="156082"/>
              </a:solidFill>
            </a:endParaRPr>
          </a:p>
        </p:txBody>
      </p:sp>
      <p:cxnSp>
        <p:nvCxnSpPr>
          <p:cNvPr id="48" name="연결선: 구부러짐 47">
            <a:extLst>
              <a:ext uri="{FF2B5EF4-FFF2-40B4-BE49-F238E27FC236}">
                <a16:creationId xmlns:a16="http://schemas.microsoft.com/office/drawing/2014/main" xmlns="" id="{D47B649B-91B2-7CB3-6519-EAA14AF764F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628280" y="2312529"/>
            <a:ext cx="1136981" cy="269655"/>
          </a:xfrm>
          <a:prstGeom prst="curvedConnector3">
            <a:avLst>
              <a:gd name="adj1" fmla="val -3616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xmlns="" id="{D2586946-8AF6-7240-2F9D-56FA47636901}"/>
              </a:ext>
            </a:extLst>
          </p:cNvPr>
          <p:cNvSpPr txBox="1"/>
          <p:nvPr/>
        </p:nvSpPr>
        <p:spPr>
          <a:xfrm>
            <a:off x="6692900" y="1479543"/>
            <a:ext cx="1687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</a:t>
            </a:r>
            <a:r>
              <a:rPr lang="en-US" altLang="ko-KR" b="1" baseline="-250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 </a:t>
            </a:r>
            <a:r>
              <a:rPr lang="en-US" altLang="ko-KR" b="1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→ D</a:t>
            </a:r>
            <a:r>
              <a:rPr lang="en-US" altLang="ko-KR" b="1" baseline="300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+ </a:t>
            </a:r>
            <a:r>
              <a:rPr lang="en-US" altLang="ko-KR" b="1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+ e</a:t>
            </a:r>
            <a:r>
              <a:rPr lang="en-US" altLang="ko-KR" b="1" baseline="300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−</a:t>
            </a:r>
            <a:endParaRPr lang="ko-KR" altLang="en-US" b="1" baseline="30000" dirty="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xmlns="" id="{7AA43435-F667-FFDB-F7D8-06C3AE0768BD}"/>
              </a:ext>
            </a:extLst>
          </p:cNvPr>
          <p:cNvSpPr txBox="1"/>
          <p:nvPr/>
        </p:nvSpPr>
        <p:spPr>
          <a:xfrm>
            <a:off x="8547514" y="2684084"/>
            <a:ext cx="34887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FF0000"/>
                </a:solidFill>
              </a:rPr>
              <a:t>Oxygen vacancy (V</a:t>
            </a:r>
            <a:r>
              <a:rPr lang="en-US" altLang="ko-KR" baseline="-25000" dirty="0">
                <a:solidFill>
                  <a:srgbClr val="FF0000"/>
                </a:solidFill>
              </a:rPr>
              <a:t>O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FF0000"/>
                </a:solidFill>
              </a:rPr>
              <a:t>Interstitial hydrogen (H</a:t>
            </a:r>
            <a:r>
              <a:rPr lang="en-US" altLang="ko-KR" baseline="-25000" dirty="0">
                <a:solidFill>
                  <a:srgbClr val="FF0000"/>
                </a:solidFill>
              </a:rPr>
              <a:t>i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FF0000"/>
                </a:solidFill>
              </a:rPr>
              <a:t>Substitutional hydrogen (H</a:t>
            </a:r>
            <a:r>
              <a:rPr lang="en-US" altLang="ko-KR" baseline="-25000" dirty="0">
                <a:solidFill>
                  <a:srgbClr val="FF0000"/>
                </a:solidFill>
              </a:rPr>
              <a:t>O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xmlns="" id="{AAFF139A-2C2C-B8B5-CE7C-0FACB91D137A}"/>
              </a:ext>
            </a:extLst>
          </p:cNvPr>
          <p:cNvSpPr txBox="1"/>
          <p:nvPr/>
        </p:nvSpPr>
        <p:spPr>
          <a:xfrm>
            <a:off x="308919" y="2684084"/>
            <a:ext cx="34998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156082"/>
                </a:solidFill>
              </a:rPr>
              <a:t>Oxygen interstitial (O</a:t>
            </a:r>
            <a:r>
              <a:rPr lang="en-US" altLang="ko-KR" baseline="-25000" dirty="0">
                <a:solidFill>
                  <a:srgbClr val="156082"/>
                </a:solidFill>
              </a:rPr>
              <a:t>i</a:t>
            </a:r>
            <a:r>
              <a:rPr lang="en-US" altLang="ko-KR" dirty="0">
                <a:solidFill>
                  <a:srgbClr val="156082"/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156082"/>
                </a:solidFill>
              </a:rPr>
              <a:t>Deep oxygen-related defects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156082"/>
                </a:solidFill>
              </a:rPr>
              <a:t>Interface traps</a:t>
            </a:r>
            <a:endParaRPr lang="ko-KR" altLang="en-US" b="1" dirty="0">
              <a:solidFill>
                <a:srgbClr val="156082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xmlns="" id="{DEA41F8D-99ED-77D3-2CAD-7ABC7B634F4D}"/>
              </a:ext>
            </a:extLst>
          </p:cNvPr>
          <p:cNvSpPr txBox="1"/>
          <p:nvPr/>
        </p:nvSpPr>
        <p:spPr>
          <a:xfrm>
            <a:off x="6871208" y="4669637"/>
            <a:ext cx="344196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전자를 </a:t>
            </a:r>
            <a:r>
              <a:rPr lang="en-US" altLang="ko-KR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Conduction Band</a:t>
            </a:r>
            <a:r>
              <a:rPr lang="ko-KR" altLang="en-US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 방출</a:t>
            </a:r>
            <a:endParaRPr lang="en-US" altLang="ko-KR" dirty="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dirty="0">
                <a:solidFill>
                  <a:srgbClr val="FF0000"/>
                </a:solidFill>
              </a:rPr>
              <a:t>→ </a:t>
            </a:r>
            <a:r>
              <a:rPr lang="en-US" altLang="ko-KR" dirty="0">
                <a:solidFill>
                  <a:srgbClr val="FF0000"/>
                </a:solidFill>
              </a:rPr>
              <a:t>C</a:t>
            </a:r>
            <a:r>
              <a:rPr lang="en-US" altLang="ko-KR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arrier </a:t>
            </a:r>
            <a:r>
              <a:rPr lang="ko-KR" altLang="en-US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증가</a:t>
            </a:r>
            <a:endParaRPr lang="en-US" altLang="ko-KR" dirty="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dirty="0">
                <a:solidFill>
                  <a:srgbClr val="FF0000"/>
                </a:solidFill>
              </a:rPr>
              <a:t>→ </a:t>
            </a:r>
            <a:r>
              <a:rPr lang="en-US" altLang="ko-KR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Conductivity </a:t>
            </a:r>
            <a:r>
              <a:rPr lang="ko-KR" altLang="en-US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증가</a:t>
            </a:r>
            <a:endParaRPr lang="en-US" altLang="ko-KR" dirty="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dirty="0">
                <a:solidFill>
                  <a:srgbClr val="FF0000"/>
                </a:solidFill>
              </a:rPr>
              <a:t>→ </a:t>
            </a:r>
            <a:r>
              <a:rPr lang="en-US" altLang="ko-KR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V</a:t>
            </a:r>
            <a:r>
              <a:rPr lang="en-US" altLang="ko-KR" baseline="-250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TH</a:t>
            </a:r>
            <a:r>
              <a:rPr lang="en-US" altLang="ko-KR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b="1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negative shift</a:t>
            </a:r>
            <a:endParaRPr lang="ko-KR" altLang="en-US" b="1" dirty="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xmlns="" id="{3F9A5E87-0819-41D6-05E3-3ACD14829D76}"/>
              </a:ext>
            </a:extLst>
          </p:cNvPr>
          <p:cNvSpPr txBox="1"/>
          <p:nvPr/>
        </p:nvSpPr>
        <p:spPr>
          <a:xfrm>
            <a:off x="1874604" y="4669637"/>
            <a:ext cx="366638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15608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Conduction Band</a:t>
            </a:r>
            <a:r>
              <a:rPr lang="ko-KR" altLang="en-US" dirty="0">
                <a:solidFill>
                  <a:srgbClr val="15608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</a:t>
            </a:r>
            <a:r>
              <a:rPr lang="en-US" altLang="ko-KR" dirty="0">
                <a:solidFill>
                  <a:srgbClr val="15608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dirty="0">
                <a:solidFill>
                  <a:srgbClr val="15608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자유전자 포획</a:t>
            </a:r>
            <a:endParaRPr lang="en-US" altLang="ko-KR" dirty="0">
              <a:solidFill>
                <a:srgbClr val="15608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dirty="0">
                <a:solidFill>
                  <a:srgbClr val="156082"/>
                </a:solidFill>
              </a:rPr>
              <a:t>→ </a:t>
            </a:r>
            <a:r>
              <a:rPr lang="en-US" altLang="ko-KR" dirty="0">
                <a:solidFill>
                  <a:srgbClr val="15608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Carrier </a:t>
            </a:r>
            <a:r>
              <a:rPr lang="ko-KR" altLang="en-US" dirty="0">
                <a:solidFill>
                  <a:srgbClr val="15608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감소</a:t>
            </a:r>
            <a:endParaRPr lang="en-US" altLang="ko-KR" dirty="0">
              <a:solidFill>
                <a:srgbClr val="15608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dirty="0">
                <a:solidFill>
                  <a:srgbClr val="156082"/>
                </a:solidFill>
              </a:rPr>
              <a:t>→ </a:t>
            </a:r>
            <a:r>
              <a:rPr lang="en-US" altLang="ko-KR" dirty="0">
                <a:solidFill>
                  <a:srgbClr val="15608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Conductivity </a:t>
            </a:r>
            <a:r>
              <a:rPr lang="ko-KR" altLang="en-US" dirty="0">
                <a:solidFill>
                  <a:srgbClr val="15608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감소</a:t>
            </a:r>
            <a:endParaRPr lang="en-US" altLang="ko-KR" dirty="0">
              <a:solidFill>
                <a:srgbClr val="15608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dirty="0">
                <a:solidFill>
                  <a:srgbClr val="156082"/>
                </a:solidFill>
              </a:rPr>
              <a:t>→ </a:t>
            </a:r>
            <a:r>
              <a:rPr lang="en-US" altLang="ko-KR" dirty="0">
                <a:solidFill>
                  <a:srgbClr val="15608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V</a:t>
            </a:r>
            <a:r>
              <a:rPr lang="en-US" altLang="ko-KR" baseline="-25000" dirty="0">
                <a:solidFill>
                  <a:srgbClr val="15608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TH</a:t>
            </a:r>
            <a:r>
              <a:rPr lang="en-US" altLang="ko-KR" dirty="0">
                <a:solidFill>
                  <a:srgbClr val="15608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b="1" dirty="0">
                <a:solidFill>
                  <a:srgbClr val="15608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positive shift</a:t>
            </a:r>
            <a:endParaRPr lang="ko-KR" altLang="en-US" b="1" dirty="0">
              <a:solidFill>
                <a:srgbClr val="15608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0" name="슬라이드 번호 개체 틀 59">
            <a:extLst>
              <a:ext uri="{FF2B5EF4-FFF2-40B4-BE49-F238E27FC236}">
                <a16:creationId xmlns:a16="http://schemas.microsoft.com/office/drawing/2014/main" xmlns="" id="{DDC058E1-FBE9-7E9E-B96D-ABCDCB9B3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5168" y="6372406"/>
            <a:ext cx="2387600" cy="365125"/>
          </a:xfrm>
        </p:spPr>
        <p:txBody>
          <a:bodyPr/>
          <a:lstStyle/>
          <a:p>
            <a:fld id="{FB3E1704-955B-45E9-8CC7-423CE1421702}" type="slidenum">
              <a:rPr lang="ko-KR" altLang="en-US" smtClean="0"/>
              <a:t>22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729911D3-AA33-B337-1B26-001EFEB26834}"/>
              </a:ext>
            </a:extLst>
          </p:cNvPr>
          <p:cNvSpPr txBox="1"/>
          <p:nvPr/>
        </p:nvSpPr>
        <p:spPr>
          <a:xfrm>
            <a:off x="6799752" y="3207811"/>
            <a:ext cx="9085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0 → </a:t>
            </a:r>
            <a:r>
              <a:rPr lang="en-US" altLang="ko-KR" dirty="0">
                <a:solidFill>
                  <a:srgbClr val="FF0000"/>
                </a:solidFill>
              </a:rPr>
              <a:t>+</a:t>
            </a:r>
            <a:endParaRPr lang="ko-KR" altLang="en-US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9201273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2" descr="Summary of turn-on voltage shift during (a) PBS and (b) NBS test.... |  Download Scientific Diagram">
            <a:extLst>
              <a:ext uri="{FF2B5EF4-FFF2-40B4-BE49-F238E27FC236}">
                <a16:creationId xmlns:a16="http://schemas.microsoft.com/office/drawing/2014/main" xmlns="" id="{12AE9B05-7A45-4872-1844-91666252BC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264"/>
          <a:stretch/>
        </p:blipFill>
        <p:spPr bwMode="auto">
          <a:xfrm>
            <a:off x="3520940" y="2553006"/>
            <a:ext cx="2430598" cy="2936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752300E9-573D-EABE-77AE-4C6886A028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34" t="8835" r="60111" b="11748"/>
          <a:stretch/>
        </p:blipFill>
        <p:spPr>
          <a:xfrm>
            <a:off x="453213" y="2616667"/>
            <a:ext cx="3070806" cy="2646120"/>
          </a:xfrm>
          <a:prstGeom prst="rect">
            <a:avLst/>
          </a:prstGeom>
        </p:spPr>
      </p:pic>
      <p:sp>
        <p:nvSpPr>
          <p:cNvPr id="9" name="화살표: 오른쪽 8">
            <a:extLst>
              <a:ext uri="{FF2B5EF4-FFF2-40B4-BE49-F238E27FC236}">
                <a16:creationId xmlns:a16="http://schemas.microsoft.com/office/drawing/2014/main" xmlns="" id="{8D49DC3B-B5FF-E497-9EFF-65A958DB8A0F}"/>
              </a:ext>
            </a:extLst>
          </p:cNvPr>
          <p:cNvSpPr/>
          <p:nvPr/>
        </p:nvSpPr>
        <p:spPr>
          <a:xfrm>
            <a:off x="4411690" y="3759200"/>
            <a:ext cx="438243" cy="132315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C754549A-010D-E8DE-7336-29A3A1F7F3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188" b="10154"/>
          <a:stretch/>
        </p:blipFill>
        <p:spPr>
          <a:xfrm>
            <a:off x="6543652" y="2276032"/>
            <a:ext cx="2557277" cy="3098650"/>
          </a:xfrm>
          <a:prstGeom prst="rect">
            <a:avLst/>
          </a:prstGeom>
        </p:spPr>
      </p:pic>
      <p:sp>
        <p:nvSpPr>
          <p:cNvPr id="16" name="제목 1">
            <a:extLst>
              <a:ext uri="{FF2B5EF4-FFF2-40B4-BE49-F238E27FC236}">
                <a16:creationId xmlns:a16="http://schemas.microsoft.com/office/drawing/2014/main" xmlns="" id="{6FA2FD38-7298-317A-20EC-0DF4AE52B12A}"/>
              </a:ext>
            </a:extLst>
          </p:cNvPr>
          <p:cNvSpPr txBox="1">
            <a:spLocks/>
          </p:cNvSpPr>
          <p:nvPr/>
        </p:nvSpPr>
        <p:spPr>
          <a:xfrm>
            <a:off x="133633" y="328611"/>
            <a:ext cx="10182225" cy="826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xmlns="" id="{90B04456-BCC2-B2B9-A064-BD1F81B03B8B}"/>
              </a:ext>
            </a:extLst>
          </p:cNvPr>
          <p:cNvSpPr/>
          <p:nvPr/>
        </p:nvSpPr>
        <p:spPr>
          <a:xfrm>
            <a:off x="123824" y="1094422"/>
            <a:ext cx="11783786" cy="60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7C0E6A1B-7436-1C84-E2CA-06A07C72AD59}"/>
              </a:ext>
            </a:extLst>
          </p:cNvPr>
          <p:cNvSpPr txBox="1"/>
          <p:nvPr/>
        </p:nvSpPr>
        <p:spPr>
          <a:xfrm>
            <a:off x="6234092" y="1949019"/>
            <a:ext cx="56735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NBIS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Negative Bias Illumination Stress</a:t>
            </a:r>
            <a:endParaRPr lang="ko-KR" altLang="en-US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D319F344-A134-3F1B-D1F2-D8FF3D30FD8C}"/>
              </a:ext>
            </a:extLst>
          </p:cNvPr>
          <p:cNvSpPr txBox="1"/>
          <p:nvPr/>
        </p:nvSpPr>
        <p:spPr>
          <a:xfrm>
            <a:off x="1457379" y="1949019"/>
            <a:ext cx="36743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PBS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Positive Bias Stress</a:t>
            </a:r>
            <a:endParaRPr lang="ko-KR" altLang="en-US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제목 1">
            <a:extLst>
              <a:ext uri="{FF2B5EF4-FFF2-40B4-BE49-F238E27FC236}">
                <a16:creationId xmlns:a16="http://schemas.microsoft.com/office/drawing/2014/main" xmlns="" id="{E6CFCA68-E9AC-A39D-A5EE-1A79EEFA3600}"/>
              </a:ext>
            </a:extLst>
          </p:cNvPr>
          <p:cNvSpPr txBox="1">
            <a:spLocks/>
          </p:cNvSpPr>
          <p:nvPr/>
        </p:nvSpPr>
        <p:spPr>
          <a:xfrm>
            <a:off x="169882" y="261054"/>
            <a:ext cx="10182225" cy="826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/>
              <a:t>Reliability Summary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12BF8A2C-1AC5-74ED-7EBE-7F9DC18E8A47}"/>
              </a:ext>
            </a:extLst>
          </p:cNvPr>
          <p:cNvSpPr txBox="1"/>
          <p:nvPr/>
        </p:nvSpPr>
        <p:spPr>
          <a:xfrm>
            <a:off x="7569200" y="58963"/>
            <a:ext cx="46228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Section 5. Bias Stress Mechanisms </a:t>
            </a:r>
            <a:endParaRPr lang="ko-KR" altLang="en-US" sz="1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EA3EA583-F181-A39E-565B-6798B0DF291C}"/>
              </a:ext>
            </a:extLst>
          </p:cNvPr>
          <p:cNvSpPr/>
          <p:nvPr/>
        </p:nvSpPr>
        <p:spPr>
          <a:xfrm>
            <a:off x="5923377" y="2349129"/>
            <a:ext cx="140873" cy="2311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7A971632-E053-42E9-5D13-64C83A890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1800" y="6346826"/>
            <a:ext cx="2387600" cy="365125"/>
          </a:xfrm>
        </p:spPr>
        <p:txBody>
          <a:bodyPr/>
          <a:lstStyle/>
          <a:p>
            <a:fld id="{FB3E1704-955B-45E9-8CC7-423CE1421702}" type="slidenum">
              <a:rPr lang="ko-KR" altLang="en-US" smtClean="0"/>
              <a:t>23</a:t>
            </a:fld>
            <a:endParaRPr lang="ko-KR" altLang="en-US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xmlns="" id="{DEE007EC-D349-6AC9-EBAE-1A89A200A291}"/>
              </a:ext>
            </a:extLst>
          </p:cNvPr>
          <p:cNvGrpSpPr/>
          <p:nvPr/>
        </p:nvGrpSpPr>
        <p:grpSpPr>
          <a:xfrm>
            <a:off x="9001825" y="2553006"/>
            <a:ext cx="2430598" cy="2936394"/>
            <a:chOff x="2593841" y="1552379"/>
            <a:chExt cx="2105159" cy="2580678"/>
          </a:xfrm>
        </p:grpSpPr>
        <p:pic>
          <p:nvPicPr>
            <p:cNvPr id="18" name="Picture 10" descr="Summary of turn-on voltage shift during (a) PBS and (b) NBS test.... |  Download Scientific Diagram">
              <a:extLst>
                <a:ext uri="{FF2B5EF4-FFF2-40B4-BE49-F238E27FC236}">
                  <a16:creationId xmlns:a16="http://schemas.microsoft.com/office/drawing/2014/main" xmlns="" id="{27EDB448-4E40-6A03-168F-A9865B5B025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/>
            <a:stretch/>
          </p:blipFill>
          <p:spPr bwMode="auto">
            <a:xfrm>
              <a:off x="2593841" y="1552379"/>
              <a:ext cx="2105159" cy="25806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화살표: 오른쪽 18">
              <a:extLst>
                <a:ext uri="{FF2B5EF4-FFF2-40B4-BE49-F238E27FC236}">
                  <a16:creationId xmlns:a16="http://schemas.microsoft.com/office/drawing/2014/main" xmlns="" id="{01290769-E861-EFC3-C3EA-FD69734880A7}"/>
                </a:ext>
              </a:extLst>
            </p:cNvPr>
            <p:cNvSpPr/>
            <p:nvPr/>
          </p:nvSpPr>
          <p:spPr>
            <a:xfrm flipH="1">
              <a:off x="3116194" y="2527697"/>
              <a:ext cx="439805" cy="126603"/>
            </a:xfrm>
            <a:prstGeom prst="rightArrow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xmlns="" id="{CE75F495-4F74-80DA-95A2-C546845A8853}"/>
                </a:ext>
              </a:extLst>
            </p:cNvPr>
            <p:cNvSpPr/>
            <p:nvPr/>
          </p:nvSpPr>
          <p:spPr>
            <a:xfrm>
              <a:off x="3064669" y="1728788"/>
              <a:ext cx="314325" cy="1071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xmlns="" id="{43085BB8-A55B-066F-309E-5FA4A1093A39}"/>
                </a:ext>
              </a:extLst>
            </p:cNvPr>
            <p:cNvSpPr txBox="1"/>
            <p:nvPr/>
          </p:nvSpPr>
          <p:spPr>
            <a:xfrm>
              <a:off x="2976863" y="1647527"/>
              <a:ext cx="718466" cy="247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NBIS</a:t>
              </a:r>
              <a:endParaRPr lang="ko-KR" alt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502408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D38D4A99-915A-BBA2-9008-CE485126B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6924" y="3152743"/>
            <a:ext cx="4585205" cy="3080263"/>
          </a:xfrm>
          <a:prstGeom prst="rect">
            <a:avLst/>
          </a:prstGeom>
          <a:ln w="38100">
            <a:noFill/>
          </a:ln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xmlns="" id="{9F3B280A-9FBD-EB3A-C99C-A099F0B5792F}"/>
              </a:ext>
            </a:extLst>
          </p:cNvPr>
          <p:cNvSpPr txBox="1">
            <a:spLocks/>
          </p:cNvSpPr>
          <p:nvPr/>
        </p:nvSpPr>
        <p:spPr>
          <a:xfrm>
            <a:off x="133633" y="328611"/>
            <a:ext cx="10182225" cy="826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Photolithography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에서의 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V</a:t>
            </a:r>
            <a:r>
              <a:rPr lang="en-US" altLang="ko-KR" b="1" baseline="-25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th 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shift 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70DF691A-EFD8-D949-9A2D-A19AF2744599}"/>
              </a:ext>
            </a:extLst>
          </p:cNvPr>
          <p:cNvSpPr/>
          <p:nvPr/>
        </p:nvSpPr>
        <p:spPr>
          <a:xfrm>
            <a:off x="123824" y="1094422"/>
            <a:ext cx="11783786" cy="60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2" name="Picture 2" descr="Figure 112004004549459-pat00001">
            <a:extLst>
              <a:ext uri="{FF2B5EF4-FFF2-40B4-BE49-F238E27FC236}">
                <a16:creationId xmlns:a16="http://schemas.microsoft.com/office/drawing/2014/main" xmlns="" id="{DAF4E07C-8D45-D007-DF42-BBBD227C9D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527" b="4309"/>
          <a:stretch/>
        </p:blipFill>
        <p:spPr bwMode="auto">
          <a:xfrm>
            <a:off x="1349871" y="5674092"/>
            <a:ext cx="3461078" cy="279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95E45B4E-794B-9072-F7E1-65F663D35D8F}"/>
              </a:ext>
            </a:extLst>
          </p:cNvPr>
          <p:cNvSpPr txBox="1"/>
          <p:nvPr/>
        </p:nvSpPr>
        <p:spPr>
          <a:xfrm>
            <a:off x="1736826" y="4500922"/>
            <a:ext cx="2146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Photoresist </a:t>
            </a:r>
            <a:r>
              <a:rPr lang="ko-KR" altLang="en-US" sz="1500" b="1" i="0" dirty="0"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화학식</a:t>
            </a:r>
            <a:endParaRPr lang="ko-KR" altLang="en-US" sz="15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A25E80A2-82D8-C188-7E31-F3A2EF6E1717}"/>
              </a:ext>
            </a:extLst>
          </p:cNvPr>
          <p:cNvSpPr txBox="1"/>
          <p:nvPr/>
        </p:nvSpPr>
        <p:spPr>
          <a:xfrm>
            <a:off x="6134805" y="2425097"/>
            <a:ext cx="48020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Thermal Desorption Spectroscopy</a:t>
            </a:r>
            <a:endParaRPr lang="ko-KR" altLang="en-US" sz="2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07B522C7-57CE-FB50-BA89-6DF3A40C66C6}"/>
              </a:ext>
            </a:extLst>
          </p:cNvPr>
          <p:cNvSpPr txBox="1"/>
          <p:nvPr/>
        </p:nvSpPr>
        <p:spPr>
          <a:xfrm>
            <a:off x="3399230" y="4853108"/>
            <a:ext cx="2361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+ AOS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표면의 산소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7B88CC4B-B3FB-DAB7-9D9F-1C779A203272}"/>
              </a:ext>
            </a:extLst>
          </p:cNvPr>
          <p:cNvSpPr txBox="1"/>
          <p:nvPr/>
        </p:nvSpPr>
        <p:spPr>
          <a:xfrm>
            <a:off x="6832600" y="58963"/>
            <a:ext cx="53594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Section 6. Mobility–Reliability Trade-off </a:t>
            </a:r>
            <a:endParaRPr lang="ko-KR" altLang="en-US" sz="1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F6F57186-008B-7D5A-74C8-F185DDB0ABF9}"/>
              </a:ext>
            </a:extLst>
          </p:cNvPr>
          <p:cNvSpPr txBox="1"/>
          <p:nvPr/>
        </p:nvSpPr>
        <p:spPr>
          <a:xfrm>
            <a:off x="254001" y="1259473"/>
            <a:ext cx="11506200" cy="923330"/>
          </a:xfrm>
          <a:prstGeom prst="rect">
            <a:avLst/>
          </a:prstGeom>
          <a:noFill/>
          <a:ln w="28575">
            <a:solidFill>
              <a:srgbClr val="15608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Shiah et al.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수행한 실험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66700"/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Photolithography →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CO-related impurities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생성 확인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(TDS) → 350°C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이상 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postdeposition annealing → Negative Bias Stress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완화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xmlns="" id="{76FC9E97-2A4F-A471-3B78-BD29B1A58A2D}"/>
              </a:ext>
            </a:extLst>
          </p:cNvPr>
          <p:cNvSpPr/>
          <p:nvPr/>
        </p:nvSpPr>
        <p:spPr>
          <a:xfrm>
            <a:off x="7759083" y="4826906"/>
            <a:ext cx="1686757" cy="13840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3" name="연결선: 구부러짐 2">
            <a:extLst>
              <a:ext uri="{FF2B5EF4-FFF2-40B4-BE49-F238E27FC236}">
                <a16:creationId xmlns:a16="http://schemas.microsoft.com/office/drawing/2014/main" xmlns="" id="{560BEEEC-F348-37D8-2A8F-BD40B272F8D7}"/>
              </a:ext>
            </a:extLst>
          </p:cNvPr>
          <p:cNvCxnSpPr/>
          <p:nvPr/>
        </p:nvCxnSpPr>
        <p:spPr>
          <a:xfrm rot="5400000">
            <a:off x="2826168" y="5094144"/>
            <a:ext cx="536852" cy="424113"/>
          </a:xfrm>
          <a:prstGeom prst="curvedConnector3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B31503AA-523F-3253-6E26-7B0A43AE7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E1704-955B-45E9-8CC7-423CE1421702}" type="slidenum">
              <a:rPr lang="ko-KR" altLang="en-US" smtClean="0"/>
              <a:t>24</a:t>
            </a:fld>
            <a:endParaRPr lang="ko-KR" altLang="en-US" dirty="0"/>
          </a:p>
        </p:txBody>
      </p:sp>
      <p:pic>
        <p:nvPicPr>
          <p:cNvPr id="1026" name="Picture 2" descr="KR20170083826A - 포토 레지스트 조성물 및 이를 이용한 반도체 장치의 제조 방법 - Google Patents">
            <a:extLst>
              <a:ext uri="{FF2B5EF4-FFF2-40B4-BE49-F238E27FC236}">
                <a16:creationId xmlns:a16="http://schemas.microsoft.com/office/drawing/2014/main" xmlns="" id="{815F043F-31C1-F39F-AA74-8351D897B0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373" y="2425097"/>
            <a:ext cx="1941205" cy="1941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39373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6B0B0FB6-865A-8C51-8346-014187E14E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199" b="68545"/>
          <a:stretch/>
        </p:blipFill>
        <p:spPr>
          <a:xfrm>
            <a:off x="3685312" y="2491681"/>
            <a:ext cx="5607184" cy="284583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xmlns="" id="{AD005A55-7D41-A160-A69A-1F8AFEC845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801" r="949" b="68545"/>
          <a:stretch/>
        </p:blipFill>
        <p:spPr>
          <a:xfrm>
            <a:off x="9227981" y="2503796"/>
            <a:ext cx="2833343" cy="284583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D43585A4-2638-D275-6C1E-45EF5125CEBA}"/>
              </a:ext>
            </a:extLst>
          </p:cNvPr>
          <p:cNvSpPr txBox="1"/>
          <p:nvPr/>
        </p:nvSpPr>
        <p:spPr>
          <a:xfrm>
            <a:off x="9408862" y="5399965"/>
            <a:ext cx="33818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TDS </a:t>
            </a:r>
            <a:r>
              <a:rPr lang="ko-KR" alt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결과 </a:t>
            </a:r>
            <a:r>
              <a:rPr lang="en-US" altLang="ko-KR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:</a:t>
            </a:r>
          </a:p>
          <a:p>
            <a:r>
              <a:rPr lang="en-US" altLang="ko-KR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350°C </a:t>
            </a:r>
            <a:r>
              <a:rPr lang="ko-KR" alt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이상에서 </a:t>
            </a:r>
            <a:r>
              <a:rPr lang="en-US" altLang="ko-KR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CO </a:t>
            </a:r>
            <a:r>
              <a:rPr lang="ko-KR" alt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관련 종 탈착 </a:t>
            </a:r>
            <a:endParaRPr lang="en-US" altLang="ko-KR" sz="1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제목 1">
            <a:extLst>
              <a:ext uri="{FF2B5EF4-FFF2-40B4-BE49-F238E27FC236}">
                <a16:creationId xmlns:a16="http://schemas.microsoft.com/office/drawing/2014/main" xmlns="" id="{E03B786C-BD74-4783-7C8A-23BC19A81CD3}"/>
              </a:ext>
            </a:extLst>
          </p:cNvPr>
          <p:cNvSpPr txBox="1">
            <a:spLocks/>
          </p:cNvSpPr>
          <p:nvPr/>
        </p:nvSpPr>
        <p:spPr>
          <a:xfrm>
            <a:off x="133633" y="328611"/>
            <a:ext cx="11372567" cy="8267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Process-Induced V</a:t>
            </a:r>
            <a:r>
              <a:rPr lang="en-US" altLang="ko-KR" sz="3600" b="1" baseline="-25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TH</a:t>
            </a:r>
            <a:r>
              <a:rPr lang="en-US" altLang="ko-KR" sz="3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Shift : CO-Related Impurities</a:t>
            </a:r>
            <a:endParaRPr lang="ko-KR" altLang="en-US" sz="3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xmlns="" id="{38203C6F-3049-580A-68BA-79D240A94FC9}"/>
              </a:ext>
            </a:extLst>
          </p:cNvPr>
          <p:cNvSpPr/>
          <p:nvPr/>
        </p:nvSpPr>
        <p:spPr>
          <a:xfrm>
            <a:off x="123824" y="1094422"/>
            <a:ext cx="11783786" cy="60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xmlns="" id="{34A6C59D-984A-34C1-5278-A8778C82E292}"/>
              </a:ext>
            </a:extLst>
          </p:cNvPr>
          <p:cNvGrpSpPr/>
          <p:nvPr/>
        </p:nvGrpSpPr>
        <p:grpSpPr>
          <a:xfrm>
            <a:off x="778108" y="2623096"/>
            <a:ext cx="442749" cy="331164"/>
            <a:chOff x="2158214" y="2551342"/>
            <a:chExt cx="373251" cy="224600"/>
          </a:xfrm>
        </p:grpSpPr>
        <p:sp>
          <p:nvSpPr>
            <p:cNvPr id="40" name="타원 39">
              <a:extLst>
                <a:ext uri="{FF2B5EF4-FFF2-40B4-BE49-F238E27FC236}">
                  <a16:creationId xmlns:a16="http://schemas.microsoft.com/office/drawing/2014/main" xmlns="" id="{ECF63A6D-80C6-8072-EA7B-4A62D6743502}"/>
                </a:ext>
              </a:extLst>
            </p:cNvPr>
            <p:cNvSpPr/>
            <p:nvPr/>
          </p:nvSpPr>
          <p:spPr>
            <a:xfrm>
              <a:off x="2207514" y="2551344"/>
              <a:ext cx="257175" cy="22459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xmlns="" id="{28A52443-F58C-2D30-FF55-8D8EC1B300A6}"/>
                </a:ext>
              </a:extLst>
            </p:cNvPr>
            <p:cNvSpPr txBox="1"/>
            <p:nvPr/>
          </p:nvSpPr>
          <p:spPr>
            <a:xfrm>
              <a:off x="2158214" y="2551342"/>
              <a:ext cx="373251" cy="2191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5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CO</a:t>
              </a:r>
              <a:endParaRPr lang="ko-KR" altLang="en-US" sz="15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xmlns="" id="{67F61DED-651B-D997-E0DD-A0E5021B6A0C}"/>
              </a:ext>
            </a:extLst>
          </p:cNvPr>
          <p:cNvGrpSpPr/>
          <p:nvPr/>
        </p:nvGrpSpPr>
        <p:grpSpPr>
          <a:xfrm>
            <a:off x="445250" y="2959587"/>
            <a:ext cx="2717103" cy="1832929"/>
            <a:chOff x="7545047" y="6351608"/>
            <a:chExt cx="3021353" cy="1767175"/>
          </a:xfrm>
        </p:grpSpPr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xmlns="" id="{50E0A412-A217-99E4-A7D9-8684AAE0F0A2}"/>
                </a:ext>
              </a:extLst>
            </p:cNvPr>
            <p:cNvSpPr/>
            <p:nvPr/>
          </p:nvSpPr>
          <p:spPr>
            <a:xfrm>
              <a:off x="7547136" y="7542089"/>
              <a:ext cx="3019264" cy="57669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altLang="ko-KR" sz="2000" b="1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Gate</a:t>
              </a:r>
              <a:endParaRPr lang="ko-KR" altLang="en-US" sz="2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024" name="직사각형 1023">
              <a:extLst>
                <a:ext uri="{FF2B5EF4-FFF2-40B4-BE49-F238E27FC236}">
                  <a16:creationId xmlns:a16="http://schemas.microsoft.com/office/drawing/2014/main" xmlns="" id="{F1CFD17B-DBC4-B6D8-CEB6-77430DF55F18}"/>
                </a:ext>
              </a:extLst>
            </p:cNvPr>
            <p:cNvSpPr/>
            <p:nvPr/>
          </p:nvSpPr>
          <p:spPr>
            <a:xfrm>
              <a:off x="7545047" y="7220513"/>
              <a:ext cx="3019264" cy="305419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b="1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GI</a:t>
              </a:r>
              <a:endParaRPr lang="ko-KR" altLang="en-US" sz="2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025" name="직사각형 1024">
              <a:extLst>
                <a:ext uri="{FF2B5EF4-FFF2-40B4-BE49-F238E27FC236}">
                  <a16:creationId xmlns:a16="http://schemas.microsoft.com/office/drawing/2014/main" xmlns="" id="{C054A01D-FE9B-7DB6-38B0-4F2BD3B11D0E}"/>
                </a:ext>
              </a:extLst>
            </p:cNvPr>
            <p:cNvSpPr/>
            <p:nvPr/>
          </p:nvSpPr>
          <p:spPr>
            <a:xfrm>
              <a:off x="7545047" y="6351608"/>
              <a:ext cx="3019264" cy="850806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b="1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IGZO</a:t>
              </a:r>
              <a:endParaRPr lang="ko-KR" altLang="en-US" sz="2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1031" name="그룹 1030">
            <a:extLst>
              <a:ext uri="{FF2B5EF4-FFF2-40B4-BE49-F238E27FC236}">
                <a16:creationId xmlns:a16="http://schemas.microsoft.com/office/drawing/2014/main" xmlns="" id="{A2D93A49-5F64-9956-997F-ABB7AA5FA15E}"/>
              </a:ext>
            </a:extLst>
          </p:cNvPr>
          <p:cNvGrpSpPr/>
          <p:nvPr/>
        </p:nvGrpSpPr>
        <p:grpSpPr>
          <a:xfrm>
            <a:off x="1637740" y="2627595"/>
            <a:ext cx="442749" cy="331161"/>
            <a:chOff x="2154090" y="2551344"/>
            <a:chExt cx="373251" cy="224598"/>
          </a:xfrm>
        </p:grpSpPr>
        <p:sp>
          <p:nvSpPr>
            <p:cNvPr id="1032" name="타원 1031">
              <a:extLst>
                <a:ext uri="{FF2B5EF4-FFF2-40B4-BE49-F238E27FC236}">
                  <a16:creationId xmlns:a16="http://schemas.microsoft.com/office/drawing/2014/main" xmlns="" id="{191AA249-F4FB-FC42-292B-D8C6525140B7}"/>
                </a:ext>
              </a:extLst>
            </p:cNvPr>
            <p:cNvSpPr/>
            <p:nvPr/>
          </p:nvSpPr>
          <p:spPr>
            <a:xfrm>
              <a:off x="2207514" y="2551344"/>
              <a:ext cx="257175" cy="22459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033" name="TextBox 1032">
              <a:extLst>
                <a:ext uri="{FF2B5EF4-FFF2-40B4-BE49-F238E27FC236}">
                  <a16:creationId xmlns:a16="http://schemas.microsoft.com/office/drawing/2014/main" xmlns="" id="{0372ECDB-A587-E58A-3E26-A5F58C5D1857}"/>
                </a:ext>
              </a:extLst>
            </p:cNvPr>
            <p:cNvSpPr txBox="1"/>
            <p:nvPr/>
          </p:nvSpPr>
          <p:spPr>
            <a:xfrm>
              <a:off x="2154090" y="2553989"/>
              <a:ext cx="373251" cy="2191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5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CO</a:t>
              </a:r>
              <a:endParaRPr lang="ko-KR" altLang="en-US" sz="15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58" name="타원 57">
            <a:extLst>
              <a:ext uri="{FF2B5EF4-FFF2-40B4-BE49-F238E27FC236}">
                <a16:creationId xmlns:a16="http://schemas.microsoft.com/office/drawing/2014/main" xmlns="" id="{0BCB5047-2416-7C23-1014-82EDD4E41171}"/>
              </a:ext>
            </a:extLst>
          </p:cNvPr>
          <p:cNvSpPr/>
          <p:nvPr/>
        </p:nvSpPr>
        <p:spPr>
          <a:xfrm>
            <a:off x="797484" y="3616366"/>
            <a:ext cx="180974" cy="193304"/>
          </a:xfrm>
          <a:prstGeom prst="ellipse">
            <a:avLst/>
          </a:prstGeom>
          <a:noFill/>
          <a:ln w="12700">
            <a:solidFill>
              <a:schemeClr val="bg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37" name="타원 1036">
            <a:extLst>
              <a:ext uri="{FF2B5EF4-FFF2-40B4-BE49-F238E27FC236}">
                <a16:creationId xmlns:a16="http://schemas.microsoft.com/office/drawing/2014/main" xmlns="" id="{2823D050-651A-915C-3C00-DE9A1591DE59}"/>
              </a:ext>
            </a:extLst>
          </p:cNvPr>
          <p:cNvSpPr/>
          <p:nvPr/>
        </p:nvSpPr>
        <p:spPr>
          <a:xfrm>
            <a:off x="1947746" y="3616366"/>
            <a:ext cx="180974" cy="193304"/>
          </a:xfrm>
          <a:prstGeom prst="ellipse">
            <a:avLst/>
          </a:prstGeom>
          <a:noFill/>
          <a:ln w="12700">
            <a:solidFill>
              <a:schemeClr val="bg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38" name="타원 1037">
            <a:extLst>
              <a:ext uri="{FF2B5EF4-FFF2-40B4-BE49-F238E27FC236}">
                <a16:creationId xmlns:a16="http://schemas.microsoft.com/office/drawing/2014/main" xmlns="" id="{5CD37AB7-57E1-7B0A-13ED-18476FA7AF5B}"/>
              </a:ext>
            </a:extLst>
          </p:cNvPr>
          <p:cNvSpPr/>
          <p:nvPr/>
        </p:nvSpPr>
        <p:spPr>
          <a:xfrm>
            <a:off x="1389207" y="3619983"/>
            <a:ext cx="180974" cy="193304"/>
          </a:xfrm>
          <a:prstGeom prst="ellipse">
            <a:avLst/>
          </a:prstGeom>
          <a:noFill/>
          <a:ln w="12700">
            <a:solidFill>
              <a:schemeClr val="bg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39" name="TextBox 1038">
            <a:extLst>
              <a:ext uri="{FF2B5EF4-FFF2-40B4-BE49-F238E27FC236}">
                <a16:creationId xmlns:a16="http://schemas.microsoft.com/office/drawing/2014/main" xmlns="" id="{5DCE1C14-CCF2-6A26-5C4B-9828636293ED}"/>
              </a:ext>
            </a:extLst>
          </p:cNvPr>
          <p:cNvSpPr txBox="1"/>
          <p:nvPr/>
        </p:nvSpPr>
        <p:spPr>
          <a:xfrm>
            <a:off x="1885312" y="3592572"/>
            <a:ext cx="33054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h</a:t>
            </a:r>
            <a:r>
              <a:rPr lang="en-US" altLang="ko-KR" sz="11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+</a:t>
            </a:r>
            <a:endParaRPr lang="ko-KR" altLang="en-US" sz="11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xmlns="" id="{B2EA4022-92A2-B0E3-06B3-8A22CA5071DE}"/>
              </a:ext>
            </a:extLst>
          </p:cNvPr>
          <p:cNvCxnSpPr>
            <a:cxnSpLocks/>
          </p:cNvCxnSpPr>
          <p:nvPr/>
        </p:nvCxnSpPr>
        <p:spPr>
          <a:xfrm flipV="1">
            <a:off x="854623" y="2969297"/>
            <a:ext cx="108596" cy="16916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3" name="직선 화살표 연결선 1042">
            <a:extLst>
              <a:ext uri="{FF2B5EF4-FFF2-40B4-BE49-F238E27FC236}">
                <a16:creationId xmlns:a16="http://schemas.microsoft.com/office/drawing/2014/main" xmlns="" id="{4A6E51BA-DADA-05A0-6537-C148D4F98FAF}"/>
              </a:ext>
            </a:extLst>
          </p:cNvPr>
          <p:cNvCxnSpPr>
            <a:cxnSpLocks/>
          </p:cNvCxnSpPr>
          <p:nvPr/>
        </p:nvCxnSpPr>
        <p:spPr>
          <a:xfrm flipV="1">
            <a:off x="1664442" y="2969297"/>
            <a:ext cx="108596" cy="16916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E031B339-8272-3084-C25D-3134BFFBE951}"/>
              </a:ext>
            </a:extLst>
          </p:cNvPr>
          <p:cNvSpPr txBox="1"/>
          <p:nvPr/>
        </p:nvSpPr>
        <p:spPr>
          <a:xfrm>
            <a:off x="466459" y="4218205"/>
            <a:ext cx="5957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0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0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0B872DC5-5278-A37B-03D1-EE4E94678C57}"/>
              </a:ext>
            </a:extLst>
          </p:cNvPr>
          <p:cNvSpPr txBox="1"/>
          <p:nvPr/>
        </p:nvSpPr>
        <p:spPr>
          <a:xfrm>
            <a:off x="631972" y="4227929"/>
            <a:ext cx="5957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0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0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123AFFC1-488B-CA39-F5F4-FD114EE4F5C8}"/>
              </a:ext>
            </a:extLst>
          </p:cNvPr>
          <p:cNvSpPr txBox="1"/>
          <p:nvPr/>
        </p:nvSpPr>
        <p:spPr>
          <a:xfrm>
            <a:off x="797484" y="4218634"/>
            <a:ext cx="5957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0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0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846BD03D-21F9-9819-9287-17703B304323}"/>
              </a:ext>
            </a:extLst>
          </p:cNvPr>
          <p:cNvSpPr txBox="1"/>
          <p:nvPr/>
        </p:nvSpPr>
        <p:spPr>
          <a:xfrm>
            <a:off x="958171" y="4223406"/>
            <a:ext cx="5957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0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0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C37EB1E2-2E7F-27BF-15E7-6D70327443D3}"/>
              </a:ext>
            </a:extLst>
          </p:cNvPr>
          <p:cNvSpPr txBox="1"/>
          <p:nvPr/>
        </p:nvSpPr>
        <p:spPr>
          <a:xfrm>
            <a:off x="1118858" y="4218205"/>
            <a:ext cx="5957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0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0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33210329-E09B-61CE-DE6D-7B58E5D180CA}"/>
              </a:ext>
            </a:extLst>
          </p:cNvPr>
          <p:cNvSpPr txBox="1"/>
          <p:nvPr/>
        </p:nvSpPr>
        <p:spPr>
          <a:xfrm>
            <a:off x="1272190" y="4218204"/>
            <a:ext cx="5957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0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0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A0F2F359-15C3-1AB2-5189-0FB3457C8CF4}"/>
              </a:ext>
            </a:extLst>
          </p:cNvPr>
          <p:cNvSpPr txBox="1"/>
          <p:nvPr/>
        </p:nvSpPr>
        <p:spPr>
          <a:xfrm>
            <a:off x="1593564" y="4148781"/>
            <a:ext cx="5957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0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0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0C546614-9C8B-EE78-2117-7BB89B763F46}"/>
              </a:ext>
            </a:extLst>
          </p:cNvPr>
          <p:cNvSpPr txBox="1"/>
          <p:nvPr/>
        </p:nvSpPr>
        <p:spPr>
          <a:xfrm>
            <a:off x="1839938" y="4169031"/>
            <a:ext cx="5957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0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0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4FCBE0C1-FDCB-CAC6-CC15-8705B781950B}"/>
              </a:ext>
            </a:extLst>
          </p:cNvPr>
          <p:cNvSpPr txBox="1"/>
          <p:nvPr/>
        </p:nvSpPr>
        <p:spPr>
          <a:xfrm>
            <a:off x="2038233" y="4175672"/>
            <a:ext cx="5957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0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0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13CE7690-77EF-510A-4E9F-7601B28E5948}"/>
              </a:ext>
            </a:extLst>
          </p:cNvPr>
          <p:cNvSpPr txBox="1"/>
          <p:nvPr/>
        </p:nvSpPr>
        <p:spPr>
          <a:xfrm>
            <a:off x="2237414" y="4175673"/>
            <a:ext cx="5957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0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0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C22449F8-EA10-5D3B-772A-DAB9181F8785}"/>
              </a:ext>
            </a:extLst>
          </p:cNvPr>
          <p:cNvSpPr txBox="1"/>
          <p:nvPr/>
        </p:nvSpPr>
        <p:spPr>
          <a:xfrm>
            <a:off x="2461678" y="4169032"/>
            <a:ext cx="5957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0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0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6273B073-5DA3-7496-F544-7E8279D26DAD}"/>
              </a:ext>
            </a:extLst>
          </p:cNvPr>
          <p:cNvSpPr txBox="1"/>
          <p:nvPr/>
        </p:nvSpPr>
        <p:spPr>
          <a:xfrm>
            <a:off x="2705864" y="4169032"/>
            <a:ext cx="5957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en-US" altLang="ko-KR" sz="10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endParaRPr lang="ko-KR" altLang="en-US" sz="10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xmlns="" id="{80FC8CC4-5030-E720-1518-BCA5EC0C0AA8}"/>
              </a:ext>
            </a:extLst>
          </p:cNvPr>
          <p:cNvSpPr txBox="1"/>
          <p:nvPr/>
        </p:nvSpPr>
        <p:spPr>
          <a:xfrm>
            <a:off x="1346647" y="4861940"/>
            <a:ext cx="912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V</a:t>
            </a:r>
            <a:r>
              <a:rPr lang="en-US" altLang="ko-KR" b="1" baseline="-25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GS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&lt; 0</a:t>
            </a:r>
            <a:endParaRPr lang="ko-KR" altLang="en-US" sz="1800" b="1" baseline="-25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46" name="TextBox 1045">
            <a:extLst>
              <a:ext uri="{FF2B5EF4-FFF2-40B4-BE49-F238E27FC236}">
                <a16:creationId xmlns:a16="http://schemas.microsoft.com/office/drawing/2014/main" xmlns="" id="{D32EA74D-1141-1800-E13A-506AA238A4BE}"/>
              </a:ext>
            </a:extLst>
          </p:cNvPr>
          <p:cNvSpPr txBox="1"/>
          <p:nvPr/>
        </p:nvSpPr>
        <p:spPr>
          <a:xfrm>
            <a:off x="6832600" y="58963"/>
            <a:ext cx="53594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Section 6. Mobility–Reliability Trade-off </a:t>
            </a:r>
            <a:endParaRPr lang="ko-KR" altLang="en-US" sz="1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50" name="TextBox 1049">
            <a:extLst>
              <a:ext uri="{FF2B5EF4-FFF2-40B4-BE49-F238E27FC236}">
                <a16:creationId xmlns:a16="http://schemas.microsoft.com/office/drawing/2014/main" xmlns="" id="{9D9FF4B7-DE6F-6975-66EF-C9F91C3C4D34}"/>
              </a:ext>
            </a:extLst>
          </p:cNvPr>
          <p:cNvSpPr txBox="1"/>
          <p:nvPr/>
        </p:nvSpPr>
        <p:spPr>
          <a:xfrm>
            <a:off x="3017572" y="6380094"/>
            <a:ext cx="83859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000" i="1" dirty="0"/>
              <a:t>Y.-S.  Shiah, K.  Sim, Y.  Shi, K.  Abe, S.  Ueda, M.  Sasase, J.  Kim, </a:t>
            </a:r>
          </a:p>
          <a:p>
            <a:pPr algn="r"/>
            <a:r>
              <a:rPr lang="ko-KR" altLang="en-US" sz="1000" i="1" dirty="0"/>
              <a:t>H. Hosono, Nat. Electron. 2021, 4, 800.</a:t>
            </a:r>
          </a:p>
        </p:txBody>
      </p:sp>
      <p:sp>
        <p:nvSpPr>
          <p:cNvPr id="1052" name="TextBox 1051">
            <a:extLst>
              <a:ext uri="{FF2B5EF4-FFF2-40B4-BE49-F238E27FC236}">
                <a16:creationId xmlns:a16="http://schemas.microsoft.com/office/drawing/2014/main" xmlns="" id="{CE947070-50D8-93FA-8382-D01C226DB209}"/>
              </a:ext>
            </a:extLst>
          </p:cNvPr>
          <p:cNvSpPr txBox="1"/>
          <p:nvPr/>
        </p:nvSpPr>
        <p:spPr>
          <a:xfrm>
            <a:off x="3949700" y="2274763"/>
            <a:ext cx="15440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m/z=28(</a:t>
            </a:r>
            <a:r>
              <a:rPr lang="ko-KR" altLang="en-US" sz="1000" b="1" dirty="0"/>
              <a:t>주로 </a:t>
            </a:r>
            <a:r>
              <a:rPr lang="en-US" altLang="ko-KR" sz="1000" b="1" dirty="0"/>
              <a:t>CO</a:t>
            </a:r>
            <a:r>
              <a:rPr lang="ko-KR" altLang="en-US" sz="1000" b="1" dirty="0"/>
              <a:t>신호</a:t>
            </a:r>
            <a:r>
              <a:rPr lang="en-US" altLang="ko-KR" sz="1000" b="1" dirty="0"/>
              <a:t>)</a:t>
            </a:r>
          </a:p>
          <a:p>
            <a:r>
              <a:rPr lang="en-US" altLang="ko-KR" sz="1000" b="1" dirty="0"/>
              <a:t>m/z=44(</a:t>
            </a:r>
            <a:r>
              <a:rPr lang="ko-KR" altLang="en-US" sz="1000" b="1" dirty="0"/>
              <a:t>주로 </a:t>
            </a:r>
            <a:r>
              <a:rPr lang="en-US" altLang="ko-KR" sz="1000" b="1" dirty="0"/>
              <a:t>CO</a:t>
            </a:r>
            <a:r>
              <a:rPr lang="en-US" altLang="ko-KR" sz="1000" b="1" baseline="-25000" dirty="0"/>
              <a:t>2</a:t>
            </a:r>
            <a:r>
              <a:rPr lang="ko-KR" altLang="en-US" sz="1000" b="1" dirty="0"/>
              <a:t>신호</a:t>
            </a:r>
            <a:r>
              <a:rPr lang="en-US" altLang="ko-KR" sz="1000" b="1" dirty="0"/>
              <a:t>)</a:t>
            </a:r>
            <a:endParaRPr lang="ko-KR" altLang="en-US" sz="1000" b="1" baseline="-25000" dirty="0"/>
          </a:p>
        </p:txBody>
      </p:sp>
      <p:cxnSp>
        <p:nvCxnSpPr>
          <p:cNvPr id="1054" name="직선 연결선 1053">
            <a:extLst>
              <a:ext uri="{FF2B5EF4-FFF2-40B4-BE49-F238E27FC236}">
                <a16:creationId xmlns:a16="http://schemas.microsoft.com/office/drawing/2014/main" xmlns="" id="{A364A5DB-170D-5B43-35F4-6EFA6B3D7C36}"/>
              </a:ext>
            </a:extLst>
          </p:cNvPr>
          <p:cNvCxnSpPr>
            <a:cxnSpLocks/>
          </p:cNvCxnSpPr>
          <p:nvPr/>
        </p:nvCxnSpPr>
        <p:spPr>
          <a:xfrm>
            <a:off x="10731500" y="2805344"/>
            <a:ext cx="0" cy="2056596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6" name="직선 화살표 연결선 1055">
            <a:extLst>
              <a:ext uri="{FF2B5EF4-FFF2-40B4-BE49-F238E27FC236}">
                <a16:creationId xmlns:a16="http://schemas.microsoft.com/office/drawing/2014/main" xmlns="" id="{9E15781D-6AD6-75AC-39B1-A2B6049C75A3}"/>
              </a:ext>
            </a:extLst>
          </p:cNvPr>
          <p:cNvCxnSpPr/>
          <p:nvPr/>
        </p:nvCxnSpPr>
        <p:spPr>
          <a:xfrm>
            <a:off x="10731500" y="4148781"/>
            <a:ext cx="9271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57760BB-63E7-A807-78C2-54A26AB4DA60}"/>
              </a:ext>
            </a:extLst>
          </p:cNvPr>
          <p:cNvSpPr txBox="1"/>
          <p:nvPr/>
        </p:nvSpPr>
        <p:spPr>
          <a:xfrm>
            <a:off x="1396813" y="3083589"/>
            <a:ext cx="33054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h</a:t>
            </a:r>
            <a:r>
              <a:rPr lang="en-US" altLang="ko-KR" sz="11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+</a:t>
            </a:r>
            <a:endParaRPr lang="ko-KR" altLang="en-US" sz="11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C07BA213-21EA-784F-795C-A038AE74D955}"/>
              </a:ext>
            </a:extLst>
          </p:cNvPr>
          <p:cNvSpPr txBox="1"/>
          <p:nvPr/>
        </p:nvSpPr>
        <p:spPr>
          <a:xfrm>
            <a:off x="658577" y="3110829"/>
            <a:ext cx="33054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h</a:t>
            </a:r>
            <a:r>
              <a:rPr lang="en-US" altLang="ko-KR" sz="1100" b="1" baseline="30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+</a:t>
            </a:r>
            <a:endParaRPr lang="ko-KR" altLang="en-US" sz="1100" b="1" baseline="30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746E170D-306F-D7BE-6821-342E094E39C4}"/>
              </a:ext>
            </a:extLst>
          </p:cNvPr>
          <p:cNvSpPr txBox="1"/>
          <p:nvPr/>
        </p:nvSpPr>
        <p:spPr>
          <a:xfrm>
            <a:off x="254001" y="1259473"/>
            <a:ext cx="11506200" cy="707886"/>
          </a:xfrm>
          <a:prstGeom prst="rect">
            <a:avLst/>
          </a:prstGeom>
          <a:noFill/>
          <a:ln w="28575">
            <a:solidFill>
              <a:srgbClr val="15608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PR</a:t>
            </a:r>
            <a:r>
              <a:rPr lang="ko-KR" altLang="en-US" sz="2000" b="1" dirty="0"/>
              <a:t>로 인해 생성된 </a:t>
            </a:r>
            <a:r>
              <a:rPr lang="en-US" altLang="ko-KR" sz="2000" b="1" dirty="0"/>
              <a:t>CO</a:t>
            </a:r>
            <a:r>
              <a:rPr lang="ko-KR" altLang="en-US" sz="2000" b="1" dirty="0"/>
              <a:t>유기물이 표면과 반응하여 </a:t>
            </a:r>
            <a:endParaRPr lang="en-US" altLang="ko-KR" sz="2000" b="1" dirty="0"/>
          </a:p>
          <a:p>
            <a:r>
              <a:rPr lang="en-US" altLang="ko-KR" sz="2000" b="1" dirty="0"/>
              <a:t>M-OC/M-Cox</a:t>
            </a:r>
            <a:r>
              <a:rPr lang="ko-KR" altLang="en-US" sz="2000" b="1" dirty="0"/>
              <a:t>가 </a:t>
            </a:r>
            <a:r>
              <a:rPr lang="en-US" altLang="ko-KR" sz="2000" b="1" dirty="0"/>
              <a:t>VB</a:t>
            </a:r>
            <a:r>
              <a:rPr lang="ko-KR" altLang="en-US" sz="2000" b="1" dirty="0"/>
              <a:t>부근</a:t>
            </a:r>
            <a:r>
              <a:rPr lang="en-US" altLang="ko-KR" sz="2000" b="1" dirty="0"/>
              <a:t> trap state</a:t>
            </a:r>
            <a:r>
              <a:rPr lang="ko-KR" altLang="en-US" sz="2000" b="1" dirty="0"/>
              <a:t>를 증가시켜 </a:t>
            </a:r>
            <a:r>
              <a:rPr lang="en-US" altLang="ko-KR" sz="2000" b="1" dirty="0"/>
              <a:t>NBS </a:t>
            </a:r>
            <a:r>
              <a:rPr lang="ko-KR" altLang="en-US" sz="2000" b="1" dirty="0"/>
              <a:t>발생</a:t>
            </a:r>
            <a:endParaRPr lang="en-US" altLang="ko-KR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862E6EF-F133-BA44-BE45-FA4826EA9C68}"/>
              </a:ext>
            </a:extLst>
          </p:cNvPr>
          <p:cNvSpPr txBox="1"/>
          <p:nvPr/>
        </p:nvSpPr>
        <p:spPr>
          <a:xfrm>
            <a:off x="1936371" y="2919045"/>
            <a:ext cx="9460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M-CO M-Cox</a:t>
            </a:r>
            <a:endParaRPr lang="ko-KR" altLang="en-US" sz="1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70F40EBD-6290-012E-FFF4-6DF716424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1800" y="6362700"/>
            <a:ext cx="2387600" cy="365125"/>
          </a:xfrm>
        </p:spPr>
        <p:txBody>
          <a:bodyPr/>
          <a:lstStyle/>
          <a:p>
            <a:fld id="{FB3E1704-955B-45E9-8CC7-423CE1421702}" type="slidenum">
              <a:rPr lang="ko-KR" altLang="en-US" smtClean="0"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93764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xmlns="" id="{ADADD75E-28BD-BBC6-FFC2-FAD64D4176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042" t="31928" r="13332" b="6738"/>
          <a:stretch/>
        </p:blipFill>
        <p:spPr>
          <a:xfrm>
            <a:off x="3121563" y="1290273"/>
            <a:ext cx="5450937" cy="4756515"/>
          </a:xfrm>
          <a:prstGeom prst="rect">
            <a:avLst/>
          </a:prstGeom>
        </p:spPr>
      </p:pic>
      <p:sp>
        <p:nvSpPr>
          <p:cNvPr id="11" name="제목 1">
            <a:extLst>
              <a:ext uri="{FF2B5EF4-FFF2-40B4-BE49-F238E27FC236}">
                <a16:creationId xmlns:a16="http://schemas.microsoft.com/office/drawing/2014/main" xmlns="" id="{40A7D5A1-6E91-47FB-5B1D-330259D25E66}"/>
              </a:ext>
            </a:extLst>
          </p:cNvPr>
          <p:cNvSpPr txBox="1">
            <a:spLocks/>
          </p:cNvSpPr>
          <p:nvPr/>
        </p:nvSpPr>
        <p:spPr>
          <a:xfrm>
            <a:off x="133633" y="328611"/>
            <a:ext cx="10182225" cy="826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DADF9B5B-48F2-CBC1-3885-44BC03B5EA9B}"/>
              </a:ext>
            </a:extLst>
          </p:cNvPr>
          <p:cNvSpPr/>
          <p:nvPr/>
        </p:nvSpPr>
        <p:spPr>
          <a:xfrm>
            <a:off x="123824" y="1094422"/>
            <a:ext cx="11783786" cy="60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952DCECB-E5A8-FF98-FFAC-8A5EF8E75CC1}"/>
              </a:ext>
            </a:extLst>
          </p:cNvPr>
          <p:cNvSpPr txBox="1"/>
          <p:nvPr/>
        </p:nvSpPr>
        <p:spPr>
          <a:xfrm>
            <a:off x="6832600" y="58963"/>
            <a:ext cx="53594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Section 6. Mobility–Reliability Trade-off </a:t>
            </a:r>
            <a:endParaRPr lang="ko-KR" altLang="en-US" sz="1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제목 1">
            <a:extLst>
              <a:ext uri="{FF2B5EF4-FFF2-40B4-BE49-F238E27FC236}">
                <a16:creationId xmlns:a16="http://schemas.microsoft.com/office/drawing/2014/main" xmlns="" id="{A2E27FD7-9772-EB1B-C935-CDB63C579564}"/>
              </a:ext>
            </a:extLst>
          </p:cNvPr>
          <p:cNvSpPr txBox="1">
            <a:spLocks/>
          </p:cNvSpPr>
          <p:nvPr/>
        </p:nvSpPr>
        <p:spPr>
          <a:xfrm>
            <a:off x="143442" y="260545"/>
            <a:ext cx="10182225" cy="826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Postdeposition annealing 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xmlns="" id="{5099D304-1A8D-2F67-A165-979F6DD31769}"/>
              </a:ext>
            </a:extLst>
          </p:cNvPr>
          <p:cNvSpPr/>
          <p:nvPr/>
        </p:nvSpPr>
        <p:spPr>
          <a:xfrm flipH="1">
            <a:off x="4219587" y="2367027"/>
            <a:ext cx="474125" cy="1768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xmlns="" id="{85C0E9AE-6152-E027-9DDE-0E4AC03EC333}"/>
              </a:ext>
            </a:extLst>
          </p:cNvPr>
          <p:cNvSpPr/>
          <p:nvPr/>
        </p:nvSpPr>
        <p:spPr>
          <a:xfrm flipH="1">
            <a:off x="6920450" y="2367027"/>
            <a:ext cx="109000" cy="1768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E76868E9-A612-37E3-70E6-1496334766BE}"/>
              </a:ext>
            </a:extLst>
          </p:cNvPr>
          <p:cNvSpPr txBox="1"/>
          <p:nvPr/>
        </p:nvSpPr>
        <p:spPr>
          <a:xfrm>
            <a:off x="3017572" y="6380094"/>
            <a:ext cx="83859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000" i="1" dirty="0"/>
              <a:t>Y.-S.  Shiah, K.  Sim, Y.  Shi, K.  Abe, S.  </a:t>
            </a:r>
            <a:r>
              <a:rPr lang="ko-KR" altLang="en-US" sz="1000" i="1" dirty="0" err="1"/>
              <a:t>Ueda</a:t>
            </a:r>
            <a:r>
              <a:rPr lang="ko-KR" altLang="en-US" sz="1000" i="1" dirty="0"/>
              <a:t>, </a:t>
            </a:r>
            <a:r>
              <a:rPr lang="ko-KR" altLang="en-US" sz="1000" i="1" dirty="0" err="1"/>
              <a:t>M</a:t>
            </a:r>
            <a:r>
              <a:rPr lang="ko-KR" altLang="en-US" sz="1000" i="1" dirty="0"/>
              <a:t>.  </a:t>
            </a:r>
            <a:r>
              <a:rPr lang="ko-KR" altLang="en-US" sz="1000" i="1" dirty="0" err="1"/>
              <a:t>Sasase</a:t>
            </a:r>
            <a:r>
              <a:rPr lang="ko-KR" altLang="en-US" sz="1000" i="1" dirty="0"/>
              <a:t>, </a:t>
            </a:r>
            <a:r>
              <a:rPr lang="ko-KR" altLang="en-US" sz="1000" i="1" dirty="0" err="1"/>
              <a:t>J</a:t>
            </a:r>
            <a:r>
              <a:rPr lang="ko-KR" altLang="en-US" sz="1000" i="1" dirty="0"/>
              <a:t>.  </a:t>
            </a:r>
            <a:r>
              <a:rPr lang="ko-KR" altLang="en-US" sz="1000" i="1" dirty="0" err="1"/>
              <a:t>Kim</a:t>
            </a:r>
            <a:r>
              <a:rPr lang="ko-KR" altLang="en-US" sz="1000" i="1" dirty="0"/>
              <a:t>, </a:t>
            </a:r>
          </a:p>
          <a:p>
            <a:pPr algn="r"/>
            <a:r>
              <a:rPr lang="ko-KR" altLang="en-US" sz="1000" i="1" dirty="0" err="1"/>
              <a:t>H</a:t>
            </a:r>
            <a:r>
              <a:rPr lang="ko-KR" altLang="en-US" sz="1000" i="1" dirty="0"/>
              <a:t>. </a:t>
            </a:r>
            <a:r>
              <a:rPr lang="ko-KR" altLang="en-US" sz="1000" i="1" dirty="0" err="1"/>
              <a:t>Hosono</a:t>
            </a:r>
            <a:r>
              <a:rPr lang="ko-KR" altLang="en-US" sz="1000" i="1" dirty="0"/>
              <a:t>, </a:t>
            </a:r>
            <a:r>
              <a:rPr lang="ko-KR" altLang="en-US" sz="1000" i="1" dirty="0" err="1"/>
              <a:t>Nat</a:t>
            </a:r>
            <a:r>
              <a:rPr lang="ko-KR" altLang="en-US" sz="1000" i="1" dirty="0"/>
              <a:t>. </a:t>
            </a:r>
            <a:r>
              <a:rPr lang="ko-KR" altLang="en-US" sz="1000" i="1" dirty="0" err="1"/>
              <a:t>Electron</a:t>
            </a:r>
            <a:r>
              <a:rPr lang="ko-KR" altLang="en-US" sz="1000" i="1" dirty="0"/>
              <a:t>. 2021, 4, 800.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D315FF47-9A67-4D08-D4E4-0555B61DC707}"/>
              </a:ext>
            </a:extLst>
          </p:cNvPr>
          <p:cNvSpPr txBox="1"/>
          <p:nvPr/>
        </p:nvSpPr>
        <p:spPr>
          <a:xfrm>
            <a:off x="4792253" y="6046788"/>
            <a:ext cx="3663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전기적 결과 </a:t>
            </a:r>
            <a:r>
              <a:rPr lang="en-US" altLang="ko-KR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:</a:t>
            </a:r>
            <a:r>
              <a:rPr lang="ko-KR" alt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350°C </a:t>
            </a:r>
            <a:r>
              <a:rPr lang="ko-KR" alt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이상에서 </a:t>
            </a:r>
            <a:r>
              <a:rPr lang="en-US" altLang="ko-KR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NBS shift </a:t>
            </a:r>
            <a:r>
              <a:rPr lang="ko-KR" alt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급감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xmlns="" id="{8BE2EBD8-9196-CA3D-7335-440584E6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1800" y="6362700"/>
            <a:ext cx="2387600" cy="365125"/>
          </a:xfrm>
        </p:spPr>
        <p:txBody>
          <a:bodyPr/>
          <a:lstStyle/>
          <a:p>
            <a:fld id="{FB3E1704-955B-45E9-8CC7-423CE1421702}" type="slidenum">
              <a:rPr lang="ko-KR" altLang="en-US" smtClean="0"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681114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AC53F4C-D11A-D897-3E2F-9177785DCC6D}"/>
              </a:ext>
            </a:extLst>
          </p:cNvPr>
          <p:cNvSpPr txBox="1"/>
          <p:nvPr/>
        </p:nvSpPr>
        <p:spPr>
          <a:xfrm>
            <a:off x="977377" y="2781332"/>
            <a:ext cx="10237246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 algn="ctr">
              <a:defRPr/>
            </a:pPr>
            <a:r>
              <a:rPr lang="en-US" altLang="ko-KR" sz="4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Thank you for your </a:t>
            </a:r>
            <a:r>
              <a:rPr lang="en-US" altLang="ko-KR" sz="4800" b="1" i="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attention</a:t>
            </a:r>
            <a:r>
              <a:rPr lang="en-US" altLang="ko-KR" sz="4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48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xmlns="" id="{BE2ED38A-8BF3-F03B-FDAF-5FE08E933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1800" y="6362700"/>
            <a:ext cx="2387600" cy="365125"/>
          </a:xfrm>
        </p:spPr>
        <p:txBody>
          <a:bodyPr/>
          <a:lstStyle/>
          <a:p>
            <a:fld id="{FB3E1704-955B-45E9-8CC7-423CE1421702}" type="slidenum">
              <a:rPr lang="ko-KR" altLang="en-US" smtClean="0"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16563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13841</TotalTime>
  <Words>1479</Words>
  <Application>Microsoft Office PowerPoint</Application>
  <PresentationFormat>와이드스크린</PresentationFormat>
  <Paragraphs>434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2" baseType="lpstr">
      <vt:lpstr>Noto Sans KR</vt:lpstr>
      <vt:lpstr>맑은 고딕</vt:lpstr>
      <vt:lpstr>Arial</vt:lpstr>
      <vt:lpstr>Calibri</vt:lpstr>
      <vt:lpstr>Office 테마</vt:lpstr>
      <vt:lpstr>PowerPoint 프레젠테이션</vt:lpstr>
      <vt:lpstr>Contents</vt:lpstr>
      <vt:lpstr>More Moore : Continued Scaling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박진홍</dc:creator>
  <cp:lastModifiedBy>TG</cp:lastModifiedBy>
  <cp:revision>62</cp:revision>
  <cp:lastPrinted>2026-08-10T03:18:23Z</cp:lastPrinted>
  <dcterms:created xsi:type="dcterms:W3CDTF">2026-07-24T15:29:58Z</dcterms:created>
  <dcterms:modified xsi:type="dcterms:W3CDTF">2026-08-10T03:20:12Z</dcterms:modified>
</cp:coreProperties>
</file>