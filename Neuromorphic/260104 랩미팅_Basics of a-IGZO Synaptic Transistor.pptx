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312" r:id="rId3"/>
    <p:sldId id="332" r:id="rId4"/>
    <p:sldId id="299" r:id="rId5"/>
    <p:sldId id="314" r:id="rId6"/>
    <p:sldId id="313" r:id="rId7"/>
    <p:sldId id="315" r:id="rId8"/>
    <p:sldId id="316" r:id="rId9"/>
    <p:sldId id="333" r:id="rId10"/>
    <p:sldId id="317" r:id="rId11"/>
    <p:sldId id="318" r:id="rId12"/>
    <p:sldId id="319" r:id="rId13"/>
    <p:sldId id="321" r:id="rId14"/>
    <p:sldId id="323" r:id="rId15"/>
    <p:sldId id="327" r:id="rId16"/>
    <p:sldId id="329" r:id="rId17"/>
    <p:sldId id="326" r:id="rId18"/>
    <p:sldId id="325" r:id="rId19"/>
    <p:sldId id="330" r:id="rId20"/>
    <p:sldId id="331" r:id="rId21"/>
  </p:sldIdLst>
  <p:sldSz cx="18288000" cy="10287000"/>
  <p:notesSz cx="6858000" cy="9144000"/>
  <p:embeddedFontLst>
    <p:embeddedFont>
      <p:font typeface="TDTD강굴림" panose="020B0600000101010101" charset="-127"/>
      <p:regular r:id="rId24"/>
    </p:embeddedFont>
    <p:embeddedFont>
      <p:font typeface="Cambria Math" panose="02040503050406030204" pitchFamily="18" charset="0"/>
      <p:regular r:id="rId25"/>
    </p:embeddedFont>
    <p:embeddedFont>
      <p:font typeface="Noto Sans KR" panose="020B0200000000000000" pitchFamily="50" charset="-127"/>
      <p:regular r:id="rId26"/>
      <p:bold r:id="rId27"/>
    </p:embeddedFont>
    <p:embeddedFont>
      <p:font typeface="맑은 고딕" panose="020B0503020000020004" pitchFamily="50" charset="-127"/>
      <p:regular r:id="rId28"/>
      <p:bold r:id="rId29"/>
    </p:embeddedFont>
    <p:embeddedFont>
      <p:font typeface="함초롬바탕" panose="02030604000101010101" pitchFamily="18" charset="-127"/>
      <p:regular r:id="rId3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nSu Choi" initials="MC" lastIdx="1" clrIdx="0">
    <p:extLst>
      <p:ext uri="{19B8F6BF-5375-455C-9EA6-DF929625EA0E}">
        <p15:presenceInfo xmlns:p15="http://schemas.microsoft.com/office/powerpoint/2012/main" userId="f9bc62763eeef2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0000"/>
    <a:srgbClr val="FF4B4B"/>
    <a:srgbClr val="FF2F2F"/>
    <a:srgbClr val="F9EDED"/>
    <a:srgbClr val="FF2B2B"/>
    <a:srgbClr val="0505FF"/>
    <a:srgbClr val="000000"/>
    <a:srgbClr val="FF5757"/>
    <a:srgbClr val="CDC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5" autoAdjust="0"/>
    <p:restoredTop sz="94358" autoAdjust="0"/>
  </p:normalViewPr>
  <p:slideViewPr>
    <p:cSldViewPr>
      <p:cViewPr varScale="1">
        <p:scale>
          <a:sx n="71" d="100"/>
          <a:sy n="71" d="100"/>
        </p:scale>
        <p:origin x="76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8AE9D06-24EE-391D-6892-EA516A89EC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6A589B-C093-D8CB-3571-7F728794C3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3A9E3-2605-47BD-86D0-ED87F09E58B9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F598F0-25C5-7EE1-00F9-A354552DE4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79E7A6-6205-511C-B773-58BEA4A8FA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A2AD7-A13F-457B-AA13-E5583C4056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0715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DD372-FF62-40DB-9473-14708D75350A}" type="datetimeFigureOut">
              <a:rPr lang="ko-KR" altLang="en-US" smtClean="0"/>
              <a:t>2026-01-03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4312E-9689-48C5-AE4F-AEEE6FEA2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9209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091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531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628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382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605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3057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703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227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048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347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792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333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975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8558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3569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7758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6760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2747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1280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14312E-9689-48C5-AE4F-AEEE6FEA23B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478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8F89-6B61-4DE7-AAB1-EC011206E844}" type="datetime1">
              <a:rPr lang="en-US" altLang="ko-KR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AE304-63A9-4A62-92FD-FF38AE02D9F4}" type="datetime1">
              <a:rPr lang="en-US" altLang="ko-KR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ADBE3-363C-4CE7-BAFA-3B2ADE911C8E}" type="datetime1">
              <a:rPr lang="en-US" altLang="ko-KR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71E4-421E-4E89-B32B-5A801D9C5F78}" type="datetime1">
              <a:rPr lang="en-US" altLang="ko-KR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D736-7DF6-4ED6-8A6F-60159BB0FAD0}" type="datetime1">
              <a:rPr lang="en-US" altLang="ko-KR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9F1E3-2B56-4B8E-925A-59A8BB2F8CE0}" type="datetime1">
              <a:rPr lang="en-US" altLang="ko-KR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A997-1171-4E6F-B46F-1DA7294F1830}" type="datetime1">
              <a:rPr lang="en-US" altLang="ko-KR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697200" y="9426575"/>
            <a:ext cx="2133600" cy="365125"/>
          </a:xfrm>
        </p:spPr>
        <p:txBody>
          <a:bodyPr/>
          <a:lstStyle>
            <a:lvl1pPr>
              <a:defRPr sz="2200" b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A3C5-23E8-4CB7-A85C-B079FAC731C3}" type="datetime1">
              <a:rPr lang="en-US" altLang="ko-KR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AF07-FBA4-4E77-8229-E2BD088F3A72}" type="datetime1">
              <a:rPr lang="en-US" altLang="ko-KR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6C5A-7F47-4C9B-A846-937670938BF3}" type="datetime1">
              <a:rPr lang="en-US" altLang="ko-KR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DA9D9-1BC8-4077-9AEC-48A2453A3423}" type="datetime1">
              <a:rPr lang="en-US" altLang="ko-KR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ABA05-BA52-4C3D-A965-8D10C4A52616}" type="datetime1">
              <a:rPr lang="en-US" altLang="ko-KR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.jpeg"/><Relationship Id="rId4" Type="http://schemas.openxmlformats.org/officeDocument/2006/relationships/image" Target="../media/image3.sv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.jpe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4065310B-FFD8-4F32-AAC8-6ADA4A3D44CE}"/>
              </a:ext>
            </a:extLst>
          </p:cNvPr>
          <p:cNvGrpSpPr/>
          <p:nvPr/>
        </p:nvGrpSpPr>
        <p:grpSpPr>
          <a:xfrm>
            <a:off x="533400" y="373278"/>
            <a:ext cx="17419900" cy="9570822"/>
            <a:chOff x="533400" y="373278"/>
            <a:chExt cx="17419900" cy="9570822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ADC1F477-5E71-4444-A9FA-7E234B4E2685}"/>
                </a:ext>
              </a:extLst>
            </p:cNvPr>
            <p:cNvGrpSpPr/>
            <p:nvPr/>
          </p:nvGrpSpPr>
          <p:grpSpPr>
            <a:xfrm>
              <a:off x="533400" y="373278"/>
              <a:ext cx="17419900" cy="9570822"/>
              <a:chOff x="533400" y="373278"/>
              <a:chExt cx="17419900" cy="9570822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3F855808-8034-4891-BEEC-1A09BBEA07F5}"/>
                  </a:ext>
                </a:extLst>
              </p:cNvPr>
              <p:cNvGrpSpPr/>
              <p:nvPr/>
            </p:nvGrpSpPr>
            <p:grpSpPr>
              <a:xfrm>
                <a:off x="533400" y="373278"/>
                <a:ext cx="17419900" cy="9570822"/>
                <a:chOff x="533400" y="373278"/>
                <a:chExt cx="17419900" cy="9570822"/>
              </a:xfrm>
            </p:grpSpPr>
            <p:grpSp>
              <p:nvGrpSpPr>
                <p:cNvPr id="2" name="Group 2"/>
                <p:cNvGrpSpPr/>
                <p:nvPr/>
              </p:nvGrpSpPr>
              <p:grpSpPr>
                <a:xfrm>
                  <a:off x="609600" y="449478"/>
                  <a:ext cx="17343700" cy="9494622"/>
                  <a:chOff x="0" y="0"/>
                  <a:chExt cx="4356515" cy="2266044"/>
                </a:xfrm>
              </p:grpSpPr>
              <p:sp>
                <p:nvSpPr>
                  <p:cNvPr id="3" name="Freeform 3"/>
                  <p:cNvSpPr/>
                  <p:nvPr/>
                </p:nvSpPr>
                <p:spPr>
                  <a:xfrm>
                    <a:off x="0" y="0"/>
                    <a:ext cx="4356515" cy="22660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6515" h="2266044">
                        <a:moveTo>
                          <a:pt x="10765" y="0"/>
                        </a:moveTo>
                        <a:lnTo>
                          <a:pt x="4345750" y="0"/>
                        </a:lnTo>
                        <a:cubicBezTo>
                          <a:pt x="4348605" y="0"/>
                          <a:pt x="4351343" y="1134"/>
                          <a:pt x="4353362" y="3153"/>
                        </a:cubicBezTo>
                        <a:cubicBezTo>
                          <a:pt x="4355381" y="5172"/>
                          <a:pt x="4356515" y="7910"/>
                          <a:pt x="4356515" y="10765"/>
                        </a:cubicBezTo>
                        <a:lnTo>
                          <a:pt x="4356515" y="2255279"/>
                        </a:lnTo>
                        <a:cubicBezTo>
                          <a:pt x="4356515" y="2261224"/>
                          <a:pt x="4351695" y="2266044"/>
                          <a:pt x="4345750" y="2266044"/>
                        </a:cubicBezTo>
                        <a:lnTo>
                          <a:pt x="10765" y="2266044"/>
                        </a:lnTo>
                        <a:cubicBezTo>
                          <a:pt x="7910" y="2266044"/>
                          <a:pt x="5172" y="2264910"/>
                          <a:pt x="3153" y="2262891"/>
                        </a:cubicBezTo>
                        <a:cubicBezTo>
                          <a:pt x="1134" y="2260872"/>
                          <a:pt x="0" y="2258134"/>
                          <a:pt x="0" y="2255279"/>
                        </a:cubicBezTo>
                        <a:lnTo>
                          <a:pt x="0" y="10765"/>
                        </a:lnTo>
                        <a:cubicBezTo>
                          <a:pt x="0" y="7910"/>
                          <a:pt x="1134" y="5172"/>
                          <a:pt x="3153" y="3153"/>
                        </a:cubicBezTo>
                        <a:cubicBezTo>
                          <a:pt x="5172" y="1134"/>
                          <a:pt x="7910" y="0"/>
                          <a:pt x="10765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3810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4" name="TextBox 4"/>
                  <p:cNvSpPr txBox="1"/>
                  <p:nvPr/>
                </p:nvSpPr>
                <p:spPr>
                  <a:xfrm>
                    <a:off x="0" y="-47625"/>
                    <a:ext cx="4356515" cy="231366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  <a:spcBef>
                        <a:spcPct val="0"/>
                      </a:spcBef>
                    </a:pPr>
                    <a:endParaRPr/>
                  </a:p>
                </p:txBody>
              </p:sp>
            </p:grpSp>
            <p:grpSp>
              <p:nvGrpSpPr>
                <p:cNvPr id="5" name="Group 5"/>
                <p:cNvGrpSpPr/>
                <p:nvPr/>
              </p:nvGrpSpPr>
              <p:grpSpPr>
                <a:xfrm>
                  <a:off x="533400" y="373278"/>
                  <a:ext cx="17343701" cy="9494622"/>
                  <a:chOff x="0" y="0"/>
                  <a:chExt cx="4356515" cy="2266044"/>
                </a:xfrm>
              </p:grpSpPr>
              <p:sp>
                <p:nvSpPr>
                  <p:cNvPr id="6" name="Freeform 6"/>
                  <p:cNvSpPr/>
                  <p:nvPr/>
                </p:nvSpPr>
                <p:spPr>
                  <a:xfrm>
                    <a:off x="0" y="0"/>
                    <a:ext cx="4356515" cy="22660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6515" h="2266044">
                        <a:moveTo>
                          <a:pt x="10765" y="0"/>
                        </a:moveTo>
                        <a:lnTo>
                          <a:pt x="4345750" y="0"/>
                        </a:lnTo>
                        <a:cubicBezTo>
                          <a:pt x="4348605" y="0"/>
                          <a:pt x="4351343" y="1134"/>
                          <a:pt x="4353362" y="3153"/>
                        </a:cubicBezTo>
                        <a:cubicBezTo>
                          <a:pt x="4355381" y="5172"/>
                          <a:pt x="4356515" y="7910"/>
                          <a:pt x="4356515" y="10765"/>
                        </a:cubicBezTo>
                        <a:lnTo>
                          <a:pt x="4356515" y="2255279"/>
                        </a:lnTo>
                        <a:cubicBezTo>
                          <a:pt x="4356515" y="2261224"/>
                          <a:pt x="4351695" y="2266044"/>
                          <a:pt x="4345750" y="2266044"/>
                        </a:cubicBezTo>
                        <a:lnTo>
                          <a:pt x="10765" y="2266044"/>
                        </a:lnTo>
                        <a:cubicBezTo>
                          <a:pt x="7910" y="2266044"/>
                          <a:pt x="5172" y="2264910"/>
                          <a:pt x="3153" y="2262891"/>
                        </a:cubicBezTo>
                        <a:cubicBezTo>
                          <a:pt x="1134" y="2260872"/>
                          <a:pt x="0" y="2258134"/>
                          <a:pt x="0" y="2255279"/>
                        </a:cubicBezTo>
                        <a:lnTo>
                          <a:pt x="0" y="10765"/>
                        </a:lnTo>
                        <a:cubicBezTo>
                          <a:pt x="0" y="7910"/>
                          <a:pt x="1134" y="5172"/>
                          <a:pt x="3153" y="3153"/>
                        </a:cubicBezTo>
                        <a:cubicBezTo>
                          <a:pt x="5172" y="1134"/>
                          <a:pt x="7910" y="0"/>
                          <a:pt x="1076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38100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7" name="TextBox 7"/>
                  <p:cNvSpPr txBox="1"/>
                  <p:nvPr/>
                </p:nvSpPr>
                <p:spPr>
                  <a:xfrm>
                    <a:off x="0" y="-47625"/>
                    <a:ext cx="4356515" cy="2313669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  <a:spcBef>
                        <a:spcPct val="0"/>
                      </a:spcBef>
                    </a:pPr>
                    <a:endParaRPr/>
                  </a:p>
                </p:txBody>
              </p:sp>
            </p:grpSp>
          </p:grpSp>
          <p:pic>
            <p:nvPicPr>
              <p:cNvPr id="1026" name="Picture 2" descr="[Tổng hợp] 15 Trường đại học quốc gia Hàn Quốc tốt nhất - Zila Education">
                <a:extLst>
                  <a:ext uri="{FF2B5EF4-FFF2-40B4-BE49-F238E27FC236}">
                    <a16:creationId xmlns:a16="http://schemas.microsoft.com/office/drawing/2014/main" id="{8A091E40-6F3B-4CEE-9805-C7BD7CB37E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773400" y="419100"/>
                <a:ext cx="1963736" cy="6279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" name="AutoShape 9"/>
            <p:cNvSpPr/>
            <p:nvPr/>
          </p:nvSpPr>
          <p:spPr>
            <a:xfrm>
              <a:off x="533400" y="1104900"/>
              <a:ext cx="17343702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E546F3E0-53D6-6B52-5C5E-B5E5F117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CC564DA4-6989-5266-9A50-F7F887C26163}"/>
              </a:ext>
            </a:extLst>
          </p:cNvPr>
          <p:cNvSpPr txBox="1"/>
          <p:nvPr/>
        </p:nvSpPr>
        <p:spPr>
          <a:xfrm>
            <a:off x="1528482" y="2280958"/>
            <a:ext cx="15464118" cy="3167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97"/>
              </a:lnSpc>
            </a:pPr>
            <a:r>
              <a:rPr lang="en-US" sz="9069" dirty="0">
                <a:solidFill>
                  <a:srgbClr val="000000"/>
                </a:solidFill>
                <a:latin typeface="TDTD강굴림"/>
                <a:ea typeface="TDTD강굴림"/>
                <a:cs typeface="TDTD강굴림"/>
                <a:sym typeface="TDTD강굴림"/>
              </a:rPr>
              <a:t>Basics of </a:t>
            </a:r>
          </a:p>
          <a:p>
            <a:pPr algn="l">
              <a:lnSpc>
                <a:spcPts val="12697"/>
              </a:lnSpc>
            </a:pPr>
            <a:r>
              <a:rPr lang="en-US" sz="9069" dirty="0">
                <a:solidFill>
                  <a:srgbClr val="000000"/>
                </a:solidFill>
                <a:latin typeface="TDTD강굴림"/>
                <a:ea typeface="TDTD강굴림"/>
                <a:cs typeface="TDTD강굴림"/>
                <a:sym typeface="TDTD강굴림"/>
              </a:rPr>
              <a:t>Synaptic Transistor</a:t>
            </a:r>
            <a:endParaRPr lang="en-US" sz="4000" dirty="0">
              <a:solidFill>
                <a:srgbClr val="000000"/>
              </a:solidFill>
              <a:latin typeface="TDTD강굴림"/>
              <a:ea typeface="TDTD강굴림"/>
              <a:cs typeface="TDTD강굴림"/>
              <a:sym typeface="TDTD강굴림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EBCEE56C-806A-118C-4D7E-52A27D1E18D8}"/>
              </a:ext>
            </a:extLst>
          </p:cNvPr>
          <p:cNvSpPr txBox="1"/>
          <p:nvPr/>
        </p:nvSpPr>
        <p:spPr>
          <a:xfrm>
            <a:off x="1600200" y="6667500"/>
            <a:ext cx="678180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ko-KR" altLang="en-US" sz="2799" dirty="0">
                <a:solidFill>
                  <a:srgbClr val="000000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경북대학교 </a:t>
            </a:r>
            <a:r>
              <a:rPr lang="en-US" altLang="ko-KR" sz="2799" dirty="0">
                <a:solidFill>
                  <a:srgbClr val="000000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MENLAB 2025000422 </a:t>
            </a:r>
            <a:r>
              <a:rPr lang="ko-KR" altLang="en-US" sz="2799" dirty="0">
                <a:solidFill>
                  <a:srgbClr val="000000"/>
                </a:solidFill>
                <a:latin typeface="TDTD강굴림" panose="020B0600000101010101" charset="-127"/>
                <a:ea typeface="TDTD강굴림" panose="020B0600000101010101" charset="-127"/>
                <a:cs typeface="Nanum Square Round"/>
                <a:sym typeface="Nanum Square Round"/>
              </a:rPr>
              <a:t>최민수</a:t>
            </a:r>
            <a:endParaRPr lang="en-US" sz="2799" dirty="0">
              <a:solidFill>
                <a:srgbClr val="000000"/>
              </a:solidFill>
              <a:latin typeface="TDTD강굴림" panose="020B0600000101010101" charset="-127"/>
              <a:ea typeface="TDTD강굴림" panose="020B0600000101010101" charset="-127"/>
              <a:cs typeface="Nanum Square Round"/>
              <a:sym typeface="Nanum Square Roun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6E7983-2039-CCC2-A10E-FE832CA94171}"/>
              </a:ext>
            </a:extLst>
          </p:cNvPr>
          <p:cNvSpPr txBox="1"/>
          <p:nvPr/>
        </p:nvSpPr>
        <p:spPr>
          <a:xfrm>
            <a:off x="1524000" y="7581900"/>
            <a:ext cx="310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26.01.04 MENLAB MEETING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3400" y="373278"/>
            <a:ext cx="17343701" cy="9494622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FC39CA-19DB-2EB2-1D3F-E4449ECECC49}"/>
              </a:ext>
            </a:extLst>
          </p:cNvPr>
          <p:cNvSpPr txBox="1"/>
          <p:nvPr/>
        </p:nvSpPr>
        <p:spPr>
          <a:xfrm>
            <a:off x="1524000" y="2933700"/>
            <a:ext cx="13182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Introduction</a:t>
            </a:r>
          </a:p>
          <a:p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  - Emerging Neuromorphic systems</a:t>
            </a:r>
          </a:p>
          <a:p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  - Architecture of the Synapse devices</a:t>
            </a:r>
          </a:p>
          <a:p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  - Materials of Photo-Synaptic Transistor </a:t>
            </a:r>
          </a:p>
          <a:p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  - Persistent-Photoconductivity (PPC)</a:t>
            </a:r>
          </a:p>
          <a:p>
            <a:endParaRPr lang="en-US" altLang="ko-KR" sz="2400" dirty="0">
              <a:latin typeface="TDTD강굴림" panose="020B0600000101010101" charset="-127"/>
              <a:ea typeface="TDTD강굴림" panose="020B0600000101010101" charset="-127"/>
            </a:endParaRPr>
          </a:p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2. Neuromorphic Hardware System</a:t>
            </a:r>
          </a:p>
          <a:p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  - Artificial Neuron</a:t>
            </a:r>
          </a:p>
          <a:p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  - Leaky Integrate-and-Fire (LIF) model</a:t>
            </a:r>
          </a:p>
          <a:p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  - Synaptic Plasticity</a:t>
            </a:r>
          </a:p>
          <a:p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  - Performance Indicators of an Artificial Synapse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0EE6B3-D79F-923A-4078-CAFD91A22847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738652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3400" y="373278"/>
            <a:ext cx="17343701" cy="9494622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FC39CA-19DB-2EB2-1D3F-E4449ECECC49}"/>
              </a:ext>
            </a:extLst>
          </p:cNvPr>
          <p:cNvSpPr txBox="1"/>
          <p:nvPr/>
        </p:nvSpPr>
        <p:spPr>
          <a:xfrm>
            <a:off x="2754775" y="4286071"/>
            <a:ext cx="12778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altLang="ko-KR" sz="7200" dirty="0">
                <a:latin typeface="TDTD강굴림" panose="020B0600000101010101" charset="-127"/>
                <a:ea typeface="TDTD강굴림" panose="020B0600000101010101" charset="-127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599883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3400" y="373278"/>
            <a:ext cx="17343701" cy="9494622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6096000" y="9410700"/>
            <a:ext cx="1135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https://www.kairnews.com/news/438729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ko-KR" sz="3200" dirty="0">
                <a:latin typeface="TDTD강굴림" panose="020B0600000101010101" charset="-127"/>
                <a:ea typeface="TDTD강굴림" panose="020B0600000101010101" charset="-127"/>
              </a:rPr>
              <a:t>Emerging Neuromorphic 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A28580-911E-CAD8-A192-C92093CDA995}"/>
              </a:ext>
            </a:extLst>
          </p:cNvPr>
          <p:cNvSpPr txBox="1"/>
          <p:nvPr/>
        </p:nvSpPr>
        <p:spPr>
          <a:xfrm>
            <a:off x="914400" y="1794628"/>
            <a:ext cx="1623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Neuromorphic systems, which conduct “in-memory” computing, simultaneously perform computations and data processing.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1975F46-4E49-E9B2-E98D-441F11D878F2}"/>
              </a:ext>
            </a:extLst>
          </p:cNvPr>
          <p:cNvGrpSpPr/>
          <p:nvPr/>
        </p:nvGrpSpPr>
        <p:grpSpPr>
          <a:xfrm>
            <a:off x="1752600" y="3463825"/>
            <a:ext cx="14387181" cy="4803875"/>
            <a:chOff x="1752600" y="1956133"/>
            <a:chExt cx="14387181" cy="480387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4D7876-CF4B-1F62-186B-29BB78E27E13}"/>
                </a:ext>
              </a:extLst>
            </p:cNvPr>
            <p:cNvSpPr txBox="1"/>
            <p:nvPr/>
          </p:nvSpPr>
          <p:spPr>
            <a:xfrm>
              <a:off x="1752600" y="1956133"/>
              <a:ext cx="129832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                von Neumann bottleneck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8E49B2D-28E1-6BA5-9F53-5DC104743D4C}"/>
                </a:ext>
              </a:extLst>
            </p:cNvPr>
            <p:cNvGrpSpPr/>
            <p:nvPr/>
          </p:nvGrpSpPr>
          <p:grpSpPr>
            <a:xfrm>
              <a:off x="2956850" y="2625770"/>
              <a:ext cx="12649200" cy="4134238"/>
              <a:chOff x="3155576" y="2551020"/>
              <a:chExt cx="12649200" cy="4134238"/>
            </a:xfrm>
          </p:grpSpPr>
          <p:pic>
            <p:nvPicPr>
              <p:cNvPr id="14" name="그림 13" descr="von Neumann architecture diagram">
                <a:extLst>
                  <a:ext uri="{FF2B5EF4-FFF2-40B4-BE49-F238E27FC236}">
                    <a16:creationId xmlns:a16="http://schemas.microsoft.com/office/drawing/2014/main" id="{65E77BD0-F354-6CBD-0F02-9CB50CA4D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55576" y="2551020"/>
                <a:ext cx="4572000" cy="41342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" name="Picture 2" descr="K-AI, '범용' 넘어 '특화'로: 루닛·KAIST 컨소시엄 선정의 의미와 글로벌 AI 패권 지형 - 한국AI부동산신문">
                <a:extLst>
                  <a:ext uri="{FF2B5EF4-FFF2-40B4-BE49-F238E27FC236}">
                    <a16:creationId xmlns:a16="http://schemas.microsoft.com/office/drawing/2014/main" id="{ABA7C458-A0CB-C4E7-22F4-C49AE85537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37388" y="2831621"/>
                <a:ext cx="5767388" cy="32366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0AF72E-03F7-ED22-52CF-ED0E05A47A11}"/>
                  </a:ext>
                </a:extLst>
              </p:cNvPr>
              <p:cNvSpPr txBox="1"/>
              <p:nvPr/>
            </p:nvSpPr>
            <p:spPr>
              <a:xfrm>
                <a:off x="8382000" y="3942133"/>
                <a:ext cx="8382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+</a:t>
                </a:r>
                <a:endParaRPr lang="en-US" altLang="ko-KR" sz="5400" dirty="0">
                  <a:latin typeface="TDTD강굴림" panose="020B0600000101010101" charset="-127"/>
                  <a:ea typeface="TDTD강굴림" panose="020B0600000101010101" charset="-127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F69391B-A533-3DC8-3CAB-12AF70EEC600}"/>
                </a:ext>
              </a:extLst>
            </p:cNvPr>
            <p:cNvSpPr txBox="1"/>
            <p:nvPr/>
          </p:nvSpPr>
          <p:spPr>
            <a:xfrm>
              <a:off x="9340257" y="2259743"/>
              <a:ext cx="67995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                 Artificial Intelligence (AI)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1998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3400" y="373278"/>
            <a:ext cx="17343701" cy="9494622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2362200" y="9410700"/>
            <a:ext cx="150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Li, </a:t>
            </a:r>
            <a:r>
              <a:rPr lang="en-US" altLang="ko-KR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Yibo</a:t>
            </a:r>
            <a:r>
              <a:rPr lang="en-US" altLang="ko-K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"Review of memristor devices in neuromorphic computing: materials sciences and device challenges." </a:t>
            </a:r>
            <a:r>
              <a:rPr lang="en-US" altLang="ko-KR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Journal of Physics D: Applied Physics</a:t>
            </a:r>
            <a:r>
              <a:rPr lang="en-US" altLang="ko-K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51.50 (2018): 503002.</a:t>
            </a:r>
            <a:endParaRPr lang="de-DE" altLang="ko-KR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Architecture of the Synapse devices</a:t>
            </a:r>
            <a:endParaRPr lang="de-DE" altLang="ko-KR" sz="32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48432C-6B20-DC66-9EDD-8AAF2725EB52}"/>
              </a:ext>
            </a:extLst>
          </p:cNvPr>
          <p:cNvSpPr txBox="1"/>
          <p:nvPr/>
        </p:nvSpPr>
        <p:spPr>
          <a:xfrm>
            <a:off x="762000" y="2857500"/>
            <a:ext cx="464820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Memristor Array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Resistance variation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Analog multilevel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+ Nonvolatile</a:t>
            </a:r>
          </a:p>
          <a:p>
            <a:endParaRPr lang="en-US" altLang="ko-KR" sz="2400" dirty="0">
              <a:latin typeface="TDTD강굴림" panose="020B0600000101010101" charset="-127"/>
              <a:ea typeface="TDTD강굴림" panose="020B0600000101010101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Two-terminal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Offline learning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altLang="ko-KR" sz="20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Presynaptic Spike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Voltage pulse</a:t>
            </a:r>
          </a:p>
          <a:p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endParaRPr lang="en-US" altLang="ko-KR" sz="14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Postsynaptic Spike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Voltage pulse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altLang="ko-KR" sz="18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Output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Postsynaptic Current (PSC)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7CAB3A-51E0-CE4B-87C6-E92E8B3A416E}"/>
              </a:ext>
            </a:extLst>
          </p:cNvPr>
          <p:cNvSpPr txBox="1"/>
          <p:nvPr/>
        </p:nvSpPr>
        <p:spPr>
          <a:xfrm>
            <a:off x="13335000" y="2452211"/>
            <a:ext cx="461830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Thin Film Transistor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Conductance variation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Analog multilevel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 + Nonvolatile </a:t>
            </a:r>
            <a:r>
              <a:rPr lang="de-DE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or</a:t>
            </a:r>
            <a:r>
              <a:rPr lang="ko-KR" altLang="en-US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de-DE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Semivolatile</a:t>
            </a:r>
          </a:p>
          <a:p>
            <a:r>
              <a:rPr lang="de-DE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  </a:t>
            </a:r>
            <a:r>
              <a:rPr lang="de-DE" altLang="ko-KR" sz="1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ex) Floating Gate, Ferroelectric, </a:t>
            </a:r>
            <a:r>
              <a:rPr lang="de-DE" altLang="ko-KR" sz="1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PPC</a:t>
            </a:r>
            <a:endParaRPr lang="en-US" altLang="ko-KR" sz="16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endParaRPr lang="en-US" altLang="ko-KR" sz="2400" dirty="0">
              <a:latin typeface="TDTD강굴림" panose="020B0600000101010101" charset="-127"/>
              <a:ea typeface="TDTD강굴림" panose="020B0600000101010101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Three or more terminals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Online learning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altLang="ko-KR" sz="24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Presynaptic Spike</a:t>
            </a:r>
          </a:p>
          <a:p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 Light pulse</a:t>
            </a:r>
            <a:endParaRPr lang="en-US" altLang="ko-KR" sz="2000" baseline="-250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r>
              <a:rPr lang="en-US" altLang="ko-KR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           </a:t>
            </a:r>
            <a:endParaRPr lang="en-US" altLang="ko-KR" sz="18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Postsynaptic Spike</a:t>
            </a:r>
          </a:p>
          <a:p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 V</a:t>
            </a:r>
            <a:r>
              <a:rPr lang="en-US" altLang="ko-KR" sz="2000" baseline="-25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GS 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pulse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US" altLang="ko-KR" sz="18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Output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I</a:t>
            </a:r>
            <a:r>
              <a:rPr lang="en-US" altLang="ko-KR" sz="2000" baseline="-25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DS</a:t>
            </a:r>
            <a:r>
              <a:rPr lang="en-US" altLang="ko-KR" sz="2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(PSC)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C674E5B-AEC4-2450-09B1-7C6E8305330B}"/>
              </a:ext>
            </a:extLst>
          </p:cNvPr>
          <p:cNvGrpSpPr/>
          <p:nvPr/>
        </p:nvGrpSpPr>
        <p:grpSpPr>
          <a:xfrm>
            <a:off x="5410200" y="2050624"/>
            <a:ext cx="7696200" cy="6217076"/>
            <a:chOff x="5334000" y="1672079"/>
            <a:chExt cx="8606395" cy="711553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DA28580-911E-CAD8-A192-C92093CDA995}"/>
                </a:ext>
              </a:extLst>
            </p:cNvPr>
            <p:cNvSpPr txBox="1"/>
            <p:nvPr/>
          </p:nvSpPr>
          <p:spPr>
            <a:xfrm>
              <a:off x="6015695" y="1672079"/>
              <a:ext cx="16764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altLang="ko-KR" sz="3200" dirty="0">
                  <a:latin typeface="TDTD강굴림" panose="020B0600000101010101" charset="-127"/>
                  <a:ea typeface="TDTD강굴림" panose="020B0600000101010101" charset="-127"/>
                </a:rPr>
                <a:t>Initial</a:t>
              </a:r>
              <a:endParaRPr lang="en-US" altLang="ko-KR" sz="32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2E2120-3AFE-6633-BAE0-A9A9625C1160}"/>
                </a:ext>
              </a:extLst>
            </p:cNvPr>
            <p:cNvSpPr txBox="1"/>
            <p:nvPr/>
          </p:nvSpPr>
          <p:spPr>
            <a:xfrm>
              <a:off x="10872769" y="2362337"/>
              <a:ext cx="2043481" cy="6692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altLang="ko-KR" sz="3200" dirty="0">
                  <a:latin typeface="TDTD강굴림" panose="020B0600000101010101" charset="-127"/>
                  <a:ea typeface="TDTD강굴림" panose="020B0600000101010101" charset="-127"/>
                </a:rPr>
                <a:t>Current</a:t>
              </a:r>
              <a:endParaRPr lang="en-US" altLang="ko-KR" sz="32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26" name="화살표: 오른쪽 25">
              <a:extLst>
                <a:ext uri="{FF2B5EF4-FFF2-40B4-BE49-F238E27FC236}">
                  <a16:creationId xmlns:a16="http://schemas.microsoft.com/office/drawing/2014/main" id="{BE49D538-2D8E-4CA8-D011-BE31CEA772BA}"/>
                </a:ext>
              </a:extLst>
            </p:cNvPr>
            <p:cNvSpPr/>
            <p:nvPr/>
          </p:nvSpPr>
          <p:spPr>
            <a:xfrm>
              <a:off x="8458200" y="4662720"/>
              <a:ext cx="1040407" cy="1065072"/>
            </a:xfrm>
            <a:prstGeom prst="rightArrow">
              <a:avLst/>
            </a:prstGeom>
            <a:noFill/>
            <a:ln w="38100" cap="rnd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44E1395A-3699-3B5B-D829-D682AE15D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972"/>
            <a:stretch/>
          </p:blipFill>
          <p:spPr>
            <a:xfrm>
              <a:off x="5334000" y="2358240"/>
              <a:ext cx="2624696" cy="6429375"/>
            </a:xfrm>
            <a:prstGeom prst="rect">
              <a:avLst/>
            </a:prstGeom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A04D706D-F5AF-42FB-5C3E-57D67D0DD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431" t="4443"/>
            <a:stretch/>
          </p:blipFill>
          <p:spPr>
            <a:xfrm>
              <a:off x="9952259" y="3194814"/>
              <a:ext cx="3988136" cy="4036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8773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3400" y="373278"/>
            <a:ext cx="17343701" cy="9494622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2362200" y="9590901"/>
            <a:ext cx="15087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ko-KR" sz="3200" dirty="0">
                <a:latin typeface="TDTD강굴림" panose="020B0600000101010101" charset="-127"/>
                <a:ea typeface="TDTD강굴림" panose="020B0600000101010101" charset="-127"/>
              </a:rPr>
              <a:t>Materials of Photo-Synaptic Transistor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48432C-6B20-DC66-9EDD-8AAF2725EB52}"/>
              </a:ext>
            </a:extLst>
          </p:cNvPr>
          <p:cNvSpPr txBox="1"/>
          <p:nvPr/>
        </p:nvSpPr>
        <p:spPr>
          <a:xfrm>
            <a:off x="10591800" y="1676400"/>
            <a:ext cx="507909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Silicon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High switching performance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Suitable for digital computing</a:t>
            </a:r>
          </a:p>
          <a:p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 </a:t>
            </a:r>
            <a:r>
              <a:rPr lang="en-US" altLang="ko-KR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ex) CMOS</a:t>
            </a:r>
            <a:endParaRPr lang="en-US" altLang="ko-KR" sz="24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3182AA-C8D0-F012-C123-C5DD0F1E44AD}"/>
              </a:ext>
            </a:extLst>
          </p:cNvPr>
          <p:cNvSpPr txBox="1"/>
          <p:nvPr/>
        </p:nvSpPr>
        <p:spPr>
          <a:xfrm>
            <a:off x="4800600" y="7438347"/>
            <a:ext cx="507909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2D materials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Immature stage</a:t>
            </a:r>
          </a:p>
          <a:p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 + Poor uniformity</a:t>
            </a:r>
          </a:p>
          <a:p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 + Low stability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913D9D-8D3A-BF15-A39A-88DF8660E728}"/>
              </a:ext>
            </a:extLst>
          </p:cNvPr>
          <p:cNvSpPr txBox="1"/>
          <p:nvPr/>
        </p:nvSpPr>
        <p:spPr>
          <a:xfrm>
            <a:off x="9601200" y="7438347"/>
            <a:ext cx="507909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Perovskite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Limited to solution process</a:t>
            </a:r>
          </a:p>
          <a:p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 + Pb inclusion</a:t>
            </a:r>
          </a:p>
          <a:p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 + Low stability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78CBE6-7BDE-A5FB-511A-5B2DB34C4D6B}"/>
              </a:ext>
            </a:extLst>
          </p:cNvPr>
          <p:cNvSpPr txBox="1"/>
          <p:nvPr/>
        </p:nvSpPr>
        <p:spPr>
          <a:xfrm>
            <a:off x="904658" y="1690216"/>
            <a:ext cx="109326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Amorphous Oxide Semiconductor (AOS)</a:t>
            </a:r>
          </a:p>
          <a:p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 Mature stage (Commercialized as n-type channel TFT)</a:t>
            </a:r>
          </a:p>
          <a:p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 + </a:t>
            </a:r>
            <a:r>
              <a:rPr lang="en-US" altLang="ko-KR" sz="2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High electron mobility in the amorphous phase</a:t>
            </a:r>
          </a:p>
          <a:p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 +</a:t>
            </a:r>
            <a:r>
              <a:rPr lang="en-US" altLang="ko-KR" sz="2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Lower leakage current </a:t>
            </a:r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due to wide bandgap energy</a:t>
            </a:r>
          </a:p>
          <a:p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 + </a:t>
            </a:r>
            <a:r>
              <a:rPr lang="en-US" altLang="ko-KR" sz="2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Persistent-Photoconductivity (PPC) effect</a:t>
            </a:r>
          </a:p>
          <a:p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     </a:t>
            </a:r>
          </a:p>
          <a:p>
            <a:endParaRPr lang="en-US" altLang="ko-KR" sz="24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endParaRPr lang="en-US" altLang="ko-KR" sz="24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1299843B-F673-07AB-6F88-F7767A7F76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9654"/>
          <a:stretch/>
        </p:blipFill>
        <p:spPr>
          <a:xfrm>
            <a:off x="10668000" y="3429000"/>
            <a:ext cx="6934200" cy="316230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5A9D694C-E426-32C6-039B-CB82A15820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346"/>
          <a:stretch/>
        </p:blipFill>
        <p:spPr>
          <a:xfrm>
            <a:off x="1371600" y="3733800"/>
            <a:ext cx="683895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47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3400" y="373278"/>
            <a:ext cx="17343701" cy="9494622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2362200" y="9410700"/>
            <a:ext cx="150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 latinLnBrk="1"/>
            <a:r>
              <a:rPr lang="en-US" altLang="ko-KR" sz="12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Adv. Mater. 2021, 33, 2006091</a:t>
            </a:r>
            <a:endParaRPr lang="en-US" altLang="ko-KR" sz="1200" kern="0" spc="0" dirty="0">
              <a:solidFill>
                <a:srgbClr val="000000"/>
              </a:solidFill>
              <a:effectLst/>
              <a:latin typeface="함초롬바탕" panose="02030604000101010101" pitchFamily="18" charset="-127"/>
            </a:endParaRPr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Persistent-Photoconductivity (PPC) </a:t>
            </a:r>
            <a:endParaRPr lang="de-DE" altLang="ko-KR" sz="32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78CBE6-7BDE-A5FB-511A-5B2DB34C4D6B}"/>
              </a:ext>
            </a:extLst>
          </p:cNvPr>
          <p:cNvSpPr txBox="1"/>
          <p:nvPr/>
        </p:nvSpPr>
        <p:spPr>
          <a:xfrm>
            <a:off x="1363400" y="7424028"/>
            <a:ext cx="4724400" cy="550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(d) PPC effect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E3E96B3-7ED2-7FA6-3CB7-5C466D066B2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9452"/>
          <a:stretch/>
        </p:blipFill>
        <p:spPr>
          <a:xfrm>
            <a:off x="1447800" y="3101288"/>
            <a:ext cx="14859000" cy="43466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D87FAF9-CED8-5763-CF0D-66AE46D380EE}"/>
                  </a:ext>
                </a:extLst>
              </p:cNvPr>
              <p:cNvSpPr txBox="1"/>
              <p:nvPr/>
            </p:nvSpPr>
            <p:spPr>
              <a:xfrm>
                <a:off x="1219200" y="1181100"/>
                <a:ext cx="16230600" cy="1696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1. </a:t>
                </a:r>
                <a:r>
                  <a:rPr lang="en-US" altLang="ko-KR" sz="24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Photoionization</a:t>
                </a: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 of Deep Traps (V</a:t>
                </a:r>
                <a:r>
                  <a:rPr lang="en-US" altLang="ko-KR" sz="2400" baseline="-25000" dirty="0">
                    <a:latin typeface="TDTD강굴림" panose="020B0600000101010101" charset="-127"/>
                    <a:ea typeface="TDTD강굴림" panose="020B0600000101010101" charset="-127"/>
                  </a:rPr>
                  <a:t>O</a:t>
                </a: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 ⟶ V</a:t>
                </a:r>
                <a:r>
                  <a:rPr lang="en-US" altLang="ko-KR" sz="2400" baseline="-25000" dirty="0">
                    <a:latin typeface="TDTD강굴림" panose="020B0600000101010101" charset="-127"/>
                    <a:ea typeface="TDTD강굴림" panose="020B0600000101010101" charset="-127"/>
                  </a:rPr>
                  <a:t>O</a:t>
                </a:r>
                <a:r>
                  <a:rPr lang="en-US" altLang="ko-KR" sz="2400" baseline="30000" dirty="0">
                    <a:latin typeface="TDTD강굴림" panose="020B0600000101010101" charset="-127"/>
                    <a:ea typeface="TDTD강굴림" panose="020B0600000101010101" charset="-127"/>
                  </a:rPr>
                  <a:t>+</a:t>
                </a: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 or V</a:t>
                </a:r>
                <a:r>
                  <a:rPr lang="en-US" altLang="ko-KR" sz="2400" baseline="-25000" dirty="0">
                    <a:latin typeface="TDTD강굴림" panose="020B0600000101010101" charset="-127"/>
                    <a:ea typeface="TDTD강굴림" panose="020B0600000101010101" charset="-127"/>
                  </a:rPr>
                  <a:t>O</a:t>
                </a:r>
                <a:r>
                  <a:rPr lang="en-US" altLang="ko-KR" sz="2400" baseline="30000" dirty="0">
                    <a:latin typeface="TDTD강굴림" panose="020B0600000101010101" charset="-127"/>
                    <a:ea typeface="TDTD강굴림" panose="020B0600000101010101" charset="-127"/>
                  </a:rPr>
                  <a:t>2+</a:t>
                </a: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) </a:t>
                </a: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</a:t>
                </a: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 </a:t>
                </a:r>
                <a:r>
                  <a:rPr lang="en-US" altLang="ko-KR" sz="24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Photoelectron</a:t>
                </a: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 emission &amp; Lattice Relaxation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2. Very high activation energy for neutralization (V</a:t>
                </a:r>
                <a:r>
                  <a:rPr lang="en-US" altLang="ko-KR" sz="2400" baseline="-25000" dirty="0">
                    <a:latin typeface="TDTD강굴림" panose="020B0600000101010101" charset="-127"/>
                    <a:ea typeface="TDTD강굴림" panose="020B0600000101010101" charset="-127"/>
                  </a:rPr>
                  <a:t>O</a:t>
                </a:r>
                <a:r>
                  <a:rPr lang="en-US" altLang="ko-KR" sz="2400" baseline="30000" dirty="0">
                    <a:latin typeface="TDTD강굴림" panose="020B0600000101010101" charset="-127"/>
                    <a:ea typeface="TDTD강굴림" panose="020B0600000101010101" charset="-127"/>
                  </a:rPr>
                  <a:t>+</a:t>
                </a: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 or V</a:t>
                </a:r>
                <a:r>
                  <a:rPr lang="en-US" altLang="ko-KR" sz="2400" baseline="-25000" dirty="0">
                    <a:latin typeface="TDTD강굴림" panose="020B0600000101010101" charset="-127"/>
                    <a:ea typeface="TDTD강굴림" panose="020B0600000101010101" charset="-127"/>
                  </a:rPr>
                  <a:t>O</a:t>
                </a:r>
                <a:r>
                  <a:rPr lang="en-US" altLang="ko-KR" sz="2400" baseline="30000" dirty="0">
                    <a:latin typeface="TDTD강굴림" panose="020B0600000101010101" charset="-127"/>
                    <a:ea typeface="TDTD강굴림" panose="020B0600000101010101" charset="-127"/>
                  </a:rPr>
                  <a:t>2+</a:t>
                </a: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 ⟶ V</a:t>
                </a:r>
                <a:r>
                  <a:rPr lang="en-US" altLang="ko-KR" sz="2400" baseline="-25000" dirty="0">
                    <a:latin typeface="TDTD강굴림" panose="020B0600000101010101" charset="-127"/>
                    <a:ea typeface="TDTD강굴림" panose="020B0600000101010101" charset="-127"/>
                  </a:rPr>
                  <a:t>O</a:t>
                </a: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 ) </a:t>
                </a: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 </a:t>
                </a:r>
                <a:r>
                  <a:rPr lang="en-US" altLang="ko-KR" sz="24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Hindered recombination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3. </a:t>
                </a:r>
                <a:r>
                  <a:rPr lang="en-US" altLang="ko-KR" sz="24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Maintaining high conductance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400" b="1" i="1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G</m:t>
                    </m:r>
                  </m:oMath>
                </a14:m>
                <a:r>
                  <a:rPr lang="en-US" altLang="ko-KR" sz="24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) </a:t>
                </a: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</a:t>
                </a:r>
                <a:r>
                  <a:rPr lang="en-US" altLang="ko-KR" sz="24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 </a:t>
                </a: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Increasing</a:t>
                </a:r>
                <a:r>
                  <a:rPr lang="ko-KR" altLang="en-US" sz="24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 </a:t>
                </a: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retention time </a:t>
                </a:r>
                <a:r>
                  <a:rPr lang="en-US" altLang="ko-KR" sz="24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 Long-Term Potentiation (LTP)</a:t>
                </a:r>
                <a:endParaRPr lang="ko-KR" altLang="en-US" sz="24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D87FAF9-CED8-5763-CF0D-66AE46D38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181100"/>
                <a:ext cx="16230600" cy="1696747"/>
              </a:xfrm>
              <a:prstGeom prst="rect">
                <a:avLst/>
              </a:prstGeom>
              <a:blipFill>
                <a:blip r:embed="rId7"/>
                <a:stretch>
                  <a:fillRect l="-563" b="-75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8CB0843-2C08-EDEF-9227-A8ADFCE98D34}"/>
              </a:ext>
            </a:extLst>
          </p:cNvPr>
          <p:cNvSpPr txBox="1"/>
          <p:nvPr/>
        </p:nvSpPr>
        <p:spPr>
          <a:xfrm>
            <a:off x="6858000" y="7424028"/>
            <a:ext cx="4800599" cy="2073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(e) </a:t>
            </a: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Photonic input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Photoionization of V</a:t>
            </a:r>
            <a:r>
              <a:rPr lang="en-US" altLang="ko-KR" sz="2200" baseline="-250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Conductance variation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33A51-B6DB-6BCC-C28D-9C60A77B1DA8}"/>
              </a:ext>
            </a:extLst>
          </p:cNvPr>
          <p:cNvSpPr txBox="1"/>
          <p:nvPr/>
        </p:nvSpPr>
        <p:spPr>
          <a:xfrm>
            <a:off x="11756499" y="7424028"/>
            <a:ext cx="5464701" cy="2073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(f) </a:t>
            </a: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Applying </a:t>
            </a:r>
            <a:r>
              <a:rPr lang="en-US" altLang="ko-KR" sz="2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+V</a:t>
            </a:r>
            <a:r>
              <a:rPr lang="en-US" altLang="ko-KR" sz="2200" baseline="-25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GS</a:t>
            </a:r>
            <a:r>
              <a:rPr lang="en-US" altLang="ko-KR" sz="2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</a:t>
            </a:r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pulse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22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Alleviation of PPC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sz="2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Long-term depression (LTD)/Reset</a:t>
            </a:r>
          </a:p>
        </p:txBody>
      </p:sp>
      <p:pic>
        <p:nvPicPr>
          <p:cNvPr id="18" name="Picture 1">
            <a:extLst>
              <a:ext uri="{FF2B5EF4-FFF2-40B4-BE49-F238E27FC236}">
                <a16:creationId xmlns:a16="http://schemas.microsoft.com/office/drawing/2014/main" id="{8AD96405-22F4-4306-B8FF-2ABBB6646C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5332" y="8024810"/>
            <a:ext cx="3805518" cy="69767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AD059B4-22FD-F655-48A5-67E296915E62}"/>
              </a:ext>
            </a:extLst>
          </p:cNvPr>
          <p:cNvSpPr txBox="1"/>
          <p:nvPr/>
        </p:nvSpPr>
        <p:spPr>
          <a:xfrm>
            <a:off x="1462750" y="8695452"/>
            <a:ext cx="4914900" cy="94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</a:pPr>
            <a:r>
              <a:rPr lang="en-US" altLang="ko-KR" sz="1400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I</a:t>
            </a:r>
            <a:r>
              <a:rPr lang="en-US" altLang="ko-KR" sz="1400" kern="100" baseline="-250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DS</a:t>
            </a:r>
            <a:r>
              <a:rPr lang="en-US" altLang="ko-KR" sz="1400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(0): Current at the onset of decay</a:t>
            </a:r>
            <a:endParaRPr lang="ko-KR" altLang="ko-KR" sz="6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400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β</a:t>
            </a:r>
            <a:r>
              <a:rPr lang="en-US" altLang="ko-KR" sz="1400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: Distribution of defects that control the decay process</a:t>
            </a:r>
            <a:endParaRPr lang="ko-KR" altLang="ko-KR" sz="6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</a:pPr>
            <a:r>
              <a:rPr lang="ko-KR" altLang="ko-KR" sz="1400" kern="100" dirty="0" err="1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τ</a:t>
            </a:r>
            <a:r>
              <a:rPr lang="en-US" altLang="ko-KR" sz="1400" kern="100" dirty="0">
                <a:effectLst/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: Relaxation time</a:t>
            </a:r>
            <a:endParaRPr lang="ko-KR" altLang="ko-KR" sz="60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78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3400" y="373278"/>
            <a:ext cx="17343701" cy="9494622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2362200" y="9221569"/>
            <a:ext cx="1508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endParaRPr lang="en-US" altLang="ko-KR" sz="1200" dirty="0"/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/>
              <a:t>Moon, Seung Jae, et al. "Photo response of a-IGZO thin films as a function of annealing temperature." Journal of Information Display (2025): 1-11.</a:t>
            </a:r>
            <a:endParaRPr lang="de-DE" altLang="ko-KR" sz="1200" dirty="0"/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How to Increase PPC Duration</a:t>
            </a:r>
            <a:endParaRPr lang="de-DE" altLang="ko-KR" sz="32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87FAF9-CED8-5763-CF0D-66AE46D380EE}"/>
              </a:ext>
            </a:extLst>
          </p:cNvPr>
          <p:cNvSpPr txBox="1"/>
          <p:nvPr/>
        </p:nvSpPr>
        <p:spPr>
          <a:xfrm>
            <a:off x="3810000" y="1283350"/>
            <a:ext cx="9753600" cy="4469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Applying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-V</a:t>
            </a:r>
            <a:r>
              <a:rPr lang="en-US" altLang="ko-KR" sz="2400" baseline="-25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GS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pulse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 Suppress recombination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TDTD강굴림" panose="020B0600000101010101" charset="-127"/>
              <a:ea typeface="TDTD강굴림" panose="020B0600000101010101" charset="-127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Sputtering process under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low O</a:t>
            </a:r>
            <a:r>
              <a:rPr lang="en-US" altLang="ko-KR" sz="2400" baseline="-25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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Increase V</a:t>
            </a:r>
            <a:r>
              <a:rPr lang="en-US" altLang="ko-KR" sz="2400" baseline="-250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Post-annealing at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high temperature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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Increase V</a:t>
            </a:r>
            <a:r>
              <a:rPr lang="en-US" altLang="ko-KR" sz="2400" baseline="-25000" dirty="0">
                <a:latin typeface="TDTD강굴림" panose="020B0600000101010101" charset="-127"/>
                <a:ea typeface="TDTD강굴림" panose="020B0600000101010101" charset="-127"/>
              </a:rPr>
              <a:t>O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TDTD강굴림" panose="020B0600000101010101" charset="-127"/>
              <a:ea typeface="TDTD강굴림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TDTD강굴림" panose="020B0600000101010101" charset="-127"/>
              <a:ea typeface="TDTD강굴림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1A19610-CD6B-8E18-BD66-C7D34B5E574C}"/>
              </a:ext>
            </a:extLst>
          </p:cNvPr>
          <p:cNvGrpSpPr/>
          <p:nvPr/>
        </p:nvGrpSpPr>
        <p:grpSpPr>
          <a:xfrm>
            <a:off x="2286000" y="4568092"/>
            <a:ext cx="13023906" cy="4766408"/>
            <a:chOff x="1578394" y="4422416"/>
            <a:chExt cx="13023906" cy="4766408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5FA9C97-8327-FB1C-1FC6-480EAE8E1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78394" y="4422417"/>
              <a:ext cx="6575006" cy="4759684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262FD45-17F9-0CCC-3E06-45C639919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53900" y="4422416"/>
              <a:ext cx="6248400" cy="4766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8938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3400" y="373278"/>
            <a:ext cx="17343701" cy="9494622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FC39CA-19DB-2EB2-1D3F-E4449ECECC49}"/>
              </a:ext>
            </a:extLst>
          </p:cNvPr>
          <p:cNvSpPr txBox="1"/>
          <p:nvPr/>
        </p:nvSpPr>
        <p:spPr>
          <a:xfrm>
            <a:off x="752837" y="4000500"/>
            <a:ext cx="16904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dirty="0">
                <a:latin typeface="TDTD강굴림" panose="020B0600000101010101" charset="-127"/>
                <a:ea typeface="TDTD강굴림" panose="020B0600000101010101" charset="-127"/>
              </a:rPr>
              <a:t>2. Neuromorphic Hardware System</a:t>
            </a:r>
          </a:p>
        </p:txBody>
      </p:sp>
    </p:spTree>
    <p:extLst>
      <p:ext uri="{BB962C8B-B14F-4D97-AF65-F5344CB8AC3E}">
        <p14:creationId xmlns:p14="http://schemas.microsoft.com/office/powerpoint/2010/main" val="988230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3400" y="373278"/>
            <a:ext cx="17343701" cy="9494622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2362200" y="9410700"/>
            <a:ext cx="150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endParaRPr lang="de-DE" altLang="ko-KR" sz="1200" dirty="0"/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Artificial Neuron</a:t>
            </a:r>
            <a:endParaRPr lang="de-DE" altLang="ko-KR" sz="32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87FAF9-CED8-5763-CF0D-66AE46D380EE}"/>
              </a:ext>
            </a:extLst>
          </p:cNvPr>
          <p:cNvSpPr txBox="1"/>
          <p:nvPr/>
        </p:nvSpPr>
        <p:spPr>
          <a:xfrm>
            <a:off x="1261929" y="4686300"/>
            <a:ext cx="15883071" cy="4469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1. Dendrites: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Receive signals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from presynaptic axons and transmit them to the cell body (soma)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2. Soma: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Spike generation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occurs when presynaptic inputs exceed a specific threshold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3. Axon: A long fiber that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conducts signals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generated in the soma to the postsynaptic dendrites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4. Synapse: A junction between neurons that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modulates and retains synaptic weight</a:t>
            </a:r>
          </a:p>
          <a:p>
            <a:pPr>
              <a:lnSpc>
                <a:spcPct val="150000"/>
              </a:lnSpc>
            </a:pPr>
            <a:endParaRPr lang="en-US" altLang="ko-KR" sz="24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Membrane: An insulating layer enclosing the soma that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acts as a capacitor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Membrane potential: The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electric potential of the membrane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, which varies in response to input signals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Resting potential: The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baseline membrane potential (reset)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without stimulation </a:t>
            </a:r>
            <a:r>
              <a:rPr lang="en-US" altLang="ko-KR" dirty="0">
                <a:latin typeface="TDTD강굴림" panose="020B0600000101010101" charset="-127"/>
                <a:ea typeface="TDTD강굴림" panose="020B0600000101010101" charset="-127"/>
              </a:rPr>
              <a:t>(Biological: -V / Artificial: 0 V)</a:t>
            </a:r>
            <a:endParaRPr lang="ko-KR" altLang="en-US" sz="24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084B187D-F88A-DCCE-49E2-BB539F97942E}"/>
              </a:ext>
            </a:extLst>
          </p:cNvPr>
          <p:cNvGrpSpPr/>
          <p:nvPr/>
        </p:nvGrpSpPr>
        <p:grpSpPr>
          <a:xfrm>
            <a:off x="2895600" y="1743553"/>
            <a:ext cx="13664453" cy="2790347"/>
            <a:chOff x="2895600" y="1562100"/>
            <a:chExt cx="13664453" cy="279034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A977F60-6BD9-2DF2-8BBF-CC40D37062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7158"/>
            <a:stretch/>
          </p:blipFill>
          <p:spPr bwMode="auto">
            <a:xfrm>
              <a:off x="2895600" y="1562100"/>
              <a:ext cx="12203269" cy="243451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051133A-F95D-3E46-6E96-9EA08FC080A3}"/>
                </a:ext>
              </a:extLst>
            </p:cNvPr>
            <p:cNvSpPr txBox="1"/>
            <p:nvPr/>
          </p:nvSpPr>
          <p:spPr>
            <a:xfrm>
              <a:off x="11353800" y="3993632"/>
              <a:ext cx="1524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i="0" dirty="0">
                  <a:solidFill>
                    <a:srgbClr val="FF0000"/>
                  </a:solidFill>
                  <a:effectLst/>
                  <a:latin typeface="TDTD강굴림" panose="020B0600000101010101" charset="-127"/>
                  <a:ea typeface="TDTD강굴림" panose="020B0600000101010101" charset="-127"/>
                </a:rPr>
                <a:t>Light</a:t>
              </a:r>
              <a:endParaRPr lang="ko-KR" altLang="en-US" sz="1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06C5F40A-0128-3840-D91F-E4722897E8C0}"/>
                </a:ext>
              </a:extLst>
            </p:cNvPr>
            <p:cNvSpPr/>
            <p:nvPr/>
          </p:nvSpPr>
          <p:spPr>
            <a:xfrm>
              <a:off x="10337425" y="3314700"/>
              <a:ext cx="762000" cy="68191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F846D794-B7DC-37C8-EBCC-C74A30E6EFE6}"/>
                </a:ext>
              </a:extLst>
            </p:cNvPr>
            <p:cNvSpPr/>
            <p:nvPr/>
          </p:nvSpPr>
          <p:spPr>
            <a:xfrm>
              <a:off x="13801165" y="3166190"/>
              <a:ext cx="981635" cy="91051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5AD3379B-3BCB-81AD-AF65-0E3011CD32BC}"/>
                </a:ext>
              </a:extLst>
            </p:cNvPr>
            <p:cNvCxnSpPr/>
            <p:nvPr/>
          </p:nvCxnSpPr>
          <p:spPr>
            <a:xfrm>
              <a:off x="10947025" y="3924300"/>
              <a:ext cx="457200" cy="15629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FCAD16CD-E146-1BC0-CEE5-CA3DFD617F6D}"/>
                </a:ext>
              </a:extLst>
            </p:cNvPr>
            <p:cNvCxnSpPr/>
            <p:nvPr/>
          </p:nvCxnSpPr>
          <p:spPr>
            <a:xfrm>
              <a:off x="14630400" y="3996610"/>
              <a:ext cx="457200" cy="15629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4EDA9DB-8B7D-1473-3B43-17B562EDCE53}"/>
                </a:ext>
              </a:extLst>
            </p:cNvPr>
            <p:cNvSpPr txBox="1"/>
            <p:nvPr/>
          </p:nvSpPr>
          <p:spPr>
            <a:xfrm>
              <a:off x="15036053" y="4044670"/>
              <a:ext cx="1524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i="0" dirty="0">
                  <a:solidFill>
                    <a:srgbClr val="FF0000"/>
                  </a:solidFill>
                  <a:effectLst/>
                  <a:latin typeface="TDTD강굴림" panose="020B0600000101010101" charset="-127"/>
                  <a:ea typeface="TDTD강굴림" panose="020B0600000101010101" charset="-127"/>
                </a:rPr>
                <a:t>I</a:t>
              </a:r>
              <a:r>
                <a:rPr lang="en-US" altLang="ko-KR" sz="1400" b="1" i="0" baseline="-25000" dirty="0">
                  <a:solidFill>
                    <a:srgbClr val="FF0000"/>
                  </a:solidFill>
                  <a:effectLst/>
                  <a:latin typeface="TDTD강굴림" panose="020B0600000101010101" charset="-127"/>
                  <a:ea typeface="TDTD강굴림" panose="020B0600000101010101" charset="-127"/>
                </a:rPr>
                <a:t>DS</a:t>
              </a:r>
              <a:r>
                <a:rPr lang="en-US" altLang="ko-KR" sz="1400" b="1" i="0" dirty="0">
                  <a:solidFill>
                    <a:srgbClr val="FF0000"/>
                  </a:solidFill>
                  <a:effectLst/>
                  <a:latin typeface="TDTD강굴림" panose="020B0600000101010101" charset="-127"/>
                  <a:ea typeface="TDTD강굴림" panose="020B0600000101010101" charset="-127"/>
                </a:rPr>
                <a:t> </a:t>
              </a:r>
              <a:r>
                <a:rPr lang="en-US" altLang="ko-KR" sz="1200" b="1" i="0" dirty="0">
                  <a:solidFill>
                    <a:srgbClr val="FF0000"/>
                  </a:solidFill>
                  <a:effectLst/>
                  <a:latin typeface="TDTD강굴림" panose="020B0600000101010101" charset="-127"/>
                  <a:ea typeface="TDTD강굴림" panose="020B0600000101010101" charset="-127"/>
                </a:rPr>
                <a:t>(PSC)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0201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3400" y="373278"/>
            <a:ext cx="17343701" cy="9494622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2362200" y="9410700"/>
            <a:ext cx="150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endParaRPr lang="de-DE" altLang="ko-KR" sz="1200" dirty="0"/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Leaky Integrate-and-Fire (LIF) model</a:t>
            </a:r>
            <a:endParaRPr lang="de-DE" altLang="ko-KR" sz="32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87FAF9-CED8-5763-CF0D-66AE46D380EE}"/>
              </a:ext>
            </a:extLst>
          </p:cNvPr>
          <p:cNvSpPr txBox="1"/>
          <p:nvPr/>
        </p:nvSpPr>
        <p:spPr>
          <a:xfrm>
            <a:off x="1600200" y="1351335"/>
            <a:ext cx="14968671" cy="591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LIF model: First reported as the IF model, the LIF neuron became the basis for artificial neurons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D4CB1EC-81AA-E942-8B74-5F7DE4112DD7}"/>
              </a:ext>
            </a:extLst>
          </p:cNvPr>
          <p:cNvGrpSpPr/>
          <p:nvPr/>
        </p:nvGrpSpPr>
        <p:grpSpPr>
          <a:xfrm>
            <a:off x="1752600" y="2324100"/>
            <a:ext cx="15196315" cy="6858000"/>
            <a:chOff x="1720085" y="2552700"/>
            <a:chExt cx="15196315" cy="68580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AFEA880D-A3F6-84DF-A7C0-87EFFD474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62400" y="3369240"/>
              <a:ext cx="10363200" cy="5511757"/>
            </a:xfrm>
            <a:prstGeom prst="rect">
              <a:avLst/>
            </a:prstGeom>
          </p:spPr>
        </p:pic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C13F6B3-5E38-190D-E09C-EEC60B1B103F}"/>
                </a:ext>
              </a:extLst>
            </p:cNvPr>
            <p:cNvSpPr/>
            <p:nvPr/>
          </p:nvSpPr>
          <p:spPr>
            <a:xfrm>
              <a:off x="3810000" y="3848100"/>
              <a:ext cx="3200400" cy="28956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C255A58D-C4EE-DE85-7A23-8BD260ED99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7885" y="5905500"/>
              <a:ext cx="718314" cy="838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69AF394-4866-9887-20F1-4EBE38025BA9}"/>
                </a:ext>
              </a:extLst>
            </p:cNvPr>
            <p:cNvSpPr txBox="1"/>
            <p:nvPr/>
          </p:nvSpPr>
          <p:spPr>
            <a:xfrm>
              <a:off x="1720085" y="6667500"/>
              <a:ext cx="2928115" cy="508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rPr>
                <a:t>1. Presynaptic inputs</a:t>
              </a: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582A37EB-CD58-E3D0-66B3-2E26939B6891}"/>
                </a:ext>
              </a:extLst>
            </p:cNvPr>
            <p:cNvSpPr/>
            <p:nvPr/>
          </p:nvSpPr>
          <p:spPr>
            <a:xfrm>
              <a:off x="8458200" y="5067300"/>
              <a:ext cx="1447800" cy="1905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FA85E221-2A65-F258-F873-596435F2F2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1000" y="3194467"/>
              <a:ext cx="853151" cy="19050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DE28229-67C9-C625-9E64-BBDBD2FDE6AE}"/>
                </a:ext>
              </a:extLst>
            </p:cNvPr>
            <p:cNvSpPr txBox="1"/>
            <p:nvPr/>
          </p:nvSpPr>
          <p:spPr>
            <a:xfrm>
              <a:off x="4800600" y="2552700"/>
              <a:ext cx="6477000" cy="508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rPr>
                <a:t>2. Raise the membrane potential above threshold</a:t>
              </a: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5FB43977-E4C6-5289-764A-2EAA36067AE8}"/>
                </a:ext>
              </a:extLst>
            </p:cNvPr>
            <p:cNvSpPr/>
            <p:nvPr/>
          </p:nvSpPr>
          <p:spPr>
            <a:xfrm>
              <a:off x="6795653" y="5478622"/>
              <a:ext cx="1662545" cy="1905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55B5F86B-FCEE-F008-A468-3819A1B43597}"/>
                </a:ext>
              </a:extLst>
            </p:cNvPr>
            <p:cNvCxnSpPr>
              <a:cxnSpLocks/>
            </p:cNvCxnSpPr>
            <p:nvPr/>
          </p:nvCxnSpPr>
          <p:spPr>
            <a:xfrm>
              <a:off x="8001000" y="7332778"/>
              <a:ext cx="148300" cy="162072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8708151-76E0-E095-106C-9D9AED92C283}"/>
                </a:ext>
              </a:extLst>
            </p:cNvPr>
            <p:cNvSpPr txBox="1"/>
            <p:nvPr/>
          </p:nvSpPr>
          <p:spPr>
            <a:xfrm>
              <a:off x="3962400" y="8902163"/>
              <a:ext cx="9982200" cy="508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rPr>
                <a:t>4. Time-dependent decay of membrane potential due to ion diffusion</a:t>
              </a: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66E82335-EE69-D3F8-1ECF-D2A2083A22B8}"/>
                </a:ext>
              </a:extLst>
            </p:cNvPr>
            <p:cNvSpPr/>
            <p:nvPr/>
          </p:nvSpPr>
          <p:spPr>
            <a:xfrm>
              <a:off x="11462514" y="5143500"/>
              <a:ext cx="1720086" cy="1905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CE8889FD-9C45-3992-0121-8E79DA82FB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73000" y="4076700"/>
              <a:ext cx="716425" cy="1062468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5D725FE-62C3-FA7F-7206-A82364DCD161}"/>
                </a:ext>
              </a:extLst>
            </p:cNvPr>
            <p:cNvSpPr txBox="1"/>
            <p:nvPr/>
          </p:nvSpPr>
          <p:spPr>
            <a:xfrm>
              <a:off x="12241948" y="3009900"/>
              <a:ext cx="4293452" cy="970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rPr>
                <a:t>3. Fire an action potential (spike)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rPr>
                <a:t>     to the postsynaptic dendrites 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6CCC384C-4E00-12DF-FE3E-E9BCA8746AE5}"/>
                </a:ext>
              </a:extLst>
            </p:cNvPr>
            <p:cNvSpPr/>
            <p:nvPr/>
          </p:nvSpPr>
          <p:spPr>
            <a:xfrm>
              <a:off x="10210800" y="5600700"/>
              <a:ext cx="1249414" cy="19050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45E620AB-0186-89B8-C873-D4CAC0CAD726}"/>
                </a:ext>
              </a:extLst>
            </p:cNvPr>
            <p:cNvCxnSpPr>
              <a:cxnSpLocks/>
            </p:cNvCxnSpPr>
            <p:nvPr/>
          </p:nvCxnSpPr>
          <p:spPr>
            <a:xfrm>
              <a:off x="11250706" y="7332778"/>
              <a:ext cx="1346947" cy="63012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3722BA6-206B-5003-F96F-C6ED762375FD}"/>
                </a:ext>
              </a:extLst>
            </p:cNvPr>
            <p:cNvSpPr txBox="1"/>
            <p:nvPr/>
          </p:nvSpPr>
          <p:spPr>
            <a:xfrm>
              <a:off x="12622948" y="7759163"/>
              <a:ext cx="4293452" cy="508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rPr>
                <a:t>5. Reset to resting potential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3963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33400" y="373278"/>
            <a:ext cx="17343701" cy="9494622"/>
          </a:xfrm>
          <a:custGeom>
            <a:avLst/>
            <a:gdLst/>
            <a:ahLst/>
            <a:cxnLst/>
            <a:rect l="l" t="t" r="r" b="b"/>
            <a:pathLst>
              <a:path w="4356515" h="2266044">
                <a:moveTo>
                  <a:pt x="10765" y="0"/>
                </a:moveTo>
                <a:lnTo>
                  <a:pt x="4345750" y="0"/>
                </a:lnTo>
                <a:cubicBezTo>
                  <a:pt x="4348605" y="0"/>
                  <a:pt x="4351343" y="1134"/>
                  <a:pt x="4353362" y="3153"/>
                </a:cubicBezTo>
                <a:cubicBezTo>
                  <a:pt x="4355381" y="5172"/>
                  <a:pt x="4356515" y="7910"/>
                  <a:pt x="4356515" y="10765"/>
                </a:cubicBezTo>
                <a:lnTo>
                  <a:pt x="4356515" y="2255279"/>
                </a:lnTo>
                <a:cubicBezTo>
                  <a:pt x="4356515" y="2261224"/>
                  <a:pt x="4351695" y="2266044"/>
                  <a:pt x="4345750" y="2266044"/>
                </a:cubicBezTo>
                <a:lnTo>
                  <a:pt x="10765" y="2266044"/>
                </a:lnTo>
                <a:cubicBezTo>
                  <a:pt x="7910" y="2266044"/>
                  <a:pt x="5172" y="2264910"/>
                  <a:pt x="3153" y="2262891"/>
                </a:cubicBezTo>
                <a:cubicBezTo>
                  <a:pt x="1134" y="2260872"/>
                  <a:pt x="0" y="2258134"/>
                  <a:pt x="0" y="2255279"/>
                </a:cubicBezTo>
                <a:lnTo>
                  <a:pt x="0" y="10765"/>
                </a:lnTo>
                <a:cubicBezTo>
                  <a:pt x="0" y="7910"/>
                  <a:pt x="1134" y="5172"/>
                  <a:pt x="3153" y="3153"/>
                </a:cubicBezTo>
                <a:cubicBezTo>
                  <a:pt x="5172" y="1134"/>
                  <a:pt x="7910" y="0"/>
                  <a:pt x="10765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533400" y="173731"/>
            <a:ext cx="17343701" cy="969416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2362200" y="9410700"/>
            <a:ext cx="150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endParaRPr lang="de-DE" altLang="ko-KR" sz="1200" dirty="0"/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Synaptic Plasticity</a:t>
            </a:r>
            <a:endParaRPr lang="de-DE" altLang="ko-KR" sz="32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1BE73593-571C-AE23-5E0B-5860B0F7D1D0}"/>
              </a:ext>
            </a:extLst>
          </p:cNvPr>
          <p:cNvGrpSpPr/>
          <p:nvPr/>
        </p:nvGrpSpPr>
        <p:grpSpPr>
          <a:xfrm>
            <a:off x="1143000" y="1257300"/>
            <a:ext cx="15883071" cy="2558723"/>
            <a:chOff x="1261929" y="6452106"/>
            <a:chExt cx="15883071" cy="255872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773E8AF-D57C-E836-238D-A962ADE9E207}"/>
                </a:ext>
              </a:extLst>
            </p:cNvPr>
            <p:cNvSpPr txBox="1"/>
            <p:nvPr/>
          </p:nvSpPr>
          <p:spPr>
            <a:xfrm>
              <a:off x="1261929" y="6452106"/>
              <a:ext cx="15883071" cy="1099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2200" dirty="0">
                  <a:latin typeface="TDTD강굴림" panose="020B0600000101010101" charset="-127"/>
                  <a:ea typeface="TDTD강굴림" panose="020B0600000101010101" charset="-127"/>
                </a:rPr>
                <a:t>Standards for synaptic plasticity modulation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400" dirty="0">
                  <a:latin typeface="TDTD강굴림" panose="020B0600000101010101" charset="-127"/>
                  <a:ea typeface="TDTD강굴림" panose="020B0600000101010101" charset="-127"/>
                </a:rPr>
                <a:t>    </a:t>
              </a:r>
              <a:r>
                <a:rPr lang="en-US" altLang="ko-KR" sz="2200" dirty="0">
                  <a:latin typeface="TDTD강굴림" panose="020B0600000101010101" charset="-127"/>
                  <a:ea typeface="TDTD강굴림" panose="020B0600000101010101" charset="-127"/>
                </a:rPr>
                <a:t>: “External inputs”, “</a:t>
              </a:r>
              <a:r>
                <a:rPr lang="en-US" altLang="ko-KR" sz="22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rPr>
                <a:t>Temporal correlation </a:t>
              </a:r>
              <a:r>
                <a:rPr lang="en-US" altLang="ko-KR" sz="2200" dirty="0">
                  <a:latin typeface="TDTD강굴림" panose="020B0600000101010101" charset="-127"/>
                  <a:ea typeface="TDTD강굴림" panose="020B0600000101010101" charset="-127"/>
                </a:rPr>
                <a:t>between the input and output spikes”</a:t>
              </a: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CC457D02-8CB3-4E31-F2F1-EFEEDAA87F3A}"/>
                </a:ext>
              </a:extLst>
            </p:cNvPr>
            <p:cNvGrpSpPr/>
            <p:nvPr/>
          </p:nvGrpSpPr>
          <p:grpSpPr>
            <a:xfrm>
              <a:off x="1872000" y="7577406"/>
              <a:ext cx="3462000" cy="1433423"/>
              <a:chOff x="1872000" y="7501206"/>
              <a:chExt cx="3462000" cy="1433423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0ECEB73-D901-B15F-9DFE-1BB6BADE8A37}"/>
                  </a:ext>
                </a:extLst>
              </p:cNvPr>
              <p:cNvSpPr txBox="1"/>
              <p:nvPr/>
            </p:nvSpPr>
            <p:spPr>
              <a:xfrm>
                <a:off x="3583088" y="7734300"/>
                <a:ext cx="1750912" cy="1200329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prstDash val="sysDot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Electronic</a:t>
                </a:r>
                <a:endParaRPr lang="en-US" altLang="ko-KR" sz="16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r>
                  <a:rPr lang="en-US" altLang="ko-KR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Photonic</a:t>
                </a:r>
                <a:endPara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r>
                  <a:rPr lang="en-US" altLang="ko-KR" dirty="0">
                    <a:latin typeface="TDTD강굴림" panose="020B0600000101010101" charset="-127"/>
                    <a:ea typeface="TDTD강굴림" panose="020B0600000101010101" charset="-127"/>
                  </a:rPr>
                  <a:t>Pressure</a:t>
                </a:r>
              </a:p>
              <a:p>
                <a:r>
                  <a:rPr lang="en-US" altLang="ko-KR" dirty="0">
                    <a:latin typeface="TDTD강굴림" panose="020B0600000101010101" charset="-127"/>
                    <a:ea typeface="TDTD강굴림" panose="020B0600000101010101" charset="-127"/>
                  </a:rPr>
                  <a:t>Temperature</a:t>
                </a:r>
              </a:p>
            </p:txBody>
          </p:sp>
          <p:cxnSp>
            <p:nvCxnSpPr>
              <p:cNvPr id="49" name="연결선: 꺾임 48">
                <a:extLst>
                  <a:ext uri="{FF2B5EF4-FFF2-40B4-BE49-F238E27FC236}">
                    <a16:creationId xmlns:a16="http://schemas.microsoft.com/office/drawing/2014/main" id="{2BA6E632-E8E1-BE0F-C5E4-3868C013CA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000" y="7501206"/>
                <a:ext cx="775163" cy="637455"/>
              </a:xfrm>
              <a:prstGeom prst="bentConnector3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E327543F-D54A-9985-95B5-80DA98055F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72000" y="7501206"/>
                <a:ext cx="2362200" cy="72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CA40365-D313-B1FD-EC09-4AEF688C22C1}"/>
              </a:ext>
            </a:extLst>
          </p:cNvPr>
          <p:cNvGrpSpPr/>
          <p:nvPr/>
        </p:nvGrpSpPr>
        <p:grpSpPr>
          <a:xfrm>
            <a:off x="685800" y="3321520"/>
            <a:ext cx="17015750" cy="5936780"/>
            <a:chOff x="685800" y="2977823"/>
            <a:chExt cx="17015750" cy="593678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2C2AE6C-992E-71BB-C64C-ABCCFD4296E4}"/>
                </a:ext>
              </a:extLst>
            </p:cNvPr>
            <p:cNvSpPr/>
            <p:nvPr/>
          </p:nvSpPr>
          <p:spPr>
            <a:xfrm>
              <a:off x="7410449" y="2977823"/>
              <a:ext cx="3505200" cy="729328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Synaptic Plasticity</a:t>
              </a:r>
              <a:endParaRPr lang="ko-KR" altLang="en-US" sz="28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8" name="오른쪽 중괄호 17">
              <a:extLst>
                <a:ext uri="{FF2B5EF4-FFF2-40B4-BE49-F238E27FC236}">
                  <a16:creationId xmlns:a16="http://schemas.microsoft.com/office/drawing/2014/main" id="{4B2901AB-610D-9E52-58F3-618A9E23604A}"/>
                </a:ext>
              </a:extLst>
            </p:cNvPr>
            <p:cNvSpPr/>
            <p:nvPr/>
          </p:nvSpPr>
          <p:spPr>
            <a:xfrm rot="16200000">
              <a:off x="8938549" y="-343024"/>
              <a:ext cx="533400" cy="8938550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02F86D6-AAB2-320C-4232-F67D5ABA6D43}"/>
                </a:ext>
              </a:extLst>
            </p:cNvPr>
            <p:cNvSpPr txBox="1"/>
            <p:nvPr/>
          </p:nvSpPr>
          <p:spPr>
            <a:xfrm>
              <a:off x="6822456" y="4145240"/>
              <a:ext cx="47592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TDTD강굴림" panose="020B0600000101010101" charset="-127"/>
                  <a:ea typeface="TDTD강굴림" panose="020B0600000101010101" charset="-127"/>
                </a:rPr>
                <a:t>Memory retention time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191E761-5350-D52D-3998-FB7556B61E44}"/>
                </a:ext>
              </a:extLst>
            </p:cNvPr>
            <p:cNvSpPr/>
            <p:nvPr/>
          </p:nvSpPr>
          <p:spPr>
            <a:xfrm>
              <a:off x="2983374" y="4545351"/>
              <a:ext cx="3505200" cy="729328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Short-term plasticity</a:t>
              </a:r>
              <a:endParaRPr lang="ko-KR" altLang="en-US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25" name="오른쪽 중괄호 24">
              <a:extLst>
                <a:ext uri="{FF2B5EF4-FFF2-40B4-BE49-F238E27FC236}">
                  <a16:creationId xmlns:a16="http://schemas.microsoft.com/office/drawing/2014/main" id="{45DF7848-BB83-C66E-5E53-E0C5549DA622}"/>
                </a:ext>
              </a:extLst>
            </p:cNvPr>
            <p:cNvSpPr/>
            <p:nvPr/>
          </p:nvSpPr>
          <p:spPr>
            <a:xfrm rot="16200000">
              <a:off x="4469272" y="3516654"/>
              <a:ext cx="533404" cy="4419600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B043E8E-178F-9435-C0F8-A056871E3853}"/>
                </a:ext>
              </a:extLst>
            </p:cNvPr>
            <p:cNvSpPr/>
            <p:nvPr/>
          </p:nvSpPr>
          <p:spPr>
            <a:xfrm>
              <a:off x="773574" y="6138731"/>
              <a:ext cx="3505200" cy="729328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Short-term depression (STD)</a:t>
              </a:r>
              <a:endParaRPr lang="ko-KR" altLang="en-US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5F99F2D-7958-AA83-B7DE-E6BC9A8633ED}"/>
                </a:ext>
              </a:extLst>
            </p:cNvPr>
            <p:cNvSpPr/>
            <p:nvPr/>
          </p:nvSpPr>
          <p:spPr>
            <a:xfrm>
              <a:off x="5193174" y="6138731"/>
              <a:ext cx="3505200" cy="729328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Short-term potentiation (STP)</a:t>
              </a:r>
              <a:endParaRPr lang="ko-KR" altLang="en-US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1BD5ABC-2E6A-7988-78EB-13827F916EF7}"/>
                </a:ext>
              </a:extLst>
            </p:cNvPr>
            <p:cNvSpPr/>
            <p:nvPr/>
          </p:nvSpPr>
          <p:spPr>
            <a:xfrm>
              <a:off x="11914464" y="4545351"/>
              <a:ext cx="3505200" cy="729328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Long-term plasticity</a:t>
              </a:r>
              <a:endParaRPr lang="ko-KR" altLang="en-US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37" name="오른쪽 중괄호 36">
              <a:extLst>
                <a:ext uri="{FF2B5EF4-FFF2-40B4-BE49-F238E27FC236}">
                  <a16:creationId xmlns:a16="http://schemas.microsoft.com/office/drawing/2014/main" id="{1D810586-2611-F9B5-E130-BDADFF9F360C}"/>
                </a:ext>
              </a:extLst>
            </p:cNvPr>
            <p:cNvSpPr/>
            <p:nvPr/>
          </p:nvSpPr>
          <p:spPr>
            <a:xfrm rot="16200000">
              <a:off x="13407825" y="3516652"/>
              <a:ext cx="533401" cy="4419600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006AF49-89CD-57BF-FEDB-AF79D5BDD208}"/>
                </a:ext>
              </a:extLst>
            </p:cNvPr>
            <p:cNvSpPr/>
            <p:nvPr/>
          </p:nvSpPr>
          <p:spPr>
            <a:xfrm>
              <a:off x="9712126" y="7886329"/>
              <a:ext cx="3505200" cy="1028274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Long-term</a:t>
              </a:r>
            </a:p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depression / potentiation (LTD/LTP)</a:t>
              </a:r>
              <a:endParaRPr lang="ko-KR" altLang="en-US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9121CC8-912B-DD98-090F-03F9A35C7CEB}"/>
                </a:ext>
              </a:extLst>
            </p:cNvPr>
            <p:cNvSpPr txBox="1"/>
            <p:nvPr/>
          </p:nvSpPr>
          <p:spPr>
            <a:xfrm>
              <a:off x="685800" y="6933403"/>
              <a:ext cx="23644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TDTD강굴림" panose="020B0600000101010101" charset="-127"/>
                  <a:ea typeface="TDTD강굴림" panose="020B0600000101010101" charset="-127"/>
                </a:rPr>
                <a:t>Ex) PPD</a:t>
              </a:r>
              <a:endParaRPr lang="ko-KR" altLang="en-US" sz="16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F45599B-42EE-F434-C034-A94C7055749E}"/>
                </a:ext>
              </a:extLst>
            </p:cNvPr>
            <p:cNvSpPr txBox="1"/>
            <p:nvPr/>
          </p:nvSpPr>
          <p:spPr>
            <a:xfrm>
              <a:off x="5103105" y="6933403"/>
              <a:ext cx="236449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TDTD강굴림" panose="020B0600000101010101" charset="-127"/>
                  <a:ea typeface="TDTD강굴림" panose="020B0600000101010101" charset="-127"/>
                </a:rPr>
                <a:t>Ex) PPF</a:t>
              </a:r>
              <a:endParaRPr lang="ko-KR" altLang="en-US" sz="1600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79B4650-8B31-836A-A2D7-F61C5CFB3E0F}"/>
                </a:ext>
              </a:extLst>
            </p:cNvPr>
            <p:cNvSpPr/>
            <p:nvPr/>
          </p:nvSpPr>
          <p:spPr>
            <a:xfrm>
              <a:off x="14196350" y="7886329"/>
              <a:ext cx="3505200" cy="1028274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Long-term</a:t>
              </a:r>
            </a:p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depression / potentiation (LTD/LTP)</a:t>
              </a:r>
              <a:endParaRPr lang="ko-KR" altLang="en-US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A2767C3-1DF0-9FDD-2039-556CE10BFE49}"/>
                </a:ext>
              </a:extLst>
            </p:cNvPr>
            <p:cNvSpPr/>
            <p:nvPr/>
          </p:nvSpPr>
          <p:spPr>
            <a:xfrm>
              <a:off x="9712126" y="6134101"/>
              <a:ext cx="3505200" cy="1049490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Spike-rate-dependent plasticity</a:t>
              </a:r>
            </a:p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(SRDP)</a:t>
              </a:r>
              <a:endParaRPr lang="ko-KR" altLang="en-US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BDE4ECC-59A4-0E55-0F41-56983AF27D5A}"/>
                </a:ext>
              </a:extLst>
            </p:cNvPr>
            <p:cNvSpPr/>
            <p:nvPr/>
          </p:nvSpPr>
          <p:spPr>
            <a:xfrm>
              <a:off x="14131726" y="6134100"/>
              <a:ext cx="3505200" cy="1049491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Spike-timing-dependent plasticity</a:t>
              </a:r>
              <a:br>
                <a:rPr lang="en-US" altLang="ko-KR" sz="20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</a:br>
              <a:r>
                <a:rPr lang="en-US" altLang="ko-KR" sz="20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rPr>
                <a:t>(STDP)</a:t>
              </a:r>
              <a:endParaRPr lang="ko-KR" altLang="en-US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BB6F39FA-2E74-E109-0549-38552EAF9DB7}"/>
                </a:ext>
              </a:extLst>
            </p:cNvPr>
            <p:cNvCxnSpPr/>
            <p:nvPr/>
          </p:nvCxnSpPr>
          <p:spPr>
            <a:xfrm>
              <a:off x="11464726" y="7271957"/>
              <a:ext cx="0" cy="541393"/>
            </a:xfrm>
            <a:prstGeom prst="line">
              <a:avLst/>
            </a:prstGeom>
            <a:ln w="22225">
              <a:solidFill>
                <a:srgbClr val="000000">
                  <a:alpha val="9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715F422-B34B-5186-F094-3C58C3FC9C1E}"/>
                </a:ext>
              </a:extLst>
            </p:cNvPr>
            <p:cNvCxnSpPr/>
            <p:nvPr/>
          </p:nvCxnSpPr>
          <p:spPr>
            <a:xfrm>
              <a:off x="15888808" y="7271957"/>
              <a:ext cx="0" cy="541393"/>
            </a:xfrm>
            <a:prstGeom prst="line">
              <a:avLst/>
            </a:prstGeom>
            <a:ln w="22225">
              <a:solidFill>
                <a:srgbClr val="000000">
                  <a:alpha val="9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1219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3400" y="373278"/>
            <a:ext cx="17343701" cy="9494622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2362200" y="9410700"/>
            <a:ext cx="150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endParaRPr lang="de-DE" altLang="ko-KR" sz="1200" dirty="0"/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Short-Term Plasticity</a:t>
            </a:r>
            <a:endParaRPr lang="de-DE" altLang="ko-KR" sz="32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73E8AF-D57C-E836-238D-A962ADE9E207}"/>
              </a:ext>
            </a:extLst>
          </p:cNvPr>
          <p:cNvSpPr txBox="1"/>
          <p:nvPr/>
        </p:nvSpPr>
        <p:spPr>
          <a:xfrm>
            <a:off x="1515035" y="1275135"/>
            <a:ext cx="15468600" cy="591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Short-term plasticity, lasting milliseconds to minutes, underlies temporal information decoding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3E82E4B-3A8D-9EC3-18C3-4C82BB13FC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2071" y="2171700"/>
            <a:ext cx="6807428" cy="5469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D16920-692E-DE57-0723-D136C05427EA}"/>
                  </a:ext>
                </a:extLst>
              </p:cNvPr>
              <p:cNvSpPr txBox="1"/>
              <p:nvPr/>
            </p:nvSpPr>
            <p:spPr>
              <a:xfrm>
                <a:off x="8610600" y="2469993"/>
                <a:ext cx="7493228" cy="10733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28600" latinLnBrk="1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ko-KR" altLang="ko-KR" sz="2800" b="1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𝑷𝑷𝑭</m:t>
                          </m:r>
                          <m:r>
                            <a:rPr lang="en-US" altLang="ko-KR" sz="28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ko-KR" sz="28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𝒊𝒏𝒅𝒆𝒙</m:t>
                          </m:r>
                        </m:e>
                      </m:d>
                      <m:r>
                        <a:rPr lang="en-US" altLang="ko-KR" sz="2800" b="1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sz="2800" b="1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𝒐𝒓</m:t>
                      </m:r>
                      <m:r>
                        <a:rPr lang="en-US" altLang="ko-KR" sz="2800" b="1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lang="en-US" altLang="ko-KR" sz="2800" b="1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𝑷𝑷𝑫</m:t>
                      </m:r>
                      <m:r>
                        <a:rPr lang="en-US" altLang="ko-KR" sz="2800" b="1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ko-KR" sz="2800" b="1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𝒊𝒏𝒅𝒆𝒙</m:t>
                      </m:r>
                      <m:r>
                        <a:rPr lang="en-US" altLang="ko-KR" sz="2800" b="1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ko-KR" altLang="ko-KR" sz="28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ko-KR" sz="28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ko-KR" sz="28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ko-KR" altLang="ko-KR" sz="28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ko-KR" sz="2800" b="1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맑은 고딕" panose="020B0503020000020004" pitchFamily="50" charset="-127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altLang="ko-KR" sz="2800" b="1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altLang="ko-KR" sz="2800" b="1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𝟏𝟎𝟎</m:t>
                      </m:r>
                      <m:r>
                        <a:rPr lang="en-US" altLang="ko-KR" sz="2800" b="1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%</m:t>
                      </m:r>
                    </m:oMath>
                  </m:oMathPara>
                </a14:m>
                <a:endParaRPr lang="ko-KR" altLang="ko-KR" sz="4000" b="1" kern="100" dirty="0">
                  <a:solidFill>
                    <a:schemeClr val="tx1"/>
                  </a:solidFill>
                  <a:effectLst/>
                  <a:latin typeface="TDTD강굴림" panose="020B0600000101010101" charset="-127"/>
                  <a:ea typeface="TDTD강굴림" panose="020B0600000101010101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D16920-692E-DE57-0723-D136C0542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2469993"/>
                <a:ext cx="7493228" cy="10733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그룹 16">
            <a:extLst>
              <a:ext uri="{FF2B5EF4-FFF2-40B4-BE49-F238E27FC236}">
                <a16:creationId xmlns:a16="http://schemas.microsoft.com/office/drawing/2014/main" id="{A1F395B2-9BE0-F70D-0F92-7E1F428653A1}"/>
              </a:ext>
            </a:extLst>
          </p:cNvPr>
          <p:cNvGrpSpPr/>
          <p:nvPr/>
        </p:nvGrpSpPr>
        <p:grpSpPr>
          <a:xfrm>
            <a:off x="8886298" y="3543300"/>
            <a:ext cx="9245031" cy="3276600"/>
            <a:chOff x="8966769" y="3695700"/>
            <a:chExt cx="9245031" cy="327660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C28E6A-E026-5541-DBD9-62D2FFCE6B19}"/>
                </a:ext>
              </a:extLst>
            </p:cNvPr>
            <p:cNvSpPr txBox="1"/>
            <p:nvPr/>
          </p:nvSpPr>
          <p:spPr>
            <a:xfrm>
              <a:off x="8966769" y="3695700"/>
              <a:ext cx="8970130" cy="27674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2200" dirty="0">
                  <a:solidFill>
                    <a:srgbClr val="0505FF"/>
                  </a:solidFill>
                  <a:latin typeface="TDTD강굴림" panose="020B0600000101010101" charset="-127"/>
                  <a:ea typeface="TDTD강굴림" panose="020B0600000101010101" charset="-127"/>
                </a:rPr>
                <a:t>Paired-pulsed facilitation (PPF): A</a:t>
              </a:r>
              <a:r>
                <a:rPr lang="en-US" altLang="ko-KR" sz="2200" baseline="-25000" dirty="0">
                  <a:solidFill>
                    <a:srgbClr val="0505FF"/>
                  </a:solidFill>
                  <a:latin typeface="TDTD강굴림" panose="020B0600000101010101" charset="-127"/>
                  <a:ea typeface="TDTD강굴림" panose="020B0600000101010101" charset="-127"/>
                </a:rPr>
                <a:t>1</a:t>
              </a:r>
              <a:r>
                <a:rPr lang="en-US" altLang="ko-KR" sz="2200" dirty="0">
                  <a:solidFill>
                    <a:srgbClr val="0505FF"/>
                  </a:solidFill>
                  <a:latin typeface="TDTD강굴림" panose="020B0600000101010101" charset="-127"/>
                  <a:ea typeface="TDTD강굴림" panose="020B0600000101010101" charset="-127"/>
                </a:rPr>
                <a:t> </a:t>
              </a:r>
              <a:r>
                <a:rPr lang="en-US" altLang="ko-KR" sz="2200" b="1" dirty="0">
                  <a:solidFill>
                    <a:srgbClr val="0505FF"/>
                  </a:solidFill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&lt;</a:t>
              </a:r>
              <a:r>
                <a:rPr lang="en-US" altLang="ko-KR" sz="2200" dirty="0">
                  <a:solidFill>
                    <a:srgbClr val="0505FF"/>
                  </a:solidFill>
                  <a:latin typeface="TDTD강굴림" panose="020B0600000101010101" charset="-127"/>
                  <a:ea typeface="TDTD강굴림" panose="020B0600000101010101" charset="-127"/>
                </a:rPr>
                <a:t> A</a:t>
              </a:r>
              <a:r>
                <a:rPr lang="en-US" altLang="ko-KR" sz="2200" baseline="-25000" dirty="0">
                  <a:solidFill>
                    <a:srgbClr val="0505FF"/>
                  </a:solidFill>
                  <a:latin typeface="TDTD강굴림" panose="020B0600000101010101" charset="-127"/>
                  <a:ea typeface="TDTD강굴림" panose="020B0600000101010101" charset="-127"/>
                </a:rPr>
                <a:t>2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200" dirty="0">
                  <a:solidFill>
                    <a:srgbClr val="0505FF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    </a:t>
              </a:r>
              <a:endParaRPr lang="en-US" altLang="ko-KR" sz="2200" dirty="0">
                <a:solidFill>
                  <a:srgbClr val="0505FF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2200" baseline="-25000" dirty="0">
                <a:latin typeface="TDTD강굴림" panose="020B0600000101010101" charset="-127"/>
                <a:ea typeface="TDTD강굴림" panose="020B0600000101010101" charset="-127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22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rPr>
                <a:t>Paired-pulsed depression (PPD): A</a:t>
              </a:r>
              <a:r>
                <a:rPr lang="en-US" altLang="ko-KR" sz="22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rPr>
                <a:t>1</a:t>
              </a:r>
              <a:r>
                <a:rPr lang="en-US" altLang="ko-KR" sz="22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rPr>
                <a:t> </a:t>
              </a:r>
              <a:r>
                <a:rPr lang="en-US" altLang="ko-KR" sz="2200" b="1" dirty="0">
                  <a:solidFill>
                    <a:srgbClr val="FF2B2B"/>
                  </a:solidFill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&gt;</a:t>
              </a:r>
              <a:r>
                <a:rPr lang="en-US" altLang="ko-KR" sz="22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rPr>
                <a:t> A</a:t>
              </a:r>
              <a:r>
                <a:rPr lang="en-US" altLang="ko-KR" sz="2200" baseline="-25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rPr>
                <a:t>2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22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rPr>
                <a:t>     </a:t>
              </a:r>
              <a:endParaRPr lang="en-US" altLang="ko-KR" sz="22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endParaRP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sz="2200" baseline="-250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778F56CE-D9BB-1243-777C-A2BDA0354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789011" y="4305300"/>
              <a:ext cx="7233488" cy="457200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4DAFBBAE-4E82-F676-ECD8-D1B193BDA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83500" y="5657400"/>
              <a:ext cx="7283768" cy="4428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B8FC615-9BF5-1545-1C0F-E62E740589B6}"/>
                </a:ext>
              </a:extLst>
            </p:cNvPr>
            <p:cNvSpPr txBox="1"/>
            <p:nvPr/>
          </p:nvSpPr>
          <p:spPr>
            <a:xfrm>
              <a:off x="9707299" y="6284932"/>
              <a:ext cx="8504501" cy="6873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>
                <a:spcAft>
                  <a:spcPts val="800"/>
                </a:spcAft>
              </a:pPr>
              <a:r>
                <a:rPr lang="en-US" altLang="ko-KR" sz="1600" kern="1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The former is a rapidly decaying function, and the latter is a slowly decaying one. (τ</a:t>
              </a:r>
              <a:r>
                <a:rPr lang="en-US" altLang="ko-KR" sz="1600" kern="100" baseline="-250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1</a:t>
              </a:r>
              <a:r>
                <a:rPr lang="en-US" altLang="ko-KR" sz="1600" kern="1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 &lt; τ</a:t>
              </a:r>
              <a:r>
                <a:rPr lang="en-US" altLang="ko-KR" sz="1600" kern="100" baseline="-250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2</a:t>
              </a:r>
              <a:r>
                <a:rPr lang="en-US" altLang="ko-KR" sz="1600" kern="1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)</a:t>
              </a:r>
              <a:endParaRPr lang="ko-KR" altLang="ko-KR" sz="2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  <a:p>
              <a:pPr latinLnBrk="1">
                <a:spcAft>
                  <a:spcPts val="800"/>
                </a:spcAft>
              </a:pPr>
              <a:r>
                <a:rPr lang="en-US" altLang="ko-KR" sz="1600" kern="1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c</a:t>
              </a:r>
              <a:r>
                <a:rPr lang="en-US" altLang="ko-KR" sz="1600" kern="100" baseline="-250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1</a:t>
              </a:r>
              <a:r>
                <a:rPr lang="en-US" altLang="ko-KR" sz="1600" kern="1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, c</a:t>
              </a:r>
              <a:r>
                <a:rPr lang="en-US" altLang="ko-KR" sz="1600" kern="100" baseline="-250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2</a:t>
              </a:r>
              <a:r>
                <a:rPr lang="en-US" altLang="ko-KR" sz="1600" kern="1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 = initial facilitation amplitude / τ</a:t>
              </a:r>
              <a:r>
                <a:rPr lang="en-US" altLang="ko-KR" sz="1600" kern="100" baseline="-250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1</a:t>
              </a:r>
              <a:r>
                <a:rPr lang="en-US" altLang="ko-KR" sz="1600" kern="1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, τ</a:t>
              </a:r>
              <a:r>
                <a:rPr lang="en-US" altLang="ko-KR" sz="1600" kern="100" baseline="-250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2</a:t>
              </a:r>
              <a:r>
                <a:rPr lang="en-US" altLang="ko-KR" sz="1600" kern="1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 = relaxation time</a:t>
              </a:r>
              <a:endParaRPr lang="ko-KR" altLang="ko-KR" sz="2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1666141-90F7-22AD-9248-9575772AAFEE}"/>
              </a:ext>
            </a:extLst>
          </p:cNvPr>
          <p:cNvGrpSpPr/>
          <p:nvPr/>
        </p:nvGrpSpPr>
        <p:grpSpPr>
          <a:xfrm>
            <a:off x="6096000" y="3924300"/>
            <a:ext cx="838200" cy="338554"/>
            <a:chOff x="6096000" y="4762500"/>
            <a:chExt cx="838200" cy="338554"/>
          </a:xfrm>
        </p:grpSpPr>
        <p:sp>
          <p:nvSpPr>
            <p:cNvPr id="33" name="오른쪽 중괄호 32">
              <a:extLst>
                <a:ext uri="{FF2B5EF4-FFF2-40B4-BE49-F238E27FC236}">
                  <a16:creationId xmlns:a16="http://schemas.microsoft.com/office/drawing/2014/main" id="{C850F156-EEED-5AF0-594B-F410A8D2B7E6}"/>
                </a:ext>
              </a:extLst>
            </p:cNvPr>
            <p:cNvSpPr/>
            <p:nvPr/>
          </p:nvSpPr>
          <p:spPr>
            <a:xfrm rot="5400000">
              <a:off x="6477000" y="4533900"/>
              <a:ext cx="76200" cy="533400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1F67D95-9277-5760-5BD5-8E2CF8A5B0F6}"/>
                </a:ext>
              </a:extLst>
            </p:cNvPr>
            <p:cNvSpPr txBox="1"/>
            <p:nvPr/>
          </p:nvSpPr>
          <p:spPr>
            <a:xfrm>
              <a:off x="6096000" y="4762500"/>
              <a:ext cx="838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kern="100" dirty="0" err="1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ms</a:t>
              </a:r>
              <a:r>
                <a:rPr lang="en-US" altLang="ko-KR" sz="1600" kern="1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~ s</a:t>
              </a:r>
              <a:endParaRPr lang="ko-KR" altLang="en-US" sz="16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1F46D40-19B3-4207-6A1A-A1E272642D5A}"/>
              </a:ext>
            </a:extLst>
          </p:cNvPr>
          <p:cNvGrpSpPr/>
          <p:nvPr/>
        </p:nvGrpSpPr>
        <p:grpSpPr>
          <a:xfrm>
            <a:off x="6096000" y="6613800"/>
            <a:ext cx="838200" cy="338554"/>
            <a:chOff x="6096000" y="4762500"/>
            <a:chExt cx="838200" cy="338554"/>
          </a:xfrm>
        </p:grpSpPr>
        <p:sp>
          <p:nvSpPr>
            <p:cNvPr id="41" name="오른쪽 중괄호 40">
              <a:extLst>
                <a:ext uri="{FF2B5EF4-FFF2-40B4-BE49-F238E27FC236}">
                  <a16:creationId xmlns:a16="http://schemas.microsoft.com/office/drawing/2014/main" id="{45C4372A-34DE-D75B-8B89-6464A3644271}"/>
                </a:ext>
              </a:extLst>
            </p:cNvPr>
            <p:cNvSpPr/>
            <p:nvPr/>
          </p:nvSpPr>
          <p:spPr>
            <a:xfrm rot="5400000">
              <a:off x="6477000" y="4533900"/>
              <a:ext cx="76200" cy="533400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D785FAD-C573-326E-E127-E981A61A367A}"/>
                </a:ext>
              </a:extLst>
            </p:cNvPr>
            <p:cNvSpPr txBox="1"/>
            <p:nvPr/>
          </p:nvSpPr>
          <p:spPr>
            <a:xfrm>
              <a:off x="6096000" y="4762500"/>
              <a:ext cx="8382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600" kern="100" dirty="0" err="1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ms</a:t>
              </a:r>
              <a:r>
                <a:rPr lang="en-US" altLang="ko-KR" sz="1600" kern="100" dirty="0">
                  <a:effectLst/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~ s</a:t>
              </a:r>
              <a:endParaRPr lang="ko-KR" altLang="en-US" sz="1600" dirty="0"/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D40F258-14A1-2484-09C8-99D62D84F27F}"/>
              </a:ext>
            </a:extLst>
          </p:cNvPr>
          <p:cNvSpPr/>
          <p:nvPr/>
        </p:nvSpPr>
        <p:spPr>
          <a:xfrm>
            <a:off x="1393200" y="8086921"/>
            <a:ext cx="15621000" cy="1399979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Q. 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생물학적인 관점에서 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PPF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와 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PPD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는 어떻게 발현될까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Ans.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PPF: 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“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연속으로 오면 중요한 것이므로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더 크게 반응해라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!” ex)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 민감화</a:t>
            </a:r>
            <a:r>
              <a:rPr lang="en-US" altLang="ko-KR" sz="16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산에 혼자 있는데 풀숲 발자국 소리</a:t>
            </a:r>
            <a:r>
              <a:rPr lang="en-US" altLang="ko-KR" sz="16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)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집중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긴급 상황</a:t>
            </a:r>
            <a:r>
              <a:rPr lang="en-US" altLang="ko-KR" sz="16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공포 영화 감상</a:t>
            </a:r>
            <a:r>
              <a:rPr lang="en-US" altLang="ko-KR" sz="16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)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단기 기억</a:t>
            </a:r>
            <a:endParaRPr lang="en-US" altLang="ko-KR" sz="2000" dirty="0">
              <a:solidFill>
                <a:srgbClr val="C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         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</a:rPr>
              <a:t>PPD: 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“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처음엔 강하게 반응하지만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반복되면 무시한다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.” ex)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적응</a:t>
            </a:r>
            <a:r>
              <a:rPr lang="en-US" altLang="ko-KR" sz="16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ko-KR" altLang="en-US" sz="16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냄새 맡기</a:t>
            </a:r>
            <a:r>
              <a:rPr lang="en-US" altLang="ko-KR" sz="16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피로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,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에너지 절약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노이즈 필터링</a:t>
            </a:r>
            <a:endParaRPr lang="en-US" altLang="ko-KR" sz="2000" dirty="0">
              <a:solidFill>
                <a:srgbClr val="C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F2602F0-0ECA-6F4C-2AF0-A5E0DEB8F700}"/>
              </a:ext>
            </a:extLst>
          </p:cNvPr>
          <p:cNvSpPr/>
          <p:nvPr/>
        </p:nvSpPr>
        <p:spPr>
          <a:xfrm>
            <a:off x="5105400" y="4262854"/>
            <a:ext cx="3154099" cy="863896"/>
          </a:xfrm>
          <a:prstGeom prst="ellipse">
            <a:avLst/>
          </a:prstGeom>
          <a:noFill/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7575FE-3CE7-9B5E-46AC-30FE0C66220C}"/>
              </a:ext>
            </a:extLst>
          </p:cNvPr>
          <p:cNvSpPr txBox="1"/>
          <p:nvPr/>
        </p:nvSpPr>
        <p:spPr>
          <a:xfrm>
            <a:off x="7088662" y="5185946"/>
            <a:ext cx="2512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Decay</a:t>
            </a:r>
            <a:endParaRPr lang="ko-KR" altLang="en-US" sz="16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DCB8007-6D07-47CD-4883-AEFED7BA3913}"/>
              </a:ext>
            </a:extLst>
          </p:cNvPr>
          <p:cNvCxnSpPr/>
          <p:nvPr/>
        </p:nvCxnSpPr>
        <p:spPr>
          <a:xfrm>
            <a:off x="6705600" y="5139610"/>
            <a:ext cx="457200" cy="156290"/>
          </a:xfrm>
          <a:prstGeom prst="straightConnector1">
            <a:avLst/>
          </a:prstGeom>
          <a:ln w="317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0A8C188C-DE94-5ED2-AD8E-359E68CB04CF}"/>
              </a:ext>
            </a:extLst>
          </p:cNvPr>
          <p:cNvSpPr/>
          <p:nvPr/>
        </p:nvSpPr>
        <p:spPr>
          <a:xfrm>
            <a:off x="4876800" y="7200900"/>
            <a:ext cx="685800" cy="516650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3C4401-3076-093B-F32A-D218B0D8F77D}"/>
              </a:ext>
            </a:extLst>
          </p:cNvPr>
          <p:cNvSpPr txBox="1"/>
          <p:nvPr/>
        </p:nvSpPr>
        <p:spPr>
          <a:xfrm>
            <a:off x="5945662" y="7624346"/>
            <a:ext cx="2817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DTD강굴림" panose="020B0600000101010101" charset="-127"/>
                <a:ea typeface="TDTD강굴림" panose="020B0600000101010101" charset="-127"/>
              </a:rPr>
              <a:t>Presynaptic spike interval</a:t>
            </a:r>
            <a:endParaRPr lang="ko-KR" altLang="en-US" sz="16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10D4F1F-442F-8AD7-3645-6AE4098E1E7B}"/>
              </a:ext>
            </a:extLst>
          </p:cNvPr>
          <p:cNvCxnSpPr/>
          <p:nvPr/>
        </p:nvCxnSpPr>
        <p:spPr>
          <a:xfrm>
            <a:off x="5538887" y="7584083"/>
            <a:ext cx="457200" cy="156290"/>
          </a:xfrm>
          <a:prstGeom prst="straightConnector1">
            <a:avLst/>
          </a:prstGeom>
          <a:ln w="317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12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33400" y="373278"/>
            <a:ext cx="17343701" cy="9494622"/>
          </a:xfrm>
          <a:custGeom>
            <a:avLst/>
            <a:gdLst/>
            <a:ahLst/>
            <a:cxnLst/>
            <a:rect l="l" t="t" r="r" b="b"/>
            <a:pathLst>
              <a:path w="4356515" h="2266044">
                <a:moveTo>
                  <a:pt x="10765" y="0"/>
                </a:moveTo>
                <a:lnTo>
                  <a:pt x="4345750" y="0"/>
                </a:lnTo>
                <a:cubicBezTo>
                  <a:pt x="4348605" y="0"/>
                  <a:pt x="4351343" y="1134"/>
                  <a:pt x="4353362" y="3153"/>
                </a:cubicBezTo>
                <a:cubicBezTo>
                  <a:pt x="4355381" y="5172"/>
                  <a:pt x="4356515" y="7910"/>
                  <a:pt x="4356515" y="10765"/>
                </a:cubicBezTo>
                <a:lnTo>
                  <a:pt x="4356515" y="2255279"/>
                </a:lnTo>
                <a:cubicBezTo>
                  <a:pt x="4356515" y="2261224"/>
                  <a:pt x="4351695" y="2266044"/>
                  <a:pt x="4345750" y="2266044"/>
                </a:cubicBezTo>
                <a:lnTo>
                  <a:pt x="10765" y="2266044"/>
                </a:lnTo>
                <a:cubicBezTo>
                  <a:pt x="7910" y="2266044"/>
                  <a:pt x="5172" y="2264910"/>
                  <a:pt x="3153" y="2262891"/>
                </a:cubicBezTo>
                <a:cubicBezTo>
                  <a:pt x="1134" y="2260872"/>
                  <a:pt x="0" y="2258134"/>
                  <a:pt x="0" y="2255279"/>
                </a:cubicBezTo>
                <a:lnTo>
                  <a:pt x="0" y="10765"/>
                </a:lnTo>
                <a:cubicBezTo>
                  <a:pt x="0" y="7910"/>
                  <a:pt x="1134" y="5172"/>
                  <a:pt x="3153" y="3153"/>
                </a:cubicBezTo>
                <a:cubicBezTo>
                  <a:pt x="5172" y="1134"/>
                  <a:pt x="7910" y="0"/>
                  <a:pt x="10765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533400" y="173731"/>
            <a:ext cx="17343701" cy="969416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2362200" y="9410700"/>
            <a:ext cx="150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endParaRPr lang="de-DE" altLang="ko-KR" sz="1200" dirty="0"/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Actual Experiment of PPF/PPD</a:t>
            </a:r>
            <a:endParaRPr lang="de-DE" altLang="ko-KR" sz="32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7F018F-E188-1114-0A99-ECF6453B8D40}"/>
              </a:ext>
            </a:extLst>
          </p:cNvPr>
          <p:cNvSpPr txBox="1"/>
          <p:nvPr/>
        </p:nvSpPr>
        <p:spPr>
          <a:xfrm>
            <a:off x="1096699" y="1819499"/>
            <a:ext cx="16276901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Polarity of </a:t>
            </a:r>
            <a:r>
              <a:rPr lang="el-GR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Δ</a:t>
            </a:r>
            <a:r>
              <a:rPr lang="el-GR" altLang="ko-KR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ω</a:t>
            </a:r>
            <a:r>
              <a:rPr lang="en-US" altLang="ko-KR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DTD강굴림" panose="020B0600000101010101" charset="-127"/>
                <a:ea typeface="TDTD강굴림" panose="020B0600000101010101" charset="-127"/>
              </a:rPr>
              <a:t>(PPF or PPD)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 depends on “A</a:t>
            </a:r>
            <a:r>
              <a:rPr lang="en-US" altLang="ko-KR" sz="2400" baseline="-25000" dirty="0">
                <a:latin typeface="TDTD강굴림" panose="020B0600000101010101" charset="-127"/>
                <a:ea typeface="TDTD강굴림" panose="020B0600000101010101" charset="-127"/>
              </a:rPr>
              <a:t>1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 - A</a:t>
            </a:r>
            <a:r>
              <a:rPr lang="en-US" altLang="ko-KR" sz="2400" baseline="-25000" dirty="0"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”</a:t>
            </a:r>
            <a:endParaRPr lang="en-US" altLang="ko-KR" sz="2400" baseline="-25000" dirty="0">
              <a:latin typeface="TDTD강굴림" panose="020B0600000101010101" charset="-127"/>
              <a:ea typeface="TDTD강굴림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Magnitude of </a:t>
            </a:r>
            <a:r>
              <a:rPr lang="el-GR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Δ</a:t>
            </a:r>
            <a:r>
              <a:rPr lang="el-GR" altLang="ko-KR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ω</a:t>
            </a:r>
            <a:r>
              <a:rPr lang="el-GR" altLang="ko-KR" sz="2400" b="1" dirty="0">
                <a:solidFill>
                  <a:srgbClr val="FF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is modulated by the “</a:t>
            </a:r>
            <a:r>
              <a:rPr lang="el-GR" altLang="ko-KR" sz="24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Δ</a:t>
            </a:r>
            <a:r>
              <a:rPr lang="en-US" altLang="ko-KR" sz="2400" dirty="0" err="1">
                <a:solidFill>
                  <a:schemeClr val="tx1"/>
                </a:solidFill>
                <a:latin typeface="TDTD강굴림" panose="020B0600000101010101" charset="-127"/>
                <a:ea typeface="맑은 고딕" panose="020B0503020000020004" pitchFamily="50" charset="-127"/>
              </a:rPr>
              <a:t>t</a:t>
            </a:r>
            <a:r>
              <a:rPr lang="en-US" altLang="ko-KR" sz="2400" baseline="-25000" dirty="0" err="1">
                <a:solidFill>
                  <a:schemeClr val="tx1"/>
                </a:solidFill>
                <a:latin typeface="TDTD강굴림" panose="020B0600000101010101" charset="-127"/>
                <a:ea typeface="맑은 고딕" panose="020B0503020000020004" pitchFamily="50" charset="-127"/>
              </a:rPr>
              <a:t>Light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</a:rPr>
              <a:t>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7882BD-5D27-88D0-514A-7D93FB6CA774}"/>
              </a:ext>
            </a:extLst>
          </p:cNvPr>
          <p:cNvSpPr/>
          <p:nvPr/>
        </p:nvSpPr>
        <p:spPr>
          <a:xfrm>
            <a:off x="5424078" y="3648299"/>
            <a:ext cx="324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Pre</a:t>
            </a:r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synaptic Spike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1st light pulse</a:t>
            </a:r>
            <a:endParaRPr lang="ko-KR" altLang="en-US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D353E4F-DF51-29AF-31F8-4978B3BF8753}"/>
              </a:ext>
            </a:extLst>
          </p:cNvPr>
          <p:cNvSpPr/>
          <p:nvPr/>
        </p:nvSpPr>
        <p:spPr>
          <a:xfrm>
            <a:off x="1031217" y="3648299"/>
            <a:ext cx="324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Variable Setup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</a:t>
            </a:r>
            <a:r>
              <a:rPr lang="el-GR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Δ</a:t>
            </a:r>
            <a:r>
              <a:rPr lang="en-US" altLang="ko-KR" sz="2000" dirty="0" err="1">
                <a:solidFill>
                  <a:srgbClr val="FF0000"/>
                </a:solidFill>
                <a:latin typeface="TDTD강굴림" panose="020B0600000101010101" charset="-127"/>
                <a:ea typeface="맑은 고딕" panose="020B0503020000020004" pitchFamily="50" charset="-127"/>
              </a:rPr>
              <a:t>t</a:t>
            </a:r>
            <a:r>
              <a:rPr lang="en-US" altLang="ko-KR" sz="2000" baseline="-25000" dirty="0" err="1">
                <a:solidFill>
                  <a:srgbClr val="FF0000"/>
                </a:solidFill>
                <a:latin typeface="TDTD강굴림" panose="020B0600000101010101" charset="-127"/>
                <a:ea typeface="맑은 고딕" panose="020B0503020000020004" pitchFamily="50" charset="-127"/>
              </a:rPr>
              <a:t>Light</a:t>
            </a:r>
            <a:endParaRPr lang="ko-KR" altLang="en-US" sz="16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ACA2928-CB7D-3BE9-845A-CF1FE9E1E06F}"/>
              </a:ext>
            </a:extLst>
          </p:cNvPr>
          <p:cNvSpPr/>
          <p:nvPr/>
        </p:nvSpPr>
        <p:spPr>
          <a:xfrm>
            <a:off x="9816939" y="3648299"/>
            <a:ext cx="324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Read Voltage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V</a:t>
            </a:r>
            <a:r>
              <a:rPr lang="en-US" altLang="ko-KR" sz="2000" baseline="-25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DS</a:t>
            </a:r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 + V</a:t>
            </a:r>
            <a:r>
              <a:rPr lang="en-US" altLang="ko-KR" sz="2000" baseline="-25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GS</a:t>
            </a:r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 pulse</a:t>
            </a:r>
            <a:endParaRPr lang="ko-KR" altLang="en-US" sz="16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168278E-5249-7C6C-8AAB-A98A226F2A97}"/>
              </a:ext>
            </a:extLst>
          </p:cNvPr>
          <p:cNvSpPr/>
          <p:nvPr/>
        </p:nvSpPr>
        <p:spPr>
          <a:xfrm>
            <a:off x="14209800" y="6467700"/>
            <a:ext cx="324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Pre</a:t>
            </a:r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synaptic Spike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2nd light pulse</a:t>
            </a:r>
            <a:endParaRPr lang="ko-KR" altLang="en-US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C75AF3B-5B7B-FF69-FD57-BA982ACF13AD}"/>
              </a:ext>
            </a:extLst>
          </p:cNvPr>
          <p:cNvSpPr/>
          <p:nvPr/>
        </p:nvSpPr>
        <p:spPr>
          <a:xfrm>
            <a:off x="9812096" y="6467700"/>
            <a:ext cx="324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Read Voltage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V</a:t>
            </a:r>
            <a:r>
              <a:rPr lang="en-US" altLang="ko-KR" sz="2000" baseline="-25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DS</a:t>
            </a:r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 + V</a:t>
            </a:r>
            <a:r>
              <a:rPr lang="en-US" altLang="ko-KR" sz="2000" baseline="-25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GS</a:t>
            </a:r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 pulse</a:t>
            </a:r>
            <a:endParaRPr lang="ko-KR" altLang="en-US" sz="16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1028" name="직사각형 1027">
            <a:extLst>
              <a:ext uri="{FF2B5EF4-FFF2-40B4-BE49-F238E27FC236}">
                <a16:creationId xmlns:a16="http://schemas.microsoft.com/office/drawing/2014/main" id="{889A30B8-FB0A-18D3-507D-E16B1FC5709A}"/>
              </a:ext>
            </a:extLst>
          </p:cNvPr>
          <p:cNvSpPr/>
          <p:nvPr/>
        </p:nvSpPr>
        <p:spPr>
          <a:xfrm>
            <a:off x="14209800" y="3648299"/>
            <a:ext cx="324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PSC Measurement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A</a:t>
            </a:r>
            <a:r>
              <a:rPr lang="en-US" altLang="ko-KR" sz="2000" baseline="-25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1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endParaRPr lang="ko-KR" altLang="en-US" sz="16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1033" name="직사각형 1032">
            <a:extLst>
              <a:ext uri="{FF2B5EF4-FFF2-40B4-BE49-F238E27FC236}">
                <a16:creationId xmlns:a16="http://schemas.microsoft.com/office/drawing/2014/main" id="{A8A7059D-6432-7C8B-F6BF-C306639C2FF8}"/>
              </a:ext>
            </a:extLst>
          </p:cNvPr>
          <p:cNvSpPr/>
          <p:nvPr/>
        </p:nvSpPr>
        <p:spPr>
          <a:xfrm>
            <a:off x="5421292" y="6467700"/>
            <a:ext cx="324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PSC Measurement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A</a:t>
            </a:r>
            <a:r>
              <a:rPr lang="en-US" altLang="ko-KR" sz="2000" baseline="-25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2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endParaRPr lang="ko-KR" altLang="en-US" sz="16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cxnSp>
        <p:nvCxnSpPr>
          <p:cNvPr id="1036" name="직선 화살표 연결선 1035">
            <a:extLst>
              <a:ext uri="{FF2B5EF4-FFF2-40B4-BE49-F238E27FC236}">
                <a16:creationId xmlns:a16="http://schemas.microsoft.com/office/drawing/2014/main" id="{3A431ABF-04CA-B0FE-F105-59F3545888C4}"/>
              </a:ext>
            </a:extLst>
          </p:cNvPr>
          <p:cNvCxnSpPr/>
          <p:nvPr/>
        </p:nvCxnSpPr>
        <p:spPr>
          <a:xfrm>
            <a:off x="4692105" y="4565461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직선 화살표 연결선 1036">
            <a:extLst>
              <a:ext uri="{FF2B5EF4-FFF2-40B4-BE49-F238E27FC236}">
                <a16:creationId xmlns:a16="http://schemas.microsoft.com/office/drawing/2014/main" id="{3FB37B88-428C-8E39-7531-39E706E6AE72}"/>
              </a:ext>
            </a:extLst>
          </p:cNvPr>
          <p:cNvCxnSpPr/>
          <p:nvPr/>
        </p:nvCxnSpPr>
        <p:spPr>
          <a:xfrm>
            <a:off x="9073605" y="4565461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직선 화살표 연결선 1037">
            <a:extLst>
              <a:ext uri="{FF2B5EF4-FFF2-40B4-BE49-F238E27FC236}">
                <a16:creationId xmlns:a16="http://schemas.microsoft.com/office/drawing/2014/main" id="{4EE07E55-6C95-6938-E43B-6F1559EBF33B}"/>
              </a:ext>
            </a:extLst>
          </p:cNvPr>
          <p:cNvCxnSpPr/>
          <p:nvPr/>
        </p:nvCxnSpPr>
        <p:spPr>
          <a:xfrm>
            <a:off x="13455105" y="4565461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직선 화살표 연결선 1040">
            <a:extLst>
              <a:ext uri="{FF2B5EF4-FFF2-40B4-BE49-F238E27FC236}">
                <a16:creationId xmlns:a16="http://schemas.microsoft.com/office/drawing/2014/main" id="{F0ABB09E-143E-DBC5-D20C-0E9E586F0456}"/>
              </a:ext>
            </a:extLst>
          </p:cNvPr>
          <p:cNvCxnSpPr>
            <a:cxnSpLocks/>
          </p:cNvCxnSpPr>
          <p:nvPr/>
        </p:nvCxnSpPr>
        <p:spPr>
          <a:xfrm flipH="1">
            <a:off x="13455105" y="7384862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직선 화살표 연결선 1042">
            <a:extLst>
              <a:ext uri="{FF2B5EF4-FFF2-40B4-BE49-F238E27FC236}">
                <a16:creationId xmlns:a16="http://schemas.microsoft.com/office/drawing/2014/main" id="{DEAA595F-011D-43F4-FBD1-A547E98B90EC}"/>
              </a:ext>
            </a:extLst>
          </p:cNvPr>
          <p:cNvCxnSpPr>
            <a:cxnSpLocks/>
          </p:cNvCxnSpPr>
          <p:nvPr/>
        </p:nvCxnSpPr>
        <p:spPr>
          <a:xfrm flipH="1">
            <a:off x="9073605" y="7384862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직선 화살표 연결선 1043">
            <a:extLst>
              <a:ext uri="{FF2B5EF4-FFF2-40B4-BE49-F238E27FC236}">
                <a16:creationId xmlns:a16="http://schemas.microsoft.com/office/drawing/2014/main" id="{E450A8A5-56E0-CB00-5541-3EA774363C23}"/>
              </a:ext>
            </a:extLst>
          </p:cNvPr>
          <p:cNvCxnSpPr>
            <a:cxnSpLocks/>
          </p:cNvCxnSpPr>
          <p:nvPr/>
        </p:nvCxnSpPr>
        <p:spPr>
          <a:xfrm flipH="1">
            <a:off x="4692105" y="7384862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직선 화살표 연결선 1044">
            <a:extLst>
              <a:ext uri="{FF2B5EF4-FFF2-40B4-BE49-F238E27FC236}">
                <a16:creationId xmlns:a16="http://schemas.microsoft.com/office/drawing/2014/main" id="{CF858E13-AF27-6613-C245-15924FC55BDA}"/>
              </a:ext>
            </a:extLst>
          </p:cNvPr>
          <p:cNvCxnSpPr>
            <a:cxnSpLocks/>
          </p:cNvCxnSpPr>
          <p:nvPr/>
        </p:nvCxnSpPr>
        <p:spPr>
          <a:xfrm>
            <a:off x="15855535" y="5784661"/>
            <a:ext cx="0" cy="38100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9" name="직사각형 1048">
                <a:extLst>
                  <a:ext uri="{FF2B5EF4-FFF2-40B4-BE49-F238E27FC236}">
                    <a16:creationId xmlns:a16="http://schemas.microsoft.com/office/drawing/2014/main" id="{E8734734-D672-203C-7E20-404EDB916B8E}"/>
                  </a:ext>
                </a:extLst>
              </p:cNvPr>
              <p:cNvSpPr/>
              <p:nvPr/>
            </p:nvSpPr>
            <p:spPr>
              <a:xfrm>
                <a:off x="1030488" y="6467699"/>
                <a:ext cx="3240000" cy="1800000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dirty="0">
                    <a:solidFill>
                      <a:schemeClr val="tx1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PPF or PPD</a:t>
                </a:r>
              </a:p>
              <a:p>
                <a:pPr algn="ctr"/>
                <a:endParaRPr lang="en-US" altLang="ko-KR" sz="105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altLang="ko-KR" sz="24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ω</m:t>
                      </m:r>
                      <m:r>
                        <m:rPr>
                          <m:nor/>
                        </m:rPr>
                        <a:rPr lang="en-US" altLang="ko-KR" sz="2400" b="1" i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nor/>
                        </m:rPr>
                        <a:rPr lang="en-US" altLang="ko-KR" sz="2400" b="1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G</m:t>
                      </m:r>
                      <m:r>
                        <m:rPr>
                          <m:nor/>
                        </m:rPr>
                        <a:rPr lang="en-US" altLang="ko-KR" sz="2400" b="1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ko-KR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ko-KR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𝑫𝑺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ko-KR" sz="24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𝑫𝑺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TDTD강굴림" panose="020B0600000101010101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9" name="직사각형 1048">
                <a:extLst>
                  <a:ext uri="{FF2B5EF4-FFF2-40B4-BE49-F238E27FC236}">
                    <a16:creationId xmlns:a16="http://schemas.microsoft.com/office/drawing/2014/main" id="{E8734734-D672-203C-7E20-404EDB916B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488" y="6467699"/>
                <a:ext cx="3240000" cy="180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1750">
                <a:solidFill>
                  <a:schemeClr val="tx1"/>
                </a:solidFill>
                <a:prstDash val="sysDash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2471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3400" y="373278"/>
            <a:ext cx="17343701" cy="9494622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2362200" y="9410700"/>
            <a:ext cx="150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endParaRPr lang="de-DE" altLang="ko-KR" sz="1200" dirty="0"/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Long-Term Plasticity</a:t>
            </a:r>
            <a:endParaRPr lang="de-DE" altLang="ko-KR" sz="32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B765DC1-0DED-92D5-4077-1856F2D747FE}"/>
              </a:ext>
            </a:extLst>
          </p:cNvPr>
          <p:cNvSpPr/>
          <p:nvPr/>
        </p:nvSpPr>
        <p:spPr>
          <a:xfrm>
            <a:off x="1394750" y="8267700"/>
            <a:ext cx="15621000" cy="1158619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Q.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생물학적 관점에서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신호의 빈도와 동시성에 의해 결정되는 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SRDP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왜 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Long-term plasticity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간주해야 할까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Ans.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뇌는 “자주 반복되는 사건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”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대한 기억을 영구적으로 저장하려고 하기 때문</a:t>
            </a:r>
            <a:endParaRPr lang="ko-KR" altLang="en-US" sz="2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7F314F7-D8B3-8A3B-D028-8140B1763D12}"/>
              </a:ext>
            </a:extLst>
          </p:cNvPr>
          <p:cNvGrpSpPr/>
          <p:nvPr/>
        </p:nvGrpSpPr>
        <p:grpSpPr>
          <a:xfrm>
            <a:off x="1676400" y="1104900"/>
            <a:ext cx="7902389" cy="6934200"/>
            <a:chOff x="1066800" y="1866900"/>
            <a:chExt cx="7902389" cy="693420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DC171C4-2959-1D4F-732D-FAD589DDDDC6}"/>
                </a:ext>
              </a:extLst>
            </p:cNvPr>
            <p:cNvSpPr txBox="1"/>
            <p:nvPr/>
          </p:nvSpPr>
          <p:spPr>
            <a:xfrm>
              <a:off x="1066800" y="1866900"/>
              <a:ext cx="7902389" cy="674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altLang="ko-KR" sz="28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1BE072F5-7C5E-80E9-50A3-3F3002FF079D}"/>
                </a:ext>
              </a:extLst>
            </p:cNvPr>
            <p:cNvGrpSpPr/>
            <p:nvPr/>
          </p:nvGrpSpPr>
          <p:grpSpPr>
            <a:xfrm>
              <a:off x="1066801" y="2290346"/>
              <a:ext cx="7597588" cy="6510754"/>
              <a:chOff x="1165412" y="2442746"/>
              <a:chExt cx="7597588" cy="6510754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4CA1D5F5-5DC0-C8E2-98C3-96AAFE5F68FF}"/>
                  </a:ext>
                </a:extLst>
              </p:cNvPr>
              <p:cNvGrpSpPr/>
              <p:nvPr/>
            </p:nvGrpSpPr>
            <p:grpSpPr>
              <a:xfrm>
                <a:off x="1165412" y="2844610"/>
                <a:ext cx="7597588" cy="5651690"/>
                <a:chOff x="1981200" y="2887456"/>
                <a:chExt cx="8351415" cy="6038850"/>
              </a:xfrm>
            </p:grpSpPr>
            <p:pic>
              <p:nvPicPr>
                <p:cNvPr id="35" name="그림 34">
                  <a:extLst>
                    <a:ext uri="{FF2B5EF4-FFF2-40B4-BE49-F238E27FC236}">
                      <a16:creationId xmlns:a16="http://schemas.microsoft.com/office/drawing/2014/main" id="{904A409A-D025-CCC5-5F81-A152F36FD5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81200" y="2887456"/>
                  <a:ext cx="8351415" cy="6038850"/>
                </a:xfrm>
                <a:prstGeom prst="rect">
                  <a:avLst/>
                </a:prstGeom>
              </p:spPr>
            </p:pic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CBC92917-9F47-33DD-EA45-ECD30A979F7E}"/>
                    </a:ext>
                  </a:extLst>
                </p:cNvPr>
                <p:cNvSpPr/>
                <p:nvPr/>
              </p:nvSpPr>
              <p:spPr>
                <a:xfrm>
                  <a:off x="5223392" y="3009900"/>
                  <a:ext cx="2286000" cy="49530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2B50666-17CB-4D02-24AB-145305114C3A}"/>
                  </a:ext>
                </a:extLst>
              </p:cNvPr>
              <p:cNvSpPr txBox="1"/>
              <p:nvPr/>
            </p:nvSpPr>
            <p:spPr>
              <a:xfrm>
                <a:off x="1286435" y="8614946"/>
                <a:ext cx="31555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</a:rPr>
                  <a:t>Presynaptic spikes frequency</a:t>
                </a:r>
                <a:endParaRPr lang="ko-KR" altLang="en-US" sz="1600" dirty="0">
                  <a:latin typeface="TDTD강굴림" panose="020B0600000101010101" charset="-127"/>
                  <a:ea typeface="TDTD강굴림" panose="020B0600000101010101" charset="-127"/>
                </a:endParaRPr>
              </a:p>
            </p:txBody>
          </p: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781541E5-2F97-DA36-1C05-FD8B07FEAF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78622" y="8416210"/>
                <a:ext cx="358589" cy="195579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38538EB1-5956-46BC-8122-73F3E9B18D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79376" y="2844610"/>
                <a:ext cx="272035" cy="31769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94CC704-88C2-849E-18B7-C3062743B908}"/>
                  </a:ext>
                </a:extLst>
              </p:cNvPr>
              <p:cNvSpPr txBox="1"/>
              <p:nvPr/>
            </p:nvSpPr>
            <p:spPr>
              <a:xfrm>
                <a:off x="2079811" y="2442746"/>
                <a:ext cx="3733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</a:rPr>
                  <a:t>Spike-rate-dependent plasticity </a:t>
                </a:r>
                <a:endParaRPr lang="ko-KR" altLang="en-US" sz="1600" dirty="0">
                  <a:latin typeface="TDTD강굴림" panose="020B0600000101010101" charset="-127"/>
                  <a:ea typeface="TDTD강굴림" panose="020B0600000101010101" charset="-127"/>
                </a:endParaRPr>
              </a:p>
            </p:txBody>
          </p:sp>
        </p:grp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A31839C-3C0B-B62C-4F97-3622C3EC35B4}"/>
                </a:ext>
              </a:extLst>
            </p:cNvPr>
            <p:cNvSpPr/>
            <p:nvPr/>
          </p:nvSpPr>
          <p:spPr>
            <a:xfrm>
              <a:off x="3962400" y="7896527"/>
              <a:ext cx="2171700" cy="523573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B26D26D-5B03-D65D-8F19-228E851B4317}"/>
                  </a:ext>
                </a:extLst>
              </p:cNvPr>
              <p:cNvSpPr txBox="1"/>
              <p:nvPr/>
            </p:nvSpPr>
            <p:spPr>
              <a:xfrm>
                <a:off x="9906000" y="2933700"/>
                <a:ext cx="8153400" cy="2625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SRDP</a:t>
                </a:r>
                <a:r>
                  <a:rPr lang="en-US" altLang="ko-KR" dirty="0">
                    <a:latin typeface="TDTD강굴림" panose="020B0600000101010101" charset="-127"/>
                    <a:ea typeface="TDTD강굴림" panose="020B0600000101010101" charset="-127"/>
                  </a:rPr>
                  <a:t>: </a:t>
                </a:r>
                <a:r>
                  <a:rPr lang="en-US" altLang="ko-KR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Frequency (</a:t>
                </a:r>
                <a:r>
                  <a:rPr lang="en-US" altLang="ko-KR" sz="2000" b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TDTD강굴림" panose="020B0600000101010101" charset="-127"/>
                    <a:cs typeface="Times New Roman" panose="02020603050405020304" pitchFamily="18" charset="0"/>
                  </a:rPr>
                  <a:t>ƒ</a:t>
                </a:r>
                <a:r>
                  <a:rPr lang="en-US" altLang="ko-KR" sz="1800" dirty="0">
                    <a:solidFill>
                      <a:srgbClr val="FF0000"/>
                    </a:solidFill>
                    <a:effectLst/>
                    <a:latin typeface="TDTD강굴림" panose="020B0600000101010101" charset="-127"/>
                    <a:ea typeface="TDTD강굴림" panose="020B0600000101010101" charset="-127"/>
                  </a:rPr>
                  <a:t>)</a:t>
                </a:r>
                <a:r>
                  <a:rPr lang="en-US" altLang="ko-KR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 and Coincidence </a:t>
                </a:r>
                <a:r>
                  <a:rPr lang="en-US" altLang="ko-KR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altLang="ko-KR" sz="1800" b="1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US" altLang="ko-KR" sz="1800" dirty="0">
                            <a:solidFill>
                              <a:srgbClr val="FF0000"/>
                            </a:solidFill>
                            <a:latin typeface="TDTD강굴림" panose="020B0600000101010101" charset="-127"/>
                          </a:rPr>
                          <m:t>t</m:t>
                        </m:r>
                      </m:e>
                    </m:d>
                  </m:oMath>
                </a14:m>
                <a:r>
                  <a:rPr lang="en-US" altLang="ko-KR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)</a:t>
                </a:r>
                <a:r>
                  <a:rPr lang="en-US" altLang="ko-KR" dirty="0">
                    <a:latin typeface="TDTD강굴림" panose="020B0600000101010101" charset="-127"/>
                    <a:ea typeface="TDTD강굴림" panose="020B0600000101010101" charset="-127"/>
                  </a:rPr>
                  <a:t> is the key</a:t>
                </a:r>
                <a:endParaRPr lang="en-US" altLang="ko-KR" dirty="0">
                  <a:solidFill>
                    <a:srgbClr val="0505FF"/>
                  </a:solidFill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      </a:t>
                </a: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</a:rPr>
                  <a:t>Long-term potentiation (LTP)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</a:rPr>
                  <a:t>          : </a:t>
                </a: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Presynaptic spike frequency (</a:t>
                </a:r>
                <a:r>
                  <a:rPr lang="en-US" altLang="ko-KR" sz="2200" b="1" dirty="0">
                    <a:latin typeface="Times New Roman" panose="02020603050405020304" pitchFamily="18" charset="0"/>
                    <a:ea typeface="TDTD강굴림" panose="020B0600000101010101" charset="-127"/>
                    <a:cs typeface="Times New Roman" panose="02020603050405020304" pitchFamily="18" charset="0"/>
                  </a:rPr>
                  <a:t>ƒ</a:t>
                </a: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) </a:t>
                </a:r>
                <a:r>
                  <a:rPr lang="en-US" altLang="ko-KR" sz="2200" b="1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&gt;</a:t>
                </a:r>
                <a:r>
                  <a:rPr lang="en-US" altLang="ko-KR" sz="2200" b="1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20</a:t>
                </a:r>
                <a:r>
                  <a:rPr lang="en-US" altLang="ko-KR" sz="2200" b="1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200" b="1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      </a:t>
                </a: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</a:rPr>
                  <a:t>Long-term depression (LTD)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</a:rPr>
                  <a:t>          :</a:t>
                </a: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 Presynaptic spike frequency (</a:t>
                </a:r>
                <a:r>
                  <a:rPr lang="en-US" altLang="ko-KR" sz="2200" b="1" dirty="0">
                    <a:latin typeface="Times New Roman" panose="02020603050405020304" pitchFamily="18" charset="0"/>
                    <a:ea typeface="TDTD강굴림" panose="020B0600000101010101" charset="-127"/>
                    <a:cs typeface="Times New Roman" panose="02020603050405020304" pitchFamily="18" charset="0"/>
                  </a:rPr>
                  <a:t>ƒ</a:t>
                </a: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) </a:t>
                </a:r>
                <a:r>
                  <a:rPr lang="en-US" altLang="ko-KR" sz="2200" b="1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&lt;</a:t>
                </a:r>
                <a:r>
                  <a:rPr lang="en-US" altLang="ko-KR" sz="2200" b="1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10</a:t>
                </a:r>
                <a:r>
                  <a:rPr lang="en-US" altLang="ko-KR" sz="2200" b="1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B26D26D-5B03-D65D-8F19-228E851B4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0" y="2933700"/>
                <a:ext cx="8153400" cy="2625270"/>
              </a:xfrm>
              <a:prstGeom prst="rect">
                <a:avLst/>
              </a:prstGeom>
              <a:blipFill>
                <a:blip r:embed="rId7"/>
                <a:stretch>
                  <a:fillRect l="-972" b="-39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217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33400" y="373278"/>
            <a:ext cx="17343701" cy="9494622"/>
          </a:xfrm>
          <a:custGeom>
            <a:avLst/>
            <a:gdLst/>
            <a:ahLst/>
            <a:cxnLst/>
            <a:rect l="l" t="t" r="r" b="b"/>
            <a:pathLst>
              <a:path w="4356515" h="2266044">
                <a:moveTo>
                  <a:pt x="10765" y="0"/>
                </a:moveTo>
                <a:lnTo>
                  <a:pt x="4345750" y="0"/>
                </a:lnTo>
                <a:cubicBezTo>
                  <a:pt x="4348605" y="0"/>
                  <a:pt x="4351343" y="1134"/>
                  <a:pt x="4353362" y="3153"/>
                </a:cubicBezTo>
                <a:cubicBezTo>
                  <a:pt x="4355381" y="5172"/>
                  <a:pt x="4356515" y="7910"/>
                  <a:pt x="4356515" y="10765"/>
                </a:cubicBezTo>
                <a:lnTo>
                  <a:pt x="4356515" y="2255279"/>
                </a:lnTo>
                <a:cubicBezTo>
                  <a:pt x="4356515" y="2261224"/>
                  <a:pt x="4351695" y="2266044"/>
                  <a:pt x="4345750" y="2266044"/>
                </a:cubicBezTo>
                <a:lnTo>
                  <a:pt x="10765" y="2266044"/>
                </a:lnTo>
                <a:cubicBezTo>
                  <a:pt x="7910" y="2266044"/>
                  <a:pt x="5172" y="2264910"/>
                  <a:pt x="3153" y="2262891"/>
                </a:cubicBezTo>
                <a:cubicBezTo>
                  <a:pt x="1134" y="2260872"/>
                  <a:pt x="0" y="2258134"/>
                  <a:pt x="0" y="2255279"/>
                </a:cubicBezTo>
                <a:lnTo>
                  <a:pt x="0" y="10765"/>
                </a:lnTo>
                <a:cubicBezTo>
                  <a:pt x="0" y="7910"/>
                  <a:pt x="1134" y="5172"/>
                  <a:pt x="3153" y="3153"/>
                </a:cubicBezTo>
                <a:cubicBezTo>
                  <a:pt x="5172" y="1134"/>
                  <a:pt x="7910" y="0"/>
                  <a:pt x="10765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533400" y="173731"/>
            <a:ext cx="17343701" cy="969416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2362200" y="9410700"/>
            <a:ext cx="150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endParaRPr lang="de-DE" altLang="ko-KR" sz="1200" dirty="0"/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Actual Experiment of SRDP</a:t>
            </a:r>
            <a:endParaRPr lang="de-DE" altLang="ko-KR" sz="32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4278E-7D89-A20C-BB76-501DF0E1F992}"/>
              </a:ext>
            </a:extLst>
          </p:cNvPr>
          <p:cNvSpPr txBox="1"/>
          <p:nvPr/>
        </p:nvSpPr>
        <p:spPr>
          <a:xfrm>
            <a:off x="990600" y="1409700"/>
            <a:ext cx="16535401" cy="1145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LTP: At higher frequencies,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PPC accumulates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and the current increases rapidly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LTD: At lower frequencies,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PPC discharges 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before it can accumulate, resulting in no change or a decrease</a:t>
            </a:r>
            <a:endParaRPr lang="en-US" altLang="ko-KR" sz="24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6FA732-6768-6E06-EE19-74D7B875C668}"/>
              </a:ext>
            </a:extLst>
          </p:cNvPr>
          <p:cNvSpPr/>
          <p:nvPr/>
        </p:nvSpPr>
        <p:spPr>
          <a:xfrm>
            <a:off x="7530939" y="2968025"/>
            <a:ext cx="324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Pre</a:t>
            </a:r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synaptic Spikes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Light pulse train</a:t>
            </a:r>
            <a:endParaRPr lang="ko-KR" altLang="en-US" sz="20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00F7E97-BB92-4B3D-D907-8561C200F15F}"/>
              </a:ext>
            </a:extLst>
          </p:cNvPr>
          <p:cNvSpPr/>
          <p:nvPr/>
        </p:nvSpPr>
        <p:spPr>
          <a:xfrm>
            <a:off x="3138078" y="2968025"/>
            <a:ext cx="324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Variable Setup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</a:t>
            </a:r>
            <a:r>
              <a:rPr lang="en-US" altLang="ko-KR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DTD강굴림" panose="020B0600000101010101" charset="-127"/>
                <a:cs typeface="Times New Roman" panose="02020603050405020304" pitchFamily="18" charset="0"/>
              </a:rPr>
              <a:t>ƒ</a:t>
            </a:r>
            <a:r>
              <a:rPr lang="en-US" altLang="ko-KR" sz="2000" dirty="0">
                <a:solidFill>
                  <a:schemeClr val="tx1"/>
                </a:solidFill>
                <a:effectLst/>
                <a:latin typeface="TDTD강굴림" panose="020B0600000101010101" charset="-127"/>
                <a:ea typeface="TDTD강굴림" panose="020B0600000101010101" charset="-127"/>
              </a:rPr>
              <a:t>,</a:t>
            </a:r>
            <a:r>
              <a:rPr lang="en-US" altLang="ko-KR" sz="2000" dirty="0">
                <a:solidFill>
                  <a:srgbClr val="FF0000"/>
                </a:solidFill>
                <a:effectLst/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l-GR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Δ</a:t>
            </a:r>
            <a:r>
              <a:rPr lang="en-US" altLang="ko-KR" sz="2000" dirty="0" err="1">
                <a:solidFill>
                  <a:srgbClr val="FF0000"/>
                </a:solidFill>
                <a:latin typeface="TDTD강굴림" panose="020B0600000101010101" charset="-127"/>
                <a:ea typeface="맑은 고딕" panose="020B0503020000020004" pitchFamily="50" charset="-127"/>
              </a:rPr>
              <a:t>t</a:t>
            </a:r>
            <a:r>
              <a:rPr lang="en-US" altLang="ko-KR" sz="2000" baseline="-25000" dirty="0" err="1">
                <a:solidFill>
                  <a:srgbClr val="FF0000"/>
                </a:solidFill>
                <a:latin typeface="TDTD강굴림" panose="020B0600000101010101" charset="-127"/>
                <a:ea typeface="맑은 고딕" panose="020B0503020000020004" pitchFamily="50" charset="-127"/>
              </a:rPr>
              <a:t>Light</a:t>
            </a:r>
            <a:endParaRPr lang="ko-KR" altLang="en-US" sz="1600" baseline="-25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554DFD-3E3D-3136-2885-7907F8A53234}"/>
              </a:ext>
            </a:extLst>
          </p:cNvPr>
          <p:cNvSpPr/>
          <p:nvPr/>
        </p:nvSpPr>
        <p:spPr>
          <a:xfrm>
            <a:off x="11923800" y="2968025"/>
            <a:ext cx="324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Read Voltage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V</a:t>
            </a:r>
            <a:r>
              <a:rPr lang="en-US" altLang="ko-KR" sz="2000" baseline="-25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DS</a:t>
            </a:r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 + V</a:t>
            </a:r>
            <a:r>
              <a:rPr lang="en-US" altLang="ko-KR" sz="2000" baseline="-25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GS</a:t>
            </a:r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 pulse</a:t>
            </a:r>
            <a:endParaRPr lang="ko-KR" altLang="en-US" sz="16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1C45490-CCE2-7B48-3006-E2F80BD56B76}"/>
                  </a:ext>
                </a:extLst>
              </p:cNvPr>
              <p:cNvSpPr/>
              <p:nvPr/>
            </p:nvSpPr>
            <p:spPr>
              <a:xfrm>
                <a:off x="7531300" y="5787426"/>
                <a:ext cx="3240000" cy="1800000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dirty="0">
                    <a:solidFill>
                      <a:schemeClr val="tx1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LTP or LTD</a:t>
                </a:r>
              </a:p>
              <a:p>
                <a:pPr algn="ctr"/>
                <a:endParaRPr lang="en-US" altLang="ko-KR" sz="16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altLang="ko-KR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l-GR" altLang="ko-KR" sz="20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ω</m:t>
                      </m:r>
                      <m:r>
                        <m:rPr>
                          <m:nor/>
                        </m:rPr>
                        <a:rPr lang="en-US" altLang="ko-KR" sz="2000" b="1" i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ko-KR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𝑫𝑺</m:t>
                                  </m:r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𝒇𝒊𝒏𝒂𝒍</m:t>
                                  </m:r>
                                </m:sub>
                              </m:sSub>
                              <m:r>
                                <a:rPr lang="en-US" altLang="ko-KR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𝑫𝑺</m:t>
                                  </m:r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𝒊𝒏𝒊𝒕𝒊𝒂𝒍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ko-KR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𝑫𝑺</m:t>
                              </m:r>
                              <m:r>
                                <a:rPr lang="en-US" altLang="ko-KR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ko-KR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𝒊𝒏𝒊𝒕𝒊𝒂𝒍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sz="16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endParaRPr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1C45490-CCE2-7B48-3006-E2F80BD56B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1300" y="5787426"/>
                <a:ext cx="3240000" cy="180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1750">
                <a:solidFill>
                  <a:schemeClr val="tx1"/>
                </a:solidFill>
                <a:prstDash val="sysDash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>
            <a:extLst>
              <a:ext uri="{FF2B5EF4-FFF2-40B4-BE49-F238E27FC236}">
                <a16:creationId xmlns:a16="http://schemas.microsoft.com/office/drawing/2014/main" id="{902A3227-8BE1-E65C-CE15-4F78C9619608}"/>
              </a:ext>
            </a:extLst>
          </p:cNvPr>
          <p:cNvSpPr/>
          <p:nvPr/>
        </p:nvSpPr>
        <p:spPr>
          <a:xfrm>
            <a:off x="3133596" y="5787426"/>
            <a:ext cx="324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Reset</a:t>
            </a:r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 Voltage</a:t>
            </a:r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High +V</a:t>
            </a:r>
            <a:r>
              <a:rPr lang="en-US" altLang="ko-KR" sz="2000" baseline="-25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GS</a:t>
            </a:r>
            <a:endParaRPr lang="ko-KR" altLang="en-US" sz="16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FD1376C-1A62-434B-8595-80C6752963AA}"/>
              </a:ext>
            </a:extLst>
          </p:cNvPr>
          <p:cNvSpPr/>
          <p:nvPr/>
        </p:nvSpPr>
        <p:spPr>
          <a:xfrm>
            <a:off x="11919318" y="5784081"/>
            <a:ext cx="324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PSC Measurement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I</a:t>
            </a:r>
            <a:r>
              <a:rPr lang="en-US" altLang="ko-KR" sz="2000" baseline="-25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DS, final</a:t>
            </a:r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 </a:t>
            </a:r>
            <a:endParaRPr lang="ko-KR" altLang="en-US" sz="16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40FDE54-78CA-3211-1ABE-44DA56372574}"/>
              </a:ext>
            </a:extLst>
          </p:cNvPr>
          <p:cNvCxnSpPr>
            <a:cxnSpLocks/>
          </p:cNvCxnSpPr>
          <p:nvPr/>
        </p:nvCxnSpPr>
        <p:spPr>
          <a:xfrm>
            <a:off x="6798966" y="3885187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C6D2562-58CC-16A4-E7BF-CC71717F8414}"/>
              </a:ext>
            </a:extLst>
          </p:cNvPr>
          <p:cNvCxnSpPr>
            <a:cxnSpLocks/>
          </p:cNvCxnSpPr>
          <p:nvPr/>
        </p:nvCxnSpPr>
        <p:spPr>
          <a:xfrm>
            <a:off x="11180466" y="3885187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E9341C4-4FCE-6AEF-0B10-586B8FBA6230}"/>
              </a:ext>
            </a:extLst>
          </p:cNvPr>
          <p:cNvCxnSpPr>
            <a:cxnSpLocks/>
          </p:cNvCxnSpPr>
          <p:nvPr/>
        </p:nvCxnSpPr>
        <p:spPr>
          <a:xfrm flipH="1">
            <a:off x="6776605" y="6704588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819AB98-426F-57D4-DD67-E2C69DEF8583}"/>
              </a:ext>
            </a:extLst>
          </p:cNvPr>
          <p:cNvCxnSpPr>
            <a:cxnSpLocks/>
          </p:cNvCxnSpPr>
          <p:nvPr/>
        </p:nvCxnSpPr>
        <p:spPr>
          <a:xfrm>
            <a:off x="13536861" y="5104387"/>
            <a:ext cx="0" cy="38100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D72F393-CEFC-7C8C-80E2-8CE398864B5C}"/>
              </a:ext>
            </a:extLst>
          </p:cNvPr>
          <p:cNvCxnSpPr>
            <a:cxnSpLocks/>
          </p:cNvCxnSpPr>
          <p:nvPr/>
        </p:nvCxnSpPr>
        <p:spPr>
          <a:xfrm flipH="1">
            <a:off x="11174661" y="6704588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313DCBF-DA62-B54E-DC0C-22315703BCF6}"/>
              </a:ext>
            </a:extLst>
          </p:cNvPr>
          <p:cNvSpPr/>
          <p:nvPr/>
        </p:nvSpPr>
        <p:spPr>
          <a:xfrm>
            <a:off x="1393200" y="8068119"/>
            <a:ext cx="15621000" cy="1418781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Q. 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메커니즘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자극 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후속 자극 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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전류 변화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고려하였을 때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STP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와 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SRDP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는 거의 비슷하다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그럼 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PPF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지속 시간이 늘어난 것이 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LTP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인가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Ans.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“Transition from STP to LTP”</a:t>
            </a: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</a:t>
            </a:r>
            <a:r>
              <a:rPr lang="en-US" altLang="ko-KR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STP</a:t>
            </a:r>
            <a:r>
              <a:rPr lang="ko-KR" altLang="en-US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lang="en-US" altLang="ko-KR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번의 펄스 이후 금방 </a:t>
            </a:r>
            <a:r>
              <a:rPr lang="en-US" altLang="ko-KR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reset</a:t>
            </a:r>
            <a:r>
              <a:rPr lang="ko-KR" altLang="en-US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되는 상태이고</a:t>
            </a:r>
            <a:r>
              <a:rPr lang="en-US" altLang="ko-KR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LTP</a:t>
            </a:r>
            <a:r>
              <a:rPr lang="ko-KR" altLang="en-US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는 </a:t>
            </a:r>
            <a:r>
              <a:rPr lang="en-US" altLang="ko-KR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Light pulse</a:t>
            </a:r>
            <a:r>
              <a:rPr lang="ko-KR" altLang="en-US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반복되면 </a:t>
            </a:r>
            <a:r>
              <a:rPr lang="en-US" altLang="ko-KR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PPC</a:t>
            </a:r>
            <a:r>
              <a:rPr lang="ko-KR" altLang="en-US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누적되어 전류의 베이스라인 자체가 높아져 자연적으로 </a:t>
            </a:r>
            <a:r>
              <a:rPr lang="en-US" altLang="ko-KR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reset</a:t>
            </a:r>
            <a:r>
              <a:rPr lang="ko-KR" altLang="en-US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되지 않는 상태</a:t>
            </a:r>
            <a:r>
              <a:rPr lang="en-US" altLang="ko-KR" sz="15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ko-KR" altLang="en-US" sz="15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849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3400" y="373278"/>
            <a:ext cx="17343701" cy="9494622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2362200" y="9410700"/>
            <a:ext cx="150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endParaRPr lang="de-DE" altLang="ko-KR" sz="1200" dirty="0"/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Long-Term Plasticity</a:t>
            </a:r>
            <a:endParaRPr lang="de-DE" altLang="ko-KR" sz="32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6703E5F-6790-E934-1F58-26856834DF1D}"/>
              </a:ext>
            </a:extLst>
          </p:cNvPr>
          <p:cNvGrpSpPr/>
          <p:nvPr/>
        </p:nvGrpSpPr>
        <p:grpSpPr>
          <a:xfrm>
            <a:off x="1371600" y="1028700"/>
            <a:ext cx="7902389" cy="6934200"/>
            <a:chOff x="1066800" y="1866900"/>
            <a:chExt cx="7902389" cy="693420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773E8AF-D57C-E836-238D-A962ADE9E207}"/>
                </a:ext>
              </a:extLst>
            </p:cNvPr>
            <p:cNvSpPr txBox="1"/>
            <p:nvPr/>
          </p:nvSpPr>
          <p:spPr>
            <a:xfrm>
              <a:off x="1066800" y="1866900"/>
              <a:ext cx="7902389" cy="674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altLang="ko-KR" sz="2800" dirty="0">
                <a:latin typeface="TDTD강굴림" panose="020B0600000101010101" charset="-127"/>
                <a:ea typeface="TDTD강굴림" panose="020B0600000101010101" charset="-127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D4061045-A705-7DC6-543B-7E81B7069A5A}"/>
                </a:ext>
              </a:extLst>
            </p:cNvPr>
            <p:cNvGrpSpPr/>
            <p:nvPr/>
          </p:nvGrpSpPr>
          <p:grpSpPr>
            <a:xfrm>
              <a:off x="1066801" y="2247900"/>
              <a:ext cx="7597588" cy="6553200"/>
              <a:chOff x="1165412" y="2400300"/>
              <a:chExt cx="7597588" cy="6553200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9CFD0935-39B1-C4DA-5683-161AA97F4114}"/>
                  </a:ext>
                </a:extLst>
              </p:cNvPr>
              <p:cNvGrpSpPr/>
              <p:nvPr/>
            </p:nvGrpSpPr>
            <p:grpSpPr>
              <a:xfrm>
                <a:off x="1165412" y="2844610"/>
                <a:ext cx="7597588" cy="5651690"/>
                <a:chOff x="1981200" y="2887456"/>
                <a:chExt cx="8351415" cy="6038850"/>
              </a:xfrm>
            </p:grpSpPr>
            <p:pic>
              <p:nvPicPr>
                <p:cNvPr id="11" name="그림 10">
                  <a:extLst>
                    <a:ext uri="{FF2B5EF4-FFF2-40B4-BE49-F238E27FC236}">
                      <a16:creationId xmlns:a16="http://schemas.microsoft.com/office/drawing/2014/main" id="{298C8D85-8E87-BE79-70F3-3104F0D202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81200" y="2887456"/>
                  <a:ext cx="8351415" cy="6038850"/>
                </a:xfrm>
                <a:prstGeom prst="rect">
                  <a:avLst/>
                </a:prstGeom>
              </p:spPr>
            </p:pic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5B1C3998-A412-AAAB-2A29-FC63BA28AEE9}"/>
                    </a:ext>
                  </a:extLst>
                </p:cNvPr>
                <p:cNvSpPr/>
                <p:nvPr/>
              </p:nvSpPr>
              <p:spPr>
                <a:xfrm>
                  <a:off x="2819400" y="3009900"/>
                  <a:ext cx="2057400" cy="4953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6AF94DC4-F687-8D21-12CA-5D5C840AEF1A}"/>
                    </a:ext>
                  </a:extLst>
                </p:cNvPr>
                <p:cNvSpPr/>
                <p:nvPr/>
              </p:nvSpPr>
              <p:spPr>
                <a:xfrm>
                  <a:off x="7848600" y="3009900"/>
                  <a:ext cx="2286000" cy="4953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C6BFA95-E787-CBE2-016D-08F1DAEBFA82}"/>
                  </a:ext>
                </a:extLst>
              </p:cNvPr>
              <p:cNvSpPr txBox="1"/>
              <p:nvPr/>
            </p:nvSpPr>
            <p:spPr>
              <a:xfrm>
                <a:off x="1286435" y="8614946"/>
                <a:ext cx="31555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</a:rPr>
                  <a:t>Presynaptic spikes frequency</a:t>
                </a:r>
                <a:endParaRPr lang="ko-KR" altLang="en-US" sz="1600" dirty="0">
                  <a:latin typeface="TDTD강굴림" panose="020B0600000101010101" charset="-127"/>
                  <a:ea typeface="TDTD강굴림" panose="020B0600000101010101" charset="-127"/>
                </a:endParaRPr>
              </a:p>
            </p:txBody>
          </p:sp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0E6AC1C4-CF34-F7CC-382F-D8AC5ECB7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78622" y="8416210"/>
                <a:ext cx="358589" cy="195579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DC7A017F-1945-B2C6-B4F2-FA31DDCF37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18211" y="2781300"/>
                <a:ext cx="261365" cy="42556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2C7D7AA-391B-88FC-9499-C2551360DC19}"/>
                  </a:ext>
                </a:extLst>
              </p:cNvPr>
              <p:cNvSpPr txBox="1"/>
              <p:nvPr/>
            </p:nvSpPr>
            <p:spPr>
              <a:xfrm>
                <a:off x="1317811" y="2400300"/>
                <a:ext cx="3733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</a:rPr>
                  <a:t>Spike-timing-dependent plasticity </a:t>
                </a:r>
                <a:endParaRPr lang="ko-KR" altLang="en-US" sz="1600" dirty="0">
                  <a:latin typeface="TDTD강굴림" panose="020B0600000101010101" charset="-127"/>
                  <a:ea typeface="TDTD강굴림" panose="020B0600000101010101" charset="-127"/>
                </a:endParaRPr>
              </a:p>
            </p:txBody>
          </p:sp>
        </p:grp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98F3D523-C898-174A-9024-C57DA718AB97}"/>
                </a:ext>
              </a:extLst>
            </p:cNvPr>
            <p:cNvSpPr/>
            <p:nvPr/>
          </p:nvSpPr>
          <p:spPr>
            <a:xfrm>
              <a:off x="3962400" y="7896527"/>
              <a:ext cx="2171700" cy="523573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3C0A05-2FBD-4604-3700-683BB0FA7634}"/>
                  </a:ext>
                </a:extLst>
              </p:cNvPr>
              <p:cNvSpPr txBox="1"/>
              <p:nvPr/>
            </p:nvSpPr>
            <p:spPr>
              <a:xfrm>
                <a:off x="9601200" y="1291112"/>
                <a:ext cx="8153400" cy="6595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Asymmetric STDP</a:t>
                </a:r>
                <a:r>
                  <a:rPr lang="en-US" altLang="ko-KR" dirty="0">
                    <a:latin typeface="TDTD강굴림" panose="020B0600000101010101" charset="-127"/>
                    <a:ea typeface="TDTD강굴림" panose="020B0600000101010101" charset="-127"/>
                  </a:rPr>
                  <a:t>: </a:t>
                </a:r>
                <a:r>
                  <a:rPr lang="en-US" altLang="ko-KR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Causality</a:t>
                </a:r>
                <a:r>
                  <a:rPr lang="en-US" altLang="ko-KR" dirty="0">
                    <a:latin typeface="TDTD강굴림" panose="020B0600000101010101" charset="-127"/>
                    <a:ea typeface="TDTD강굴림" panose="020B0600000101010101" charset="-127"/>
                  </a:rPr>
                  <a:t> is the key</a:t>
                </a:r>
                <a:endParaRPr lang="en-US" altLang="ko-KR" dirty="0">
                  <a:solidFill>
                    <a:srgbClr val="0505FF"/>
                  </a:solidFill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 </a:t>
                </a: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</a:rPr>
                  <a:t>Long-term potentiation (LTP)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</a:rPr>
                  <a:t>     : </a:t>
                </a:r>
                <a:r>
                  <a:rPr lang="el-GR" altLang="ko-KR" sz="2200" b="1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Δ</a:t>
                </a:r>
                <a:r>
                  <a:rPr lang="en-US" altLang="ko-KR" sz="2200" dirty="0" err="1">
                    <a:latin typeface="TDTD강굴림" panose="020B0600000101010101" charset="-127"/>
                    <a:ea typeface="맑은 고딕" panose="020B0503020000020004" pitchFamily="50" charset="-127"/>
                  </a:rPr>
                  <a:t>t</a:t>
                </a:r>
                <a:r>
                  <a:rPr lang="en-US" altLang="ko-KR" sz="2200" baseline="-25000" dirty="0" err="1">
                    <a:latin typeface="TDTD강굴림" panose="020B0600000101010101" charset="-127"/>
                    <a:ea typeface="맑은 고딕" panose="020B0503020000020004" pitchFamily="50" charset="-127"/>
                  </a:rPr>
                  <a:t>post</a:t>
                </a:r>
                <a:r>
                  <a:rPr lang="en-US" altLang="ko-KR" sz="2200" baseline="-25000" dirty="0">
                    <a:latin typeface="TDTD강굴림" panose="020B0600000101010101" charset="-127"/>
                    <a:ea typeface="맑은 고딕" panose="020B0503020000020004" pitchFamily="50" charset="-127"/>
                  </a:rPr>
                  <a:t>-pre</a:t>
                </a:r>
                <a:r>
                  <a:rPr lang="en-US" altLang="ko-KR" sz="2200" dirty="0">
                    <a:latin typeface="TDTD강굴림" panose="020B0600000101010101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2200" b="1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&gt; 0,</a:t>
                </a:r>
                <a:endParaRPr lang="en-US" altLang="ko-KR" sz="2200" dirty="0"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</a:rPr>
                  <a:t>        </a:t>
                </a:r>
                <a:r>
                  <a:rPr lang="en-US" altLang="ko-KR" sz="20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Pre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</a:rPr>
                  <a:t>synaptic spike </a:t>
                </a:r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</a:rPr>
                  <a:t>(</a:t>
                </a:r>
                <a:r>
                  <a:rPr lang="en-US" altLang="ko-KR" sz="16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Light</a:t>
                </a:r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</a:rPr>
                  <a:t>) 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 </a:t>
                </a:r>
                <a:r>
                  <a:rPr lang="en-US" altLang="ko-KR" sz="20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Post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synaptic spike </a:t>
                </a:r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(</a:t>
                </a:r>
                <a:r>
                  <a:rPr lang="en-US" altLang="ko-KR" sz="16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V</a:t>
                </a:r>
                <a:r>
                  <a:rPr lang="en-US" altLang="ko-KR" sz="1600" baseline="-250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GS</a:t>
                </a:r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)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à"/>
                </a:pP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</a:rPr>
                  <a:t>Long-term depression (LTD)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</a:rPr>
                  <a:t>     : </a:t>
                </a:r>
                <a:r>
                  <a:rPr lang="el-GR" altLang="ko-KR" sz="2200" b="1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Δ</a:t>
                </a:r>
                <a:r>
                  <a:rPr lang="en-US" altLang="ko-KR" sz="2200" dirty="0" err="1">
                    <a:latin typeface="TDTD강굴림" panose="020B0600000101010101" charset="-127"/>
                    <a:ea typeface="맑은 고딕" panose="020B0503020000020004" pitchFamily="50" charset="-127"/>
                  </a:rPr>
                  <a:t>t</a:t>
                </a:r>
                <a:r>
                  <a:rPr lang="en-US" altLang="ko-KR" sz="2200" baseline="-25000" dirty="0" err="1">
                    <a:latin typeface="TDTD강굴림" panose="020B0600000101010101" charset="-127"/>
                    <a:ea typeface="맑은 고딕" panose="020B0503020000020004" pitchFamily="50" charset="-127"/>
                  </a:rPr>
                  <a:t>post</a:t>
                </a:r>
                <a:r>
                  <a:rPr lang="en-US" altLang="ko-KR" sz="2200" baseline="-25000" dirty="0">
                    <a:latin typeface="TDTD강굴림" panose="020B0600000101010101" charset="-127"/>
                    <a:ea typeface="맑은 고딕" panose="020B0503020000020004" pitchFamily="50" charset="-127"/>
                  </a:rPr>
                  <a:t>-pre</a:t>
                </a:r>
                <a:r>
                  <a:rPr lang="en-US" altLang="ko-KR" sz="2200" dirty="0">
                    <a:latin typeface="TDTD강굴림" panose="020B0600000101010101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2200" b="1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&lt; 0,</a:t>
                </a:r>
                <a:endParaRPr lang="en-US" altLang="ko-KR" sz="2200" dirty="0"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</a:rPr>
                  <a:t>        </a:t>
                </a:r>
                <a:r>
                  <a:rPr lang="en-US" altLang="ko-KR" sz="20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Post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</a:rPr>
                  <a:t>synaptic spike </a:t>
                </a:r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</a:rPr>
                  <a:t>(</a:t>
                </a:r>
                <a:r>
                  <a:rPr lang="en-US" altLang="ko-KR" sz="16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V</a:t>
                </a:r>
                <a:r>
                  <a:rPr lang="en-US" altLang="ko-KR" sz="1600" baseline="-250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GS</a:t>
                </a:r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</a:rPr>
                  <a:t>) 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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</a:rPr>
                  <a:t> </a:t>
                </a:r>
                <a:r>
                  <a:rPr lang="en-US" altLang="ko-KR" sz="20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Pre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</a:rPr>
                  <a:t>synaptic spike </a:t>
                </a:r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</a:rPr>
                  <a:t>(</a:t>
                </a:r>
                <a:r>
                  <a:rPr lang="en-US" altLang="ko-KR" sz="16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Light</a:t>
                </a:r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2400" baseline="-25000" dirty="0"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Symmetric STDP</a:t>
                </a:r>
                <a:r>
                  <a:rPr lang="en-US" altLang="ko-KR" dirty="0">
                    <a:latin typeface="TDTD강굴림" panose="020B0600000101010101" charset="-127"/>
                    <a:ea typeface="TDTD강굴림" panose="020B0600000101010101" charset="-127"/>
                  </a:rPr>
                  <a:t>: </a:t>
                </a:r>
                <a:r>
                  <a:rPr lang="en-US" altLang="ko-KR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Coincidence </a:t>
                </a:r>
                <a:r>
                  <a:rPr lang="en-US" altLang="ko-KR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altLang="ko-KR" b="1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US" altLang="ko-KR" dirty="0">
                            <a:solidFill>
                              <a:srgbClr val="FF0000"/>
                            </a:solidFill>
                            <a:latin typeface="TDTD강굴림" panose="020B0600000101010101" charset="-127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altLang="ko-KR" baseline="-25000" dirty="0">
                            <a:solidFill>
                              <a:srgbClr val="FF0000"/>
                            </a:solidFill>
                            <a:latin typeface="TDTD강굴림" panose="020B0600000101010101" charset="-127"/>
                          </a:rPr>
                          <m:t>post</m:t>
                        </m:r>
                        <m:r>
                          <m:rPr>
                            <m:nor/>
                          </m:rPr>
                          <a:rPr lang="en-US" altLang="ko-KR" baseline="-25000" dirty="0">
                            <a:solidFill>
                              <a:srgbClr val="FF0000"/>
                            </a:solidFill>
                            <a:latin typeface="TDTD강굴림" panose="020B0600000101010101" charset="-127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ko-KR" baseline="-25000" dirty="0">
                            <a:solidFill>
                              <a:srgbClr val="FF0000"/>
                            </a:solidFill>
                            <a:latin typeface="TDTD강굴림" panose="020B0600000101010101" charset="-127"/>
                          </a:rPr>
                          <m:t>pre</m:t>
                        </m:r>
                      </m:e>
                    </m:d>
                  </m:oMath>
                </a14:m>
                <a:r>
                  <a:rPr lang="en-US" altLang="ko-KR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) </a:t>
                </a:r>
                <a:r>
                  <a:rPr lang="en-US" altLang="ko-KR" dirty="0">
                    <a:latin typeface="TDTD강굴림" panose="020B0600000101010101" charset="-127"/>
                    <a:ea typeface="TDTD강굴림" panose="020B0600000101010101" charset="-127"/>
                  </a:rPr>
                  <a:t>is the key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 </a:t>
                </a: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</a:rPr>
                  <a:t>Long-term potentiation (LTP)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</a:rPr>
                  <a:t>     :</a:t>
                </a:r>
                <a:r>
                  <a:rPr lang="el-GR" altLang="ko-KR" sz="2200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de-DE" altLang="ko-KR" sz="2200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Regardless of order,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altLang="ko-KR" sz="22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US" altLang="ko-KR" sz="2200" dirty="0">
                            <a:solidFill>
                              <a:schemeClr val="tx1"/>
                            </a:solidFill>
                            <a:latin typeface="TDTD강굴림" panose="020B0600000101010101" charset="-127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altLang="ko-KR" sz="2200" baseline="-25000" dirty="0">
                            <a:solidFill>
                              <a:schemeClr val="tx1"/>
                            </a:solidFill>
                            <a:latin typeface="TDTD강굴림" panose="020B0600000101010101" charset="-127"/>
                          </a:rPr>
                          <m:t>post</m:t>
                        </m:r>
                        <m:r>
                          <m:rPr>
                            <m:nor/>
                          </m:rPr>
                          <a:rPr lang="en-US" altLang="ko-KR" sz="2200" baseline="-25000" dirty="0">
                            <a:solidFill>
                              <a:schemeClr val="tx1"/>
                            </a:solidFill>
                            <a:latin typeface="TDTD강굴림" panose="020B0600000101010101" charset="-127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ko-KR" sz="2200" baseline="-25000" dirty="0">
                            <a:solidFill>
                              <a:schemeClr val="tx1"/>
                            </a:solidFill>
                            <a:latin typeface="TDTD강굴림" panose="020B0600000101010101" charset="-127"/>
                          </a:rPr>
                          <m:t>pre</m:t>
                        </m:r>
                      </m:e>
                    </m:d>
                    <m:r>
                      <a:rPr lang="en-US" altLang="ko-KR" sz="22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200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≈ </a:t>
                </a:r>
                <a:r>
                  <a:rPr lang="en-US" altLang="ko-KR" sz="2200" b="1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0</a:t>
                </a:r>
                <a:endParaRPr lang="en-US" altLang="ko-KR" sz="2200" b="1" dirty="0"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 </a:t>
                </a: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</a:rPr>
                  <a:t>Long-term depression (LTD)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</a:rPr>
                  <a:t>     :</a:t>
                </a:r>
                <a:r>
                  <a:rPr lang="el-GR" altLang="ko-KR" sz="2200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de-DE" altLang="ko-KR" sz="2200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Regardless of order,</a:t>
                </a:r>
                <a:r>
                  <a:rPr lang="en-US" altLang="ko-KR" sz="2200" dirty="0">
                    <a:latin typeface="TDTD강굴림" panose="020B0600000101010101" charset="-127"/>
                    <a:ea typeface="TDTD강굴림" panose="020B0600000101010101" charset="-127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l-GR" altLang="ko-KR" sz="22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US" altLang="ko-KR" sz="2200" dirty="0">
                            <a:solidFill>
                              <a:schemeClr val="tx1"/>
                            </a:solidFill>
                            <a:latin typeface="TDTD강굴림" panose="020B0600000101010101" charset="-127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altLang="ko-KR" sz="2200" baseline="-25000" dirty="0">
                            <a:solidFill>
                              <a:schemeClr val="tx1"/>
                            </a:solidFill>
                            <a:latin typeface="TDTD강굴림" panose="020B0600000101010101" charset="-127"/>
                          </a:rPr>
                          <m:t>post</m:t>
                        </m:r>
                        <m:r>
                          <m:rPr>
                            <m:nor/>
                          </m:rPr>
                          <a:rPr lang="en-US" altLang="ko-KR" sz="2200" baseline="-25000" dirty="0">
                            <a:solidFill>
                              <a:schemeClr val="tx1"/>
                            </a:solidFill>
                            <a:latin typeface="TDTD강굴림" panose="020B0600000101010101" charset="-127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ko-KR" sz="2200" baseline="-25000" dirty="0">
                            <a:solidFill>
                              <a:schemeClr val="tx1"/>
                            </a:solidFill>
                            <a:latin typeface="TDTD강굴림" panose="020B0600000101010101" charset="-127"/>
                          </a:rPr>
                          <m:t>pre</m:t>
                        </m:r>
                      </m:e>
                    </m:d>
                    <m:r>
                      <a:rPr lang="en-US" altLang="ko-KR" sz="2200" b="1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200" b="1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&gt;</a:t>
                </a:r>
                <a:r>
                  <a:rPr lang="en-US" altLang="ko-KR" sz="2200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200" b="1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0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3C0A05-2FBD-4604-3700-683BB0FA7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00" y="1291112"/>
                <a:ext cx="8153400" cy="6595588"/>
              </a:xfrm>
              <a:prstGeom prst="rect">
                <a:avLst/>
              </a:prstGeom>
              <a:blipFill>
                <a:blip r:embed="rId7"/>
                <a:stretch>
                  <a:fillRect l="-972" b="-9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직사각형 14">
            <a:extLst>
              <a:ext uri="{FF2B5EF4-FFF2-40B4-BE49-F238E27FC236}">
                <a16:creationId xmlns:a16="http://schemas.microsoft.com/office/drawing/2014/main" id="{662D00F2-1C8C-D00A-6034-E518BD109286}"/>
              </a:ext>
            </a:extLst>
          </p:cNvPr>
          <p:cNvSpPr/>
          <p:nvPr/>
        </p:nvSpPr>
        <p:spPr>
          <a:xfrm>
            <a:off x="1393200" y="8267700"/>
            <a:ext cx="15621000" cy="1158619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Q. 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생물학적 관점에서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신호의 순서에 의해 결정되는 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Asymmetric STDP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왜 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Long-term plasticity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간주해야 할까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Ans. 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뇌는 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원인과 결과가 시간적으로 연결되어 있을 때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인과 관계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)”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대한 기억을 영구적으로 저장하려고 하기 때문</a:t>
            </a:r>
            <a:endParaRPr lang="ko-KR" altLang="en-US" sz="2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417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33400" y="373278"/>
            <a:ext cx="17343701" cy="9494622"/>
          </a:xfrm>
          <a:custGeom>
            <a:avLst/>
            <a:gdLst/>
            <a:ahLst/>
            <a:cxnLst/>
            <a:rect l="l" t="t" r="r" b="b"/>
            <a:pathLst>
              <a:path w="4356515" h="2266044">
                <a:moveTo>
                  <a:pt x="10765" y="0"/>
                </a:moveTo>
                <a:lnTo>
                  <a:pt x="4345750" y="0"/>
                </a:lnTo>
                <a:cubicBezTo>
                  <a:pt x="4348605" y="0"/>
                  <a:pt x="4351343" y="1134"/>
                  <a:pt x="4353362" y="3153"/>
                </a:cubicBezTo>
                <a:cubicBezTo>
                  <a:pt x="4355381" y="5172"/>
                  <a:pt x="4356515" y="7910"/>
                  <a:pt x="4356515" y="10765"/>
                </a:cubicBezTo>
                <a:lnTo>
                  <a:pt x="4356515" y="2255279"/>
                </a:lnTo>
                <a:cubicBezTo>
                  <a:pt x="4356515" y="2261224"/>
                  <a:pt x="4351695" y="2266044"/>
                  <a:pt x="4345750" y="2266044"/>
                </a:cubicBezTo>
                <a:lnTo>
                  <a:pt x="10765" y="2266044"/>
                </a:lnTo>
                <a:cubicBezTo>
                  <a:pt x="7910" y="2266044"/>
                  <a:pt x="5172" y="2264910"/>
                  <a:pt x="3153" y="2262891"/>
                </a:cubicBezTo>
                <a:cubicBezTo>
                  <a:pt x="1134" y="2260872"/>
                  <a:pt x="0" y="2258134"/>
                  <a:pt x="0" y="2255279"/>
                </a:cubicBezTo>
                <a:lnTo>
                  <a:pt x="0" y="10765"/>
                </a:lnTo>
                <a:cubicBezTo>
                  <a:pt x="0" y="7910"/>
                  <a:pt x="1134" y="5172"/>
                  <a:pt x="3153" y="3153"/>
                </a:cubicBezTo>
                <a:cubicBezTo>
                  <a:pt x="5172" y="1134"/>
                  <a:pt x="7910" y="0"/>
                  <a:pt x="10765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533400" y="173731"/>
            <a:ext cx="17343701" cy="969416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2362200" y="9410700"/>
            <a:ext cx="150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endParaRPr lang="de-DE" altLang="ko-KR" sz="1200" dirty="0"/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Actual Experiment of STDP</a:t>
            </a:r>
            <a:endParaRPr lang="de-DE" altLang="ko-KR" sz="32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1B46F4-3A36-A23E-0AA5-70240F2D25A8}"/>
              </a:ext>
            </a:extLst>
          </p:cNvPr>
          <p:cNvSpPr/>
          <p:nvPr/>
        </p:nvSpPr>
        <p:spPr>
          <a:xfrm>
            <a:off x="1031217" y="2247900"/>
            <a:ext cx="324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Variable Setup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</a:t>
            </a:r>
            <a:r>
              <a:rPr lang="en-US" altLang="ko-KR" sz="2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DTD강굴림" panose="020B0600000101010101" charset="-127"/>
                <a:cs typeface="Times New Roman" panose="02020603050405020304" pitchFamily="18" charset="0"/>
              </a:rPr>
              <a:t>ƒ</a:t>
            </a:r>
            <a:r>
              <a:rPr lang="en-US" altLang="ko-KR" sz="2000" dirty="0">
                <a:solidFill>
                  <a:schemeClr val="tx1"/>
                </a:solidFill>
                <a:effectLst/>
                <a:latin typeface="TDTD강굴림" panose="020B0600000101010101" charset="-127"/>
                <a:ea typeface="TDTD강굴림" panose="020B0600000101010101" charset="-127"/>
              </a:rPr>
              <a:t>,</a:t>
            </a:r>
            <a:r>
              <a:rPr lang="en-US" altLang="ko-KR" sz="2000" dirty="0">
                <a:solidFill>
                  <a:srgbClr val="FF0000"/>
                </a:solidFill>
                <a:effectLst/>
                <a:latin typeface="TDTD강굴림" panose="020B0600000101010101" charset="-127"/>
                <a:ea typeface="TDTD강굴림" panose="020B0600000101010101" charset="-127"/>
              </a:rPr>
              <a:t> </a:t>
            </a:r>
            <a:r>
              <a:rPr lang="el-GR" altLang="ko-KR" sz="2000" b="1" dirty="0">
                <a:solidFill>
                  <a:srgbClr val="FF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Δ</a:t>
            </a:r>
            <a:r>
              <a:rPr lang="en-US" altLang="ko-KR" sz="2000" dirty="0" err="1">
                <a:solidFill>
                  <a:srgbClr val="FF0000"/>
                </a:solidFill>
                <a:latin typeface="TDTD강굴림" panose="020B0600000101010101" charset="-127"/>
                <a:ea typeface="맑은 고딕" panose="020B0503020000020004" pitchFamily="50" charset="-127"/>
              </a:rPr>
              <a:t>t</a:t>
            </a:r>
            <a:r>
              <a:rPr lang="en-US" altLang="ko-KR" sz="2000" baseline="-25000" dirty="0" err="1">
                <a:solidFill>
                  <a:srgbClr val="FF0000"/>
                </a:solidFill>
                <a:latin typeface="TDTD강굴림" panose="020B0600000101010101" charset="-127"/>
                <a:ea typeface="맑은 고딕" panose="020B0503020000020004" pitchFamily="50" charset="-127"/>
              </a:rPr>
              <a:t>post</a:t>
            </a:r>
            <a:r>
              <a:rPr lang="en-US" altLang="ko-KR" sz="2000" baseline="-25000" dirty="0">
                <a:solidFill>
                  <a:srgbClr val="FF0000"/>
                </a:solidFill>
                <a:latin typeface="TDTD강굴림" panose="020B0600000101010101" charset="-127"/>
                <a:ea typeface="맑은 고딕" panose="020B0503020000020004" pitchFamily="50" charset="-127"/>
              </a:rPr>
              <a:t>-pre</a:t>
            </a:r>
            <a:endParaRPr lang="ko-KR" altLang="en-US" sz="105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19127D5-36CA-84B4-D33F-64780C77CBB7}"/>
              </a:ext>
            </a:extLst>
          </p:cNvPr>
          <p:cNvSpPr/>
          <p:nvPr/>
        </p:nvSpPr>
        <p:spPr>
          <a:xfrm>
            <a:off x="14209798" y="5067301"/>
            <a:ext cx="3240001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PSC Measurement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I</a:t>
            </a:r>
            <a:r>
              <a:rPr lang="en-US" altLang="ko-KR" sz="2000" baseline="-25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DS, final</a:t>
            </a:r>
            <a:endParaRPr lang="ko-KR" altLang="en-US" sz="16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58B182-36DE-21FB-80ED-BD546D00B30C}"/>
              </a:ext>
            </a:extLst>
          </p:cNvPr>
          <p:cNvSpPr/>
          <p:nvPr/>
        </p:nvSpPr>
        <p:spPr>
          <a:xfrm>
            <a:off x="14209800" y="2247900"/>
            <a:ext cx="324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Read Voltage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V</a:t>
            </a:r>
            <a:r>
              <a:rPr lang="en-US" altLang="ko-KR" sz="2000" baseline="-25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DS</a:t>
            </a:r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 + V</a:t>
            </a:r>
            <a:r>
              <a:rPr lang="en-US" altLang="ko-KR" sz="2000" baseline="-25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GS</a:t>
            </a:r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 pulse</a:t>
            </a:r>
            <a:endParaRPr lang="ko-KR" altLang="en-US" sz="16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FA4763C-4B37-57B0-E667-868058E0F9C6}"/>
              </a:ext>
            </a:extLst>
          </p:cNvPr>
          <p:cNvCxnSpPr>
            <a:cxnSpLocks/>
          </p:cNvCxnSpPr>
          <p:nvPr/>
        </p:nvCxnSpPr>
        <p:spPr>
          <a:xfrm>
            <a:off x="4692105" y="3165062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2833F2F-B87C-9B0B-6F86-3B626ED7CE6B}"/>
              </a:ext>
            </a:extLst>
          </p:cNvPr>
          <p:cNvCxnSpPr>
            <a:cxnSpLocks/>
          </p:cNvCxnSpPr>
          <p:nvPr/>
        </p:nvCxnSpPr>
        <p:spPr>
          <a:xfrm>
            <a:off x="13455105" y="3165062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6A6AFC4-0DCE-2205-545A-C85D0E468A03}"/>
              </a:ext>
            </a:extLst>
          </p:cNvPr>
          <p:cNvCxnSpPr>
            <a:cxnSpLocks/>
          </p:cNvCxnSpPr>
          <p:nvPr/>
        </p:nvCxnSpPr>
        <p:spPr>
          <a:xfrm>
            <a:off x="15855535" y="4384262"/>
            <a:ext cx="0" cy="38100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D582D3-E237-5FE1-5747-5E5E927AA254}"/>
              </a:ext>
            </a:extLst>
          </p:cNvPr>
          <p:cNvSpPr/>
          <p:nvPr/>
        </p:nvSpPr>
        <p:spPr>
          <a:xfrm>
            <a:off x="5424078" y="2247900"/>
            <a:ext cx="7628018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Pre</a:t>
            </a:r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synaptic-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Post</a:t>
            </a:r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synaptic Spike Pairing</a:t>
            </a:r>
          </a:p>
          <a:p>
            <a:pPr algn="ctr"/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Light pulse train </a:t>
            </a:r>
            <a:r>
              <a:rPr lang="en-US" altLang="ko-KR" sz="16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(Pre) 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+ V</a:t>
            </a:r>
            <a:r>
              <a:rPr lang="en-US" altLang="ko-KR" sz="2000" baseline="-25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GS</a:t>
            </a:r>
            <a:r>
              <a:rPr lang="en-US" altLang="ko-KR" sz="20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 pulse train </a:t>
            </a:r>
            <a:r>
              <a:rPr lang="en-US" altLang="ko-KR" sz="16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(Post)</a:t>
            </a:r>
            <a:endParaRPr lang="ko-KR" altLang="en-US" sz="20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515E13ED-DAEB-5071-2179-880CB056AB2B}"/>
                  </a:ext>
                </a:extLst>
              </p:cNvPr>
              <p:cNvSpPr/>
              <p:nvPr/>
            </p:nvSpPr>
            <p:spPr>
              <a:xfrm>
                <a:off x="5421292" y="5067302"/>
                <a:ext cx="7628018" cy="1800000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400" dirty="0">
                    <a:solidFill>
                      <a:schemeClr val="tx1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Asymmetric, Symmetric LTP or LTD</a:t>
                </a:r>
              </a:p>
              <a:p>
                <a:pPr algn="ctr"/>
                <a:endParaRPr lang="en-US" altLang="ko-KR" sz="18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altLang="ko-KR" sz="20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Δω</m:t>
                      </m:r>
                      <m:r>
                        <m:rPr>
                          <m:nor/>
                        </m:rPr>
                        <a:rPr lang="en-US" altLang="ko-KR" sz="2000" b="1" i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ko-KR" sz="20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𝑫𝑺</m:t>
                                  </m:r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𝒇𝒊𝒏𝒂𝒍</m:t>
                                  </m:r>
                                </m:sub>
                              </m:sSub>
                              <m:r>
                                <a:rPr lang="en-US" altLang="ko-KR" sz="2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𝑫𝑺</m:t>
                                  </m:r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sz="20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𝒊𝒏𝒊𝒕𝒊𝒂𝒍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ko-KR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𝑫𝑺</m:t>
                              </m:r>
                              <m:r>
                                <a:rPr lang="en-US" altLang="ko-KR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ko-KR" sz="20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𝒊𝒏𝒊𝒕𝒊𝒂𝒍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sz="1400" dirty="0">
                  <a:solidFill>
                    <a:schemeClr val="tx1"/>
                  </a:solidFill>
                  <a:latin typeface="TDTD강굴림" panose="020B0600000101010101" charset="-127"/>
                  <a:ea typeface="TDTD강굴림" panose="020B0600000101010101" charset="-127"/>
                </a:endParaRPr>
              </a:p>
            </p:txBody>
          </p:sp>
        </mc:Choice>
        <mc:Fallback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515E13ED-DAEB-5071-2179-880CB056AB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292" y="5067302"/>
                <a:ext cx="7628018" cy="180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1750">
                <a:solidFill>
                  <a:schemeClr val="tx1"/>
                </a:solidFill>
                <a:prstDash val="sysDash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888B741-3DE9-B834-05B7-FD0C9596F0E1}"/>
              </a:ext>
            </a:extLst>
          </p:cNvPr>
          <p:cNvCxnSpPr>
            <a:cxnSpLocks/>
          </p:cNvCxnSpPr>
          <p:nvPr/>
        </p:nvCxnSpPr>
        <p:spPr>
          <a:xfrm flipH="1">
            <a:off x="4692105" y="5984464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EF31284-92F5-02F8-D9ED-C93466473A70}"/>
              </a:ext>
            </a:extLst>
          </p:cNvPr>
          <p:cNvSpPr/>
          <p:nvPr/>
        </p:nvSpPr>
        <p:spPr>
          <a:xfrm>
            <a:off x="1030488" y="5067301"/>
            <a:ext cx="324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Reset</a:t>
            </a:r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 Voltage</a:t>
            </a:r>
            <a:endParaRPr lang="en-US" altLang="ko-KR" sz="2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endParaRPr lang="en-US" altLang="ko-KR" sz="24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  <a:p>
            <a:pPr algn="ctr"/>
            <a:r>
              <a:rPr lang="en-US" altLang="ko-KR" sz="2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Ex) High +V</a:t>
            </a:r>
            <a:r>
              <a:rPr lang="en-US" altLang="ko-KR" sz="2000" baseline="-250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GS</a:t>
            </a:r>
            <a:endParaRPr lang="ko-KR" altLang="en-US" sz="16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D3D0450D-F716-0F71-F3B8-BDDC490ACC36}"/>
              </a:ext>
            </a:extLst>
          </p:cNvPr>
          <p:cNvCxnSpPr>
            <a:cxnSpLocks/>
          </p:cNvCxnSpPr>
          <p:nvPr/>
        </p:nvCxnSpPr>
        <p:spPr>
          <a:xfrm flipH="1">
            <a:off x="13455105" y="6013785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B1CA572-5F6E-2EB5-C59A-9C51E36DE9CA}"/>
              </a:ext>
            </a:extLst>
          </p:cNvPr>
          <p:cNvSpPr txBox="1"/>
          <p:nvPr/>
        </p:nvSpPr>
        <p:spPr>
          <a:xfrm>
            <a:off x="990600" y="7410604"/>
            <a:ext cx="16535401" cy="1238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Δ</a:t>
            </a:r>
            <a:r>
              <a:rPr lang="en-US" altLang="ko-KR" sz="2400" dirty="0" err="1">
                <a:latin typeface="TDTD강굴림" panose="020B0600000101010101" charset="-127"/>
                <a:ea typeface="맑은 고딕" panose="020B0503020000020004" pitchFamily="50" charset="-127"/>
              </a:rPr>
              <a:t>t</a:t>
            </a:r>
            <a:r>
              <a:rPr lang="en-US" altLang="ko-KR" sz="2400" baseline="-25000" dirty="0" err="1">
                <a:latin typeface="TDTD강굴림" panose="020B0600000101010101" charset="-127"/>
                <a:ea typeface="맑은 고딕" panose="020B0503020000020004" pitchFamily="50" charset="-127"/>
              </a:rPr>
              <a:t>post</a:t>
            </a:r>
            <a:r>
              <a:rPr lang="en-US" altLang="ko-KR" sz="2400" baseline="-25000" dirty="0">
                <a:latin typeface="TDTD강굴림" panose="020B0600000101010101" charset="-127"/>
                <a:ea typeface="맑은 고딕" panose="020B0503020000020004" pitchFamily="50" charset="-127"/>
              </a:rPr>
              <a:t>-pre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 represents only the x‑axis, while the y‑axis (</a:t>
            </a:r>
            <a:r>
              <a:rPr lang="el-GR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Δ</a:t>
            </a:r>
            <a:r>
              <a:rPr lang="el-GR" altLang="ko-KR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ω</a:t>
            </a:r>
            <a:r>
              <a:rPr lang="en-US" altLang="ko-KR" sz="2400" dirty="0"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) becomes STDP only when the pulse shape, amplitude, or device parameters are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  <a:sym typeface="Wingdings" panose="05000000000000000000" pitchFamily="2" charset="2"/>
              </a:rPr>
              <a:t>continuously tuned until the device responds as intended</a:t>
            </a:r>
            <a:endParaRPr lang="en-US" altLang="ko-KR" sz="24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426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33400" y="373278"/>
            <a:ext cx="17343701" cy="9494622"/>
          </a:xfrm>
          <a:custGeom>
            <a:avLst/>
            <a:gdLst/>
            <a:ahLst/>
            <a:cxnLst/>
            <a:rect l="l" t="t" r="r" b="b"/>
            <a:pathLst>
              <a:path w="4356515" h="2266044">
                <a:moveTo>
                  <a:pt x="10765" y="0"/>
                </a:moveTo>
                <a:lnTo>
                  <a:pt x="4345750" y="0"/>
                </a:lnTo>
                <a:cubicBezTo>
                  <a:pt x="4348605" y="0"/>
                  <a:pt x="4351343" y="1134"/>
                  <a:pt x="4353362" y="3153"/>
                </a:cubicBezTo>
                <a:cubicBezTo>
                  <a:pt x="4355381" y="5172"/>
                  <a:pt x="4356515" y="7910"/>
                  <a:pt x="4356515" y="10765"/>
                </a:cubicBezTo>
                <a:lnTo>
                  <a:pt x="4356515" y="2255279"/>
                </a:lnTo>
                <a:cubicBezTo>
                  <a:pt x="4356515" y="2261224"/>
                  <a:pt x="4351695" y="2266044"/>
                  <a:pt x="4345750" y="2266044"/>
                </a:cubicBezTo>
                <a:lnTo>
                  <a:pt x="10765" y="2266044"/>
                </a:lnTo>
                <a:cubicBezTo>
                  <a:pt x="7910" y="2266044"/>
                  <a:pt x="5172" y="2264910"/>
                  <a:pt x="3153" y="2262891"/>
                </a:cubicBezTo>
                <a:cubicBezTo>
                  <a:pt x="1134" y="2260872"/>
                  <a:pt x="0" y="2258134"/>
                  <a:pt x="0" y="2255279"/>
                </a:cubicBezTo>
                <a:lnTo>
                  <a:pt x="0" y="10765"/>
                </a:lnTo>
                <a:cubicBezTo>
                  <a:pt x="0" y="7910"/>
                  <a:pt x="1134" y="5172"/>
                  <a:pt x="3153" y="3153"/>
                </a:cubicBezTo>
                <a:cubicBezTo>
                  <a:pt x="5172" y="1134"/>
                  <a:pt x="7910" y="0"/>
                  <a:pt x="10765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533400" y="173731"/>
            <a:ext cx="17343701" cy="969416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7620000" y="9221569"/>
            <a:ext cx="982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Campbell, Kristy A., Kolton T. Drake, and Elisa H. Barney Smith. "Pulse shape and timing dependence on the spike-timing dependent plasticity response of ion-conducting memristors as synapses." </a:t>
            </a:r>
            <a:r>
              <a:rPr lang="en-US" altLang="ko-KR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Frontiers in bioengineering and biotechnology</a:t>
            </a:r>
            <a:r>
              <a:rPr lang="en-US" altLang="ko-K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4 (2016): 97.</a:t>
            </a:r>
            <a:endParaRPr lang="de-DE" altLang="ko-KR" sz="1200" dirty="0"/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Anti-Hebbian Phenomenon in Experiments </a:t>
            </a:r>
            <a:endParaRPr lang="de-DE" altLang="ko-KR" sz="32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985C7-4438-9BFE-58CD-71D87DA2B1E3}"/>
              </a:ext>
            </a:extLst>
          </p:cNvPr>
          <p:cNvSpPr txBox="1"/>
          <p:nvPr/>
        </p:nvSpPr>
        <p:spPr>
          <a:xfrm>
            <a:off x="838200" y="4000500"/>
            <a:ext cx="11734800" cy="58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Δ</a:t>
            </a:r>
            <a:r>
              <a:rPr lang="en-US" altLang="ko-KR" sz="2400" dirty="0" err="1">
                <a:latin typeface="TDTD강굴림" panose="020B0600000101010101" charset="-127"/>
                <a:ea typeface="맑은 고딕" panose="020B0503020000020004" pitchFamily="50" charset="-127"/>
              </a:rPr>
              <a:t>t</a:t>
            </a:r>
            <a:r>
              <a:rPr lang="en-US" altLang="ko-KR" sz="2400" baseline="-25000" dirty="0" err="1">
                <a:latin typeface="TDTD강굴림" panose="020B0600000101010101" charset="-127"/>
                <a:ea typeface="맑은 고딕" panose="020B0503020000020004" pitchFamily="50" charset="-127"/>
              </a:rPr>
              <a:t>post</a:t>
            </a:r>
            <a:r>
              <a:rPr lang="en-US" altLang="ko-KR" sz="2400" baseline="-25000" dirty="0">
                <a:latin typeface="TDTD강굴림" panose="020B0600000101010101" charset="-127"/>
                <a:ea typeface="맑은 고딕" panose="020B0503020000020004" pitchFamily="50" charset="-127"/>
              </a:rPr>
              <a:t>-pre</a:t>
            </a:r>
            <a:r>
              <a:rPr lang="en-US" altLang="ko-KR" sz="2400" dirty="0">
                <a:latin typeface="TDTD강굴림" panose="020B0600000101010101" charset="-127"/>
                <a:ea typeface="맑은 고딕" panose="020B0503020000020004" pitchFamily="50" charset="-127"/>
              </a:rPr>
              <a:t> 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&lt; 0</a:t>
            </a:r>
            <a:endParaRPr lang="en-US" altLang="ko-KR" sz="24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B4982DA-B011-0B91-C6AF-976EA9D9DF86}"/>
              </a:ext>
            </a:extLst>
          </p:cNvPr>
          <p:cNvSpPr/>
          <p:nvPr/>
        </p:nvSpPr>
        <p:spPr>
          <a:xfrm>
            <a:off x="4865841" y="4770451"/>
            <a:ext cx="288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PPC generation by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pre</a:t>
            </a:r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-spike</a:t>
            </a:r>
            <a:endParaRPr lang="ko-KR" altLang="en-US" sz="24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246C407-6AB5-3AB7-B6DD-45406B07B3C1}"/>
              </a:ext>
            </a:extLst>
          </p:cNvPr>
          <p:cNvSpPr/>
          <p:nvPr/>
        </p:nvSpPr>
        <p:spPr>
          <a:xfrm>
            <a:off x="1108866" y="4770451"/>
            <a:ext cx="288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Reset </a:t>
            </a:r>
          </a:p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by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post</a:t>
            </a:r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-spike</a:t>
            </a:r>
            <a:endParaRPr lang="ko-KR" altLang="en-US" sz="1600" baseline="-25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B595ABC-CBD1-CF9E-6EEC-FDE5F453143C}"/>
              </a:ext>
            </a:extLst>
          </p:cNvPr>
          <p:cNvSpPr/>
          <p:nvPr/>
        </p:nvSpPr>
        <p:spPr>
          <a:xfrm>
            <a:off x="8676000" y="4770451"/>
            <a:ext cx="252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Conductance increase</a:t>
            </a:r>
            <a:endParaRPr lang="ko-KR" altLang="en-US" sz="16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1EB91F7-4AED-6BF4-60F2-FAEC3332684A}"/>
              </a:ext>
            </a:extLst>
          </p:cNvPr>
          <p:cNvCxnSpPr>
            <a:cxnSpLocks/>
          </p:cNvCxnSpPr>
          <p:nvPr/>
        </p:nvCxnSpPr>
        <p:spPr>
          <a:xfrm>
            <a:off x="4261800" y="5687613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5138C9A4-6328-C5EE-385C-FF36335982B7}"/>
              </a:ext>
            </a:extLst>
          </p:cNvPr>
          <p:cNvCxnSpPr>
            <a:cxnSpLocks/>
          </p:cNvCxnSpPr>
          <p:nvPr/>
        </p:nvCxnSpPr>
        <p:spPr>
          <a:xfrm>
            <a:off x="8071800" y="5687613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3E89B5-966D-BB00-C5D2-2B3D044EC4F2}"/>
              </a:ext>
            </a:extLst>
          </p:cNvPr>
          <p:cNvSpPr/>
          <p:nvPr/>
        </p:nvSpPr>
        <p:spPr>
          <a:xfrm>
            <a:off x="12139200" y="4770451"/>
            <a:ext cx="180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LTP</a:t>
            </a:r>
            <a:endParaRPr lang="ko-KR" altLang="en-US" sz="16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CD6AD381-B30B-2C46-AE70-D3C15588E519}"/>
              </a:ext>
            </a:extLst>
          </p:cNvPr>
          <p:cNvCxnSpPr>
            <a:cxnSpLocks/>
          </p:cNvCxnSpPr>
          <p:nvPr/>
        </p:nvCxnSpPr>
        <p:spPr>
          <a:xfrm>
            <a:off x="11500800" y="5687613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F6CABA0-7AB8-24EB-4461-079F75B922EB}"/>
              </a:ext>
            </a:extLst>
          </p:cNvPr>
          <p:cNvSpPr txBox="1"/>
          <p:nvPr/>
        </p:nvSpPr>
        <p:spPr>
          <a:xfrm>
            <a:off x="838200" y="1257300"/>
            <a:ext cx="12496800" cy="58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Δ</a:t>
            </a:r>
            <a:r>
              <a:rPr lang="en-US" altLang="ko-KR" sz="2400" dirty="0" err="1">
                <a:latin typeface="TDTD강굴림" panose="020B0600000101010101" charset="-127"/>
                <a:ea typeface="맑은 고딕" panose="020B0503020000020004" pitchFamily="50" charset="-127"/>
              </a:rPr>
              <a:t>t</a:t>
            </a:r>
            <a:r>
              <a:rPr lang="en-US" altLang="ko-KR" sz="2400" baseline="-25000" dirty="0" err="1">
                <a:latin typeface="TDTD강굴림" panose="020B0600000101010101" charset="-127"/>
                <a:ea typeface="맑은 고딕" panose="020B0503020000020004" pitchFamily="50" charset="-127"/>
              </a:rPr>
              <a:t>post</a:t>
            </a:r>
            <a:r>
              <a:rPr lang="en-US" altLang="ko-KR" sz="2400" baseline="-25000" dirty="0">
                <a:latin typeface="TDTD강굴림" panose="020B0600000101010101" charset="-127"/>
                <a:ea typeface="맑은 고딕" panose="020B0503020000020004" pitchFamily="50" charset="-127"/>
              </a:rPr>
              <a:t>-pre</a:t>
            </a:r>
            <a:r>
              <a:rPr lang="en-US" altLang="ko-KR" sz="2400" dirty="0">
                <a:latin typeface="TDTD강굴림" panose="020B0600000101010101" charset="-127"/>
                <a:ea typeface="맑은 고딕" panose="020B0503020000020004" pitchFamily="50" charset="-127"/>
              </a:rPr>
              <a:t> </a:t>
            </a:r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&gt; 0</a:t>
            </a:r>
            <a:endParaRPr lang="en-US" altLang="ko-KR" sz="24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2E11D04-2A2B-6625-112B-70F7BDECE962}"/>
              </a:ext>
            </a:extLst>
          </p:cNvPr>
          <p:cNvSpPr/>
          <p:nvPr/>
        </p:nvSpPr>
        <p:spPr>
          <a:xfrm>
            <a:off x="4876800" y="1998451"/>
            <a:ext cx="288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PPC suppression</a:t>
            </a:r>
          </a:p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by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post</a:t>
            </a:r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-spike</a:t>
            </a:r>
            <a:endParaRPr lang="ko-KR" altLang="en-US" sz="1600" baseline="-250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F3746AE-7560-2128-380C-D32D614A954F}"/>
              </a:ext>
            </a:extLst>
          </p:cNvPr>
          <p:cNvSpPr/>
          <p:nvPr/>
        </p:nvSpPr>
        <p:spPr>
          <a:xfrm>
            <a:off x="1114266" y="1998451"/>
            <a:ext cx="288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PPC generation by </a:t>
            </a:r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pre</a:t>
            </a:r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-spike</a:t>
            </a:r>
            <a:endParaRPr lang="ko-KR" altLang="en-US" sz="24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9BEA898-D4F4-FC3D-56AC-D010ED0A6332}"/>
              </a:ext>
            </a:extLst>
          </p:cNvPr>
          <p:cNvSpPr/>
          <p:nvPr/>
        </p:nvSpPr>
        <p:spPr>
          <a:xfrm>
            <a:off x="8681400" y="1998451"/>
            <a:ext cx="252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DTD강굴림" panose="020B0600000101010101" charset="-127"/>
                <a:ea typeface="TDTD강굴림" panose="020B0600000101010101" charset="-127"/>
              </a:rPr>
              <a:t>Conductance reduction</a:t>
            </a:r>
            <a:endParaRPr lang="ko-KR" altLang="en-US" sz="1600" dirty="0">
              <a:solidFill>
                <a:schemeClr val="tx1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2B98B8F-9453-4A42-EF4C-7F3034F1FB14}"/>
              </a:ext>
            </a:extLst>
          </p:cNvPr>
          <p:cNvCxnSpPr>
            <a:cxnSpLocks/>
          </p:cNvCxnSpPr>
          <p:nvPr/>
        </p:nvCxnSpPr>
        <p:spPr>
          <a:xfrm>
            <a:off x="4267200" y="2915613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224CA07E-E6A6-3DBA-3FF0-34E61FB56792}"/>
              </a:ext>
            </a:extLst>
          </p:cNvPr>
          <p:cNvCxnSpPr>
            <a:cxnSpLocks/>
          </p:cNvCxnSpPr>
          <p:nvPr/>
        </p:nvCxnSpPr>
        <p:spPr>
          <a:xfrm>
            <a:off x="8077200" y="2915613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1259F87-3BD3-1A74-8B40-639B14AFB853}"/>
              </a:ext>
            </a:extLst>
          </p:cNvPr>
          <p:cNvSpPr/>
          <p:nvPr/>
        </p:nvSpPr>
        <p:spPr>
          <a:xfrm>
            <a:off x="12144600" y="1998451"/>
            <a:ext cx="180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LTD</a:t>
            </a:r>
            <a:endParaRPr lang="ko-KR" altLang="en-US" sz="16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A258027-0845-7767-622B-7A0F2B32A5C6}"/>
              </a:ext>
            </a:extLst>
          </p:cNvPr>
          <p:cNvCxnSpPr>
            <a:cxnSpLocks/>
          </p:cNvCxnSpPr>
          <p:nvPr/>
        </p:nvCxnSpPr>
        <p:spPr>
          <a:xfrm>
            <a:off x="11506200" y="2915613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85B50D3-DCEB-E192-AECA-E7035844167A}"/>
              </a:ext>
            </a:extLst>
          </p:cNvPr>
          <p:cNvSpPr/>
          <p:nvPr/>
        </p:nvSpPr>
        <p:spPr>
          <a:xfrm>
            <a:off x="14853600" y="4770451"/>
            <a:ext cx="252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Anti-Hebbian</a:t>
            </a:r>
            <a:endParaRPr lang="ko-KR" altLang="en-US" sz="16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cxnSp>
        <p:nvCxnSpPr>
          <p:cNvPr id="1027" name="직선 화살표 연결선 1026">
            <a:extLst>
              <a:ext uri="{FF2B5EF4-FFF2-40B4-BE49-F238E27FC236}">
                <a16:creationId xmlns:a16="http://schemas.microsoft.com/office/drawing/2014/main" id="{317659DC-24DD-1FE5-49F0-1F904112E53D}"/>
              </a:ext>
            </a:extLst>
          </p:cNvPr>
          <p:cNvCxnSpPr>
            <a:cxnSpLocks/>
          </p:cNvCxnSpPr>
          <p:nvPr/>
        </p:nvCxnSpPr>
        <p:spPr>
          <a:xfrm>
            <a:off x="14244000" y="5687613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직사각형 1038">
            <a:extLst>
              <a:ext uri="{FF2B5EF4-FFF2-40B4-BE49-F238E27FC236}">
                <a16:creationId xmlns:a16="http://schemas.microsoft.com/office/drawing/2014/main" id="{866BED18-1A7C-FA86-987D-473F8DE49AFE}"/>
              </a:ext>
            </a:extLst>
          </p:cNvPr>
          <p:cNvSpPr/>
          <p:nvPr/>
        </p:nvSpPr>
        <p:spPr>
          <a:xfrm>
            <a:off x="14853600" y="1998451"/>
            <a:ext cx="2520000" cy="1800000"/>
          </a:xfrm>
          <a:prstGeom prst="rect">
            <a:avLst/>
          </a:prstGeom>
          <a:noFill/>
          <a:ln w="317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rgbClr val="FF0000"/>
                </a:solidFill>
                <a:latin typeface="TDTD강굴림" panose="020B0600000101010101" charset="-127"/>
                <a:ea typeface="TDTD강굴림" panose="020B0600000101010101" charset="-127"/>
              </a:rPr>
              <a:t>Anti-Hebbian</a:t>
            </a:r>
            <a:endParaRPr lang="ko-KR" altLang="en-US" sz="1600" dirty="0">
              <a:solidFill>
                <a:srgbClr val="FF0000"/>
              </a:solidFill>
              <a:latin typeface="TDTD강굴림" panose="020B0600000101010101" charset="-127"/>
              <a:ea typeface="TDTD강굴림" panose="020B0600000101010101" charset="-127"/>
            </a:endParaRPr>
          </a:p>
        </p:txBody>
      </p:sp>
      <p:cxnSp>
        <p:nvCxnSpPr>
          <p:cNvPr id="1040" name="직선 화살표 연결선 1039">
            <a:extLst>
              <a:ext uri="{FF2B5EF4-FFF2-40B4-BE49-F238E27FC236}">
                <a16:creationId xmlns:a16="http://schemas.microsoft.com/office/drawing/2014/main" id="{14418391-6C74-2E48-85C0-10358770E3E7}"/>
              </a:ext>
            </a:extLst>
          </p:cNvPr>
          <p:cNvCxnSpPr>
            <a:cxnSpLocks/>
          </p:cNvCxnSpPr>
          <p:nvPr/>
        </p:nvCxnSpPr>
        <p:spPr>
          <a:xfrm>
            <a:off x="14244000" y="2915613"/>
            <a:ext cx="381000" cy="0"/>
          </a:xfrm>
          <a:prstGeom prst="straightConnector1">
            <a:avLst/>
          </a:prstGeom>
          <a:ln w="857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1" name="직사각형 1040">
            <a:extLst>
              <a:ext uri="{FF2B5EF4-FFF2-40B4-BE49-F238E27FC236}">
                <a16:creationId xmlns:a16="http://schemas.microsoft.com/office/drawing/2014/main" id="{9DBCF38E-EB25-E6CF-AB2C-0018828148CC}"/>
              </a:ext>
            </a:extLst>
          </p:cNvPr>
          <p:cNvSpPr/>
          <p:nvPr/>
        </p:nvSpPr>
        <p:spPr>
          <a:xfrm>
            <a:off x="1393200" y="7048500"/>
            <a:ext cx="15621000" cy="2081116"/>
          </a:xfrm>
          <a:prstGeom prst="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Q. 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Anti-Hebbian </a:t>
            </a:r>
            <a:r>
              <a:rPr lang="ko-KR" altLang="en-US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현상으로 인해 시냅스 가중치가 의도대로 형성되지 않는 문제를 극복하는 방법은 무엇이 있을까</a:t>
            </a:r>
            <a:r>
              <a:rPr lang="en-US" altLang="ko-KR" sz="2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Ans. 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Pulse shaping: + V</a:t>
            </a:r>
            <a:r>
              <a:rPr lang="en-US" altLang="ko-KR" sz="2000" baseline="-25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GS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2000" dirty="0" err="1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사각파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대신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양전압과 음전압이 섞인 </a:t>
            </a:r>
            <a:r>
              <a:rPr lang="ko-KR" altLang="en-US" sz="2000" dirty="0" err="1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사인파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or 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삼각파 사용</a:t>
            </a:r>
            <a:endParaRPr lang="en-US" altLang="ko-KR" sz="2000" dirty="0">
              <a:solidFill>
                <a:srgbClr val="C00000"/>
              </a:solidFill>
              <a:latin typeface="Noto Sans KR" panose="020B0200000000000000" pitchFamily="50" charset="-127"/>
              <a:ea typeface="Noto Sans KR" panose="020B0200000000000000" pitchFamily="50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                                         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ex)</a:t>
            </a:r>
            <a:r>
              <a:rPr lang="en-US" altLang="ko-KR" sz="2000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l-GR" altLang="ko-K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ko-KR" sz="2000" dirty="0" err="1">
                <a:solidFill>
                  <a:srgbClr val="C00000"/>
                </a:solidFill>
                <a:latin typeface="TDTD강굴림" panose="020B0600000101010101" charset="-127"/>
              </a:rPr>
              <a:t>t</a:t>
            </a:r>
            <a:r>
              <a:rPr lang="en-US" altLang="ko-KR" sz="2000" baseline="-25000" dirty="0" err="1">
                <a:solidFill>
                  <a:srgbClr val="C00000"/>
                </a:solidFill>
                <a:latin typeface="TDTD강굴림" panose="020B0600000101010101" charset="-127"/>
              </a:rPr>
              <a:t>post</a:t>
            </a:r>
            <a:r>
              <a:rPr lang="en-US" altLang="ko-KR" sz="2000" baseline="-25000" dirty="0">
                <a:solidFill>
                  <a:srgbClr val="C00000"/>
                </a:solidFill>
                <a:latin typeface="TDTD강굴림" panose="020B0600000101010101" charset="-127"/>
              </a:rPr>
              <a:t>-pre</a:t>
            </a:r>
            <a:r>
              <a:rPr lang="en-US" altLang="ko-KR" sz="2000" dirty="0">
                <a:solidFill>
                  <a:srgbClr val="C00000"/>
                </a:solidFill>
                <a:latin typeface="TDTD강굴림" panose="020B0600000101010101" charset="-127"/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0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: 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빛이 들어올 때 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Post Spike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의 앞부분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2000" dirty="0" err="1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음전압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or 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낮은 전압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)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과 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Pairing  Hebbian Rule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                                         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ex)</a:t>
            </a:r>
            <a:r>
              <a:rPr lang="en-US" altLang="ko-KR" sz="2000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l-GR" altLang="ko-K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ko-KR" sz="2000" dirty="0" err="1">
                <a:solidFill>
                  <a:srgbClr val="C00000"/>
                </a:solidFill>
                <a:latin typeface="TDTD강굴림" panose="020B0600000101010101" charset="-127"/>
              </a:rPr>
              <a:t>t</a:t>
            </a:r>
            <a:r>
              <a:rPr lang="en-US" altLang="ko-KR" sz="2000" baseline="-25000" dirty="0" err="1">
                <a:solidFill>
                  <a:srgbClr val="C00000"/>
                </a:solidFill>
                <a:latin typeface="TDTD강굴림" panose="020B0600000101010101" charset="-127"/>
              </a:rPr>
              <a:t>post</a:t>
            </a:r>
            <a:r>
              <a:rPr lang="en-US" altLang="ko-KR" sz="2000" baseline="-25000" dirty="0">
                <a:solidFill>
                  <a:srgbClr val="C00000"/>
                </a:solidFill>
                <a:latin typeface="TDTD강굴림" panose="020B0600000101010101" charset="-127"/>
              </a:rPr>
              <a:t>-pre</a:t>
            </a:r>
            <a:r>
              <a:rPr lang="en-US" altLang="ko-KR" sz="2000" dirty="0">
                <a:solidFill>
                  <a:srgbClr val="C00000"/>
                </a:solidFill>
                <a:latin typeface="TDTD강굴림" panose="020B0600000101010101" charset="-127"/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0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: 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빛이 들어올 때 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Post Spike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의 뒷부분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높은 </a:t>
            </a:r>
            <a:r>
              <a:rPr lang="ko-KR" altLang="en-US" sz="2000" dirty="0" err="1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양전압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)</a:t>
            </a:r>
            <a:r>
              <a:rPr lang="ko-KR" altLang="en-US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과 </a:t>
            </a:r>
            <a:r>
              <a:rPr lang="en-US" altLang="ko-KR" sz="200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Pairing  Hebbian Rule</a:t>
            </a:r>
            <a:endParaRPr lang="ko-KR" altLang="en-US" sz="17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848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449478"/>
            <a:ext cx="17343700" cy="9494622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ahLst/>
              <a:cxn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33400" y="373278"/>
            <a:ext cx="17343701" cy="9494622"/>
          </a:xfrm>
          <a:custGeom>
            <a:avLst/>
            <a:gdLst/>
            <a:ahLst/>
            <a:cxnLst/>
            <a:rect l="l" t="t" r="r" b="b"/>
            <a:pathLst>
              <a:path w="4356515" h="2266044">
                <a:moveTo>
                  <a:pt x="10765" y="0"/>
                </a:moveTo>
                <a:lnTo>
                  <a:pt x="4345750" y="0"/>
                </a:lnTo>
                <a:cubicBezTo>
                  <a:pt x="4348605" y="0"/>
                  <a:pt x="4351343" y="1134"/>
                  <a:pt x="4353362" y="3153"/>
                </a:cubicBezTo>
                <a:cubicBezTo>
                  <a:pt x="4355381" y="5172"/>
                  <a:pt x="4356515" y="7910"/>
                  <a:pt x="4356515" y="10765"/>
                </a:cubicBezTo>
                <a:lnTo>
                  <a:pt x="4356515" y="2255279"/>
                </a:lnTo>
                <a:cubicBezTo>
                  <a:pt x="4356515" y="2261224"/>
                  <a:pt x="4351695" y="2266044"/>
                  <a:pt x="4345750" y="2266044"/>
                </a:cubicBezTo>
                <a:lnTo>
                  <a:pt x="10765" y="2266044"/>
                </a:lnTo>
                <a:cubicBezTo>
                  <a:pt x="7910" y="2266044"/>
                  <a:pt x="5172" y="2264910"/>
                  <a:pt x="3153" y="2262891"/>
                </a:cubicBezTo>
                <a:cubicBezTo>
                  <a:pt x="1134" y="2260872"/>
                  <a:pt x="0" y="2258134"/>
                  <a:pt x="0" y="2255279"/>
                </a:cubicBezTo>
                <a:lnTo>
                  <a:pt x="0" y="10765"/>
                </a:lnTo>
                <a:cubicBezTo>
                  <a:pt x="0" y="7910"/>
                  <a:pt x="1134" y="5172"/>
                  <a:pt x="3153" y="3153"/>
                </a:cubicBezTo>
                <a:cubicBezTo>
                  <a:pt x="5172" y="1134"/>
                  <a:pt x="7910" y="0"/>
                  <a:pt x="10765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533400" y="173731"/>
            <a:ext cx="17343701" cy="969416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33400" y="1104900"/>
            <a:ext cx="173437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Freeform 10"/>
          <p:cNvSpPr/>
          <p:nvPr/>
        </p:nvSpPr>
        <p:spPr>
          <a:xfrm>
            <a:off x="814605" y="647700"/>
            <a:ext cx="556995" cy="139249"/>
          </a:xfrm>
          <a:custGeom>
            <a:avLst/>
            <a:gdLst/>
            <a:ahLst/>
            <a:cxn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26" name="Picture 2" descr="[Tổng hợp] 15 Trường đại học quốc gia Hàn Quốc tốt nhất - Zila Education">
            <a:extLst>
              <a:ext uri="{FF2B5EF4-FFF2-40B4-BE49-F238E27FC236}">
                <a16:creationId xmlns:a16="http://schemas.microsoft.com/office/drawing/2014/main" id="{8A091E40-6F3B-4CEE-9805-C7BD7CB37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3400" y="419100"/>
            <a:ext cx="1963736" cy="6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C76D02-54AE-4EAA-E6B1-707E8374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7861C-B2D0-8536-815E-3F8B3788868A}"/>
              </a:ext>
            </a:extLst>
          </p:cNvPr>
          <p:cNvSpPr txBox="1"/>
          <p:nvPr/>
        </p:nvSpPr>
        <p:spPr>
          <a:xfrm>
            <a:off x="2362200" y="9410700"/>
            <a:ext cx="1508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endParaRPr lang="de-DE" altLang="ko-KR" sz="1200" dirty="0"/>
          </a:p>
          <a:p>
            <a:pPr marL="0" marR="0" indent="0" algn="r" fontAlgn="base" latinLnBrk="1">
              <a:spcBef>
                <a:spcPts val="0"/>
              </a:spcBef>
              <a:spcAft>
                <a:spcPts val="0"/>
              </a:spcAft>
            </a:pPr>
            <a:r>
              <a:rPr lang="de-DE" altLang="ko-KR" sz="1200" dirty="0"/>
              <a:t>ACS Appl. Electron. Mater. 2022, 4, 1427−1448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461EC-4C6F-61D1-E80E-144C1AC11045}"/>
              </a:ext>
            </a:extLst>
          </p:cNvPr>
          <p:cNvSpPr txBox="1"/>
          <p:nvPr/>
        </p:nvSpPr>
        <p:spPr>
          <a:xfrm>
            <a:off x="1524000" y="443925"/>
            <a:ext cx="1203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TDTD강굴림" panose="020B0600000101010101" charset="-127"/>
                <a:ea typeface="TDTD강굴림" panose="020B0600000101010101" charset="-127"/>
              </a:rPr>
              <a:t>Performance Indicators of an Artificial Synapse</a:t>
            </a:r>
            <a:endParaRPr lang="de-DE" altLang="ko-KR" sz="3200" dirty="0">
              <a:latin typeface="TDTD강굴림" panose="020B0600000101010101" charset="-127"/>
              <a:ea typeface="TDTD강굴림" panose="020B0600000101010101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17F018F-E188-1114-0A99-ECF6453B8D40}"/>
                  </a:ext>
                </a:extLst>
              </p:cNvPr>
              <p:cNvSpPr txBox="1"/>
              <p:nvPr/>
            </p:nvSpPr>
            <p:spPr>
              <a:xfrm>
                <a:off x="1172899" y="1375064"/>
                <a:ext cx="16276901" cy="8111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800" dirty="0">
                    <a:latin typeface="TDTD강굴림" panose="020B0600000101010101" charset="-127"/>
                    <a:ea typeface="TDTD강굴림" panose="020B0600000101010101" charset="-127"/>
                  </a:rPr>
                  <a:t>Linearity</a:t>
                </a:r>
              </a:p>
              <a:p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     Ideal case) When 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</a:rPr>
                  <a:t>x=</a:t>
                </a:r>
                <a:r>
                  <a:rPr lang="en-US" altLang="ko-KR" sz="2400" b="1" dirty="0">
                    <a:effectLst/>
                    <a:latin typeface="Times New Roman" panose="02020603050405020304" pitchFamily="18" charset="0"/>
                    <a:ea typeface="TDTD강굴림" panose="020B0600000101010101" charset="-127"/>
                    <a:cs typeface="Times New Roman" panose="02020603050405020304" pitchFamily="18" charset="0"/>
                  </a:rPr>
                  <a:t>ƒ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</a:rPr>
                  <a:t> and y=</a:t>
                </a:r>
                <a:r>
                  <a:rPr lang="el-GR" altLang="ko-KR" sz="2400" b="1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ω</a:t>
                </a:r>
                <a:r>
                  <a:rPr lang="en-US" altLang="ko-KR" sz="2000" b="1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200" b="1" i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G</m:t>
                    </m:r>
                  </m:oMath>
                </a14:m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sz="2000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the relationship is </a:t>
                </a:r>
                <a:r>
                  <a:rPr lang="en-US" altLang="ko-KR" sz="20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y=</a:t>
                </a:r>
                <a:r>
                  <a:rPr lang="en-US" altLang="ko-KR" sz="2000" dirty="0" err="1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ax+b</a:t>
                </a:r>
                <a:r>
                  <a:rPr lang="en-US" altLang="ko-KR" sz="20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 </a:t>
                </a:r>
              </a:p>
              <a:p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     Experiment)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</a:rPr>
                  <a:t> Nonlinear conductance induced by trapping or PPC effects</a:t>
                </a:r>
              </a:p>
              <a:p>
                <a:endParaRPr lang="en-US" altLang="ko-KR" sz="1100" dirty="0"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endParaRPr lang="en-US" altLang="ko-KR" sz="2000" dirty="0"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800" dirty="0">
                    <a:latin typeface="TDTD강굴림" panose="020B0600000101010101" charset="-127"/>
                    <a:ea typeface="TDTD강굴림" panose="020B0600000101010101" charset="-127"/>
                  </a:rPr>
                  <a:t>Symmetry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: Different mechanisms of PPC‑driven LTP and recombination‑induced LTD hinder achieving</a:t>
                </a:r>
                <a:r>
                  <a:rPr lang="en-US" altLang="ko-KR" sz="2400" b="1" dirty="0">
                    <a:latin typeface="Times New Roman" panose="02020603050405020304" pitchFamily="18" charset="0"/>
                    <a:ea typeface="TDTD강굴림" panose="020B0600000101010101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 ‘</a:t>
                </a:r>
                <a:r>
                  <a:rPr lang="el-GR" altLang="ko-KR" sz="22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ω</a:t>
                </a:r>
                <a:r>
                  <a:rPr lang="en-US" altLang="ko-KR" sz="20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  <a:cs typeface="Times New Roman" panose="02020603050405020304" pitchFamily="18" charset="0"/>
                  </a:rPr>
                  <a:t>-symmetry</a:t>
                </a:r>
                <a:r>
                  <a:rPr lang="en-US" altLang="ko-KR" sz="2400" b="1" dirty="0">
                    <a:latin typeface="Times New Roman" panose="02020603050405020304" pitchFamily="18" charset="0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’</a:t>
                </a:r>
                <a:endParaRPr lang="en-US" altLang="ko-KR" sz="2000" dirty="0">
                  <a:latin typeface="TDTD강굴림" panose="020B0600000101010101" charset="-127"/>
                  <a:ea typeface="TDTD강굴림" panose="020B0600000101010101" charset="-127"/>
                  <a:cs typeface="Times New Roman" panose="02020603050405020304" pitchFamily="18" charset="0"/>
                </a:endParaRPr>
              </a:p>
              <a:p>
                <a:endParaRPr lang="en-US" altLang="ko-KR" sz="1100" dirty="0">
                  <a:latin typeface="TDTD강굴림" panose="020B0600000101010101" charset="-127"/>
                  <a:ea typeface="TDTD강굴림" panose="020B0600000101010101" charset="-127"/>
                  <a:cs typeface="Times New Roman" panose="02020603050405020304" pitchFamily="18" charset="0"/>
                </a:endParaRPr>
              </a:p>
              <a:p>
                <a:endParaRPr lang="en-US" altLang="ko-KR" sz="2000" dirty="0">
                  <a:latin typeface="TDTD강굴림" panose="020B0600000101010101" charset="-127"/>
                  <a:ea typeface="TDTD강굴림" panose="020B0600000101010101" charset="-127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800" dirty="0">
                    <a:latin typeface="TDTD강굴림" panose="020B0600000101010101" charset="-127"/>
                    <a:ea typeface="TDTD강굴림" panose="020B0600000101010101" charset="-127"/>
                  </a:rPr>
                  <a:t>Dynamic Range </a:t>
                </a:r>
                <a:r>
                  <a:rPr lang="en-US" altLang="ko-KR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DTD강굴림" panose="020B0600000101010101" charset="-127"/>
                    <a:cs typeface="Times New Roman" panose="02020603050405020304" pitchFamily="18" charset="0"/>
                  </a:rPr>
                  <a:t>=</a:t>
                </a:r>
                <a:r>
                  <a:rPr lang="en-US" altLang="ko-KR" sz="24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DTD강굴림" panose="020B0600000101010101" charset="-127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TDTD강굴림" panose="020B0600000101010101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TDTD강굴림" panose="020B0600000101010101" charset="-127"/>
                              </a:rPr>
                              <m:t>𝑮</m:t>
                            </m:r>
                          </m:e>
                          <m:sub>
                            <m:r>
                              <a:rPr lang="en-US" altLang="ko-KR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TDTD강굴림" panose="020B0600000101010101" charset="-127"/>
                              </a:rPr>
                              <m:t>𝒎𝒂𝒙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TDTD강굴림" panose="020B0600000101010101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TDTD강굴림" panose="020B0600000101010101" charset="-127"/>
                              </a:rPr>
                              <m:t>𝑮</m:t>
                            </m:r>
                          </m:e>
                          <m:sub>
                            <m:r>
                              <a:rPr lang="en-US" altLang="ko-KR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TDTD강굴림" panose="020B0600000101010101" charset="-127"/>
                              </a:rPr>
                              <m:t>𝒎𝒊𝒏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24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 </a:t>
                </a:r>
                <a:r>
                  <a:rPr lang="en-US" altLang="ko-KR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TDTD강굴림" panose="020B0600000101010101" charset="-127"/>
                    <a:cs typeface="Times New Roman" panose="02020603050405020304" pitchFamily="18" charset="0"/>
                  </a:rPr>
                  <a:t>=</a:t>
                </a:r>
                <a:r>
                  <a:rPr lang="en-US" altLang="ko-KR" sz="24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DTD강굴림" panose="020B0600000101010101" charset="-127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TDTD강굴림" panose="020B0600000101010101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TDTD강굴림" panose="020B0600000101010101" charset="-127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TDTD강굴림" panose="020B0600000101010101" charset="-127"/>
                              </a:rPr>
                              <m:t>𝒎𝒂𝒙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TDTD강굴림" panose="020B0600000101010101" charset="-127"/>
                              </a:rPr>
                            </m:ctrlPr>
                          </m:sSubPr>
                          <m:e>
                            <m:r>
                              <a:rPr lang="en-US" altLang="ko-KR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TDTD강굴림" panose="020B0600000101010101" charset="-127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ko-KR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TDTD강굴림" panose="020B0600000101010101" charset="-127"/>
                              </a:rPr>
                              <m:t>𝒎𝒊𝒏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 </a:t>
                </a:r>
              </a:p>
              <a:p>
                <a:endParaRPr lang="en-US" altLang="ko-KR" sz="1100" dirty="0"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endParaRPr lang="en-US" altLang="ko-KR" sz="2000" dirty="0"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800" dirty="0">
                    <a:latin typeface="TDTD강굴림" panose="020B0600000101010101" charset="-127"/>
                    <a:ea typeface="TDTD강굴림" panose="020B0600000101010101" charset="-127"/>
                  </a:rPr>
                  <a:t>Number of Conductance States </a:t>
                </a:r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</a:rPr>
                  <a:t>(</a:t>
                </a:r>
                <a:r>
                  <a:rPr lang="en-US" altLang="ko-KR" sz="14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</a:t>
                </a:r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 </a:t>
                </a:r>
                <a:r>
                  <a:rPr lang="en-US" altLang="ko-KR" sz="16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Multilevel Operation</a:t>
                </a:r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)</a:t>
                </a:r>
                <a:endParaRPr lang="en-US" altLang="ko-KR" sz="1200" dirty="0">
                  <a:latin typeface="TDTD강굴림" panose="020B0600000101010101" charset="-127"/>
                  <a:ea typeface="TDTD강굴림" panose="020B0600000101010101" charset="-127"/>
                  <a:sym typeface="Wingdings" panose="05000000000000000000" pitchFamily="2" charset="2"/>
                </a:endParaRPr>
              </a:p>
              <a:p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     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</a:rPr>
                  <a:t>Ideal case) An infinite number of </a:t>
                </a:r>
                <a:r>
                  <a:rPr lang="en-US" altLang="ko-KR" sz="20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conductance states exist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DTD강굴림" panose="020B0600000101010101" charset="-127"/>
                          </a:rPr>
                        </m:ctrlPr>
                      </m:sSubPr>
                      <m:e>
                        <m:r>
                          <a:rPr lang="en-US" altLang="ko-KR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DTD강굴림" panose="020B0600000101010101" charset="-127"/>
                          </a:rPr>
                          <m:t>𝑮</m:t>
                        </m:r>
                      </m:e>
                      <m:sub>
                        <m:r>
                          <a:rPr lang="en-US" altLang="ko-KR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DTD강굴림" panose="020B0600000101010101" charset="-127"/>
                          </a:rPr>
                          <m:t>𝒎𝒂𝒙</m:t>
                        </m:r>
                      </m:sub>
                    </m:sSub>
                    <m:r>
                      <a:rPr lang="en-US" altLang="ko-KR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TDTD강굴림" panose="020B0600000101010101" charset="-127"/>
                      </a:rPr>
                      <m:t> </m:t>
                    </m:r>
                  </m:oMath>
                </a14:m>
                <a:r>
                  <a:rPr lang="en-US" altLang="ko-KR" sz="20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DTD강굴림" panose="020B0600000101010101" charset="-127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DTD강굴림" panose="020B0600000101010101" charset="-127"/>
                          </a:rPr>
                          <m:t>𝑮</m:t>
                        </m:r>
                      </m:e>
                      <m:sub>
                        <m:r>
                          <a:rPr lang="en-US" altLang="ko-KR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DTD강굴림" panose="020B0600000101010101" charset="-127"/>
                          </a:rPr>
                          <m:t>𝒎</m:t>
                        </m:r>
                        <m:r>
                          <a:rPr lang="en-US" altLang="ko-KR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TDTD강굴림" panose="020B0600000101010101" charset="-127"/>
                          </a:rPr>
                          <m:t>𝒊𝒏</m:t>
                        </m:r>
                      </m:sub>
                    </m:sSub>
                  </m:oMath>
                </a14:m>
                <a:endParaRPr lang="en-US" altLang="ko-KR" sz="2000" dirty="0">
                  <a:solidFill>
                    <a:srgbClr val="FF0000"/>
                  </a:solidFill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      Experiment)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</a:rPr>
                  <a:t> 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Noise and instability prevent an infinite number of reliably distinguishable conductance states</a:t>
                </a:r>
              </a:p>
              <a:p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                               </a:t>
                </a:r>
                <a:r>
                  <a:rPr lang="en-US" altLang="ko-KR" sz="1600" dirty="0">
                    <a:latin typeface="TDTD강굴림" panose="020B0600000101010101" charset="-127"/>
                    <a:ea typeface="TDTD강굴림" panose="020B0600000101010101" charset="-127"/>
                    <a:sym typeface="Wingdings" panose="05000000000000000000" pitchFamily="2" charset="2"/>
                  </a:rPr>
                  <a:t>Ex) Typically 32–~64 levels (5~–6 bits) suffice for deep learning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100" dirty="0"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dirty="0"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800" dirty="0">
                    <a:latin typeface="TDTD강굴림" panose="020B0600000101010101" charset="-127"/>
                    <a:ea typeface="TDTD강굴림" panose="020B0600000101010101" charset="-127"/>
                  </a:rPr>
                  <a:t>Stability &amp; Reproducibility</a:t>
                </a:r>
              </a:p>
              <a:p>
                <a:r>
                  <a:rPr lang="en-US" altLang="ko-KR" sz="2800" dirty="0">
                    <a:latin typeface="TDTD강굴림" panose="020B0600000101010101" charset="-127"/>
                    <a:ea typeface="TDTD강굴림" panose="020B0600000101010101" charset="-127"/>
                  </a:rPr>
                  <a:t>    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</a:rPr>
                  <a:t>: Whether the </a:t>
                </a:r>
                <a:r>
                  <a:rPr lang="en-US" altLang="ko-KR" sz="20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weights are retained during the retention period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</a:rPr>
                  <a:t>, and whether the device </a:t>
                </a:r>
                <a:r>
                  <a:rPr lang="en-US" altLang="ko-KR" sz="2000" dirty="0">
                    <a:solidFill>
                      <a:srgbClr val="FF0000"/>
                    </a:solidFill>
                    <a:latin typeface="TDTD강굴림" panose="020B0600000101010101" charset="-127"/>
                    <a:ea typeface="TDTD강굴림" panose="020B0600000101010101" charset="-127"/>
                  </a:rPr>
                  <a:t>continues to output the same values</a:t>
                </a:r>
              </a:p>
              <a:p>
                <a:endParaRPr lang="en-US" altLang="ko-KR" sz="1100" dirty="0"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endParaRPr lang="en-US" altLang="ko-KR" sz="2400" dirty="0">
                  <a:latin typeface="TDTD강굴림" panose="020B0600000101010101" charset="-127"/>
                  <a:ea typeface="TDTD강굴림" panose="020B0600000101010101" charset="-127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800" dirty="0">
                    <a:latin typeface="TDTD강굴림" panose="020B0600000101010101" charset="-127"/>
                    <a:ea typeface="TDTD강굴림" panose="020B0600000101010101" charset="-127"/>
                  </a:rPr>
                  <a:t>Easy processability &amp; Uniformity</a:t>
                </a:r>
              </a:p>
              <a:p>
                <a:r>
                  <a:rPr lang="en-US" altLang="ko-KR" sz="2400" dirty="0">
                    <a:latin typeface="TDTD강굴림" panose="020B0600000101010101" charset="-127"/>
                    <a:ea typeface="TDTD강굴림" panose="020B0600000101010101" charset="-127"/>
                  </a:rPr>
                  <a:t>   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</a:rPr>
                  <a:t> </a:t>
                </a:r>
                <a:r>
                  <a:rPr lang="en-US" altLang="ko-KR" dirty="0">
                    <a:latin typeface="TDTD강굴림" panose="020B0600000101010101" charset="-127"/>
                    <a:ea typeface="TDTD강굴림" panose="020B0600000101010101" charset="-127"/>
                  </a:rPr>
                  <a:t> </a:t>
                </a:r>
                <a:r>
                  <a:rPr lang="de-DE" altLang="ko-KR" sz="2000" dirty="0">
                    <a:latin typeface="TDTD강굴림" panose="020B0600000101010101" charset="-127"/>
                    <a:ea typeface="TDTD강굴림" panose="020B0600000101010101" charset="-127"/>
                  </a:rPr>
                  <a:t>Ex</a:t>
                </a:r>
                <a:r>
                  <a:rPr lang="en-US" altLang="ko-KR" sz="2000" dirty="0">
                    <a:latin typeface="TDTD강굴림" panose="020B0600000101010101" charset="-127"/>
                    <a:ea typeface="TDTD강굴림" panose="020B0600000101010101" charset="-127"/>
                  </a:rPr>
                  <a:t>) Large‑area arrays fabricated with low‑cost, low‑temperature processes</a:t>
                </a:r>
                <a:endParaRPr lang="en-US" altLang="ko-KR" sz="2200" dirty="0">
                  <a:latin typeface="TDTD강굴림" panose="020B0600000101010101" charset="-127"/>
                  <a:ea typeface="TDTD강굴림" panose="020B0600000101010101" charset="-127"/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17F018F-E188-1114-0A99-ECF6453B8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899" y="1375064"/>
                <a:ext cx="16276901" cy="8111836"/>
              </a:xfrm>
              <a:prstGeom prst="rect">
                <a:avLst/>
              </a:prstGeom>
              <a:blipFill>
                <a:blip r:embed="rId6"/>
                <a:stretch>
                  <a:fillRect l="-674" t="-9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06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7615</TotalTime>
  <Words>2099</Words>
  <Application>Microsoft Office PowerPoint</Application>
  <PresentationFormat>사용자 지정</PresentationFormat>
  <Paragraphs>372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Wingdings</vt:lpstr>
      <vt:lpstr>Noto Sans KR</vt:lpstr>
      <vt:lpstr>Times New Roman</vt:lpstr>
      <vt:lpstr>Cambria Math</vt:lpstr>
      <vt:lpstr>Arial</vt:lpstr>
      <vt:lpstr>함초롬바탕</vt:lpstr>
      <vt:lpstr>Calibri</vt:lpstr>
      <vt:lpstr>TDTD강굴림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검정색 흰색 심플한 일러스트 마케팅 과제 발표 프레젠테이션</dc:title>
  <dc:creator>USER</dc:creator>
  <cp:lastModifiedBy>Minsu Choi</cp:lastModifiedBy>
  <cp:revision>2736</cp:revision>
  <dcterms:created xsi:type="dcterms:W3CDTF">2006-08-16T00:00:00Z</dcterms:created>
  <dcterms:modified xsi:type="dcterms:W3CDTF">2026-01-03T08:43:49Z</dcterms:modified>
  <dc:identifier>DAGZXtFwl3k</dc:identifier>
</cp:coreProperties>
</file>