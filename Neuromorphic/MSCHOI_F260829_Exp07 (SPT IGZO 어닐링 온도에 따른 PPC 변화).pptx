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352" r:id="rId2"/>
    <p:sldId id="367" r:id="rId3"/>
    <p:sldId id="368" r:id="rId4"/>
    <p:sldId id="422" r:id="rId5"/>
    <p:sldId id="380" r:id="rId6"/>
    <p:sldId id="480" r:id="rId7"/>
    <p:sldId id="481" r:id="rId8"/>
    <p:sldId id="482" r:id="rId9"/>
    <p:sldId id="483" r:id="rId10"/>
    <p:sldId id="484" r:id="rId11"/>
    <p:sldId id="470" r:id="rId12"/>
    <p:sldId id="471" r:id="rId13"/>
    <p:sldId id="473" r:id="rId14"/>
    <p:sldId id="478" r:id="rId15"/>
    <p:sldId id="493" r:id="rId16"/>
    <p:sldId id="417" r:id="rId17"/>
    <p:sldId id="479" r:id="rId18"/>
  </p:sldIdLst>
  <p:sldSz cx="18288000" cy="10287000"/>
  <p:notesSz cx="6797675" cy="9926638"/>
  <p:embeddedFontLst>
    <p:embeddedFont>
      <p:font typeface="TDTD강굴림" panose="020B0600000101010101" charset="-127"/>
      <p:regular r:id="rId21"/>
    </p:embeddedFont>
    <p:embeddedFont>
      <p:font typeface="Cambria Math" panose="02040503050406030204" pitchFamily="18" charset="0"/>
      <p:regular r:id="rId22"/>
    </p:embeddedFont>
    <p:embeddedFont>
      <p:font typeface="맑은 고딕" panose="020B0503020000020004" pitchFamily="50" charset="-127"/>
      <p:regular r:id="rId23"/>
      <p:bold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nSu Choi" initials="MC" lastIdx="1" clrIdx="0">
    <p:extLst>
      <p:ext uri="{19B8F6BF-5375-455C-9EA6-DF929625EA0E}">
        <p15:presenceInfo xmlns:p15="http://schemas.microsoft.com/office/powerpoint/2012/main" userId="f9bc62763eeef2f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4D8B"/>
    <a:srgbClr val="5E79AC"/>
    <a:srgbClr val="FFFF99"/>
    <a:srgbClr val="FFFFFF"/>
    <a:srgbClr val="E46C0A"/>
    <a:srgbClr val="254061"/>
    <a:srgbClr val="517BAD"/>
    <a:srgbClr val="AB4845"/>
    <a:srgbClr val="FFC000"/>
    <a:srgbClr val="3D5E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09" autoAdjust="0"/>
    <p:restoredTop sz="94358" autoAdjust="0"/>
  </p:normalViewPr>
  <p:slideViewPr>
    <p:cSldViewPr>
      <p:cViewPr varScale="1">
        <p:scale>
          <a:sx n="70" d="100"/>
          <a:sy n="70" d="100"/>
        </p:scale>
        <p:origin x="112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58AE9D06-24EE-391D-6892-EA516A89ECA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06A589B-C093-D8CB-3571-7F728794C38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E3A9E3-2605-47BD-86D0-ED87F09E58B9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CF598F0-25C5-7EE1-00F9-A354552DE41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179E7A6-6205-511C-B773-58BEA4A8FA0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8A2AD7-A13F-457B-AA13-E5583C405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30715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BDD372-FF62-40DB-9473-14708D75350A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14312E-9689-48C5-AE4F-AEEE6FEA23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792090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6763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78185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45766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20683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71000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85598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5620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01536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06648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00557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39315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62962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10334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5975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38F89-6B61-4DE7-AAB1-EC011206E844}" type="datetime1">
              <a:rPr lang="en-US" altLang="ko-KR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AE304-63A9-4A62-92FD-FF38AE02D9F4}" type="datetime1">
              <a:rPr lang="en-US" altLang="ko-KR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ADBE3-363C-4CE7-BAFA-3B2ADE911C8E}" type="datetime1">
              <a:rPr lang="en-US" altLang="ko-KR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71E4-421E-4E89-B32B-5A801D9C5F78}" type="datetime1">
              <a:rPr lang="en-US" altLang="ko-KR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ED736-7DF6-4ED6-8A6F-60159BB0FAD0}" type="datetime1">
              <a:rPr lang="en-US" altLang="ko-KR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9F1E3-2B56-4B8E-925A-59A8BB2F8CE0}" type="datetime1">
              <a:rPr lang="en-US" altLang="ko-KR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A997-1171-4E6F-B46F-1DA7294F1830}" type="datetime1">
              <a:rPr lang="en-US" altLang="ko-KR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5697200" y="9426575"/>
            <a:ext cx="2133600" cy="365125"/>
          </a:xfrm>
        </p:spPr>
        <p:txBody>
          <a:bodyPr/>
          <a:lstStyle>
            <a:lvl1pPr>
              <a:defRPr sz="2200" b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CA3C5-23E8-4CB7-A85C-B079FAC731C3}" type="datetime1">
              <a:rPr lang="en-US" altLang="ko-KR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2AF07-FBA4-4E77-8229-E2BD088F3A72}" type="datetime1">
              <a:rPr lang="en-US" altLang="ko-KR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C6C5A-7F47-4C9B-A846-937670938BF3}" type="datetime1">
              <a:rPr lang="en-US" altLang="ko-KR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슬라이드 번호 개체 틀 19">
            <a:extLst>
              <a:ext uri="{FF2B5EF4-FFF2-40B4-BE49-F238E27FC236}">
                <a16:creationId xmlns:a16="http://schemas.microsoft.com/office/drawing/2014/main" id="{DF8B8609-0980-2458-3645-8CADA02B3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>
            <a:lvl1pPr>
              <a:defRPr sz="2400" b="0">
                <a:solidFill>
                  <a:srgbClr val="0C3D6E"/>
                </a:solidFill>
                <a:latin typeface="TDTD강굴림" panose="020B0600000101010101" charset="-127"/>
                <a:ea typeface="TDTD강굴림" panose="020B0600000101010101" charset="-127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346A451-AE6D-F5F4-B56F-9860DB351F2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6" t="11667" r="6666" b="10000"/>
          <a:stretch/>
        </p:blipFill>
        <p:spPr>
          <a:xfrm>
            <a:off x="16154399" y="152400"/>
            <a:ext cx="1981201" cy="1790700"/>
          </a:xfrm>
          <a:prstGeom prst="rect">
            <a:avLst/>
          </a:prstGeom>
        </p:spPr>
      </p:pic>
      <p:sp>
        <p:nvSpPr>
          <p:cNvPr id="20" name="그래픽 10">
            <a:extLst>
              <a:ext uri="{FF2B5EF4-FFF2-40B4-BE49-F238E27FC236}">
                <a16:creationId xmlns:a16="http://schemas.microsoft.com/office/drawing/2014/main" id="{73545BBE-5D1D-B9C9-5FDE-6E659BBF8EB6}"/>
              </a:ext>
            </a:extLst>
          </p:cNvPr>
          <p:cNvSpPr/>
          <p:nvPr userDrawn="1"/>
        </p:nvSpPr>
        <p:spPr>
          <a:xfrm rot="10800000">
            <a:off x="800100" y="4838700"/>
            <a:ext cx="16687800" cy="108000"/>
          </a:xfrm>
          <a:custGeom>
            <a:avLst/>
            <a:gdLst>
              <a:gd name="connsiteX0" fmla="*/ 0 w 12272260"/>
              <a:gd name="connsiteY0" fmla="*/ 0 h 6434320"/>
              <a:gd name="connsiteX1" fmla="*/ 12272261 w 12272260"/>
              <a:gd name="connsiteY1" fmla="*/ 0 h 6434320"/>
              <a:gd name="connsiteX2" fmla="*/ 12272261 w 12272260"/>
              <a:gd name="connsiteY2" fmla="*/ 6434321 h 6434320"/>
              <a:gd name="connsiteX3" fmla="*/ 0 w 12272260"/>
              <a:gd name="connsiteY3" fmla="*/ 6434321 h 6434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72260" h="6434320">
                <a:moveTo>
                  <a:pt x="0" y="0"/>
                </a:moveTo>
                <a:lnTo>
                  <a:pt x="12272261" y="0"/>
                </a:lnTo>
                <a:lnTo>
                  <a:pt x="12272261" y="6434321"/>
                </a:lnTo>
                <a:lnTo>
                  <a:pt x="0" y="6434321"/>
                </a:lnTo>
                <a:close/>
              </a:path>
            </a:pathLst>
          </a:custGeom>
          <a:gradFill>
            <a:gsLst>
              <a:gs pos="0">
                <a:srgbClr val="768CBC"/>
              </a:gs>
              <a:gs pos="50000">
                <a:srgbClr val="3E6098"/>
              </a:gs>
              <a:gs pos="100000">
                <a:srgbClr val="354E87"/>
              </a:gs>
            </a:gsLst>
            <a:lin ang="2700000" scaled="1"/>
          </a:gradFill>
          <a:ln w="23813" cap="flat">
            <a:noFill/>
            <a:prstDash val="solid"/>
            <a:miter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ko-KR" altLang="en-US" sz="135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래픽 10">
            <a:extLst>
              <a:ext uri="{FF2B5EF4-FFF2-40B4-BE49-F238E27FC236}">
                <a16:creationId xmlns:a16="http://schemas.microsoft.com/office/drawing/2014/main" id="{284B9595-ABEF-CFE6-B88E-5CC91FD893D7}"/>
              </a:ext>
            </a:extLst>
          </p:cNvPr>
          <p:cNvSpPr/>
          <p:nvPr userDrawn="1"/>
        </p:nvSpPr>
        <p:spPr>
          <a:xfrm rot="10800000">
            <a:off x="0" y="1257301"/>
            <a:ext cx="18288000" cy="108001"/>
          </a:xfrm>
          <a:custGeom>
            <a:avLst/>
            <a:gdLst>
              <a:gd name="connsiteX0" fmla="*/ 0 w 12272260"/>
              <a:gd name="connsiteY0" fmla="*/ 0 h 6434320"/>
              <a:gd name="connsiteX1" fmla="*/ 12272261 w 12272260"/>
              <a:gd name="connsiteY1" fmla="*/ 0 h 6434320"/>
              <a:gd name="connsiteX2" fmla="*/ 12272261 w 12272260"/>
              <a:gd name="connsiteY2" fmla="*/ 6434321 h 6434320"/>
              <a:gd name="connsiteX3" fmla="*/ 0 w 12272260"/>
              <a:gd name="connsiteY3" fmla="*/ 6434321 h 6434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72260" h="6434320">
                <a:moveTo>
                  <a:pt x="0" y="0"/>
                </a:moveTo>
                <a:lnTo>
                  <a:pt x="12272261" y="0"/>
                </a:lnTo>
                <a:lnTo>
                  <a:pt x="12272261" y="6434321"/>
                </a:lnTo>
                <a:lnTo>
                  <a:pt x="0" y="6434321"/>
                </a:lnTo>
                <a:close/>
              </a:path>
            </a:pathLst>
          </a:custGeom>
          <a:gradFill>
            <a:gsLst>
              <a:gs pos="0">
                <a:srgbClr val="768CBC"/>
              </a:gs>
              <a:gs pos="50000">
                <a:srgbClr val="3E6098"/>
              </a:gs>
              <a:gs pos="100000">
                <a:srgbClr val="354E87"/>
              </a:gs>
            </a:gsLst>
            <a:lin ang="2700000" scaled="1"/>
          </a:gradFill>
          <a:ln w="23813" cap="flat">
            <a:noFill/>
            <a:prstDash val="solid"/>
            <a:miter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ko-KR" altLang="en-US" sz="1350"/>
          </a:p>
        </p:txBody>
      </p:sp>
      <p:sp>
        <p:nvSpPr>
          <p:cNvPr id="5" name="슬라이드 번호 개체 틀 19">
            <a:extLst>
              <a:ext uri="{FF2B5EF4-FFF2-40B4-BE49-F238E27FC236}">
                <a16:creationId xmlns:a16="http://schemas.microsoft.com/office/drawing/2014/main" id="{C2405C96-0007-448F-AEF2-514BF4045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>
            <a:lvl1pPr>
              <a:defRPr sz="2400" b="0">
                <a:solidFill>
                  <a:srgbClr val="0C3D6E"/>
                </a:solidFill>
                <a:latin typeface="TDTD강굴림" panose="020B0600000101010101" charset="-127"/>
                <a:ea typeface="TDTD강굴림" panose="020B0600000101010101" charset="-127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4803AD-3E7B-B2BA-CF5C-8902DA03B66C}"/>
              </a:ext>
            </a:extLst>
          </p:cNvPr>
          <p:cNvSpPr txBox="1"/>
          <p:nvPr userDrawn="1"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5502705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그래픽 10">
            <a:extLst>
              <a:ext uri="{FF2B5EF4-FFF2-40B4-BE49-F238E27FC236}">
                <a16:creationId xmlns:a16="http://schemas.microsoft.com/office/drawing/2014/main" id="{73545BBE-5D1D-B9C9-5FDE-6E659BBF8EB6}"/>
              </a:ext>
            </a:extLst>
          </p:cNvPr>
          <p:cNvSpPr/>
          <p:nvPr userDrawn="1"/>
        </p:nvSpPr>
        <p:spPr>
          <a:xfrm rot="10800000">
            <a:off x="0" y="1257301"/>
            <a:ext cx="18288000" cy="108001"/>
          </a:xfrm>
          <a:custGeom>
            <a:avLst/>
            <a:gdLst>
              <a:gd name="connsiteX0" fmla="*/ 0 w 12272260"/>
              <a:gd name="connsiteY0" fmla="*/ 0 h 6434320"/>
              <a:gd name="connsiteX1" fmla="*/ 12272261 w 12272260"/>
              <a:gd name="connsiteY1" fmla="*/ 0 h 6434320"/>
              <a:gd name="connsiteX2" fmla="*/ 12272261 w 12272260"/>
              <a:gd name="connsiteY2" fmla="*/ 6434321 h 6434320"/>
              <a:gd name="connsiteX3" fmla="*/ 0 w 12272260"/>
              <a:gd name="connsiteY3" fmla="*/ 6434321 h 6434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72260" h="6434320">
                <a:moveTo>
                  <a:pt x="0" y="0"/>
                </a:moveTo>
                <a:lnTo>
                  <a:pt x="12272261" y="0"/>
                </a:lnTo>
                <a:lnTo>
                  <a:pt x="12272261" y="6434321"/>
                </a:lnTo>
                <a:lnTo>
                  <a:pt x="0" y="6434321"/>
                </a:lnTo>
                <a:close/>
              </a:path>
            </a:pathLst>
          </a:custGeom>
          <a:gradFill>
            <a:gsLst>
              <a:gs pos="0">
                <a:srgbClr val="768CBC"/>
              </a:gs>
              <a:gs pos="50000">
                <a:srgbClr val="3E6098"/>
              </a:gs>
              <a:gs pos="100000">
                <a:srgbClr val="354E87"/>
              </a:gs>
            </a:gsLst>
            <a:lin ang="2700000" scaled="1"/>
          </a:gradFill>
          <a:ln w="23813" cap="flat">
            <a:noFill/>
            <a:prstDash val="solid"/>
            <a:miter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ko-KR" altLang="en-US" sz="1350"/>
          </a:p>
        </p:txBody>
      </p:sp>
      <p:sp>
        <p:nvSpPr>
          <p:cNvPr id="3" name="슬라이드 번호 개체 틀 19">
            <a:extLst>
              <a:ext uri="{FF2B5EF4-FFF2-40B4-BE49-F238E27FC236}">
                <a16:creationId xmlns:a16="http://schemas.microsoft.com/office/drawing/2014/main" id="{D8499AC7-0D0F-669C-ECF4-13A5B31C9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>
            <a:lvl1pPr>
              <a:defRPr sz="2400" b="0">
                <a:solidFill>
                  <a:srgbClr val="0C3D6E"/>
                </a:solidFill>
                <a:latin typeface="TDTD강굴림" panose="020B0600000101010101" charset="-127"/>
                <a:ea typeface="TDTD강굴림" panose="020B0600000101010101" charset="-127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644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4ABA05-BA52-4C3D-A965-8D10C4A52616}" type="datetime1">
              <a:rPr lang="en-US" altLang="ko-KR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0" r:id="rId13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emf"/><Relationship Id="rId4" Type="http://schemas.openxmlformats.org/officeDocument/2006/relationships/image" Target="../media/image2.emf"/><Relationship Id="rId9" Type="http://schemas.openxmlformats.org/officeDocument/2006/relationships/oleObject" Target="../embeddings/oleObject4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6.bin"/><Relationship Id="rId10" Type="http://schemas.openxmlformats.org/officeDocument/2006/relationships/image" Target="../media/image9.emf"/><Relationship Id="rId4" Type="http://schemas.openxmlformats.org/officeDocument/2006/relationships/image" Target="../media/image6.emf"/><Relationship Id="rId9" Type="http://schemas.openxmlformats.org/officeDocument/2006/relationships/oleObject" Target="../embeddings/oleObject8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13.emf"/><Relationship Id="rId4" Type="http://schemas.openxmlformats.org/officeDocument/2006/relationships/image" Target="../media/image10.emf"/><Relationship Id="rId9" Type="http://schemas.openxmlformats.org/officeDocument/2006/relationships/oleObject" Target="../embeddings/oleObject12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emf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17.emf"/><Relationship Id="rId4" Type="http://schemas.openxmlformats.org/officeDocument/2006/relationships/image" Target="../media/image14.emf"/><Relationship Id="rId9" Type="http://schemas.openxmlformats.org/officeDocument/2006/relationships/oleObject" Target="../embeddings/oleObject16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20.emf"/><Relationship Id="rId4" Type="http://schemas.openxmlformats.org/officeDocument/2006/relationships/image" Target="../media/image18.emf"/><Relationship Id="rId9" Type="http://schemas.openxmlformats.org/officeDocument/2006/relationships/oleObject" Target="../embeddings/oleObject20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2.emf"/><Relationship Id="rId5" Type="http://schemas.openxmlformats.org/officeDocument/2006/relationships/oleObject" Target="../embeddings/oleObject22.bin"/><Relationship Id="rId10" Type="http://schemas.openxmlformats.org/officeDocument/2006/relationships/image" Target="../media/image24.emf"/><Relationship Id="rId4" Type="http://schemas.openxmlformats.org/officeDocument/2006/relationships/image" Target="../media/image21.emf"/><Relationship Id="rId9" Type="http://schemas.openxmlformats.org/officeDocument/2006/relationships/oleObject" Target="../embeddings/oleObject24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6.e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25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9.e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28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7" Type="http://schemas.openxmlformats.org/officeDocument/2006/relationships/oleObject" Target="../embeddings/oleObject32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1.emf"/><Relationship Id="rId11" Type="http://schemas.openxmlformats.org/officeDocument/2006/relationships/image" Target="../media/image34.png"/><Relationship Id="rId5" Type="http://schemas.openxmlformats.org/officeDocument/2006/relationships/oleObject" Target="../embeddings/oleObject31.bin"/><Relationship Id="rId10" Type="http://schemas.openxmlformats.org/officeDocument/2006/relationships/image" Target="../media/image33.emf"/><Relationship Id="rId4" Type="http://schemas.openxmlformats.org/officeDocument/2006/relationships/image" Target="../media/image71.png"/><Relationship Id="rId9" Type="http://schemas.openxmlformats.org/officeDocument/2006/relationships/oleObject" Target="../embeddings/oleObject33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6.e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35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0A98829-6BD6-FBDB-0322-9B8FE4CA2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" name="TextBox 12">
            <a:extLst>
              <a:ext uri="{FF2B5EF4-FFF2-40B4-BE49-F238E27FC236}">
                <a16:creationId xmlns:a16="http://schemas.microsoft.com/office/drawing/2014/main" id="{6B42A1CA-0B92-3306-9FCB-2053913A4CBE}"/>
              </a:ext>
            </a:extLst>
          </p:cNvPr>
          <p:cNvSpPr txBox="1"/>
          <p:nvPr/>
        </p:nvSpPr>
        <p:spPr>
          <a:xfrm>
            <a:off x="4610100" y="6111125"/>
            <a:ext cx="9067800" cy="4730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ko-KR" altLang="en-US" sz="26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  <a:cs typeface="Nanum Square Round"/>
                <a:sym typeface="Nanum Square Round"/>
              </a:rPr>
              <a:t>경북대학교 </a:t>
            </a:r>
            <a:r>
              <a:rPr lang="en-US" altLang="ko-KR" sz="26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  <a:cs typeface="Nanum Square Round"/>
                <a:sym typeface="Nanum Square Round"/>
              </a:rPr>
              <a:t>MENLAB 2025000422 </a:t>
            </a:r>
            <a:r>
              <a:rPr lang="ko-KR" altLang="en-US" sz="26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  <a:cs typeface="Nanum Square Round"/>
                <a:sym typeface="Nanum Square Round"/>
              </a:rPr>
              <a:t>최민수</a:t>
            </a:r>
            <a:endParaRPr lang="en-US" sz="26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  <a:cs typeface="Nanum Square Round"/>
              <a:sym typeface="Nanum Square Round"/>
            </a:endParaRPr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949CB741-6186-65B6-FCDE-42BC101EC52C}"/>
              </a:ext>
            </a:extLst>
          </p:cNvPr>
          <p:cNvSpPr txBox="1"/>
          <p:nvPr/>
        </p:nvSpPr>
        <p:spPr>
          <a:xfrm>
            <a:off x="800100" y="3162300"/>
            <a:ext cx="16687800" cy="14523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97"/>
              </a:lnSpc>
            </a:pPr>
            <a:r>
              <a:rPr lang="en-US" sz="6600" dirty="0">
                <a:solidFill>
                  <a:srgbClr val="0F4D8B"/>
                </a:solidFill>
                <a:latin typeface="TDTD강굴림"/>
                <a:ea typeface="TDTD강굴림"/>
                <a:cs typeface="TDTD강굴림"/>
                <a:sym typeface="TDTD강굴림"/>
              </a:rPr>
              <a:t>IGZO </a:t>
            </a:r>
            <a:r>
              <a:rPr lang="ko-KR" altLang="en-US" sz="6600" dirty="0" err="1">
                <a:solidFill>
                  <a:srgbClr val="0F4D8B"/>
                </a:solidFill>
                <a:latin typeface="TDTD강굴림"/>
                <a:ea typeface="TDTD강굴림"/>
                <a:cs typeface="TDTD강굴림"/>
                <a:sym typeface="TDTD강굴림"/>
              </a:rPr>
              <a:t>어닐링</a:t>
            </a:r>
            <a:r>
              <a:rPr lang="en-US" sz="6600" dirty="0">
                <a:solidFill>
                  <a:srgbClr val="0F4D8B"/>
                </a:solidFill>
                <a:latin typeface="TDTD강굴림"/>
                <a:ea typeface="TDTD강굴림"/>
                <a:cs typeface="TDTD강굴림"/>
                <a:sym typeface="TDTD강굴림"/>
              </a:rPr>
              <a:t> </a:t>
            </a:r>
            <a:r>
              <a:rPr lang="ko-KR" altLang="en-US" sz="6600" dirty="0">
                <a:solidFill>
                  <a:srgbClr val="0F4D8B"/>
                </a:solidFill>
                <a:latin typeface="TDTD강굴림"/>
                <a:ea typeface="TDTD강굴림"/>
                <a:cs typeface="TDTD강굴림"/>
                <a:sym typeface="TDTD강굴림"/>
              </a:rPr>
              <a:t>온도에 따른 </a:t>
            </a:r>
            <a:r>
              <a:rPr lang="en-US" altLang="ko-KR" sz="6600" dirty="0">
                <a:solidFill>
                  <a:srgbClr val="0F4D8B"/>
                </a:solidFill>
                <a:latin typeface="TDTD강굴림"/>
                <a:ea typeface="TDTD강굴림"/>
                <a:cs typeface="TDTD강굴림"/>
                <a:sym typeface="TDTD강굴림"/>
              </a:rPr>
              <a:t>PSC </a:t>
            </a:r>
            <a:r>
              <a:rPr lang="ko-KR" altLang="en-US" sz="6600" dirty="0">
                <a:solidFill>
                  <a:srgbClr val="0F4D8B"/>
                </a:solidFill>
                <a:latin typeface="TDTD강굴림"/>
                <a:ea typeface="TDTD강굴림"/>
                <a:cs typeface="TDTD강굴림"/>
                <a:sym typeface="TDTD강굴림"/>
              </a:rPr>
              <a:t>변화 </a:t>
            </a:r>
            <a:r>
              <a:rPr lang="en-US" altLang="ko-KR" sz="6600" dirty="0">
                <a:solidFill>
                  <a:srgbClr val="0F4D8B"/>
                </a:solidFill>
                <a:latin typeface="TDTD강굴림"/>
                <a:ea typeface="TDTD강굴림"/>
                <a:cs typeface="TDTD강굴림"/>
                <a:sym typeface="TDTD강굴림"/>
              </a:rPr>
              <a:t>(Exp07)</a:t>
            </a:r>
            <a:endParaRPr lang="en-US" sz="6600" baseline="-25000" dirty="0">
              <a:solidFill>
                <a:srgbClr val="0F4D8B"/>
              </a:solidFill>
              <a:latin typeface="TDTD강굴림"/>
              <a:ea typeface="TDTD강굴림"/>
              <a:cs typeface="TDTD강굴림"/>
              <a:sym typeface="TDTD강굴림"/>
            </a:endParaRPr>
          </a:p>
        </p:txBody>
      </p:sp>
    </p:spTree>
    <p:extLst>
      <p:ext uri="{BB962C8B-B14F-4D97-AF65-F5344CB8AC3E}">
        <p14:creationId xmlns:p14="http://schemas.microsoft.com/office/powerpoint/2010/main" val="136290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589495B-DD42-38A9-2B63-5602D05FC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E89CB154-E4E0-6B15-737A-E8244F5ABB67}"/>
              </a:ext>
            </a:extLst>
          </p:cNvPr>
          <p:cNvGrpSpPr/>
          <p:nvPr/>
        </p:nvGrpSpPr>
        <p:grpSpPr>
          <a:xfrm>
            <a:off x="2133600" y="4000500"/>
            <a:ext cx="15544800" cy="811143"/>
            <a:chOff x="2133600" y="3283364"/>
            <a:chExt cx="15544800" cy="81114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947CCB9-903A-C74D-7321-BBBD1E5BC8F0}"/>
                </a:ext>
              </a:extLst>
            </p:cNvPr>
            <p:cNvSpPr txBox="1"/>
            <p:nvPr/>
          </p:nvSpPr>
          <p:spPr>
            <a:xfrm>
              <a:off x="6477000" y="3398536"/>
              <a:ext cx="11201400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3200" dirty="0">
                  <a:solidFill>
                    <a:srgbClr val="0F4D8B"/>
                  </a:solidFill>
                  <a:latin typeface="TDTD강굴림" panose="020B0600000101010101" charset="-127"/>
                  <a:ea typeface="TDTD강굴림" panose="020B0600000101010101" charset="-127"/>
                </a:rPr>
                <a:t>Transfer curve, PSC, Summary, </a:t>
              </a:r>
              <a:r>
                <a:rPr lang="ko-KR" altLang="en-US" sz="3200" dirty="0">
                  <a:solidFill>
                    <a:srgbClr val="0F4D8B"/>
                  </a:solidFill>
                  <a:latin typeface="TDTD강굴림" panose="020B0600000101010101" charset="-127"/>
                  <a:ea typeface="TDTD강굴림" panose="020B0600000101010101" charset="-127"/>
                </a:rPr>
                <a:t>결론</a:t>
              </a:r>
              <a:endParaRPr lang="de-DE" altLang="ko-KR" sz="32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  <p:sp>
          <p:nvSpPr>
            <p:cNvPr id="9" name="사각형: 잘린 대각선 방향 모서리 8">
              <a:extLst>
                <a:ext uri="{FF2B5EF4-FFF2-40B4-BE49-F238E27FC236}">
                  <a16:creationId xmlns:a16="http://schemas.microsoft.com/office/drawing/2014/main" id="{4466326B-EBDB-279B-8CF5-A35991FBE91B}"/>
                </a:ext>
              </a:extLst>
            </p:cNvPr>
            <p:cNvSpPr/>
            <p:nvPr/>
          </p:nvSpPr>
          <p:spPr>
            <a:xfrm>
              <a:off x="2133600" y="3283364"/>
              <a:ext cx="4038600" cy="811143"/>
            </a:xfrm>
            <a:prstGeom prst="snip2DiagRect">
              <a:avLst>
                <a:gd name="adj1" fmla="val 0"/>
                <a:gd name="adj2" fmla="val 29535"/>
              </a:avLst>
            </a:prstGeom>
            <a:solidFill>
              <a:srgbClr val="0F4D8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en-US" altLang="ko-KR" sz="3200" dirty="0">
                  <a:solidFill>
                    <a:schemeClr val="bg1"/>
                  </a:solidFill>
                  <a:latin typeface="TDTD강굴림" panose="020B0600000101010101" charset="-127"/>
                  <a:ea typeface="TDTD강굴림" panose="020B0600000101010101" charset="-127"/>
                </a:rPr>
                <a:t>1-1. 260831 </a:t>
              </a:r>
              <a:r>
                <a:rPr lang="ko-KR" altLang="en-US" sz="3200" dirty="0">
                  <a:solidFill>
                    <a:schemeClr val="bg1"/>
                  </a:solidFill>
                  <a:latin typeface="TDTD강굴림" panose="020B0600000101010101" charset="-127"/>
                  <a:ea typeface="TDTD강굴림" panose="020B0600000101010101" charset="-127"/>
                </a:rPr>
                <a:t>측정</a:t>
              </a: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BD77873C-D9DB-603C-959D-BABBD06482C8}"/>
              </a:ext>
            </a:extLst>
          </p:cNvPr>
          <p:cNvGrpSpPr/>
          <p:nvPr/>
        </p:nvGrpSpPr>
        <p:grpSpPr>
          <a:xfrm>
            <a:off x="914400" y="8003024"/>
            <a:ext cx="15544800" cy="811143"/>
            <a:chOff x="914400" y="7774827"/>
            <a:chExt cx="15544800" cy="81114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D92DE4F-7CEA-4B18-C2D5-BABB27218AF9}"/>
                </a:ext>
              </a:extLst>
            </p:cNvPr>
            <p:cNvSpPr txBox="1"/>
            <p:nvPr/>
          </p:nvSpPr>
          <p:spPr>
            <a:xfrm>
              <a:off x="3276600" y="7889502"/>
              <a:ext cx="13182600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3200" dirty="0" err="1">
                  <a:solidFill>
                    <a:srgbClr val="0F4D8B"/>
                  </a:solidFill>
                  <a:latin typeface="TDTD강굴림" panose="020B0600000101010101" charset="-127"/>
                  <a:ea typeface="TDTD강굴림" panose="020B0600000101010101" charset="-127"/>
                </a:rPr>
                <a:t>안박사님과의</a:t>
              </a:r>
              <a:r>
                <a:rPr lang="ko-KR" altLang="en-US" sz="3200" dirty="0">
                  <a:solidFill>
                    <a:srgbClr val="0F4D8B"/>
                  </a:solidFill>
                  <a:latin typeface="TDTD강굴림" panose="020B0600000101010101" charset="-127"/>
                  <a:ea typeface="TDTD강굴림" panose="020B0600000101010101" charset="-127"/>
                </a:rPr>
                <a:t> 미팅 결론</a:t>
              </a:r>
              <a:endParaRPr lang="en-US" altLang="ko-KR" sz="32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  <p:sp>
          <p:nvSpPr>
            <p:cNvPr id="6" name="사각형: 잘린 대각선 방향 모서리 5">
              <a:extLst>
                <a:ext uri="{FF2B5EF4-FFF2-40B4-BE49-F238E27FC236}">
                  <a16:creationId xmlns:a16="http://schemas.microsoft.com/office/drawing/2014/main" id="{EECE41FC-9FCF-7F81-4131-8523E497D0FD}"/>
                </a:ext>
              </a:extLst>
            </p:cNvPr>
            <p:cNvSpPr/>
            <p:nvPr/>
          </p:nvSpPr>
          <p:spPr>
            <a:xfrm>
              <a:off x="914400" y="7774827"/>
              <a:ext cx="2057400" cy="811143"/>
            </a:xfrm>
            <a:prstGeom prst="snip2DiagRect">
              <a:avLst>
                <a:gd name="adj1" fmla="val 0"/>
                <a:gd name="adj2" fmla="val 29535"/>
              </a:avLst>
            </a:prstGeom>
            <a:solidFill>
              <a:srgbClr val="0F4D8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en-US" altLang="ko-KR" sz="3200" dirty="0">
                  <a:solidFill>
                    <a:schemeClr val="bg1"/>
                  </a:solidFill>
                  <a:latin typeface="TDTD강굴림" panose="020B0600000101010101" charset="-127"/>
                  <a:ea typeface="TDTD강굴림" panose="020B0600000101010101" charset="-127"/>
                </a:rPr>
                <a:t>3. </a:t>
              </a:r>
              <a:r>
                <a:rPr lang="ko-KR" altLang="en-US" sz="3200" dirty="0">
                  <a:solidFill>
                    <a:schemeClr val="bg1"/>
                  </a:solidFill>
                  <a:latin typeface="TDTD강굴림" panose="020B0600000101010101" charset="-127"/>
                  <a:ea typeface="TDTD강굴림" panose="020B0600000101010101" charset="-127"/>
                </a:rPr>
                <a:t>결론</a:t>
              </a: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8C2F51E9-E30D-56FE-FCA9-BC5CC2BAAAF9}"/>
              </a:ext>
            </a:extLst>
          </p:cNvPr>
          <p:cNvGrpSpPr/>
          <p:nvPr/>
        </p:nvGrpSpPr>
        <p:grpSpPr>
          <a:xfrm>
            <a:off x="914400" y="6030843"/>
            <a:ext cx="16764000" cy="811143"/>
            <a:chOff x="914400" y="9112289"/>
            <a:chExt cx="16764000" cy="81114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74EE5C4-5526-7786-6D8F-B70A7E2F380B}"/>
                </a:ext>
              </a:extLst>
            </p:cNvPr>
            <p:cNvSpPr txBox="1"/>
            <p:nvPr/>
          </p:nvSpPr>
          <p:spPr>
            <a:xfrm>
              <a:off x="4495800" y="9226964"/>
              <a:ext cx="13182600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3200" dirty="0">
                  <a:solidFill>
                    <a:srgbClr val="0F4D8B"/>
                  </a:solidFill>
                  <a:latin typeface="TDTD강굴림" panose="020B0600000101010101" charset="-127"/>
                  <a:ea typeface="TDTD강굴림" panose="020B0600000101010101" charset="-127"/>
                </a:rPr>
                <a:t>향후 공정 방향성</a:t>
              </a:r>
              <a:endParaRPr lang="en-US" altLang="ko-KR" sz="32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  <p:sp>
          <p:nvSpPr>
            <p:cNvPr id="15" name="사각형: 잘린 대각선 방향 모서리 14">
              <a:extLst>
                <a:ext uri="{FF2B5EF4-FFF2-40B4-BE49-F238E27FC236}">
                  <a16:creationId xmlns:a16="http://schemas.microsoft.com/office/drawing/2014/main" id="{FF5D3269-200D-A652-1BAF-714907DF7244}"/>
                </a:ext>
              </a:extLst>
            </p:cNvPr>
            <p:cNvSpPr/>
            <p:nvPr/>
          </p:nvSpPr>
          <p:spPr>
            <a:xfrm>
              <a:off x="914400" y="9112289"/>
              <a:ext cx="3276600" cy="811143"/>
            </a:xfrm>
            <a:prstGeom prst="snip2DiagRect">
              <a:avLst>
                <a:gd name="adj1" fmla="val 0"/>
                <a:gd name="adj2" fmla="val 29535"/>
              </a:avLst>
            </a:prstGeom>
            <a:solidFill>
              <a:srgbClr val="0F4D8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en-US" altLang="ko-KR" sz="3200" dirty="0">
                  <a:solidFill>
                    <a:schemeClr val="bg1"/>
                  </a:solidFill>
                  <a:latin typeface="TDTD강굴림" panose="020B0600000101010101" charset="-127"/>
                  <a:ea typeface="TDTD강굴림" panose="020B0600000101010101" charset="-127"/>
                </a:rPr>
                <a:t>2. </a:t>
              </a:r>
              <a:r>
                <a:rPr lang="ko-KR" altLang="en-US" sz="3200" dirty="0">
                  <a:solidFill>
                    <a:schemeClr val="bg1"/>
                  </a:solidFill>
                  <a:latin typeface="TDTD강굴림" panose="020B0600000101010101" charset="-127"/>
                  <a:ea typeface="TDTD강굴림" panose="020B0600000101010101" charset="-127"/>
                </a:rPr>
                <a:t>향후 방향성</a:t>
              </a: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7776B8D-EC13-1A30-DEBE-FBD4ABA28BA0}"/>
              </a:ext>
            </a:extLst>
          </p:cNvPr>
          <p:cNvGrpSpPr/>
          <p:nvPr/>
        </p:nvGrpSpPr>
        <p:grpSpPr>
          <a:xfrm>
            <a:off x="914400" y="2552700"/>
            <a:ext cx="17221200" cy="811143"/>
            <a:chOff x="914400" y="1790700"/>
            <a:chExt cx="17221200" cy="81114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DEF6606-DE61-B775-9885-F8E385A20B3A}"/>
                </a:ext>
              </a:extLst>
            </p:cNvPr>
            <p:cNvSpPr txBox="1"/>
            <p:nvPr/>
          </p:nvSpPr>
          <p:spPr>
            <a:xfrm>
              <a:off x="4953000" y="1903884"/>
              <a:ext cx="13182600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3200" dirty="0">
                  <a:solidFill>
                    <a:srgbClr val="0F4D8B"/>
                  </a:solidFill>
                  <a:latin typeface="TDTD강굴림" panose="020B0600000101010101" charset="-127"/>
                  <a:ea typeface="TDTD강굴림" panose="020B0600000101010101" charset="-127"/>
                </a:rPr>
                <a:t>SPT IGZO 300~800℃</a:t>
              </a:r>
            </a:p>
          </p:txBody>
        </p:sp>
        <p:sp>
          <p:nvSpPr>
            <p:cNvPr id="26" name="사각형: 잘린 대각선 방향 모서리 25">
              <a:extLst>
                <a:ext uri="{FF2B5EF4-FFF2-40B4-BE49-F238E27FC236}">
                  <a16:creationId xmlns:a16="http://schemas.microsoft.com/office/drawing/2014/main" id="{85ED6AA2-CA1F-D329-EAB9-EBE18181818B}"/>
                </a:ext>
              </a:extLst>
            </p:cNvPr>
            <p:cNvSpPr/>
            <p:nvPr/>
          </p:nvSpPr>
          <p:spPr>
            <a:xfrm>
              <a:off x="914400" y="1790700"/>
              <a:ext cx="3733800" cy="811143"/>
            </a:xfrm>
            <a:prstGeom prst="snip2DiagRect">
              <a:avLst>
                <a:gd name="adj1" fmla="val 0"/>
                <a:gd name="adj2" fmla="val 29535"/>
              </a:avLst>
            </a:prstGeom>
            <a:solidFill>
              <a:srgbClr val="0F4D8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en-US" altLang="ko-KR" sz="3200" dirty="0">
                  <a:solidFill>
                    <a:schemeClr val="bg1"/>
                  </a:solidFill>
                  <a:latin typeface="TDTD강굴림" panose="020B0600000101010101" charset="-127"/>
                  <a:ea typeface="TDTD강굴림" panose="020B0600000101010101" charset="-127"/>
                </a:rPr>
                <a:t>1. 260829 </a:t>
              </a:r>
              <a:r>
                <a:rPr lang="ko-KR" altLang="en-US" sz="3200" dirty="0">
                  <a:solidFill>
                    <a:schemeClr val="bg1"/>
                  </a:solidFill>
                  <a:latin typeface="TDTD강굴림" panose="020B0600000101010101" charset="-127"/>
                  <a:ea typeface="TDTD강굴림" panose="020B0600000101010101" charset="-127"/>
                </a:rPr>
                <a:t>공정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91854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70EB79-CF14-52E4-CB7F-3A88F62C3D8C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측정 세팅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E5480E-FCB3-956D-241C-2A629C2A75BC}"/>
              </a:ext>
            </a:extLst>
          </p:cNvPr>
          <p:cNvSpPr txBox="1"/>
          <p:nvPr/>
        </p:nvSpPr>
        <p:spPr>
          <a:xfrm>
            <a:off x="571500" y="1780282"/>
            <a:ext cx="8686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Transfer</a:t>
            </a:r>
            <a:r>
              <a:rPr lang="ko-KR" altLang="en-US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 </a:t>
            </a: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curve</a:t>
            </a:r>
            <a:r>
              <a:rPr lang="ko-KR" altLang="en-US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 세팅 </a:t>
            </a:r>
            <a:r>
              <a:rPr lang="en-US" altLang="ko-KR" sz="16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(Speed: Normal)</a:t>
            </a:r>
          </a:p>
          <a:p>
            <a:pPr lvl="1"/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V</a:t>
            </a:r>
            <a:r>
              <a:rPr lang="en-US" altLang="ko-KR" sz="2000" baseline="-25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G</a:t>
            </a:r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: -30 ~ 30 V</a:t>
            </a:r>
          </a:p>
          <a:p>
            <a:pPr lvl="1"/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V</a:t>
            </a:r>
            <a:r>
              <a:rPr lang="en-US" altLang="ko-KR" sz="2000" baseline="-25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D</a:t>
            </a:r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 = 1 V, 30 V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9A9B8A1-B0D8-19D4-99B3-A976FC2A51E6}"/>
              </a:ext>
            </a:extLst>
          </p:cNvPr>
          <p:cNvGrpSpPr/>
          <p:nvPr/>
        </p:nvGrpSpPr>
        <p:grpSpPr>
          <a:xfrm>
            <a:off x="571500" y="3453704"/>
            <a:ext cx="17106900" cy="1692771"/>
            <a:chOff x="1066800" y="2247900"/>
            <a:chExt cx="17106900" cy="1692771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538FB8F-E3E3-8945-0D26-9962F6340B34}"/>
                </a:ext>
              </a:extLst>
            </p:cNvPr>
            <p:cNvSpPr txBox="1"/>
            <p:nvPr/>
          </p:nvSpPr>
          <p:spPr>
            <a:xfrm>
              <a:off x="1066800" y="2247900"/>
              <a:ext cx="8686800" cy="16927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altLang="ko-KR" sz="24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Single</a:t>
              </a:r>
              <a:r>
                <a:rPr lang="ko-KR" altLang="en-US" sz="24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</a:t>
              </a:r>
              <a:r>
                <a:rPr lang="en-US" altLang="ko-KR" sz="24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Pulse</a:t>
              </a:r>
              <a:r>
                <a:rPr lang="ko-KR" altLang="en-US" sz="24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세팅 </a:t>
              </a:r>
              <a:r>
                <a:rPr lang="en-US" altLang="ko-KR" sz="16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(Speed: Quiet)</a:t>
              </a:r>
            </a:p>
            <a:p>
              <a:pPr lvl="1"/>
              <a:r>
                <a:rPr lang="en-US" altLang="ko-KR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V</a:t>
              </a:r>
              <a:r>
                <a:rPr lang="en-US" altLang="ko-KR" sz="2000" baseline="-25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G</a:t>
              </a:r>
              <a:r>
                <a:rPr lang="en-US" altLang="ko-KR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 (V</a:t>
              </a:r>
              <a:r>
                <a:rPr lang="en-US" altLang="ko-KR" sz="2000" baseline="-25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ON</a:t>
              </a:r>
              <a:r>
                <a:rPr lang="en-US" altLang="ko-KR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- 1) V</a:t>
              </a:r>
            </a:p>
            <a:p>
              <a:pPr lvl="1"/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V</a:t>
              </a:r>
              <a:r>
                <a:rPr lang="en-US" altLang="ko-KR" sz="2000" baseline="-25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D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= 1 V</a:t>
              </a:r>
            </a:p>
            <a:p>
              <a:pPr lvl="1"/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광 파장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455 nm (Royal Blue)</a:t>
              </a:r>
            </a:p>
            <a:p>
              <a:pPr lvl="1"/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광 세기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300 </a:t>
              </a:r>
              <a:r>
                <a:rPr lang="en-US" altLang="ko-KR" sz="2000" dirty="0" err="1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mW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(LED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라서 빛 퍼짐 때문에 </a:t>
              </a:r>
              <a:r>
                <a:rPr lang="en-US" altLang="ko-KR" sz="2000" dirty="0" err="1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mW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/mm</a:t>
              </a:r>
              <a:r>
                <a:rPr lang="en-US" altLang="ko-KR" sz="2000" baseline="30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2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정확히 계산 불가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)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46704B0-B901-8B06-84D7-3AFE4005E4FC}"/>
                </a:ext>
              </a:extLst>
            </p:cNvPr>
            <p:cNvSpPr txBox="1"/>
            <p:nvPr/>
          </p:nvSpPr>
          <p:spPr>
            <a:xfrm>
              <a:off x="9677400" y="2597884"/>
              <a:ext cx="849630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1"/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광 펄스 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On/Off 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시간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 </a:t>
              </a:r>
              <a:r>
                <a:rPr lang="en-US" altLang="ko-KR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1 s / 60 s</a:t>
              </a:r>
            </a:p>
            <a:p>
              <a:pPr lvl="1"/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광 입력 횟수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 </a:t>
              </a:r>
              <a:r>
                <a:rPr lang="en-US" altLang="ko-KR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1 </a:t>
              </a:r>
              <a:r>
                <a:rPr lang="ko-KR" altLang="en-US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회</a:t>
              </a:r>
              <a:endParaRPr lang="en-US" altLang="ko-KR" sz="2000" baseline="30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endParaRPr>
            </a:p>
            <a:p>
              <a:pPr lvl="1"/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광원과 소자 간의 거리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 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수동으로 최대한 밀착</a:t>
              </a:r>
              <a:endParaRPr lang="en-US" altLang="ko-KR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endParaRPr>
            </a:p>
            <a:p>
              <a:pPr lvl="1"/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각도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 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수동으로 최대한 수직으로 맞춤</a:t>
              </a:r>
              <a:endParaRPr lang="en-US" altLang="ko-KR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933CC5CF-30CC-551D-127B-23718A8935B6}"/>
              </a:ext>
            </a:extLst>
          </p:cNvPr>
          <p:cNvGrpSpPr/>
          <p:nvPr/>
        </p:nvGrpSpPr>
        <p:grpSpPr>
          <a:xfrm>
            <a:off x="571500" y="5742679"/>
            <a:ext cx="17106900" cy="1692771"/>
            <a:chOff x="1066800" y="2247900"/>
            <a:chExt cx="17106900" cy="169277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0258DBA-CCF4-B788-03E2-972ADEA95FDF}"/>
                </a:ext>
              </a:extLst>
            </p:cNvPr>
            <p:cNvSpPr txBox="1"/>
            <p:nvPr/>
          </p:nvSpPr>
          <p:spPr>
            <a:xfrm>
              <a:off x="1066800" y="2247900"/>
              <a:ext cx="8686800" cy="16927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altLang="ko-KR" sz="24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Short-term plasticity </a:t>
              </a:r>
              <a:r>
                <a:rPr lang="ko-KR" altLang="en-US" sz="24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측정 </a:t>
              </a:r>
              <a:r>
                <a:rPr lang="en-US" altLang="ko-KR" sz="16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(Speed: Quiet)</a:t>
              </a:r>
            </a:p>
            <a:p>
              <a:pPr lvl="1"/>
              <a:r>
                <a:rPr lang="en-US" altLang="ko-KR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V</a:t>
              </a:r>
              <a:r>
                <a:rPr lang="en-US" altLang="ko-KR" sz="2000" baseline="-25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G</a:t>
              </a:r>
              <a:r>
                <a:rPr lang="en-US" altLang="ko-KR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 (V</a:t>
              </a:r>
              <a:r>
                <a:rPr lang="en-US" altLang="ko-KR" sz="2000" baseline="-25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ON</a:t>
              </a:r>
              <a:r>
                <a:rPr lang="en-US" altLang="ko-KR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- 1) V</a:t>
              </a:r>
            </a:p>
            <a:p>
              <a:pPr lvl="1"/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V</a:t>
              </a:r>
              <a:r>
                <a:rPr lang="en-US" altLang="ko-KR" sz="2000" baseline="-25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D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= 1 V</a:t>
              </a:r>
            </a:p>
            <a:p>
              <a:pPr lvl="1"/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광 파장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455 nm (Royal Blue)</a:t>
              </a:r>
            </a:p>
            <a:p>
              <a:pPr lvl="1"/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광 세기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300 </a:t>
              </a:r>
              <a:r>
                <a:rPr lang="en-US" altLang="ko-KR" sz="2000" dirty="0" err="1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mW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(LED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라서 빛 퍼짐 때문에 </a:t>
              </a:r>
              <a:r>
                <a:rPr lang="en-US" altLang="ko-KR" sz="2000" dirty="0" err="1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mW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/mm</a:t>
              </a:r>
              <a:r>
                <a:rPr lang="en-US" altLang="ko-KR" sz="2000" baseline="30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2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정확히 계산 불가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)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F593CA0-2CCC-38C5-4526-3B00C6B6019E}"/>
                </a:ext>
              </a:extLst>
            </p:cNvPr>
            <p:cNvSpPr txBox="1"/>
            <p:nvPr/>
          </p:nvSpPr>
          <p:spPr>
            <a:xfrm>
              <a:off x="9677400" y="2597884"/>
              <a:ext cx="849630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1"/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광 펄스 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On/Interval/Off 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시간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</a:t>
              </a:r>
              <a:r>
                <a:rPr lang="en-US" altLang="ko-KR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1 s / 1 Hz / 60 s</a:t>
              </a:r>
            </a:p>
            <a:p>
              <a:pPr lvl="1"/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광 입력 횟수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 </a:t>
              </a:r>
              <a:r>
                <a:rPr lang="en-US" altLang="ko-KR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2 </a:t>
              </a:r>
              <a:r>
                <a:rPr lang="ko-KR" altLang="en-US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회</a:t>
              </a:r>
              <a:endParaRPr lang="en-US" altLang="ko-KR" sz="2000" baseline="30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endParaRPr>
            </a:p>
            <a:p>
              <a:pPr lvl="1"/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광원과 소자 간의 거리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 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수동으로 최대한 밀착</a:t>
              </a:r>
              <a:endParaRPr lang="en-US" altLang="ko-KR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endParaRPr>
            </a:p>
            <a:p>
              <a:pPr lvl="1"/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각도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 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수동으로 최대한 수직으로 맞춤</a:t>
              </a:r>
              <a:endParaRPr lang="en-US" altLang="ko-KR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CCDFF5F-2873-1DCA-4FD1-76C3C956EDB3}"/>
              </a:ext>
            </a:extLst>
          </p:cNvPr>
          <p:cNvGrpSpPr/>
          <p:nvPr/>
        </p:nvGrpSpPr>
        <p:grpSpPr>
          <a:xfrm>
            <a:off x="571500" y="8031653"/>
            <a:ext cx="17106900" cy="1692771"/>
            <a:chOff x="1066800" y="2247900"/>
            <a:chExt cx="17106900" cy="169277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74D9871-296A-10B7-1E05-6179D098180C}"/>
                </a:ext>
              </a:extLst>
            </p:cNvPr>
            <p:cNvSpPr txBox="1"/>
            <p:nvPr/>
          </p:nvSpPr>
          <p:spPr>
            <a:xfrm>
              <a:off x="1066800" y="2247900"/>
              <a:ext cx="8686800" cy="16927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altLang="ko-KR" sz="24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Long-term plasticity </a:t>
              </a:r>
              <a:r>
                <a:rPr lang="ko-KR" altLang="en-US" sz="24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측정 </a:t>
              </a:r>
              <a:r>
                <a:rPr lang="en-US" altLang="ko-KR" sz="16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(Speed: Quiet)</a:t>
              </a:r>
            </a:p>
            <a:p>
              <a:pPr lvl="1"/>
              <a:r>
                <a:rPr lang="en-US" altLang="ko-KR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V</a:t>
              </a:r>
              <a:r>
                <a:rPr lang="en-US" altLang="ko-KR" sz="2000" baseline="-25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G</a:t>
              </a:r>
              <a:r>
                <a:rPr lang="en-US" altLang="ko-KR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 (V</a:t>
              </a:r>
              <a:r>
                <a:rPr lang="en-US" altLang="ko-KR" sz="2000" baseline="-25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ON</a:t>
              </a:r>
              <a:r>
                <a:rPr lang="en-US" altLang="ko-KR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- 1) V</a:t>
              </a:r>
            </a:p>
            <a:p>
              <a:pPr lvl="1"/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V</a:t>
              </a:r>
              <a:r>
                <a:rPr lang="en-US" altLang="ko-KR" sz="2000" baseline="-25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D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= 1 V</a:t>
              </a:r>
            </a:p>
            <a:p>
              <a:pPr lvl="1"/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광 파장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455 nm (Royal Blue)</a:t>
              </a:r>
            </a:p>
            <a:p>
              <a:pPr lvl="1"/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광 세기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300 </a:t>
              </a:r>
              <a:r>
                <a:rPr lang="en-US" altLang="ko-KR" sz="2000" dirty="0" err="1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mW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(LED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라서 빛 퍼짐 때문에 </a:t>
              </a:r>
              <a:r>
                <a:rPr lang="en-US" altLang="ko-KR" sz="2000" dirty="0" err="1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mW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/mm</a:t>
              </a:r>
              <a:r>
                <a:rPr lang="en-US" altLang="ko-KR" sz="2000" baseline="30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2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정확히 계산 불가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)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A53A9CB-6C6F-B9BC-5BA4-6E46F3413D51}"/>
                </a:ext>
              </a:extLst>
            </p:cNvPr>
            <p:cNvSpPr txBox="1"/>
            <p:nvPr/>
          </p:nvSpPr>
          <p:spPr>
            <a:xfrm>
              <a:off x="9677400" y="2597884"/>
              <a:ext cx="849630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1"/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광 펄스 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On/Interval/Off 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시간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</a:t>
              </a:r>
              <a:r>
                <a:rPr lang="en-US" altLang="ko-KR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1 s / 1 Hz / 60 s</a:t>
              </a:r>
            </a:p>
            <a:p>
              <a:pPr lvl="1"/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광 입력 횟수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 </a:t>
              </a:r>
              <a:r>
                <a:rPr lang="en-US" altLang="ko-KR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40 </a:t>
              </a:r>
              <a:r>
                <a:rPr lang="ko-KR" altLang="en-US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회</a:t>
              </a:r>
              <a:endParaRPr lang="en-US" altLang="ko-KR" sz="2000" baseline="30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endParaRPr>
            </a:p>
            <a:p>
              <a:pPr lvl="1"/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광원과 소자 간의 거리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 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수동으로 최대한 밀착</a:t>
              </a:r>
              <a:endParaRPr lang="en-US" altLang="ko-KR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endParaRPr>
            </a:p>
            <a:p>
              <a:pPr lvl="1"/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각도</a:t>
              </a:r>
              <a:r>
                <a:rPr lang="en-US" altLang="ko-KR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: </a:t>
              </a:r>
              <a:r>
                <a:rPr lang="ko-KR" altLang="en-US" sz="20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수동으로 최대한 수직으로 맞춤</a:t>
              </a:r>
              <a:endParaRPr lang="en-US" altLang="ko-KR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0598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CE1734-BB3D-1108-79ED-7BBE6E33A524}"/>
              </a:ext>
            </a:extLst>
          </p:cNvPr>
          <p:cNvSpPr txBox="1"/>
          <p:nvPr/>
        </p:nvSpPr>
        <p:spPr>
          <a:xfrm>
            <a:off x="13015563" y="3574566"/>
            <a:ext cx="52724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모든 소자 </a:t>
            </a:r>
            <a:r>
              <a:rPr lang="en-US" altLang="ko-KR" sz="18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Al electrode </a:t>
            </a:r>
            <a:r>
              <a:rPr lang="ko-KR" altLang="en-US" sz="18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올리고 </a:t>
            </a:r>
            <a:r>
              <a:rPr lang="en-US" altLang="ko-KR" sz="18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Oven 200℃ 1h</a:t>
            </a:r>
            <a:endParaRPr lang="en-US" altLang="ko-KR" sz="1800" dirty="0">
              <a:solidFill>
                <a:srgbClr val="FF0000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B8CBF8C9-EEBD-32DB-067C-61B8C725936B}"/>
              </a:ext>
            </a:extLst>
          </p:cNvPr>
          <p:cNvGrpSpPr/>
          <p:nvPr/>
        </p:nvGrpSpPr>
        <p:grpSpPr>
          <a:xfrm>
            <a:off x="13106400" y="5143499"/>
            <a:ext cx="4824631" cy="2548173"/>
            <a:chOff x="1083946" y="4712957"/>
            <a:chExt cx="8517250" cy="2812369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1DA3589A-56F6-72B2-4C13-C50758C42C36}"/>
                </a:ext>
              </a:extLst>
            </p:cNvPr>
            <p:cNvSpPr/>
            <p:nvPr/>
          </p:nvSpPr>
          <p:spPr>
            <a:xfrm>
              <a:off x="2652154" y="5236879"/>
              <a:ext cx="5380842" cy="7746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dirty="0">
                  <a:solidFill>
                    <a:schemeClr val="tx1"/>
                  </a:solidFill>
                  <a:latin typeface="TDTD강굴림" panose="020B0600000101010101" charset="-127"/>
                  <a:ea typeface="TDTD강굴림" panose="020B0600000101010101" charset="-127"/>
                </a:rPr>
                <a:t>SPT IGZO</a:t>
              </a:r>
              <a:endParaRPr lang="ko-KR" altLang="en-US" sz="24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851D39C-9807-D9A2-01E0-7D1429A5B884}"/>
                </a:ext>
              </a:extLst>
            </p:cNvPr>
            <p:cNvSpPr/>
            <p:nvPr/>
          </p:nvSpPr>
          <p:spPr>
            <a:xfrm>
              <a:off x="1083946" y="5998015"/>
              <a:ext cx="8517250" cy="1527311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dirty="0">
                  <a:latin typeface="TDTD강굴림" panose="020B0600000101010101" charset="-127"/>
                  <a:ea typeface="TDTD강굴림" panose="020B0600000101010101" charset="-127"/>
                </a:rPr>
                <a:t>P</a:t>
              </a:r>
              <a:r>
                <a:rPr lang="en-US" altLang="ko-KR" sz="2800" baseline="30000" dirty="0">
                  <a:latin typeface="TDTD강굴림" panose="020B0600000101010101" charset="-127"/>
                  <a:ea typeface="TDTD강굴림" panose="020B0600000101010101" charset="-127"/>
                </a:rPr>
                <a:t>++</a:t>
              </a:r>
              <a:r>
                <a:rPr lang="en-US" altLang="ko-KR" sz="2800" dirty="0">
                  <a:latin typeface="TDTD강굴림" panose="020B0600000101010101" charset="-127"/>
                  <a:ea typeface="TDTD강굴림" panose="020B0600000101010101" charset="-127"/>
                </a:rPr>
                <a:t> Si / SiO</a:t>
              </a:r>
              <a:r>
                <a:rPr lang="en-US" altLang="ko-KR" sz="2800" baseline="-25000" dirty="0">
                  <a:latin typeface="TDTD강굴림" panose="020B0600000101010101" charset="-127"/>
                  <a:ea typeface="TDTD강굴림" panose="020B0600000101010101" charset="-127"/>
                </a:rPr>
                <a:t>2</a:t>
              </a:r>
              <a:endParaRPr lang="ko-KR" altLang="en-US" sz="2800" baseline="-25000" dirty="0"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63098395-CF3E-05EC-7D7F-C8FAF071CCB8}"/>
                </a:ext>
              </a:extLst>
            </p:cNvPr>
            <p:cNvSpPr/>
            <p:nvPr/>
          </p:nvSpPr>
          <p:spPr>
            <a:xfrm>
              <a:off x="2652154" y="4712958"/>
              <a:ext cx="1568207" cy="54165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dirty="0">
                  <a:latin typeface="TDTD강굴림" panose="020B0600000101010101" charset="-127"/>
                  <a:ea typeface="TDTD강굴림" panose="020B0600000101010101" charset="-127"/>
                </a:rPr>
                <a:t>S</a:t>
              </a:r>
              <a:endParaRPr lang="ko-KR" altLang="en-US" sz="2800" dirty="0"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100F5A4F-9F55-54D6-2B3F-808CFDAEC00E}"/>
                </a:ext>
              </a:extLst>
            </p:cNvPr>
            <p:cNvSpPr/>
            <p:nvPr/>
          </p:nvSpPr>
          <p:spPr>
            <a:xfrm>
              <a:off x="6464788" y="4712957"/>
              <a:ext cx="1568207" cy="54165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dirty="0">
                  <a:latin typeface="TDTD강굴림" panose="020B0600000101010101" charset="-127"/>
                  <a:ea typeface="TDTD강굴림" panose="020B0600000101010101" charset="-127"/>
                </a:rPr>
                <a:t>D</a:t>
              </a:r>
              <a:endParaRPr lang="ko-KR" altLang="en-US" sz="2800" dirty="0"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10459E0-CB88-84F1-40C6-43A368C4D210}"/>
              </a:ext>
            </a:extLst>
          </p:cNvPr>
          <p:cNvSpPr txBox="1"/>
          <p:nvPr/>
        </p:nvSpPr>
        <p:spPr>
          <a:xfrm>
            <a:off x="385401" y="2921686"/>
            <a:ext cx="12191444" cy="4965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700" dirty="0">
                <a:latin typeface="TDTD강굴림" panose="020B0600000101010101" charset="-127"/>
                <a:ea typeface="TDTD강굴림" panose="020B0600000101010101" charset="-127"/>
              </a:rPr>
              <a:t>D1) SPT IGZO (O</a:t>
            </a:r>
            <a:r>
              <a:rPr lang="en-US" altLang="ko-KR" sz="2700" baseline="-25000" dirty="0">
                <a:latin typeface="TDTD강굴림" panose="020B0600000101010101" charset="-127"/>
                <a:ea typeface="TDTD강굴림" panose="020B0600000101010101" charset="-127"/>
              </a:rPr>
              <a:t>2</a:t>
            </a:r>
            <a:r>
              <a:rPr lang="en-US" altLang="ko-KR" sz="2700" dirty="0">
                <a:latin typeface="TDTD강굴림" panose="020B0600000101010101" charset="-127"/>
                <a:ea typeface="TDTD강굴림" panose="020B0600000101010101" charset="-127"/>
              </a:rPr>
              <a:t> MFC 4 </a:t>
            </a:r>
            <a:r>
              <a:rPr lang="en-US" altLang="ko-KR" sz="2700" dirty="0" err="1">
                <a:latin typeface="TDTD강굴림" panose="020B0600000101010101" charset="-127"/>
                <a:ea typeface="TDTD강굴림" panose="020B0600000101010101" charset="-127"/>
              </a:rPr>
              <a:t>sccm</a:t>
            </a:r>
            <a:r>
              <a:rPr lang="en-US" altLang="ko-KR" sz="2700" dirty="0">
                <a:latin typeface="TDTD강굴림" panose="020B0600000101010101" charset="-127"/>
                <a:ea typeface="TDTD강굴림" panose="020B0600000101010101" charset="-127"/>
              </a:rPr>
              <a:t>, depo 150s) Furnace </a:t>
            </a:r>
            <a:r>
              <a:rPr lang="en-US" altLang="ko-KR" sz="27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300℃ 1h </a:t>
            </a:r>
          </a:p>
          <a:p>
            <a:pPr>
              <a:lnSpc>
                <a:spcPct val="200000"/>
              </a:lnSpc>
            </a:pPr>
            <a:r>
              <a:rPr lang="en-US" altLang="ko-KR" sz="2700" dirty="0">
                <a:latin typeface="TDTD강굴림" panose="020B0600000101010101" charset="-127"/>
                <a:ea typeface="TDTD강굴림" panose="020B0600000101010101" charset="-127"/>
              </a:rPr>
              <a:t>D2) SPT IGZO (O</a:t>
            </a:r>
            <a:r>
              <a:rPr lang="en-US" altLang="ko-KR" sz="2700" baseline="-25000" dirty="0">
                <a:latin typeface="TDTD강굴림" panose="020B0600000101010101" charset="-127"/>
                <a:ea typeface="TDTD강굴림" panose="020B0600000101010101" charset="-127"/>
              </a:rPr>
              <a:t>2</a:t>
            </a:r>
            <a:r>
              <a:rPr lang="en-US" altLang="ko-KR" sz="2700" dirty="0">
                <a:latin typeface="TDTD강굴림" panose="020B0600000101010101" charset="-127"/>
                <a:ea typeface="TDTD강굴림" panose="020B0600000101010101" charset="-127"/>
              </a:rPr>
              <a:t> MFC 4 </a:t>
            </a:r>
            <a:r>
              <a:rPr lang="en-US" altLang="ko-KR" sz="2700" dirty="0" err="1">
                <a:latin typeface="TDTD강굴림" panose="020B0600000101010101" charset="-127"/>
                <a:ea typeface="TDTD강굴림" panose="020B0600000101010101" charset="-127"/>
              </a:rPr>
              <a:t>sccm</a:t>
            </a:r>
            <a:r>
              <a:rPr lang="en-US" altLang="ko-KR" sz="2700" dirty="0">
                <a:latin typeface="TDTD강굴림" panose="020B0600000101010101" charset="-127"/>
                <a:ea typeface="TDTD강굴림" panose="020B0600000101010101" charset="-127"/>
              </a:rPr>
              <a:t>, depo 150s) Furnace </a:t>
            </a:r>
            <a:r>
              <a:rPr lang="en-US" altLang="ko-KR" sz="27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400℃ 1h </a:t>
            </a:r>
          </a:p>
          <a:p>
            <a:pPr>
              <a:lnSpc>
                <a:spcPct val="200000"/>
              </a:lnSpc>
            </a:pPr>
            <a:r>
              <a:rPr lang="en-US" altLang="ko-KR" sz="2700" dirty="0">
                <a:latin typeface="TDTD강굴림" panose="020B0600000101010101" charset="-127"/>
                <a:ea typeface="TDTD강굴림" panose="020B0600000101010101" charset="-127"/>
              </a:rPr>
              <a:t>D3) SPT IGZO (O</a:t>
            </a:r>
            <a:r>
              <a:rPr lang="en-US" altLang="ko-KR" sz="2700" baseline="-25000" dirty="0">
                <a:latin typeface="TDTD강굴림" panose="020B0600000101010101" charset="-127"/>
                <a:ea typeface="TDTD강굴림" panose="020B0600000101010101" charset="-127"/>
              </a:rPr>
              <a:t>2</a:t>
            </a:r>
            <a:r>
              <a:rPr lang="en-US" altLang="ko-KR" sz="2700" dirty="0">
                <a:latin typeface="TDTD강굴림" panose="020B0600000101010101" charset="-127"/>
                <a:ea typeface="TDTD강굴림" panose="020B0600000101010101" charset="-127"/>
              </a:rPr>
              <a:t> MFC 4 </a:t>
            </a:r>
            <a:r>
              <a:rPr lang="en-US" altLang="ko-KR" sz="2700" dirty="0" err="1">
                <a:latin typeface="TDTD강굴림" panose="020B0600000101010101" charset="-127"/>
                <a:ea typeface="TDTD강굴림" panose="020B0600000101010101" charset="-127"/>
              </a:rPr>
              <a:t>sccm</a:t>
            </a:r>
            <a:r>
              <a:rPr lang="en-US" altLang="ko-KR" sz="2700" dirty="0">
                <a:latin typeface="TDTD강굴림" panose="020B0600000101010101" charset="-127"/>
                <a:ea typeface="TDTD강굴림" panose="020B0600000101010101" charset="-127"/>
              </a:rPr>
              <a:t>, depo 150s) Furnace </a:t>
            </a:r>
            <a:r>
              <a:rPr lang="en-US" altLang="ko-KR" sz="27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500℃ 1h </a:t>
            </a:r>
          </a:p>
          <a:p>
            <a:pPr>
              <a:lnSpc>
                <a:spcPct val="200000"/>
              </a:lnSpc>
            </a:pPr>
            <a:r>
              <a:rPr lang="en-US" altLang="ko-KR" sz="2700" dirty="0">
                <a:latin typeface="TDTD강굴림" panose="020B0600000101010101" charset="-127"/>
                <a:ea typeface="TDTD강굴림" panose="020B0600000101010101" charset="-127"/>
              </a:rPr>
              <a:t>D4) SPT IGZO (O</a:t>
            </a:r>
            <a:r>
              <a:rPr lang="en-US" altLang="ko-KR" sz="2700" baseline="-25000" dirty="0">
                <a:latin typeface="TDTD강굴림" panose="020B0600000101010101" charset="-127"/>
                <a:ea typeface="TDTD강굴림" panose="020B0600000101010101" charset="-127"/>
              </a:rPr>
              <a:t>2</a:t>
            </a:r>
            <a:r>
              <a:rPr lang="en-US" altLang="ko-KR" sz="2700" dirty="0">
                <a:latin typeface="TDTD강굴림" panose="020B0600000101010101" charset="-127"/>
                <a:ea typeface="TDTD강굴림" panose="020B0600000101010101" charset="-127"/>
              </a:rPr>
              <a:t> MFC 4 </a:t>
            </a:r>
            <a:r>
              <a:rPr lang="en-US" altLang="ko-KR" sz="2700" dirty="0" err="1">
                <a:latin typeface="TDTD강굴림" panose="020B0600000101010101" charset="-127"/>
                <a:ea typeface="TDTD강굴림" panose="020B0600000101010101" charset="-127"/>
              </a:rPr>
              <a:t>sccm</a:t>
            </a:r>
            <a:r>
              <a:rPr lang="en-US" altLang="ko-KR" sz="2700" dirty="0">
                <a:latin typeface="TDTD강굴림" panose="020B0600000101010101" charset="-127"/>
                <a:ea typeface="TDTD강굴림" panose="020B0600000101010101" charset="-127"/>
              </a:rPr>
              <a:t>, depo 150s) Furnace </a:t>
            </a:r>
            <a:r>
              <a:rPr lang="en-US" altLang="ko-KR" sz="27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600℃ 1h </a:t>
            </a:r>
          </a:p>
          <a:p>
            <a:pPr>
              <a:lnSpc>
                <a:spcPct val="200000"/>
              </a:lnSpc>
            </a:pPr>
            <a:r>
              <a:rPr lang="en-US" altLang="ko-KR" sz="2700" dirty="0">
                <a:latin typeface="TDTD강굴림" panose="020B0600000101010101" charset="-127"/>
                <a:ea typeface="TDTD강굴림" panose="020B0600000101010101" charset="-127"/>
              </a:rPr>
              <a:t>D5) SPT IGZO (O</a:t>
            </a:r>
            <a:r>
              <a:rPr lang="en-US" altLang="ko-KR" sz="2700" baseline="-25000" dirty="0">
                <a:latin typeface="TDTD강굴림" panose="020B0600000101010101" charset="-127"/>
                <a:ea typeface="TDTD강굴림" panose="020B0600000101010101" charset="-127"/>
              </a:rPr>
              <a:t>2</a:t>
            </a:r>
            <a:r>
              <a:rPr lang="en-US" altLang="ko-KR" sz="2700" dirty="0">
                <a:latin typeface="TDTD강굴림" panose="020B0600000101010101" charset="-127"/>
                <a:ea typeface="TDTD강굴림" panose="020B0600000101010101" charset="-127"/>
              </a:rPr>
              <a:t> MFC 4 </a:t>
            </a:r>
            <a:r>
              <a:rPr lang="en-US" altLang="ko-KR" sz="2700" dirty="0" err="1">
                <a:latin typeface="TDTD강굴림" panose="020B0600000101010101" charset="-127"/>
                <a:ea typeface="TDTD강굴림" panose="020B0600000101010101" charset="-127"/>
              </a:rPr>
              <a:t>sccm</a:t>
            </a:r>
            <a:r>
              <a:rPr lang="en-US" altLang="ko-KR" sz="2700" dirty="0">
                <a:latin typeface="TDTD강굴림" panose="020B0600000101010101" charset="-127"/>
                <a:ea typeface="TDTD강굴림" panose="020B0600000101010101" charset="-127"/>
              </a:rPr>
              <a:t>, depo 150s) Furnace </a:t>
            </a:r>
            <a:r>
              <a:rPr lang="en-US" altLang="ko-KR" sz="27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700℃ 1h </a:t>
            </a:r>
          </a:p>
          <a:p>
            <a:pPr>
              <a:lnSpc>
                <a:spcPct val="200000"/>
              </a:lnSpc>
            </a:pPr>
            <a:r>
              <a:rPr lang="en-US" altLang="ko-KR" sz="2700" dirty="0">
                <a:latin typeface="TDTD강굴림" panose="020B0600000101010101" charset="-127"/>
                <a:ea typeface="TDTD강굴림" panose="020B0600000101010101" charset="-127"/>
              </a:rPr>
              <a:t>D6) SPT IGZO (O</a:t>
            </a:r>
            <a:r>
              <a:rPr lang="en-US" altLang="ko-KR" sz="2700" baseline="-25000" dirty="0">
                <a:latin typeface="TDTD강굴림" panose="020B0600000101010101" charset="-127"/>
                <a:ea typeface="TDTD강굴림" panose="020B0600000101010101" charset="-127"/>
              </a:rPr>
              <a:t>2</a:t>
            </a:r>
            <a:r>
              <a:rPr lang="en-US" altLang="ko-KR" sz="2700" dirty="0">
                <a:latin typeface="TDTD강굴림" panose="020B0600000101010101" charset="-127"/>
                <a:ea typeface="TDTD강굴림" panose="020B0600000101010101" charset="-127"/>
              </a:rPr>
              <a:t> MFC 4 </a:t>
            </a:r>
            <a:r>
              <a:rPr lang="en-US" altLang="ko-KR" sz="2700" dirty="0" err="1">
                <a:latin typeface="TDTD강굴림" panose="020B0600000101010101" charset="-127"/>
                <a:ea typeface="TDTD강굴림" panose="020B0600000101010101" charset="-127"/>
              </a:rPr>
              <a:t>sccm</a:t>
            </a:r>
            <a:r>
              <a:rPr lang="en-US" altLang="ko-KR" sz="2700" dirty="0">
                <a:latin typeface="TDTD강굴림" panose="020B0600000101010101" charset="-127"/>
                <a:ea typeface="TDTD강굴림" panose="020B0600000101010101" charset="-127"/>
              </a:rPr>
              <a:t>, depo 150s) Furnace </a:t>
            </a:r>
            <a:r>
              <a:rPr lang="en-US" altLang="ko-KR" sz="27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800℃ 1h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F51821-4AD3-B1E4-9140-7C1EBD2B76E3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Fabrication_260829</a:t>
            </a:r>
          </a:p>
        </p:txBody>
      </p:sp>
    </p:spTree>
    <p:extLst>
      <p:ext uri="{BB962C8B-B14F-4D97-AF65-F5344CB8AC3E}">
        <p14:creationId xmlns:p14="http://schemas.microsoft.com/office/powerpoint/2010/main" val="4075046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E0220-4A50-8A51-166F-DF89D7444F2A}"/>
              </a:ext>
            </a:extLst>
          </p:cNvPr>
          <p:cNvSpPr txBox="1"/>
          <p:nvPr/>
        </p:nvSpPr>
        <p:spPr>
          <a:xfrm>
            <a:off x="410400" y="1486800"/>
            <a:ext cx="17668164" cy="92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D1) SPT IGZO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300℃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D3F4170-6A0A-0E50-AA9C-6AB3EFDB9FE4}"/>
              </a:ext>
            </a:extLst>
          </p:cNvPr>
          <p:cNvGrpSpPr/>
          <p:nvPr/>
        </p:nvGrpSpPr>
        <p:grpSpPr>
          <a:xfrm>
            <a:off x="-6118" y="2552700"/>
            <a:ext cx="18350393" cy="5485409"/>
            <a:chOff x="-6118" y="3127462"/>
            <a:chExt cx="18350393" cy="5485409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4ED6C47D-CD8A-DBF4-97C7-4B28A264F182}"/>
                </a:ext>
              </a:extLst>
            </p:cNvPr>
            <p:cNvSpPr/>
            <p:nvPr/>
          </p:nvSpPr>
          <p:spPr>
            <a:xfrm>
              <a:off x="228600" y="3127462"/>
              <a:ext cx="17830800" cy="5485409"/>
            </a:xfrm>
            <a:prstGeom prst="rect">
              <a:avLst/>
            </a:prstGeom>
            <a:solidFill>
              <a:srgbClr val="92D05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A77A7EFE-D173-B24E-0A45-994B5D0560E7}"/>
                </a:ext>
              </a:extLst>
            </p:cNvPr>
            <p:cNvGrpSpPr/>
            <p:nvPr/>
          </p:nvGrpSpPr>
          <p:grpSpPr>
            <a:xfrm>
              <a:off x="-6118" y="3356063"/>
              <a:ext cx="5239416" cy="5161256"/>
              <a:chOff x="1019582" y="4671393"/>
              <a:chExt cx="4404418" cy="4632394"/>
            </a:xfrm>
          </p:grpSpPr>
          <p:graphicFrame>
            <p:nvGraphicFramePr>
              <p:cNvPr id="24" name="개체 23">
                <a:extLst>
                  <a:ext uri="{FF2B5EF4-FFF2-40B4-BE49-F238E27FC236}">
                    <a16:creationId xmlns:a16="http://schemas.microsoft.com/office/drawing/2014/main" id="{2311BAD4-D128-6B3A-E435-4278BAE2889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4444071"/>
                  </p:ext>
                </p:extLst>
              </p:nvPr>
            </p:nvGraphicFramePr>
            <p:xfrm>
              <a:off x="1019582" y="5019327"/>
              <a:ext cx="4360959" cy="42844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Graph" r:id="rId3" imgW="2589632" imgH="2541421" progId="Origin50.Graph">
                      <p:embed/>
                    </p:oleObj>
                  </mc:Choice>
                  <mc:Fallback>
                    <p:oleObj name="Graph" r:id="rId3" imgW="2589632" imgH="2541421" progId="Origin50.Graph">
                      <p:embed/>
                      <p:pic>
                        <p:nvPicPr>
                          <p:cNvPr id="4" name="개체 3">
                            <a:extLst>
                              <a:ext uri="{FF2B5EF4-FFF2-40B4-BE49-F238E27FC236}">
                                <a16:creationId xmlns:a16="http://schemas.microsoft.com/office/drawing/2014/main" id="{956A0075-6C2B-5D09-D089-F3288A014BF6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1019582" y="5019327"/>
                            <a:ext cx="4360959" cy="428446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B89A5F8-2175-CAB5-9426-3A167324F168}"/>
                  </a:ext>
                </a:extLst>
              </p:cNvPr>
              <p:cNvSpPr txBox="1"/>
              <p:nvPr/>
            </p:nvSpPr>
            <p:spPr>
              <a:xfrm>
                <a:off x="2113678" y="4671393"/>
                <a:ext cx="331032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400" b="1" dirty="0"/>
                  <a:t>Transfer curve (V</a:t>
                </a:r>
                <a:r>
                  <a:rPr lang="en-US" altLang="ko-KR" sz="2400" b="1" baseline="-25000" dirty="0"/>
                  <a:t>D</a:t>
                </a:r>
                <a:r>
                  <a:rPr lang="en-US" altLang="ko-KR" sz="2400" b="1" dirty="0"/>
                  <a:t>=1V)</a:t>
                </a:r>
                <a:endParaRPr lang="ko-KR" altLang="en-US" sz="2400" b="1" dirty="0"/>
              </a:p>
            </p:txBody>
          </p:sp>
        </p:grp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559C54BB-F973-3B0C-F6E2-01151486A1B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099092" y="3356062"/>
              <a:ext cx="4859125" cy="5161257"/>
              <a:chOff x="8694537" y="2449708"/>
              <a:chExt cx="4061806" cy="4314362"/>
            </a:xfrm>
          </p:grpSpPr>
          <p:graphicFrame>
            <p:nvGraphicFramePr>
              <p:cNvPr id="3" name="개체 2">
                <a:extLst>
                  <a:ext uri="{FF2B5EF4-FFF2-40B4-BE49-F238E27FC236}">
                    <a16:creationId xmlns:a16="http://schemas.microsoft.com/office/drawing/2014/main" id="{3DBFACE1-58D4-27CF-F081-891C880B549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10328104"/>
                  </p:ext>
                </p:extLst>
              </p:nvPr>
            </p:nvGraphicFramePr>
            <p:xfrm>
              <a:off x="8694537" y="2773756"/>
              <a:ext cx="4061806" cy="399031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Graph" r:id="rId5" imgW="2589632" imgH="2541421" progId="Origin50.Graph">
                      <p:embed/>
                    </p:oleObj>
                  </mc:Choice>
                  <mc:Fallback>
                    <p:oleObj name="Graph" r:id="rId5" imgW="2589632" imgH="2541421" progId="Origin50.Graph">
                      <p:embed/>
                      <p:pic>
                        <p:nvPicPr>
                          <p:cNvPr id="9" name="개체 8">
                            <a:extLst>
                              <a:ext uri="{FF2B5EF4-FFF2-40B4-BE49-F238E27FC236}">
                                <a16:creationId xmlns:a16="http://schemas.microsoft.com/office/drawing/2014/main" id="{B98952FE-3212-2128-4D3E-13F10BCB35F7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8694537" y="2773756"/>
                            <a:ext cx="4061806" cy="3990314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25211BA-FC0E-5C67-E99A-731AF11C1C7F}"/>
                  </a:ext>
                </a:extLst>
              </p:cNvPr>
              <p:cNvSpPr txBox="1"/>
              <p:nvPr/>
            </p:nvSpPr>
            <p:spPr>
              <a:xfrm>
                <a:off x="9814916" y="2449708"/>
                <a:ext cx="2209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400" b="1" dirty="0"/>
                  <a:t>STP</a:t>
                </a:r>
                <a:endParaRPr lang="ko-KR" altLang="en-US" sz="2400" b="1" dirty="0"/>
              </a:p>
            </p:txBody>
          </p:sp>
        </p:grp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52D5A745-1B54-4D59-FC7D-DD6EC74DE02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3487400" y="3356063"/>
              <a:ext cx="4856875" cy="5161257"/>
              <a:chOff x="13098763" y="2448908"/>
              <a:chExt cx="4034027" cy="4286840"/>
            </a:xfrm>
          </p:grpSpPr>
          <p:graphicFrame>
            <p:nvGraphicFramePr>
              <p:cNvPr id="7" name="개체 6">
                <a:extLst>
                  <a:ext uri="{FF2B5EF4-FFF2-40B4-BE49-F238E27FC236}">
                    <a16:creationId xmlns:a16="http://schemas.microsoft.com/office/drawing/2014/main" id="{40218A2B-2BF1-ED45-F240-41FB7CBFB52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48422079"/>
                  </p:ext>
                </p:extLst>
              </p:nvPr>
            </p:nvGraphicFramePr>
            <p:xfrm>
              <a:off x="13098763" y="2770888"/>
              <a:ext cx="4034027" cy="39648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Graph" r:id="rId7" imgW="2589632" imgH="2541421" progId="Origin50.Graph">
                      <p:embed/>
                    </p:oleObj>
                  </mc:Choice>
                  <mc:Fallback>
                    <p:oleObj name="Graph" r:id="rId7" imgW="2589632" imgH="2541421" progId="Origin50.Graph">
                      <p:embed/>
                      <p:pic>
                        <p:nvPicPr>
                          <p:cNvPr id="10" name="개체 9">
                            <a:extLst>
                              <a:ext uri="{FF2B5EF4-FFF2-40B4-BE49-F238E27FC236}">
                                <a16:creationId xmlns:a16="http://schemas.microsoft.com/office/drawing/2014/main" id="{78890074-70D4-0DC8-D30F-AED4E11AA51E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13098763" y="2770888"/>
                            <a:ext cx="4034027" cy="396486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42B83C0-1AC0-550E-1A80-94AA4F1EFA4C}"/>
                  </a:ext>
                </a:extLst>
              </p:cNvPr>
              <p:cNvSpPr txBox="1"/>
              <p:nvPr/>
            </p:nvSpPr>
            <p:spPr>
              <a:xfrm>
                <a:off x="14237984" y="2448908"/>
                <a:ext cx="2209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400" b="1" dirty="0"/>
                  <a:t>LTP</a:t>
                </a:r>
                <a:endParaRPr lang="ko-KR" altLang="en-US" sz="2400" b="1" dirty="0"/>
              </a:p>
            </p:txBody>
          </p: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9E602041-9512-9F6E-D524-70DE91C0D54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10784" y="3356063"/>
              <a:ext cx="4859124" cy="5161257"/>
              <a:chOff x="4292713" y="2449716"/>
              <a:chExt cx="4062024" cy="4314595"/>
            </a:xfrm>
          </p:grpSpPr>
          <p:graphicFrame>
            <p:nvGraphicFramePr>
              <p:cNvPr id="13" name="개체 12">
                <a:extLst>
                  <a:ext uri="{FF2B5EF4-FFF2-40B4-BE49-F238E27FC236}">
                    <a16:creationId xmlns:a16="http://schemas.microsoft.com/office/drawing/2014/main" id="{233F61AA-FD3D-869B-2AE7-F78B41B10E3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85231795"/>
                  </p:ext>
                </p:extLst>
              </p:nvPr>
            </p:nvGraphicFramePr>
            <p:xfrm>
              <a:off x="4292713" y="2773781"/>
              <a:ext cx="4062024" cy="399053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Graph" r:id="rId9" imgW="2589632" imgH="2541421" progId="Origin50.Graph">
                      <p:embed/>
                    </p:oleObj>
                  </mc:Choice>
                  <mc:Fallback>
                    <p:oleObj name="Graph" r:id="rId9" imgW="2589632" imgH="2541421" progId="Origin50.Graph">
                      <p:embed/>
                      <p:pic>
                        <p:nvPicPr>
                          <p:cNvPr id="3" name="개체 2">
                            <a:extLst>
                              <a:ext uri="{FF2B5EF4-FFF2-40B4-BE49-F238E27FC236}">
                                <a16:creationId xmlns:a16="http://schemas.microsoft.com/office/drawing/2014/main" id="{B8C780B2-8E8C-9690-9914-DAEAED30258D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4292713" y="2773781"/>
                            <a:ext cx="4062024" cy="399053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6869E49-7EA1-85E5-E278-BE77BF71FB86}"/>
                  </a:ext>
                </a:extLst>
              </p:cNvPr>
              <p:cNvSpPr txBox="1"/>
              <p:nvPr/>
            </p:nvSpPr>
            <p:spPr>
              <a:xfrm>
                <a:off x="5342995" y="2449716"/>
                <a:ext cx="2209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400" b="1" dirty="0"/>
                  <a:t>Single Pulse</a:t>
                </a:r>
                <a:endParaRPr lang="ko-KR" altLang="en-US" sz="2400" b="1" dirty="0"/>
              </a:p>
            </p:txBody>
          </p:sp>
        </p:grp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246BC69E-1B64-1067-CA43-EB7744202D4D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Transfer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curve, PSC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측정 데이터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2813C75-EF4F-04C6-5C7E-E10F925A6EFD}"/>
              </a:ext>
            </a:extLst>
          </p:cNvPr>
          <p:cNvSpPr txBox="1"/>
          <p:nvPr/>
        </p:nvSpPr>
        <p:spPr>
          <a:xfrm>
            <a:off x="228600" y="8191500"/>
            <a:ext cx="16535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** </a:t>
            </a:r>
            <a:r>
              <a:rPr lang="ko-KR" altLang="en-US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특이사항</a:t>
            </a:r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 **</a:t>
            </a:r>
          </a:p>
          <a:p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</a:rPr>
              <a:t> -</a:t>
            </a:r>
            <a:endParaRPr lang="ko-KR" altLang="en-US" sz="2000" dirty="0">
              <a:latin typeface="TDTD강굴림" panose="020B0600000101010101" charset="-127"/>
              <a:ea typeface="TDTD강굴림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22336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E0220-4A50-8A51-166F-DF89D7444F2A}"/>
              </a:ext>
            </a:extLst>
          </p:cNvPr>
          <p:cNvSpPr txBox="1"/>
          <p:nvPr/>
        </p:nvSpPr>
        <p:spPr>
          <a:xfrm>
            <a:off x="410400" y="1486800"/>
            <a:ext cx="17668164" cy="92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D2) SPT IGZO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400℃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7B8830A-BECF-0790-6B6D-DEBE0167E506}"/>
              </a:ext>
            </a:extLst>
          </p:cNvPr>
          <p:cNvGrpSpPr/>
          <p:nvPr/>
        </p:nvGrpSpPr>
        <p:grpSpPr>
          <a:xfrm>
            <a:off x="-8563" y="2552699"/>
            <a:ext cx="18352836" cy="5486401"/>
            <a:chOff x="-8563" y="3126470"/>
            <a:chExt cx="18352836" cy="5486401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D09A9715-A031-9604-9E9E-8043DC65536F}"/>
                </a:ext>
              </a:extLst>
            </p:cNvPr>
            <p:cNvSpPr/>
            <p:nvPr/>
          </p:nvSpPr>
          <p:spPr>
            <a:xfrm>
              <a:off x="228600" y="3126470"/>
              <a:ext cx="17830800" cy="5486401"/>
            </a:xfrm>
            <a:prstGeom prst="rect">
              <a:avLst/>
            </a:prstGeom>
            <a:solidFill>
              <a:srgbClr val="92D05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aphicFrame>
          <p:nvGraphicFramePr>
            <p:cNvPr id="18" name="개체 17">
              <a:extLst>
                <a:ext uri="{FF2B5EF4-FFF2-40B4-BE49-F238E27FC236}">
                  <a16:creationId xmlns:a16="http://schemas.microsoft.com/office/drawing/2014/main" id="{B2EF283C-6F53-E344-09CB-F319A7E0B03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34594221"/>
                </p:ext>
              </p:extLst>
            </p:nvPr>
          </p:nvGraphicFramePr>
          <p:xfrm>
            <a:off x="-8563" y="3743719"/>
            <a:ext cx="5190163" cy="4773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3" imgW="2589632" imgH="2541421" progId="Origin50.Graph">
                    <p:embed/>
                  </p:oleObj>
                </mc:Choice>
                <mc:Fallback>
                  <p:oleObj name="Graph" r:id="rId3" imgW="2589632" imgH="2541421" progId="Origin50.Graph">
                    <p:embed/>
                    <p:pic>
                      <p:nvPicPr>
                        <p:cNvPr id="24" name="개체 23">
                          <a:extLst>
                            <a:ext uri="{FF2B5EF4-FFF2-40B4-BE49-F238E27FC236}">
                              <a16:creationId xmlns:a16="http://schemas.microsoft.com/office/drawing/2014/main" id="{2311BAD4-D128-6B3A-E435-4278BAE2889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-8563" y="3743719"/>
                          <a:ext cx="5190163" cy="4773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개체 15">
              <a:extLst>
                <a:ext uri="{FF2B5EF4-FFF2-40B4-BE49-F238E27FC236}">
                  <a16:creationId xmlns:a16="http://schemas.microsoft.com/office/drawing/2014/main" id="{1700FE09-4796-7784-7F0F-2179A471AE9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18814710"/>
                </p:ext>
              </p:extLst>
            </p:nvPr>
          </p:nvGraphicFramePr>
          <p:xfrm>
            <a:off x="9099091" y="3743719"/>
            <a:ext cx="4859124" cy="4773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5" imgW="2589632" imgH="2541421" progId="Origin50.Graph">
                    <p:embed/>
                  </p:oleObj>
                </mc:Choice>
                <mc:Fallback>
                  <p:oleObj name="Graph" r:id="rId5" imgW="2589632" imgH="2541421" progId="Origin50.Graph">
                    <p:embed/>
                    <p:pic>
                      <p:nvPicPr>
                        <p:cNvPr id="3" name="개체 2">
                          <a:extLst>
                            <a:ext uri="{FF2B5EF4-FFF2-40B4-BE49-F238E27FC236}">
                              <a16:creationId xmlns:a16="http://schemas.microsoft.com/office/drawing/2014/main" id="{3DBFACE1-58D4-27CF-F081-891C880B549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9099091" y="3743719"/>
                          <a:ext cx="4859124" cy="4773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개체 13">
              <a:extLst>
                <a:ext uri="{FF2B5EF4-FFF2-40B4-BE49-F238E27FC236}">
                  <a16:creationId xmlns:a16="http://schemas.microsoft.com/office/drawing/2014/main" id="{80852674-6AB5-F658-503F-D6D0D1A27C7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7562298"/>
                </p:ext>
              </p:extLst>
            </p:nvPr>
          </p:nvGraphicFramePr>
          <p:xfrm>
            <a:off x="13487400" y="3743719"/>
            <a:ext cx="4856873" cy="4773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7" imgW="2589632" imgH="2541421" progId="Origin50.Graph">
                    <p:embed/>
                  </p:oleObj>
                </mc:Choice>
                <mc:Fallback>
                  <p:oleObj name="Graph" r:id="rId7" imgW="2589632" imgH="2541421" progId="Origin50.Graph">
                    <p:embed/>
                    <p:pic>
                      <p:nvPicPr>
                        <p:cNvPr id="7" name="개체 6">
                          <a:extLst>
                            <a:ext uri="{FF2B5EF4-FFF2-40B4-BE49-F238E27FC236}">
                              <a16:creationId xmlns:a16="http://schemas.microsoft.com/office/drawing/2014/main" id="{40218A2B-2BF1-ED45-F240-41FB7CBFB52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3487400" y="3743719"/>
                          <a:ext cx="4856873" cy="4773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개체 10">
              <a:extLst>
                <a:ext uri="{FF2B5EF4-FFF2-40B4-BE49-F238E27FC236}">
                  <a16:creationId xmlns:a16="http://schemas.microsoft.com/office/drawing/2014/main" id="{B5AFD446-891D-960C-CF7B-9ADC1F37DE1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48923900"/>
                </p:ext>
              </p:extLst>
            </p:nvPr>
          </p:nvGraphicFramePr>
          <p:xfrm>
            <a:off x="4710784" y="3743719"/>
            <a:ext cx="4859123" cy="4773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9" imgW="2589632" imgH="2541421" progId="Origin50.Graph">
                    <p:embed/>
                  </p:oleObj>
                </mc:Choice>
                <mc:Fallback>
                  <p:oleObj name="Graph" r:id="rId9" imgW="2589632" imgH="2541421" progId="Origin50.Graph">
                    <p:embed/>
                    <p:pic>
                      <p:nvPicPr>
                        <p:cNvPr id="13" name="개체 12">
                          <a:extLst>
                            <a:ext uri="{FF2B5EF4-FFF2-40B4-BE49-F238E27FC236}">
                              <a16:creationId xmlns:a16="http://schemas.microsoft.com/office/drawing/2014/main" id="{233F61AA-FD3D-869B-2AE7-F78B41B10E3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710784" y="3743719"/>
                          <a:ext cx="4859123" cy="4773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45BD4987-B920-8CEE-4B6D-AE1CF927B037}"/>
              </a:ext>
            </a:extLst>
          </p:cNvPr>
          <p:cNvSpPr txBox="1"/>
          <p:nvPr/>
        </p:nvSpPr>
        <p:spPr>
          <a:xfrm>
            <a:off x="1295400" y="2782292"/>
            <a:ext cx="3937899" cy="514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Transfer curve (V</a:t>
            </a:r>
            <a:r>
              <a:rPr lang="en-US" altLang="ko-KR" sz="2400" b="1" baseline="-25000" dirty="0"/>
              <a:t>D</a:t>
            </a:r>
            <a:r>
              <a:rPr lang="en-US" altLang="ko-KR" sz="2400" b="1" dirty="0"/>
              <a:t>=1V)</a:t>
            </a:r>
            <a:endParaRPr lang="ko-KR" altLang="en-US" sz="24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57E217-B2AE-F6FA-CD09-5AE1015D2586}"/>
              </a:ext>
            </a:extLst>
          </p:cNvPr>
          <p:cNvSpPr txBox="1"/>
          <p:nvPr/>
        </p:nvSpPr>
        <p:spPr>
          <a:xfrm>
            <a:off x="10439400" y="2782291"/>
            <a:ext cx="2643577" cy="552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STP</a:t>
            </a:r>
            <a:endParaRPr lang="ko-KR" altLang="en-US" sz="24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66BA869-D849-D427-8935-F2EDF527D92E}"/>
              </a:ext>
            </a:extLst>
          </p:cNvPr>
          <p:cNvSpPr txBox="1"/>
          <p:nvPr/>
        </p:nvSpPr>
        <p:spPr>
          <a:xfrm>
            <a:off x="14859000" y="2782292"/>
            <a:ext cx="2660548" cy="555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LTP</a:t>
            </a:r>
            <a:endParaRPr lang="ko-KR" altLang="en-US" sz="24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241010D-89A7-7EC4-DA18-35B971169874}"/>
              </a:ext>
            </a:extLst>
          </p:cNvPr>
          <p:cNvSpPr txBox="1"/>
          <p:nvPr/>
        </p:nvSpPr>
        <p:spPr>
          <a:xfrm>
            <a:off x="5967166" y="2782292"/>
            <a:ext cx="2643434" cy="552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Single Pulse</a:t>
            </a:r>
            <a:endParaRPr lang="ko-KR" altLang="en-US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3F1526-2009-81E0-FF0A-97EA69BE2A0E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Transfer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curve, PSC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측정 데이터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BF3218-A2C6-21C2-7FDE-069C147A8B5D}"/>
              </a:ext>
            </a:extLst>
          </p:cNvPr>
          <p:cNvSpPr txBox="1"/>
          <p:nvPr/>
        </p:nvSpPr>
        <p:spPr>
          <a:xfrm>
            <a:off x="228600" y="8191500"/>
            <a:ext cx="16535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** </a:t>
            </a:r>
            <a:r>
              <a:rPr lang="ko-KR" altLang="en-US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특이사항</a:t>
            </a:r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 **</a:t>
            </a:r>
          </a:p>
          <a:p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</a:rPr>
              <a:t> -</a:t>
            </a:r>
            <a:endParaRPr lang="ko-KR" altLang="en-US" sz="2000" dirty="0">
              <a:latin typeface="TDTD강굴림" panose="020B0600000101010101" charset="-127"/>
              <a:ea typeface="TDTD강굴림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71548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E0220-4A50-8A51-166F-DF89D7444F2A}"/>
              </a:ext>
            </a:extLst>
          </p:cNvPr>
          <p:cNvSpPr txBox="1"/>
          <p:nvPr/>
        </p:nvSpPr>
        <p:spPr>
          <a:xfrm>
            <a:off x="410400" y="1486800"/>
            <a:ext cx="17668164" cy="92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D3) SPT IGZO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500℃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0CC3C2C-784B-14D4-D2DE-9BCE6ECCA94E}"/>
              </a:ext>
            </a:extLst>
          </p:cNvPr>
          <p:cNvGrpSpPr/>
          <p:nvPr/>
        </p:nvGrpSpPr>
        <p:grpSpPr>
          <a:xfrm>
            <a:off x="-6117" y="2552700"/>
            <a:ext cx="18326576" cy="5485409"/>
            <a:chOff x="-6117" y="3127462"/>
            <a:chExt cx="18326576" cy="5485409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204BE637-5483-9E2B-CD1C-73C0D3BC41EB}"/>
                </a:ext>
              </a:extLst>
            </p:cNvPr>
            <p:cNvSpPr/>
            <p:nvPr/>
          </p:nvSpPr>
          <p:spPr>
            <a:xfrm>
              <a:off x="228600" y="3127462"/>
              <a:ext cx="17830800" cy="5485409"/>
            </a:xfrm>
            <a:prstGeom prst="rect">
              <a:avLst/>
            </a:prstGeom>
            <a:solidFill>
              <a:srgbClr val="92D05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aphicFrame>
          <p:nvGraphicFramePr>
            <p:cNvPr id="18" name="개체 17">
              <a:extLst>
                <a:ext uri="{FF2B5EF4-FFF2-40B4-BE49-F238E27FC236}">
                  <a16:creationId xmlns:a16="http://schemas.microsoft.com/office/drawing/2014/main" id="{F4FFAF66-025B-A3E4-FD41-69CA782286D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79643537"/>
                </p:ext>
              </p:extLst>
            </p:nvPr>
          </p:nvGraphicFramePr>
          <p:xfrm>
            <a:off x="-6117" y="3743719"/>
            <a:ext cx="5187717" cy="4773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3" imgW="2589632" imgH="2541421" progId="Origin50.Graph">
                    <p:embed/>
                  </p:oleObj>
                </mc:Choice>
                <mc:Fallback>
                  <p:oleObj name="Graph" r:id="rId3" imgW="2589632" imgH="2541421" progId="Origin50.Graph">
                    <p:embed/>
                    <p:pic>
                      <p:nvPicPr>
                        <p:cNvPr id="24" name="개체 23">
                          <a:extLst>
                            <a:ext uri="{FF2B5EF4-FFF2-40B4-BE49-F238E27FC236}">
                              <a16:creationId xmlns:a16="http://schemas.microsoft.com/office/drawing/2014/main" id="{2311BAD4-D128-6B3A-E435-4278BAE2889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-6117" y="3743719"/>
                          <a:ext cx="5187717" cy="4773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개체 15">
              <a:extLst>
                <a:ext uri="{FF2B5EF4-FFF2-40B4-BE49-F238E27FC236}">
                  <a16:creationId xmlns:a16="http://schemas.microsoft.com/office/drawing/2014/main" id="{67BF9658-D552-4F68-31CF-69B58931DE7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24587311"/>
                </p:ext>
              </p:extLst>
            </p:nvPr>
          </p:nvGraphicFramePr>
          <p:xfrm>
            <a:off x="9083214" y="3743719"/>
            <a:ext cx="4859126" cy="4773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5" imgW="2589632" imgH="2541421" progId="Origin50.Graph">
                    <p:embed/>
                  </p:oleObj>
                </mc:Choice>
                <mc:Fallback>
                  <p:oleObj name="Graph" r:id="rId5" imgW="2589632" imgH="2541421" progId="Origin50.Graph">
                    <p:embed/>
                    <p:pic>
                      <p:nvPicPr>
                        <p:cNvPr id="3" name="개체 2">
                          <a:extLst>
                            <a:ext uri="{FF2B5EF4-FFF2-40B4-BE49-F238E27FC236}">
                              <a16:creationId xmlns:a16="http://schemas.microsoft.com/office/drawing/2014/main" id="{3DBFACE1-58D4-27CF-F081-891C880B549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9083214" y="3743719"/>
                          <a:ext cx="4859126" cy="4773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개체 13">
              <a:extLst>
                <a:ext uri="{FF2B5EF4-FFF2-40B4-BE49-F238E27FC236}">
                  <a16:creationId xmlns:a16="http://schemas.microsoft.com/office/drawing/2014/main" id="{00EED8FF-622C-897B-CCAE-46DFF4CB93D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27737961"/>
                </p:ext>
              </p:extLst>
            </p:nvPr>
          </p:nvGraphicFramePr>
          <p:xfrm>
            <a:off x="13463585" y="3743719"/>
            <a:ext cx="4856874" cy="4773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7" imgW="2589632" imgH="2541421" progId="Origin50.Graph">
                    <p:embed/>
                  </p:oleObj>
                </mc:Choice>
                <mc:Fallback>
                  <p:oleObj name="Graph" r:id="rId7" imgW="2589632" imgH="2541421" progId="Origin50.Graph">
                    <p:embed/>
                    <p:pic>
                      <p:nvPicPr>
                        <p:cNvPr id="7" name="개체 6">
                          <a:extLst>
                            <a:ext uri="{FF2B5EF4-FFF2-40B4-BE49-F238E27FC236}">
                              <a16:creationId xmlns:a16="http://schemas.microsoft.com/office/drawing/2014/main" id="{40218A2B-2BF1-ED45-F240-41FB7CBFB52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3463585" y="3743719"/>
                          <a:ext cx="4856874" cy="4773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개체 10">
              <a:extLst>
                <a:ext uri="{FF2B5EF4-FFF2-40B4-BE49-F238E27FC236}">
                  <a16:creationId xmlns:a16="http://schemas.microsoft.com/office/drawing/2014/main" id="{AF9E6B2D-9E57-CDC9-0118-20B703B6C3B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57638345"/>
                </p:ext>
              </p:extLst>
            </p:nvPr>
          </p:nvGraphicFramePr>
          <p:xfrm>
            <a:off x="4702845" y="3743719"/>
            <a:ext cx="4859124" cy="4773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9" imgW="2589632" imgH="2541421" progId="Origin50.Graph">
                    <p:embed/>
                  </p:oleObj>
                </mc:Choice>
                <mc:Fallback>
                  <p:oleObj name="Graph" r:id="rId9" imgW="2589632" imgH="2541421" progId="Origin50.Graph">
                    <p:embed/>
                    <p:pic>
                      <p:nvPicPr>
                        <p:cNvPr id="13" name="개체 12">
                          <a:extLst>
                            <a:ext uri="{FF2B5EF4-FFF2-40B4-BE49-F238E27FC236}">
                              <a16:creationId xmlns:a16="http://schemas.microsoft.com/office/drawing/2014/main" id="{233F61AA-FD3D-869B-2AE7-F78B41B10E3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702845" y="3743719"/>
                          <a:ext cx="4859124" cy="4773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C0659E9-1833-D925-6AB0-418309F96D6D}"/>
              </a:ext>
            </a:extLst>
          </p:cNvPr>
          <p:cNvSpPr txBox="1"/>
          <p:nvPr/>
        </p:nvSpPr>
        <p:spPr>
          <a:xfrm>
            <a:off x="1295400" y="2781301"/>
            <a:ext cx="3937899" cy="514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Transfer curve (V</a:t>
            </a:r>
            <a:r>
              <a:rPr lang="en-US" altLang="ko-KR" sz="2400" b="1" baseline="-25000" dirty="0"/>
              <a:t>D</a:t>
            </a:r>
            <a:r>
              <a:rPr lang="en-US" altLang="ko-KR" sz="2400" b="1" dirty="0"/>
              <a:t>=1V)</a:t>
            </a:r>
            <a:endParaRPr lang="ko-KR" altLang="en-US" sz="24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3972AD-DF40-A04A-9381-61386A391BD2}"/>
              </a:ext>
            </a:extLst>
          </p:cNvPr>
          <p:cNvSpPr txBox="1"/>
          <p:nvPr/>
        </p:nvSpPr>
        <p:spPr>
          <a:xfrm>
            <a:off x="10439400" y="2781300"/>
            <a:ext cx="2643577" cy="552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STP</a:t>
            </a:r>
            <a:endParaRPr lang="ko-KR" altLang="en-US" sz="24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036A0EF-2369-725E-8B95-9DF493C1574F}"/>
              </a:ext>
            </a:extLst>
          </p:cNvPr>
          <p:cNvSpPr txBox="1"/>
          <p:nvPr/>
        </p:nvSpPr>
        <p:spPr>
          <a:xfrm>
            <a:off x="14859000" y="2781301"/>
            <a:ext cx="2660548" cy="555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LTP</a:t>
            </a:r>
            <a:endParaRPr lang="ko-KR" altLang="en-US" sz="24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C6FCF1-6020-6692-EDB5-3B1794E96A33}"/>
              </a:ext>
            </a:extLst>
          </p:cNvPr>
          <p:cNvSpPr txBox="1"/>
          <p:nvPr/>
        </p:nvSpPr>
        <p:spPr>
          <a:xfrm>
            <a:off x="5967166" y="2781301"/>
            <a:ext cx="2643434" cy="552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Single Pulse</a:t>
            </a:r>
            <a:endParaRPr lang="ko-KR" altLang="en-US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C60DEB-E6A5-299B-0F56-176869F04D01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Transfer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curve, PSC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측정 데이터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B8032D-EFA3-02D0-EB63-6EBEB038CEC2}"/>
              </a:ext>
            </a:extLst>
          </p:cNvPr>
          <p:cNvSpPr txBox="1"/>
          <p:nvPr/>
        </p:nvSpPr>
        <p:spPr>
          <a:xfrm>
            <a:off x="228600" y="8191500"/>
            <a:ext cx="16535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** </a:t>
            </a:r>
            <a:r>
              <a:rPr lang="ko-KR" altLang="en-US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특이사항</a:t>
            </a:r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 **</a:t>
            </a:r>
          </a:p>
          <a:p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</a:rPr>
              <a:t> - STP, LTP </a:t>
            </a:r>
            <a:r>
              <a:rPr lang="ko-KR" altLang="en-US" sz="2000" dirty="0">
                <a:latin typeface="TDTD강굴림" panose="020B0600000101010101" charset="-127"/>
                <a:ea typeface="TDTD강굴림" panose="020B0600000101010101" charset="-127"/>
              </a:rPr>
              <a:t>데이터 없음</a:t>
            </a:r>
            <a:endParaRPr lang="en-US" altLang="ko-KR" sz="2000" dirty="0">
              <a:latin typeface="TDTD강굴림" panose="020B0600000101010101" charset="-127"/>
              <a:ea typeface="TDTD강굴림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65891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E0220-4A50-8A51-166F-DF89D7444F2A}"/>
              </a:ext>
            </a:extLst>
          </p:cNvPr>
          <p:cNvSpPr txBox="1"/>
          <p:nvPr/>
        </p:nvSpPr>
        <p:spPr>
          <a:xfrm>
            <a:off x="410400" y="1486800"/>
            <a:ext cx="17668164" cy="92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D4) SPT IGZO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600℃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7F5A984-09EE-DA37-2596-12824AA2A888}"/>
              </a:ext>
            </a:extLst>
          </p:cNvPr>
          <p:cNvGrpSpPr/>
          <p:nvPr/>
        </p:nvGrpSpPr>
        <p:grpSpPr>
          <a:xfrm>
            <a:off x="0" y="2552700"/>
            <a:ext cx="18320460" cy="5485409"/>
            <a:chOff x="0" y="3127462"/>
            <a:chExt cx="18320460" cy="5485409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131A788F-8BA7-DAA3-E9B1-1ABEE68CB8AA}"/>
                </a:ext>
              </a:extLst>
            </p:cNvPr>
            <p:cNvSpPr/>
            <p:nvPr/>
          </p:nvSpPr>
          <p:spPr>
            <a:xfrm>
              <a:off x="228600" y="3127462"/>
              <a:ext cx="17830800" cy="5485409"/>
            </a:xfrm>
            <a:prstGeom prst="rect">
              <a:avLst/>
            </a:prstGeom>
            <a:solidFill>
              <a:srgbClr val="92D05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aphicFrame>
          <p:nvGraphicFramePr>
            <p:cNvPr id="18" name="개체 17">
              <a:extLst>
                <a:ext uri="{FF2B5EF4-FFF2-40B4-BE49-F238E27FC236}">
                  <a16:creationId xmlns:a16="http://schemas.microsoft.com/office/drawing/2014/main" id="{13CECFF8-01D1-B3AA-DA80-227F62DF416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7449008"/>
                </p:ext>
              </p:extLst>
            </p:nvPr>
          </p:nvGraphicFramePr>
          <p:xfrm>
            <a:off x="0" y="3743719"/>
            <a:ext cx="5187717" cy="4773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3" imgW="2589632" imgH="2541421" progId="Origin50.Graph">
                    <p:embed/>
                  </p:oleObj>
                </mc:Choice>
                <mc:Fallback>
                  <p:oleObj name="Graph" r:id="rId3" imgW="2589632" imgH="2541421" progId="Origin50.Graph">
                    <p:embed/>
                    <p:pic>
                      <p:nvPicPr>
                        <p:cNvPr id="24" name="개체 23">
                          <a:extLst>
                            <a:ext uri="{FF2B5EF4-FFF2-40B4-BE49-F238E27FC236}">
                              <a16:creationId xmlns:a16="http://schemas.microsoft.com/office/drawing/2014/main" id="{2311BAD4-D128-6B3A-E435-4278BAE2889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0" y="3743719"/>
                          <a:ext cx="5187717" cy="4773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개체 15">
              <a:extLst>
                <a:ext uri="{FF2B5EF4-FFF2-40B4-BE49-F238E27FC236}">
                  <a16:creationId xmlns:a16="http://schemas.microsoft.com/office/drawing/2014/main" id="{37901F57-28BC-2862-6ECD-5B4DE6F7A32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18596581"/>
                </p:ext>
              </p:extLst>
            </p:nvPr>
          </p:nvGraphicFramePr>
          <p:xfrm>
            <a:off x="9085253" y="3743719"/>
            <a:ext cx="4859126" cy="4773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5" imgW="2589632" imgH="2541421" progId="Origin50.Graph">
                    <p:embed/>
                  </p:oleObj>
                </mc:Choice>
                <mc:Fallback>
                  <p:oleObj name="Graph" r:id="rId5" imgW="2589632" imgH="2541421" progId="Origin50.Graph">
                    <p:embed/>
                    <p:pic>
                      <p:nvPicPr>
                        <p:cNvPr id="3" name="개체 2">
                          <a:extLst>
                            <a:ext uri="{FF2B5EF4-FFF2-40B4-BE49-F238E27FC236}">
                              <a16:creationId xmlns:a16="http://schemas.microsoft.com/office/drawing/2014/main" id="{3DBFACE1-58D4-27CF-F081-891C880B549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9085253" y="3743719"/>
                          <a:ext cx="4859126" cy="4773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개체 13">
              <a:extLst>
                <a:ext uri="{FF2B5EF4-FFF2-40B4-BE49-F238E27FC236}">
                  <a16:creationId xmlns:a16="http://schemas.microsoft.com/office/drawing/2014/main" id="{F15555BD-41D2-982C-BB3C-BE3E3F3844F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31345750"/>
                </p:ext>
              </p:extLst>
            </p:nvPr>
          </p:nvGraphicFramePr>
          <p:xfrm>
            <a:off x="13463586" y="3743719"/>
            <a:ext cx="4856874" cy="4773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7" imgW="2589632" imgH="2541421" progId="Origin50.Graph">
                    <p:embed/>
                  </p:oleObj>
                </mc:Choice>
                <mc:Fallback>
                  <p:oleObj name="Graph" r:id="rId7" imgW="2589632" imgH="2541421" progId="Origin50.Graph">
                    <p:embed/>
                    <p:pic>
                      <p:nvPicPr>
                        <p:cNvPr id="7" name="개체 6">
                          <a:extLst>
                            <a:ext uri="{FF2B5EF4-FFF2-40B4-BE49-F238E27FC236}">
                              <a16:creationId xmlns:a16="http://schemas.microsoft.com/office/drawing/2014/main" id="{40218A2B-2BF1-ED45-F240-41FB7CBFB52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3463586" y="3743719"/>
                          <a:ext cx="4856874" cy="4773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개체 10">
              <a:extLst>
                <a:ext uri="{FF2B5EF4-FFF2-40B4-BE49-F238E27FC236}">
                  <a16:creationId xmlns:a16="http://schemas.microsoft.com/office/drawing/2014/main" id="{C5E660FF-6EA5-47A2-8F0B-7FBDE4EA662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82134245"/>
                </p:ext>
              </p:extLst>
            </p:nvPr>
          </p:nvGraphicFramePr>
          <p:xfrm>
            <a:off x="4706923" y="3743719"/>
            <a:ext cx="4859124" cy="4773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9" imgW="2589632" imgH="2541421" progId="Origin50.Graph">
                    <p:embed/>
                  </p:oleObj>
                </mc:Choice>
                <mc:Fallback>
                  <p:oleObj name="Graph" r:id="rId9" imgW="2589632" imgH="2541421" progId="Origin50.Graph">
                    <p:embed/>
                    <p:pic>
                      <p:nvPicPr>
                        <p:cNvPr id="13" name="개체 12">
                          <a:extLst>
                            <a:ext uri="{FF2B5EF4-FFF2-40B4-BE49-F238E27FC236}">
                              <a16:creationId xmlns:a16="http://schemas.microsoft.com/office/drawing/2014/main" id="{233F61AA-FD3D-869B-2AE7-F78B41B10E3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706923" y="3743719"/>
                          <a:ext cx="4859124" cy="4773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545F8AE-90B6-2979-2F76-542372FB6D47}"/>
              </a:ext>
            </a:extLst>
          </p:cNvPr>
          <p:cNvSpPr txBox="1"/>
          <p:nvPr/>
        </p:nvSpPr>
        <p:spPr>
          <a:xfrm>
            <a:off x="1295400" y="2781301"/>
            <a:ext cx="3937899" cy="514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Transfer curve (V</a:t>
            </a:r>
            <a:r>
              <a:rPr lang="en-US" altLang="ko-KR" sz="2400" b="1" baseline="-25000" dirty="0"/>
              <a:t>D</a:t>
            </a:r>
            <a:r>
              <a:rPr lang="en-US" altLang="ko-KR" sz="2400" b="1" dirty="0"/>
              <a:t>=1V)</a:t>
            </a:r>
            <a:endParaRPr lang="ko-KR" altLang="en-US" sz="24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073C7A-9642-ECB1-E67B-BC4CE8AD4A3A}"/>
              </a:ext>
            </a:extLst>
          </p:cNvPr>
          <p:cNvSpPr txBox="1"/>
          <p:nvPr/>
        </p:nvSpPr>
        <p:spPr>
          <a:xfrm>
            <a:off x="10439400" y="2781300"/>
            <a:ext cx="2643577" cy="552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STP</a:t>
            </a:r>
            <a:endParaRPr lang="ko-KR" altLang="en-US" sz="24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ACFB8B3-6AAC-1E27-207E-40541E094529}"/>
              </a:ext>
            </a:extLst>
          </p:cNvPr>
          <p:cNvSpPr txBox="1"/>
          <p:nvPr/>
        </p:nvSpPr>
        <p:spPr>
          <a:xfrm>
            <a:off x="14859000" y="2781301"/>
            <a:ext cx="2660548" cy="555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LTP</a:t>
            </a:r>
            <a:endParaRPr lang="ko-KR" altLang="en-US" sz="24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26DB57-088A-3EB8-2835-63F66661173F}"/>
              </a:ext>
            </a:extLst>
          </p:cNvPr>
          <p:cNvSpPr txBox="1"/>
          <p:nvPr/>
        </p:nvSpPr>
        <p:spPr>
          <a:xfrm>
            <a:off x="5967166" y="2781301"/>
            <a:ext cx="2643434" cy="552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Single Pulse</a:t>
            </a:r>
            <a:endParaRPr lang="ko-KR" altLang="en-US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D51DF8-3FB4-3DDD-88C9-2D1C4A9F602C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Transfer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curve, PSC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측정 데이터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A75E53-75E5-5D44-109A-B498DD5D3EA6}"/>
              </a:ext>
            </a:extLst>
          </p:cNvPr>
          <p:cNvSpPr txBox="1"/>
          <p:nvPr/>
        </p:nvSpPr>
        <p:spPr>
          <a:xfrm>
            <a:off x="228600" y="8191500"/>
            <a:ext cx="16535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** </a:t>
            </a:r>
            <a:r>
              <a:rPr lang="ko-KR" altLang="en-US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특이사항</a:t>
            </a:r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 **</a:t>
            </a:r>
          </a:p>
          <a:p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</a:rPr>
              <a:t> -</a:t>
            </a:r>
            <a:endParaRPr lang="ko-KR" altLang="en-US" sz="2000" dirty="0">
              <a:latin typeface="TDTD강굴림" panose="020B0600000101010101" charset="-127"/>
              <a:ea typeface="TDTD강굴림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14267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E0220-4A50-8A51-166F-DF89D7444F2A}"/>
              </a:ext>
            </a:extLst>
          </p:cNvPr>
          <p:cNvSpPr txBox="1"/>
          <p:nvPr/>
        </p:nvSpPr>
        <p:spPr>
          <a:xfrm>
            <a:off x="410400" y="1486800"/>
            <a:ext cx="17668164" cy="92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D5) SPT IGZO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700℃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83523CE-98BB-A4F0-3C8D-82DF905873FE}"/>
              </a:ext>
            </a:extLst>
          </p:cNvPr>
          <p:cNvSpPr txBox="1"/>
          <p:nvPr/>
        </p:nvSpPr>
        <p:spPr>
          <a:xfrm>
            <a:off x="228600" y="8191500"/>
            <a:ext cx="16535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** </a:t>
            </a:r>
            <a:r>
              <a:rPr lang="ko-KR" altLang="en-US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특이사항</a:t>
            </a:r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 **</a:t>
            </a:r>
          </a:p>
          <a:p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</a:rPr>
              <a:t> - STP, LTP </a:t>
            </a:r>
            <a:r>
              <a:rPr lang="ko-KR" altLang="en-US" sz="2000" dirty="0">
                <a:latin typeface="TDTD강굴림" panose="020B0600000101010101" charset="-127"/>
                <a:ea typeface="TDTD강굴림" panose="020B0600000101010101" charset="-127"/>
              </a:rPr>
              <a:t>데이터 없음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B1B64E7-54B0-02A9-1B71-94447C09426B}"/>
              </a:ext>
            </a:extLst>
          </p:cNvPr>
          <p:cNvGrpSpPr/>
          <p:nvPr/>
        </p:nvGrpSpPr>
        <p:grpSpPr>
          <a:xfrm>
            <a:off x="-6117" y="2552700"/>
            <a:ext cx="18326577" cy="5485409"/>
            <a:chOff x="-6117" y="3127462"/>
            <a:chExt cx="18326577" cy="5485409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2B5C543F-81E8-7B09-C3AD-73220D6C6D0A}"/>
                </a:ext>
              </a:extLst>
            </p:cNvPr>
            <p:cNvSpPr/>
            <p:nvPr/>
          </p:nvSpPr>
          <p:spPr>
            <a:xfrm>
              <a:off x="228600" y="3127462"/>
              <a:ext cx="17830800" cy="5485409"/>
            </a:xfrm>
            <a:prstGeom prst="rect">
              <a:avLst/>
            </a:prstGeom>
            <a:solidFill>
              <a:srgbClr val="92D05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aphicFrame>
          <p:nvGraphicFramePr>
            <p:cNvPr id="33" name="개체 32">
              <a:extLst>
                <a:ext uri="{FF2B5EF4-FFF2-40B4-BE49-F238E27FC236}">
                  <a16:creationId xmlns:a16="http://schemas.microsoft.com/office/drawing/2014/main" id="{C887952D-51FE-006C-FD54-C3FFC71ABAF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96612924"/>
                </p:ext>
              </p:extLst>
            </p:nvPr>
          </p:nvGraphicFramePr>
          <p:xfrm>
            <a:off x="-6117" y="3743719"/>
            <a:ext cx="5187717" cy="4773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3" imgW="2589632" imgH="2541421" progId="Origin50.Graph">
                    <p:embed/>
                  </p:oleObj>
                </mc:Choice>
                <mc:Fallback>
                  <p:oleObj name="Graph" r:id="rId3" imgW="2589632" imgH="2541421" progId="Origin50.Graph">
                    <p:embed/>
                    <p:pic>
                      <p:nvPicPr>
                        <p:cNvPr id="24" name="개체 23">
                          <a:extLst>
                            <a:ext uri="{FF2B5EF4-FFF2-40B4-BE49-F238E27FC236}">
                              <a16:creationId xmlns:a16="http://schemas.microsoft.com/office/drawing/2014/main" id="{2311BAD4-D128-6B3A-E435-4278BAE2889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-6117" y="3743719"/>
                          <a:ext cx="5187717" cy="4773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개체 23">
              <a:extLst>
                <a:ext uri="{FF2B5EF4-FFF2-40B4-BE49-F238E27FC236}">
                  <a16:creationId xmlns:a16="http://schemas.microsoft.com/office/drawing/2014/main" id="{04A1C049-74AA-4272-3BD7-63E47E62CA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91086514"/>
                </p:ext>
              </p:extLst>
            </p:nvPr>
          </p:nvGraphicFramePr>
          <p:xfrm>
            <a:off x="9083214" y="3743719"/>
            <a:ext cx="4859126" cy="4773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5" imgW="2589632" imgH="2541421" progId="Origin50.Graph">
                    <p:embed/>
                  </p:oleObj>
                </mc:Choice>
                <mc:Fallback>
                  <p:oleObj name="Graph" r:id="rId5" imgW="2589632" imgH="2541421" progId="Origin50.Graph">
                    <p:embed/>
                    <p:pic>
                      <p:nvPicPr>
                        <p:cNvPr id="3" name="개체 2">
                          <a:extLst>
                            <a:ext uri="{FF2B5EF4-FFF2-40B4-BE49-F238E27FC236}">
                              <a16:creationId xmlns:a16="http://schemas.microsoft.com/office/drawing/2014/main" id="{3DBFACE1-58D4-27CF-F081-891C880B549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9083214" y="3743719"/>
                          <a:ext cx="4859126" cy="4773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개체 17">
              <a:extLst>
                <a:ext uri="{FF2B5EF4-FFF2-40B4-BE49-F238E27FC236}">
                  <a16:creationId xmlns:a16="http://schemas.microsoft.com/office/drawing/2014/main" id="{5E6496C3-EB24-8B5B-9B72-066758F3D5D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7947436"/>
                </p:ext>
              </p:extLst>
            </p:nvPr>
          </p:nvGraphicFramePr>
          <p:xfrm>
            <a:off x="13463586" y="3743719"/>
            <a:ext cx="4856874" cy="4773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7" imgW="2589632" imgH="2541421" progId="Origin50.Graph">
                    <p:embed/>
                  </p:oleObj>
                </mc:Choice>
                <mc:Fallback>
                  <p:oleObj name="Graph" r:id="rId7" imgW="2589632" imgH="2541421" progId="Origin50.Graph">
                    <p:embed/>
                    <p:pic>
                      <p:nvPicPr>
                        <p:cNvPr id="7" name="개체 6">
                          <a:extLst>
                            <a:ext uri="{FF2B5EF4-FFF2-40B4-BE49-F238E27FC236}">
                              <a16:creationId xmlns:a16="http://schemas.microsoft.com/office/drawing/2014/main" id="{40218A2B-2BF1-ED45-F240-41FB7CBFB52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3463586" y="3743719"/>
                          <a:ext cx="4856874" cy="4773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개체 12">
              <a:extLst>
                <a:ext uri="{FF2B5EF4-FFF2-40B4-BE49-F238E27FC236}">
                  <a16:creationId xmlns:a16="http://schemas.microsoft.com/office/drawing/2014/main" id="{86CDFDAD-05AF-2A9F-4BA4-A57BDBDF052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7705889"/>
                </p:ext>
              </p:extLst>
            </p:nvPr>
          </p:nvGraphicFramePr>
          <p:xfrm>
            <a:off x="4702845" y="3743719"/>
            <a:ext cx="4859124" cy="4773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9" imgW="2589632" imgH="2541421" progId="Origin50.Graph">
                    <p:embed/>
                  </p:oleObj>
                </mc:Choice>
                <mc:Fallback>
                  <p:oleObj name="Graph" r:id="rId9" imgW="2589632" imgH="2541421" progId="Origin50.Graph">
                    <p:embed/>
                    <p:pic>
                      <p:nvPicPr>
                        <p:cNvPr id="13" name="개체 12">
                          <a:extLst>
                            <a:ext uri="{FF2B5EF4-FFF2-40B4-BE49-F238E27FC236}">
                              <a16:creationId xmlns:a16="http://schemas.microsoft.com/office/drawing/2014/main" id="{233F61AA-FD3D-869B-2AE7-F78B41B10E3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702845" y="3743719"/>
                          <a:ext cx="4859124" cy="4773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1A28F3B-C398-A025-75B8-2E5CFECACF37}"/>
              </a:ext>
            </a:extLst>
          </p:cNvPr>
          <p:cNvSpPr txBox="1"/>
          <p:nvPr/>
        </p:nvSpPr>
        <p:spPr>
          <a:xfrm>
            <a:off x="1295400" y="2781301"/>
            <a:ext cx="3937899" cy="514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Transfer curve (V</a:t>
            </a:r>
            <a:r>
              <a:rPr lang="en-US" altLang="ko-KR" sz="2400" b="1" baseline="-25000" dirty="0"/>
              <a:t>D</a:t>
            </a:r>
            <a:r>
              <a:rPr lang="en-US" altLang="ko-KR" sz="2400" b="1" dirty="0"/>
              <a:t>=1V)</a:t>
            </a:r>
            <a:endParaRPr lang="ko-KR" altLang="en-US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37B223-8AFF-3922-F452-2B9B73C877F7}"/>
              </a:ext>
            </a:extLst>
          </p:cNvPr>
          <p:cNvSpPr txBox="1"/>
          <p:nvPr/>
        </p:nvSpPr>
        <p:spPr>
          <a:xfrm>
            <a:off x="10439400" y="2781300"/>
            <a:ext cx="2643577" cy="552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STP</a:t>
            </a:r>
            <a:endParaRPr lang="ko-KR" altLang="en-US" sz="2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474926-BAA5-9F5B-E95E-BF4DF819A90B}"/>
              </a:ext>
            </a:extLst>
          </p:cNvPr>
          <p:cNvSpPr txBox="1"/>
          <p:nvPr/>
        </p:nvSpPr>
        <p:spPr>
          <a:xfrm>
            <a:off x="14859000" y="2781301"/>
            <a:ext cx="2660548" cy="555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LTP</a:t>
            </a:r>
            <a:endParaRPr lang="ko-KR" altLang="en-US" sz="2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2956A2-D217-5BF3-8549-2FA9C99162C8}"/>
              </a:ext>
            </a:extLst>
          </p:cNvPr>
          <p:cNvSpPr txBox="1"/>
          <p:nvPr/>
        </p:nvSpPr>
        <p:spPr>
          <a:xfrm>
            <a:off x="5967166" y="2781301"/>
            <a:ext cx="2643434" cy="552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Single Pulse</a:t>
            </a:r>
            <a:endParaRPr lang="ko-KR" altLang="en-US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9F38AF-1276-C5CA-C42E-D726180614E2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Transfer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curve, PSC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측정 데이터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08974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E0220-4A50-8A51-166F-DF89D7444F2A}"/>
              </a:ext>
            </a:extLst>
          </p:cNvPr>
          <p:cNvSpPr txBox="1"/>
          <p:nvPr/>
        </p:nvSpPr>
        <p:spPr>
          <a:xfrm>
            <a:off x="410400" y="1486800"/>
            <a:ext cx="17668164" cy="92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D6) SPT IGZO </a:t>
            </a:r>
            <a:r>
              <a:rPr lang="en-US" altLang="ko-KR" sz="4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800℃</a:t>
            </a:r>
            <a:r>
              <a:rPr lang="en-US" altLang="ko-KR" sz="4000" dirty="0">
                <a:latin typeface="TDTD강굴림" panose="020B0600000101010101" charset="-127"/>
                <a:ea typeface="TDTD강굴림" panose="020B0600000101010101" charset="-127"/>
              </a:rPr>
              <a:t> 1h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DC593E5-2AEB-6E0B-FD38-B19FFDCEE0CE}"/>
              </a:ext>
            </a:extLst>
          </p:cNvPr>
          <p:cNvGrpSpPr/>
          <p:nvPr/>
        </p:nvGrpSpPr>
        <p:grpSpPr>
          <a:xfrm>
            <a:off x="0" y="2552700"/>
            <a:ext cx="18320460" cy="5485409"/>
            <a:chOff x="0" y="3127462"/>
            <a:chExt cx="18320460" cy="5485409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B30B004F-F286-BB73-41B9-19807F11A9D0}"/>
                </a:ext>
              </a:extLst>
            </p:cNvPr>
            <p:cNvSpPr/>
            <p:nvPr/>
          </p:nvSpPr>
          <p:spPr>
            <a:xfrm>
              <a:off x="228600" y="3127462"/>
              <a:ext cx="17830800" cy="5485409"/>
            </a:xfrm>
            <a:prstGeom prst="rect">
              <a:avLst/>
            </a:prstGeom>
            <a:solidFill>
              <a:srgbClr val="92D05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aphicFrame>
          <p:nvGraphicFramePr>
            <p:cNvPr id="33" name="개체 32">
              <a:extLst>
                <a:ext uri="{FF2B5EF4-FFF2-40B4-BE49-F238E27FC236}">
                  <a16:creationId xmlns:a16="http://schemas.microsoft.com/office/drawing/2014/main" id="{82EC4046-A6EF-A724-A93A-C582E85BA36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35073651"/>
                </p:ext>
              </p:extLst>
            </p:nvPr>
          </p:nvGraphicFramePr>
          <p:xfrm>
            <a:off x="0" y="3743719"/>
            <a:ext cx="5187717" cy="4773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3" imgW="2589632" imgH="2541421" progId="Origin50.Graph">
                    <p:embed/>
                  </p:oleObj>
                </mc:Choice>
                <mc:Fallback>
                  <p:oleObj name="Graph" r:id="rId3" imgW="2589632" imgH="2541421" progId="Origin50.Graph">
                    <p:embed/>
                    <p:pic>
                      <p:nvPicPr>
                        <p:cNvPr id="24" name="개체 23">
                          <a:extLst>
                            <a:ext uri="{FF2B5EF4-FFF2-40B4-BE49-F238E27FC236}">
                              <a16:creationId xmlns:a16="http://schemas.microsoft.com/office/drawing/2014/main" id="{2311BAD4-D128-6B3A-E435-4278BAE2889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0" y="3743719"/>
                          <a:ext cx="5187717" cy="4773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개체 23">
              <a:extLst>
                <a:ext uri="{FF2B5EF4-FFF2-40B4-BE49-F238E27FC236}">
                  <a16:creationId xmlns:a16="http://schemas.microsoft.com/office/drawing/2014/main" id="{012FFBCA-4C07-BDA8-1154-73CC89D7E64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77456594"/>
                </p:ext>
              </p:extLst>
            </p:nvPr>
          </p:nvGraphicFramePr>
          <p:xfrm>
            <a:off x="9085253" y="3743719"/>
            <a:ext cx="4859126" cy="4773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5" imgW="2589632" imgH="2541421" progId="Origin50.Graph">
                    <p:embed/>
                  </p:oleObj>
                </mc:Choice>
                <mc:Fallback>
                  <p:oleObj name="Graph" r:id="rId5" imgW="2589632" imgH="2541421" progId="Origin50.Graph">
                    <p:embed/>
                    <p:pic>
                      <p:nvPicPr>
                        <p:cNvPr id="3" name="개체 2">
                          <a:extLst>
                            <a:ext uri="{FF2B5EF4-FFF2-40B4-BE49-F238E27FC236}">
                              <a16:creationId xmlns:a16="http://schemas.microsoft.com/office/drawing/2014/main" id="{3DBFACE1-58D4-27CF-F081-891C880B549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9085253" y="3743719"/>
                          <a:ext cx="4859126" cy="4773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개체 17">
              <a:extLst>
                <a:ext uri="{FF2B5EF4-FFF2-40B4-BE49-F238E27FC236}">
                  <a16:creationId xmlns:a16="http://schemas.microsoft.com/office/drawing/2014/main" id="{7304AD65-D921-BE0F-768A-730356EF3AC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19745287"/>
                </p:ext>
              </p:extLst>
            </p:nvPr>
          </p:nvGraphicFramePr>
          <p:xfrm>
            <a:off x="13463586" y="3743719"/>
            <a:ext cx="4856874" cy="4773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7" imgW="2589632" imgH="2541421" progId="Origin50.Graph">
                    <p:embed/>
                  </p:oleObj>
                </mc:Choice>
                <mc:Fallback>
                  <p:oleObj name="Graph" r:id="rId7" imgW="2589632" imgH="2541421" progId="Origin50.Graph">
                    <p:embed/>
                    <p:pic>
                      <p:nvPicPr>
                        <p:cNvPr id="7" name="개체 6">
                          <a:extLst>
                            <a:ext uri="{FF2B5EF4-FFF2-40B4-BE49-F238E27FC236}">
                              <a16:creationId xmlns:a16="http://schemas.microsoft.com/office/drawing/2014/main" id="{40218A2B-2BF1-ED45-F240-41FB7CBFB52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3463586" y="3743719"/>
                          <a:ext cx="4856874" cy="4773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개체 12">
              <a:extLst>
                <a:ext uri="{FF2B5EF4-FFF2-40B4-BE49-F238E27FC236}">
                  <a16:creationId xmlns:a16="http://schemas.microsoft.com/office/drawing/2014/main" id="{02009838-A3D6-5BC8-CAC6-D5B3A623A1D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13093359"/>
                </p:ext>
              </p:extLst>
            </p:nvPr>
          </p:nvGraphicFramePr>
          <p:xfrm>
            <a:off x="4706923" y="3743719"/>
            <a:ext cx="4859124" cy="4773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9" imgW="2589632" imgH="2541421" progId="Origin50.Graph">
                    <p:embed/>
                  </p:oleObj>
                </mc:Choice>
                <mc:Fallback>
                  <p:oleObj name="Graph" r:id="rId9" imgW="2589632" imgH="2541421" progId="Origin50.Graph">
                    <p:embed/>
                    <p:pic>
                      <p:nvPicPr>
                        <p:cNvPr id="13" name="개체 12">
                          <a:extLst>
                            <a:ext uri="{FF2B5EF4-FFF2-40B4-BE49-F238E27FC236}">
                              <a16:creationId xmlns:a16="http://schemas.microsoft.com/office/drawing/2014/main" id="{233F61AA-FD3D-869B-2AE7-F78B41B10E3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706923" y="3743719"/>
                          <a:ext cx="4859124" cy="4773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FE6BE89-EE30-D801-3FA3-A4913967D7CD}"/>
              </a:ext>
            </a:extLst>
          </p:cNvPr>
          <p:cNvSpPr txBox="1"/>
          <p:nvPr/>
        </p:nvSpPr>
        <p:spPr>
          <a:xfrm>
            <a:off x="1295400" y="2781301"/>
            <a:ext cx="3937899" cy="514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Transfer curve (V</a:t>
            </a:r>
            <a:r>
              <a:rPr lang="en-US" altLang="ko-KR" sz="2400" b="1" baseline="-25000" dirty="0"/>
              <a:t>D</a:t>
            </a:r>
            <a:r>
              <a:rPr lang="en-US" altLang="ko-KR" sz="2400" b="1" dirty="0"/>
              <a:t>=1V)</a:t>
            </a:r>
            <a:endParaRPr lang="ko-KR" altLang="en-US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1D1DB9-EA55-275D-D404-0BEDB83532BF}"/>
              </a:ext>
            </a:extLst>
          </p:cNvPr>
          <p:cNvSpPr txBox="1"/>
          <p:nvPr/>
        </p:nvSpPr>
        <p:spPr>
          <a:xfrm>
            <a:off x="10439400" y="2781300"/>
            <a:ext cx="2643577" cy="552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STP</a:t>
            </a:r>
            <a:endParaRPr lang="ko-KR" altLang="en-US" sz="2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55C6E1-8B4D-C4FF-0C0D-A04850B4FDBF}"/>
              </a:ext>
            </a:extLst>
          </p:cNvPr>
          <p:cNvSpPr txBox="1"/>
          <p:nvPr/>
        </p:nvSpPr>
        <p:spPr>
          <a:xfrm>
            <a:off x="14859000" y="2781301"/>
            <a:ext cx="2660548" cy="555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LTP</a:t>
            </a:r>
            <a:endParaRPr lang="ko-KR" altLang="en-US" sz="2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191A2D-3A1C-B534-16DD-8DC42FE65690}"/>
              </a:ext>
            </a:extLst>
          </p:cNvPr>
          <p:cNvSpPr txBox="1"/>
          <p:nvPr/>
        </p:nvSpPr>
        <p:spPr>
          <a:xfrm>
            <a:off x="5967166" y="2781301"/>
            <a:ext cx="2643434" cy="552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Single Pulse</a:t>
            </a:r>
            <a:endParaRPr lang="ko-KR" altLang="en-US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F612C3-3EEC-E5BB-0986-31E819ACF404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Transfer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curve, PSC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측정 데이터</a:t>
            </a:r>
            <a:endParaRPr lang="en-US" altLang="ko-KR" sz="54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29C8E0-C041-F1BF-133B-2F2F33D49BEC}"/>
              </a:ext>
            </a:extLst>
          </p:cNvPr>
          <p:cNvSpPr txBox="1"/>
          <p:nvPr/>
        </p:nvSpPr>
        <p:spPr>
          <a:xfrm>
            <a:off x="228600" y="8191500"/>
            <a:ext cx="16535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** </a:t>
            </a:r>
            <a:r>
              <a:rPr lang="ko-KR" altLang="en-US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특이사항</a:t>
            </a:r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 **</a:t>
            </a:r>
          </a:p>
          <a:p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</a:rPr>
              <a:t> - STP, LTP </a:t>
            </a:r>
            <a:r>
              <a:rPr lang="ko-KR" altLang="en-US" sz="2000" dirty="0">
                <a:latin typeface="TDTD강굴림" panose="020B0600000101010101" charset="-127"/>
                <a:ea typeface="TDTD강굴림" panose="020B0600000101010101" charset="-127"/>
              </a:rPr>
              <a:t>데이터 없음</a:t>
            </a:r>
            <a:endParaRPr lang="en-US" altLang="ko-KR" sz="2000" dirty="0">
              <a:latin typeface="TDTD강굴림" panose="020B0600000101010101" charset="-127"/>
              <a:ea typeface="TDTD강굴림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89981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개체 12">
            <a:extLst>
              <a:ext uri="{FF2B5EF4-FFF2-40B4-BE49-F238E27FC236}">
                <a16:creationId xmlns:a16="http://schemas.microsoft.com/office/drawing/2014/main" id="{E197EC2A-731C-ED73-3E06-BA9E8AFF97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7889464"/>
              </p:ext>
            </p:extLst>
          </p:nvPr>
        </p:nvGraphicFramePr>
        <p:xfrm>
          <a:off x="-304800" y="3095100"/>
          <a:ext cx="6902694" cy="479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3028034" imgH="2101174" progId="Origin50.Graph">
                  <p:embed/>
                </p:oleObj>
              </mc:Choice>
              <mc:Fallback>
                <p:oleObj name="Graph" r:id="rId3" imgW="3028034" imgH="2101174" progId="Origin50.Graph">
                  <p:embed/>
                  <p:pic>
                    <p:nvPicPr>
                      <p:cNvPr id="3" name="개체 2">
                        <a:extLst>
                          <a:ext uri="{FF2B5EF4-FFF2-40B4-BE49-F238E27FC236}">
                            <a16:creationId xmlns:a16="http://schemas.microsoft.com/office/drawing/2014/main" id="{B0666B77-9F51-6A91-FE10-7D823A5F3E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-304800" y="3095100"/>
                        <a:ext cx="6902694" cy="479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14" name="개체 13">
            <a:extLst>
              <a:ext uri="{FF2B5EF4-FFF2-40B4-BE49-F238E27FC236}">
                <a16:creationId xmlns:a16="http://schemas.microsoft.com/office/drawing/2014/main" id="{9968F647-1D6D-A8DA-B0B9-163CAB7A7B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8276797"/>
              </p:ext>
            </p:extLst>
          </p:nvPr>
        </p:nvGraphicFramePr>
        <p:xfrm>
          <a:off x="5811364" y="3095100"/>
          <a:ext cx="6900443" cy="479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3028034" imgH="2101174" progId="Origin50.Graph">
                  <p:embed/>
                </p:oleObj>
              </mc:Choice>
              <mc:Fallback>
                <p:oleObj name="Graph" r:id="rId5" imgW="3028034" imgH="2101174" progId="Origin50.Graph">
                  <p:embed/>
                  <p:pic>
                    <p:nvPicPr>
                      <p:cNvPr id="9" name="개체 8">
                        <a:extLst>
                          <a:ext uri="{FF2B5EF4-FFF2-40B4-BE49-F238E27FC236}">
                            <a16:creationId xmlns:a16="http://schemas.microsoft.com/office/drawing/2014/main" id="{1771EBED-4DDF-3393-9B95-9BCF9221C7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811364" y="3095100"/>
                        <a:ext cx="6900443" cy="479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0BE6D12-FEFD-FC25-FA77-AE82E0C6BEFA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Summary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10B977-E19A-2C63-C23A-F54136D209C4}"/>
              </a:ext>
            </a:extLst>
          </p:cNvPr>
          <p:cNvSpPr txBox="1"/>
          <p:nvPr/>
        </p:nvSpPr>
        <p:spPr>
          <a:xfrm>
            <a:off x="410400" y="1463814"/>
            <a:ext cx="8428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V</a:t>
            </a:r>
            <a:r>
              <a:rPr lang="en-US" altLang="ko-KR" sz="4000" baseline="-25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ON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/ V</a:t>
            </a:r>
            <a:r>
              <a:rPr lang="en-US" altLang="ko-KR" sz="4000" baseline="-25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TH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/ SS</a:t>
            </a:r>
          </a:p>
        </p:txBody>
      </p:sp>
      <p:graphicFrame>
        <p:nvGraphicFramePr>
          <p:cNvPr id="26" name="개체 25">
            <a:extLst>
              <a:ext uri="{FF2B5EF4-FFF2-40B4-BE49-F238E27FC236}">
                <a16:creationId xmlns:a16="http://schemas.microsoft.com/office/drawing/2014/main" id="{DB5DAD41-54B9-5C5B-2C62-2276E71D30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3058693"/>
              </p:ext>
            </p:extLst>
          </p:nvPr>
        </p:nvGraphicFramePr>
        <p:xfrm>
          <a:off x="11918706" y="3095100"/>
          <a:ext cx="6902694" cy="479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7" imgW="3028034" imgH="2101174" progId="Origin50.Graph">
                  <p:embed/>
                </p:oleObj>
              </mc:Choice>
              <mc:Fallback>
                <p:oleObj name="Graph" r:id="rId7" imgW="3028034" imgH="2101174" progId="Origin50.Graph">
                  <p:embed/>
                  <p:pic>
                    <p:nvPicPr>
                      <p:cNvPr id="14" name="개체 13">
                        <a:extLst>
                          <a:ext uri="{FF2B5EF4-FFF2-40B4-BE49-F238E27FC236}">
                            <a16:creationId xmlns:a16="http://schemas.microsoft.com/office/drawing/2014/main" id="{9968F647-1D6D-A8DA-B0B9-163CAB7A7B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918706" y="3095100"/>
                        <a:ext cx="6902694" cy="479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83126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개체 5">
            <a:extLst>
              <a:ext uri="{FF2B5EF4-FFF2-40B4-BE49-F238E27FC236}">
                <a16:creationId xmlns:a16="http://schemas.microsoft.com/office/drawing/2014/main" id="{8A0897A3-75C9-7411-8104-FAF59CF934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5369898"/>
              </p:ext>
            </p:extLst>
          </p:nvPr>
        </p:nvGraphicFramePr>
        <p:xfrm>
          <a:off x="5772150" y="3171300"/>
          <a:ext cx="6902694" cy="479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3028034" imgH="2101174" progId="Origin50.Graph">
                  <p:embed/>
                </p:oleObj>
              </mc:Choice>
              <mc:Fallback>
                <p:oleObj name="Graph" r:id="rId3" imgW="3028034" imgH="2101174" progId="Origin50.Graph">
                  <p:embed/>
                  <p:pic>
                    <p:nvPicPr>
                      <p:cNvPr id="9" name="개체 8">
                        <a:extLst>
                          <a:ext uri="{FF2B5EF4-FFF2-40B4-BE49-F238E27FC236}">
                            <a16:creationId xmlns:a16="http://schemas.microsoft.com/office/drawing/2014/main" id="{8258326C-764C-DE17-5EBE-462FEED36F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772150" y="3171300"/>
                        <a:ext cx="6902694" cy="479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개체 3">
            <a:extLst>
              <a:ext uri="{FF2B5EF4-FFF2-40B4-BE49-F238E27FC236}">
                <a16:creationId xmlns:a16="http://schemas.microsoft.com/office/drawing/2014/main" id="{5AE9E5DF-CBAC-CBD7-F947-F97674EE1F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674013"/>
              </p:ext>
            </p:extLst>
          </p:nvPr>
        </p:nvGraphicFramePr>
        <p:xfrm>
          <a:off x="12573000" y="3882300"/>
          <a:ext cx="5209893" cy="335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3025740" imgH="1946588" progId="Origin50.Graph">
                  <p:embed/>
                </p:oleObj>
              </mc:Choice>
              <mc:Fallback>
                <p:oleObj name="Graph" r:id="rId5" imgW="3025740" imgH="1946588" progId="Origin50.Graph">
                  <p:embed/>
                  <p:pic>
                    <p:nvPicPr>
                      <p:cNvPr id="17" name="개체 16">
                        <a:extLst>
                          <a:ext uri="{FF2B5EF4-FFF2-40B4-BE49-F238E27FC236}">
                            <a16:creationId xmlns:a16="http://schemas.microsoft.com/office/drawing/2014/main" id="{2709577C-36B2-EA77-5138-F123332706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573000" y="3882300"/>
                        <a:ext cx="5209893" cy="3351600"/>
                      </a:xfrm>
                      <a:prstGeom prst="rect">
                        <a:avLst/>
                      </a:prstGeom>
                      <a:ln w="2540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EC9FF1-D863-88F2-835C-4BFA0D91B0EB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Summary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9FFEF3-009C-4802-723B-3E0F04419EFF}"/>
              </a:ext>
            </a:extLst>
          </p:cNvPr>
          <p:cNvSpPr txBox="1"/>
          <p:nvPr/>
        </p:nvSpPr>
        <p:spPr>
          <a:xfrm>
            <a:off x="14706600" y="1525369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 err="1">
                <a:latin typeface="TDTD강굴림" panose="020B0600000101010101" charset="-127"/>
                <a:ea typeface="TDTD강굴림" panose="020B0600000101010101" charset="-127"/>
              </a:rPr>
              <a:t>I</a:t>
            </a:r>
            <a:r>
              <a:rPr lang="en-US" altLang="ko-KR" baseline="-25000" dirty="0" err="1">
                <a:latin typeface="TDTD강굴림" panose="020B0600000101010101" charset="-127"/>
                <a:ea typeface="TDTD강굴림" panose="020B0600000101010101" charset="-127"/>
              </a:rPr>
              <a:t>peak</a:t>
            </a:r>
            <a:r>
              <a:rPr lang="en-US" altLang="ko-KR" dirty="0">
                <a:latin typeface="TDTD강굴림" panose="020B0600000101010101" charset="-127"/>
                <a:ea typeface="TDTD강굴림" panose="020B0600000101010101" charset="-127"/>
              </a:rPr>
              <a:t>: </a:t>
            </a:r>
            <a:r>
              <a:rPr lang="ko-KR" altLang="en-US" dirty="0">
                <a:latin typeface="TDTD강굴림" panose="020B0600000101010101" charset="-127"/>
                <a:ea typeface="TDTD강굴림" panose="020B0600000101010101" charset="-127"/>
              </a:rPr>
              <a:t>빛을 인가한 후 </a:t>
            </a:r>
            <a:r>
              <a:rPr lang="en-US" altLang="ko-KR" dirty="0">
                <a:latin typeface="TDTD강굴림" panose="020B0600000101010101" charset="-127"/>
                <a:ea typeface="TDTD강굴림" panose="020B0600000101010101" charset="-127"/>
              </a:rPr>
              <a:t>PSC </a:t>
            </a:r>
            <a:r>
              <a:rPr lang="ko-KR" altLang="en-US" dirty="0">
                <a:latin typeface="TDTD강굴림" panose="020B0600000101010101" charset="-127"/>
                <a:ea typeface="TDTD강굴림" panose="020B0600000101010101" charset="-127"/>
              </a:rPr>
              <a:t>최고점</a:t>
            </a:r>
            <a:endParaRPr lang="en-US" altLang="ko-KR" dirty="0">
              <a:latin typeface="TDTD강굴림" panose="020B0600000101010101" charset="-127"/>
              <a:ea typeface="TDTD강굴림" panose="020B0600000101010101" charset="-127"/>
            </a:endParaRPr>
          </a:p>
          <a:p>
            <a:pPr algn="r"/>
            <a:r>
              <a:rPr lang="en-US" altLang="ko-KR" dirty="0" err="1">
                <a:latin typeface="TDTD강굴림" panose="020B0600000101010101" charset="-127"/>
                <a:ea typeface="TDTD강굴림" panose="020B0600000101010101" charset="-127"/>
              </a:rPr>
              <a:t>I</a:t>
            </a:r>
            <a:r>
              <a:rPr lang="en-US" altLang="ko-KR" baseline="-25000" dirty="0" err="1">
                <a:latin typeface="TDTD강굴림" panose="020B0600000101010101" charset="-127"/>
                <a:ea typeface="TDTD강굴림" panose="020B0600000101010101" charset="-127"/>
              </a:rPr>
              <a:t>dark</a:t>
            </a:r>
            <a:r>
              <a:rPr lang="en-US" altLang="ko-KR" dirty="0">
                <a:latin typeface="TDTD강굴림" panose="020B0600000101010101" charset="-127"/>
                <a:ea typeface="TDTD강굴림" panose="020B0600000101010101" charset="-127"/>
              </a:rPr>
              <a:t>: </a:t>
            </a:r>
            <a:r>
              <a:rPr lang="ko-KR" altLang="en-US" dirty="0">
                <a:latin typeface="TDTD강굴림" panose="020B0600000101010101" charset="-127"/>
                <a:ea typeface="TDTD강굴림" panose="020B0600000101010101" charset="-127"/>
              </a:rPr>
              <a:t>빛을 인가하기 전의 </a:t>
            </a:r>
            <a:r>
              <a:rPr lang="en-US" altLang="ko-KR" dirty="0">
                <a:latin typeface="TDTD강굴림" panose="020B0600000101010101" charset="-127"/>
                <a:ea typeface="TDTD강굴림" panose="020B0600000101010101" charset="-127"/>
              </a:rPr>
              <a:t>I</a:t>
            </a:r>
            <a:r>
              <a:rPr lang="en-US" altLang="ko-KR" baseline="-25000" dirty="0">
                <a:latin typeface="TDTD강굴림" panose="020B0600000101010101" charset="-127"/>
                <a:ea typeface="TDTD강굴림" panose="020B0600000101010101" charset="-127"/>
              </a:rPr>
              <a:t>OFF</a:t>
            </a:r>
            <a:endParaRPr lang="ko-KR" altLang="en-US" dirty="0"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F7D1FE-0C43-8FFD-AEDF-FD8BE1DFC52F}"/>
              </a:ext>
            </a:extLst>
          </p:cNvPr>
          <p:cNvSpPr txBox="1"/>
          <p:nvPr/>
        </p:nvSpPr>
        <p:spPr>
          <a:xfrm>
            <a:off x="410400" y="1463814"/>
            <a:ext cx="11095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</a:t>
            </a:r>
            <a:r>
              <a:rPr lang="el-GR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μ</a:t>
            </a:r>
            <a:r>
              <a:rPr lang="en-US" altLang="ko-KR" sz="4000" baseline="-25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FE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@(V</a:t>
            </a:r>
            <a:r>
              <a:rPr lang="en-US" altLang="ko-KR" sz="4000" baseline="-25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TH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+</a:t>
            </a:r>
            <a:r>
              <a:rPr lang="en-US" altLang="ko-KR" sz="4000" baseline="-25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10V) / (</a:t>
            </a:r>
            <a:r>
              <a:rPr lang="en-US" altLang="ko-KR" sz="4000" dirty="0" err="1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I</a:t>
            </a:r>
            <a:r>
              <a:rPr lang="en-US" altLang="ko-KR" sz="4000" baseline="-25000" dirty="0" err="1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peak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- </a:t>
            </a:r>
            <a:r>
              <a:rPr lang="en-US" altLang="ko-KR" sz="4000" dirty="0" err="1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I</a:t>
            </a:r>
            <a:r>
              <a:rPr lang="en-US" altLang="ko-KR" sz="4000" baseline="-25000" dirty="0" err="1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dark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)</a:t>
            </a:r>
          </a:p>
        </p:txBody>
      </p:sp>
      <p:graphicFrame>
        <p:nvGraphicFramePr>
          <p:cNvPr id="8" name="개체 7">
            <a:extLst>
              <a:ext uri="{FF2B5EF4-FFF2-40B4-BE49-F238E27FC236}">
                <a16:creationId xmlns:a16="http://schemas.microsoft.com/office/drawing/2014/main" id="{C5503FE0-6F93-DDC6-7C47-AE071EB3BA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1473222"/>
              </p:ext>
            </p:extLst>
          </p:nvPr>
        </p:nvGraphicFramePr>
        <p:xfrm>
          <a:off x="-457200" y="3162300"/>
          <a:ext cx="6902694" cy="479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7" imgW="3028034" imgH="2101174" progId="Origin50.Graph">
                  <p:embed/>
                </p:oleObj>
              </mc:Choice>
              <mc:Fallback>
                <p:oleObj name="Graph" r:id="rId7" imgW="3028034" imgH="2101174" progId="Origin50.Graph">
                  <p:embed/>
                  <p:pic>
                    <p:nvPicPr>
                      <p:cNvPr id="14" name="개체 13">
                        <a:extLst>
                          <a:ext uri="{FF2B5EF4-FFF2-40B4-BE49-F238E27FC236}">
                            <a16:creationId xmlns:a16="http://schemas.microsoft.com/office/drawing/2014/main" id="{9968F647-1D6D-A8DA-B0B9-163CAB7A7B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-457200" y="3162300"/>
                        <a:ext cx="6902694" cy="479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직사각형 13">
            <a:extLst>
              <a:ext uri="{FF2B5EF4-FFF2-40B4-BE49-F238E27FC236}">
                <a16:creationId xmlns:a16="http://schemas.microsoft.com/office/drawing/2014/main" id="{B313F72B-42F2-DBB1-6497-7477BE21C0B5}"/>
              </a:ext>
            </a:extLst>
          </p:cNvPr>
          <p:cNvSpPr/>
          <p:nvPr/>
        </p:nvSpPr>
        <p:spPr>
          <a:xfrm>
            <a:off x="6934199" y="6582300"/>
            <a:ext cx="4803897" cy="8602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23DD2953-0C83-7C88-59BD-E5AEC1AE36ED}"/>
              </a:ext>
            </a:extLst>
          </p:cNvPr>
          <p:cNvSpPr/>
          <p:nvPr/>
        </p:nvSpPr>
        <p:spPr>
          <a:xfrm>
            <a:off x="11811000" y="6936243"/>
            <a:ext cx="457200" cy="304800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1236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67DF38-E320-F438-8915-90E42A86298A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F78916C-B0D9-636F-56D6-D674408C1B36}"/>
                  </a:ext>
                </a:extLst>
              </p:cNvPr>
              <p:cNvSpPr txBox="1"/>
              <p:nvPr/>
            </p:nvSpPr>
            <p:spPr>
              <a:xfrm>
                <a:off x="410400" y="1362555"/>
                <a:ext cx="17668164" cy="961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4000" dirty="0">
                    <a:solidFill>
                      <a:srgbClr val="0F4D8B"/>
                    </a:solidFill>
                    <a:latin typeface="TDTD강굴림" panose="020B0600000101010101" charset="-127"/>
                    <a:ea typeface="TDTD강굴림" panose="020B0600000101010101" charset="-127"/>
                  </a:rPr>
                  <a:t>■ </a:t>
                </a:r>
                <a:r>
                  <a:rPr lang="en-US" altLang="ko-KR" sz="4000" dirty="0">
                    <a:solidFill>
                      <a:srgbClr val="0F4D8B"/>
                    </a:solidFill>
                    <a:latin typeface="TDTD강굴림" panose="020B0600000101010101" charset="-127"/>
                    <a:ea typeface="TDTD강굴림" panose="020B0600000101010101" charset="-127"/>
                  </a:rPr>
                  <a:t>Single</a:t>
                </a:r>
                <a:r>
                  <a:rPr lang="ko-KR" altLang="en-US" sz="4000" dirty="0">
                    <a:solidFill>
                      <a:srgbClr val="0F4D8B"/>
                    </a:solidFill>
                    <a:latin typeface="TDTD강굴림" panose="020B0600000101010101" charset="-127"/>
                    <a:ea typeface="TDTD강굴림" panose="020B0600000101010101" charset="-127"/>
                  </a:rPr>
                  <a:t> </a:t>
                </a:r>
                <a:r>
                  <a:rPr lang="en-US" altLang="ko-KR" sz="4000" dirty="0">
                    <a:solidFill>
                      <a:srgbClr val="0F4D8B"/>
                    </a:solidFill>
                    <a:latin typeface="TDTD강굴림" panose="020B0600000101010101" charset="-127"/>
                    <a:ea typeface="TDTD강굴림" panose="020B0600000101010101" charset="-127"/>
                  </a:rPr>
                  <a:t>pulse</a:t>
                </a:r>
                <a:r>
                  <a:rPr lang="ko-KR" altLang="en-US" sz="4000" dirty="0">
                    <a:solidFill>
                      <a:srgbClr val="0F4D8B"/>
                    </a:solidFill>
                    <a:latin typeface="TDTD강굴림" panose="020B0600000101010101" charset="-127"/>
                    <a:ea typeface="TDTD강굴림" panose="020B0600000101010101" charset="-127"/>
                  </a:rPr>
                  <a:t>에서 </a:t>
                </a:r>
                <a:r>
                  <a:rPr lang="en-US" altLang="ko-KR" sz="4000" dirty="0" err="1">
                    <a:solidFill>
                      <a:srgbClr val="0F4D8B"/>
                    </a:solidFill>
                    <a:latin typeface="TDTD강굴림" panose="020B0600000101010101" charset="-127"/>
                    <a:ea typeface="TDTD강굴림" panose="020B0600000101010101" charset="-127"/>
                  </a:rPr>
                  <a:t>I</a:t>
                </a:r>
                <a:r>
                  <a:rPr lang="en-US" altLang="ko-KR" sz="4000" baseline="-25000" dirty="0" err="1">
                    <a:solidFill>
                      <a:srgbClr val="0F4D8B"/>
                    </a:solidFill>
                    <a:latin typeface="TDTD강굴림" panose="020B0600000101010101" charset="-127"/>
                    <a:ea typeface="TDTD강굴림" panose="020B0600000101010101" charset="-127"/>
                  </a:rPr>
                  <a:t>peak</a:t>
                </a:r>
                <a:r>
                  <a:rPr lang="ko-KR" altLang="en-US" sz="4000" dirty="0">
                    <a:solidFill>
                      <a:srgbClr val="0F4D8B"/>
                    </a:solidFill>
                    <a:latin typeface="TDTD강굴림" panose="020B0600000101010101" charset="-127"/>
                    <a:ea typeface="TDTD강굴림" panose="020B0600000101010101" charset="-127"/>
                  </a:rPr>
                  <a:t>의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4000" i="1" smtClean="0">
                            <a:solidFill>
                              <a:srgbClr val="0F4D8B"/>
                            </a:solidFill>
                            <a:latin typeface="Cambria Math" panose="02040503050406030204" pitchFamily="18" charset="0"/>
                            <a:ea typeface="TDTD강굴림" panose="020B0600000101010101" charset="-127"/>
                          </a:rPr>
                        </m:ctrlPr>
                      </m:fPr>
                      <m:num>
                        <m:r>
                          <a:rPr lang="en-US" altLang="ko-KR" sz="4000" b="0" i="1" smtClean="0">
                            <a:solidFill>
                              <a:srgbClr val="0F4D8B"/>
                            </a:solidFill>
                            <a:latin typeface="Cambria Math" panose="02040503050406030204" pitchFamily="18" charset="0"/>
                            <a:ea typeface="TDTD강굴림" panose="020B0600000101010101" charset="-127"/>
                          </a:rPr>
                          <m:t>1</m:t>
                        </m:r>
                      </m:num>
                      <m:den>
                        <m:r>
                          <a:rPr lang="en-US" altLang="ko-KR" sz="4000" b="0" i="1" smtClean="0">
                            <a:solidFill>
                              <a:srgbClr val="0F4D8B"/>
                            </a:solidFill>
                            <a:latin typeface="Cambria Math" panose="02040503050406030204" pitchFamily="18" charset="0"/>
                            <a:ea typeface="TDTD강굴림" panose="020B0600000101010101" charset="-127"/>
                          </a:rPr>
                          <m:t>𝑒</m:t>
                        </m:r>
                      </m:den>
                    </m:f>
                  </m:oMath>
                </a14:m>
                <a:r>
                  <a:rPr lang="en-US" altLang="ko-KR" sz="4000" dirty="0">
                    <a:solidFill>
                      <a:srgbClr val="0F4D8B"/>
                    </a:solidFill>
                    <a:latin typeface="TDTD강굴림" panose="020B0600000101010101" charset="-127"/>
                    <a:ea typeface="TDTD강굴림" panose="020B0600000101010101" charset="-127"/>
                  </a:rPr>
                  <a:t> (</a:t>
                </a:r>
                <a:r>
                  <a:rPr lang="ko-KR" altLang="en-US" sz="4000" dirty="0">
                    <a:solidFill>
                      <a:srgbClr val="0F4D8B"/>
                    </a:solidFill>
                    <a:latin typeface="TDTD강굴림" panose="020B0600000101010101" charset="-127"/>
                    <a:ea typeface="TDTD강굴림" panose="020B0600000101010101" charset="-127"/>
                  </a:rPr>
                  <a:t>약 </a:t>
                </a:r>
                <a:r>
                  <a:rPr lang="en-US" altLang="ko-KR" sz="4000" dirty="0">
                    <a:solidFill>
                      <a:srgbClr val="0F4D8B"/>
                    </a:solidFill>
                    <a:latin typeface="TDTD강굴림" panose="020B0600000101010101" charset="-127"/>
                    <a:ea typeface="TDTD강굴림" panose="020B0600000101010101" charset="-127"/>
                  </a:rPr>
                  <a:t>36%)</a:t>
                </a:r>
                <a:r>
                  <a:rPr lang="ko-KR" altLang="en-US" sz="4000" dirty="0">
                    <a:solidFill>
                      <a:srgbClr val="0F4D8B"/>
                    </a:solidFill>
                    <a:latin typeface="TDTD강굴림" panose="020B0600000101010101" charset="-127"/>
                    <a:ea typeface="TDTD강굴림" panose="020B0600000101010101" charset="-127"/>
                  </a:rPr>
                  <a:t>가 되기까지의 </a:t>
                </a:r>
                <a:r>
                  <a:rPr lang="en-US" altLang="ko-KR" sz="4000" dirty="0">
                    <a:solidFill>
                      <a:srgbClr val="0F4D8B"/>
                    </a:solidFill>
                    <a:latin typeface="TDTD강굴림" panose="020B0600000101010101" charset="-127"/>
                    <a:ea typeface="TDTD강굴림" panose="020B0600000101010101" charset="-127"/>
                  </a:rPr>
                  <a:t>Decay time; </a:t>
                </a:r>
                <a:r>
                  <a:rPr lang="el-GR" altLang="ko-KR" sz="4000" dirty="0">
                    <a:solidFill>
                      <a:srgbClr val="0F4D8B"/>
                    </a:solidFill>
                    <a:latin typeface="TDTD강굴림" panose="020B0600000101010101" charset="-127"/>
                    <a:ea typeface="TDTD강굴림" panose="020B0600000101010101" charset="-127"/>
                  </a:rPr>
                  <a:t>τ</a:t>
                </a:r>
                <a:r>
                  <a:rPr lang="en-US" altLang="ko-KR" sz="4000" dirty="0">
                    <a:solidFill>
                      <a:srgbClr val="0F4D8B"/>
                    </a:solidFill>
                    <a:latin typeface="TDTD강굴림" panose="020B0600000101010101" charset="-127"/>
                    <a:ea typeface="TDTD강굴림" panose="020B0600000101010101" charset="-127"/>
                  </a:rPr>
                  <a:t> / </a:t>
                </a:r>
                <a:r>
                  <a:rPr lang="el-GR" altLang="ko-KR" sz="4000" dirty="0">
                    <a:solidFill>
                      <a:srgbClr val="0F4D8B"/>
                    </a:solidFill>
                    <a:latin typeface="TDTD강굴림" panose="020B0600000101010101" charset="-127"/>
                    <a:ea typeface="TDTD강굴림" panose="020B0600000101010101" charset="-127"/>
                  </a:rPr>
                  <a:t>β</a:t>
                </a:r>
                <a:endParaRPr lang="en-US" altLang="ko-KR" sz="4000" dirty="0">
                  <a:solidFill>
                    <a:srgbClr val="0F4D8B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F78916C-B0D9-636F-56D6-D674408C1B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400" y="1362555"/>
                <a:ext cx="17668164" cy="961545"/>
              </a:xfrm>
              <a:prstGeom prst="rect">
                <a:avLst/>
              </a:prstGeom>
              <a:blipFill>
                <a:blip r:embed="rId4"/>
                <a:stretch>
                  <a:fillRect l="-1207" b="-146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개체 3">
            <a:extLst>
              <a:ext uri="{FF2B5EF4-FFF2-40B4-BE49-F238E27FC236}">
                <a16:creationId xmlns:a16="http://schemas.microsoft.com/office/drawing/2014/main" id="{78B44F1F-DFB7-FAD6-A11C-6864729137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351039"/>
              </p:ext>
            </p:extLst>
          </p:nvPr>
        </p:nvGraphicFramePr>
        <p:xfrm>
          <a:off x="-274218" y="3314700"/>
          <a:ext cx="6901445" cy="479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3028034" imgH="2101174" progId="Origin50.Graph">
                  <p:embed/>
                </p:oleObj>
              </mc:Choice>
              <mc:Fallback>
                <p:oleObj name="Graph" r:id="rId5" imgW="3028034" imgH="2101174" progId="Origin50.Graph">
                  <p:embed/>
                  <p:pic>
                    <p:nvPicPr>
                      <p:cNvPr id="3" name="개체 2">
                        <a:extLst>
                          <a:ext uri="{FF2B5EF4-FFF2-40B4-BE49-F238E27FC236}">
                            <a16:creationId xmlns:a16="http://schemas.microsoft.com/office/drawing/2014/main" id="{24AE35A5-CDEA-8093-D618-F75C226232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-274218" y="3314700"/>
                        <a:ext cx="6901445" cy="479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개체 7">
            <a:extLst>
              <a:ext uri="{FF2B5EF4-FFF2-40B4-BE49-F238E27FC236}">
                <a16:creationId xmlns:a16="http://schemas.microsoft.com/office/drawing/2014/main" id="{682FDE2D-90D9-3A27-7112-56D1C7BB3E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9092752"/>
              </p:ext>
            </p:extLst>
          </p:nvPr>
        </p:nvGraphicFramePr>
        <p:xfrm>
          <a:off x="5747671" y="3314700"/>
          <a:ext cx="6900443" cy="479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7" imgW="3028034" imgH="2101174" progId="Origin50.Graph">
                  <p:embed/>
                </p:oleObj>
              </mc:Choice>
              <mc:Fallback>
                <p:oleObj name="Graph" r:id="rId7" imgW="3028034" imgH="2101174" progId="Origin50.Graph">
                  <p:embed/>
                  <p:pic>
                    <p:nvPicPr>
                      <p:cNvPr id="6" name="개체 5">
                        <a:extLst>
                          <a:ext uri="{FF2B5EF4-FFF2-40B4-BE49-F238E27FC236}">
                            <a16:creationId xmlns:a16="http://schemas.microsoft.com/office/drawing/2014/main" id="{7A8C5746-AD84-022C-23BD-9E414C33E8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747671" y="3314700"/>
                        <a:ext cx="6900443" cy="479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E0DFDAFD-6B3E-D3CE-2334-4F7712A244C7}"/>
              </a:ext>
            </a:extLst>
          </p:cNvPr>
          <p:cNvSpPr txBox="1"/>
          <p:nvPr/>
        </p:nvSpPr>
        <p:spPr>
          <a:xfrm>
            <a:off x="6094323" y="2827140"/>
            <a:ext cx="63003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SEF</a:t>
            </a:r>
            <a:r>
              <a:rPr lang="ko-KR" altLang="en-US" b="1" dirty="0"/>
              <a:t>로 추출한 </a:t>
            </a:r>
            <a:r>
              <a:rPr lang="en-US" altLang="ko-KR" b="1" dirty="0"/>
              <a:t>Decay time</a:t>
            </a:r>
            <a:r>
              <a:rPr lang="ko-KR" altLang="en-US" b="1" dirty="0"/>
              <a:t>은 </a:t>
            </a:r>
            <a:r>
              <a:rPr lang="en-US" altLang="ko-KR" b="1" dirty="0"/>
              <a:t>Decay time</a:t>
            </a:r>
            <a:r>
              <a:rPr lang="ko-KR" altLang="en-US" b="1" dirty="0"/>
              <a:t>이 너무 길어서 측정 </a:t>
            </a:r>
            <a:r>
              <a:rPr lang="en-US" altLang="ko-KR" b="1" dirty="0"/>
              <a:t>(measure)</a:t>
            </a:r>
            <a:r>
              <a:rPr lang="ko-KR" altLang="en-US" b="1" dirty="0"/>
              <a:t>하지 못한 소자까지 </a:t>
            </a:r>
            <a:r>
              <a:rPr lang="en-US" altLang="ko-KR" b="1" dirty="0"/>
              <a:t>Decay time</a:t>
            </a:r>
            <a:r>
              <a:rPr lang="ko-KR" altLang="en-US" b="1" dirty="0"/>
              <a:t>을 예측하여 표시함</a:t>
            </a:r>
            <a:endParaRPr lang="en-US" altLang="ko-KR" b="1" dirty="0"/>
          </a:p>
        </p:txBody>
      </p:sp>
      <p:graphicFrame>
        <p:nvGraphicFramePr>
          <p:cNvPr id="19" name="개체 18">
            <a:extLst>
              <a:ext uri="{FF2B5EF4-FFF2-40B4-BE49-F238E27FC236}">
                <a16:creationId xmlns:a16="http://schemas.microsoft.com/office/drawing/2014/main" id="{56DCA8CB-CBA3-8752-7D9B-3C7B8785CE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7438441"/>
              </p:ext>
            </p:extLst>
          </p:nvPr>
        </p:nvGraphicFramePr>
        <p:xfrm>
          <a:off x="11768557" y="3314700"/>
          <a:ext cx="6900443" cy="479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9" imgW="3028034" imgH="2101174" progId="Origin50.Graph">
                  <p:embed/>
                </p:oleObj>
              </mc:Choice>
              <mc:Fallback>
                <p:oleObj name="Graph" r:id="rId9" imgW="3028034" imgH="2101174" progId="Origin50.Graph">
                  <p:embed/>
                  <p:pic>
                    <p:nvPicPr>
                      <p:cNvPr id="3" name="개체 2">
                        <a:extLst>
                          <a:ext uri="{FF2B5EF4-FFF2-40B4-BE49-F238E27FC236}">
                            <a16:creationId xmlns:a16="http://schemas.microsoft.com/office/drawing/2014/main" id="{7E78502D-E11F-39D4-1640-0120267B7E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768557" y="3314700"/>
                        <a:ext cx="6900443" cy="479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슬라이드 번호 개체 틀 11">
            <a:extLst>
              <a:ext uri="{FF2B5EF4-FFF2-40B4-BE49-F238E27FC236}">
                <a16:creationId xmlns:a16="http://schemas.microsoft.com/office/drawing/2014/main" id="{E736078C-6F2D-2DC6-6904-4D85E58A7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395755-27B9-4C42-8483-1B7B6FB903BD}"/>
              </a:ext>
            </a:extLst>
          </p:cNvPr>
          <p:cNvSpPr txBox="1"/>
          <p:nvPr/>
        </p:nvSpPr>
        <p:spPr>
          <a:xfrm>
            <a:off x="13030200" y="7978887"/>
            <a:ext cx="2743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SS</a:t>
            </a:r>
            <a:r>
              <a:rPr lang="ko-KR" altLang="en-US" b="1" dirty="0"/>
              <a:t>와  </a:t>
            </a:r>
            <a:r>
              <a:rPr lang="el-GR" altLang="ko-KR" sz="1800" dirty="0">
                <a:latin typeface="TDTD강굴림" panose="020B0600000101010101" charset="-127"/>
                <a:ea typeface="TDTD강굴림" panose="020B0600000101010101" charset="-127"/>
              </a:rPr>
              <a:t>β</a:t>
            </a:r>
            <a:r>
              <a:rPr lang="ko-KR" altLang="en-US" b="1" dirty="0"/>
              <a:t>가 비례 관계</a:t>
            </a:r>
            <a:endParaRPr lang="en-US" altLang="ko-KR" b="1" dirty="0"/>
          </a:p>
          <a:p>
            <a:r>
              <a:rPr lang="el-GR" altLang="ko-KR" b="1" dirty="0"/>
              <a:t>τ</a:t>
            </a:r>
            <a:r>
              <a:rPr lang="ko-KR" altLang="en-US" b="1" dirty="0"/>
              <a:t>와 </a:t>
            </a:r>
            <a:r>
              <a:rPr lang="el-GR" altLang="ko-KR" sz="1800" dirty="0">
                <a:latin typeface="TDTD강굴림" panose="020B0600000101010101" charset="-127"/>
                <a:ea typeface="TDTD강굴림" panose="020B0600000101010101" charset="-127"/>
              </a:rPr>
              <a:t>β</a:t>
            </a:r>
            <a:r>
              <a:rPr lang="ko-KR" altLang="en-US" b="1" dirty="0"/>
              <a:t>가 반비례 관계</a:t>
            </a:r>
            <a:endParaRPr lang="en-US" altLang="ko-KR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A68DDB-22CA-DE11-3C7B-4C5A91104544}"/>
              </a:ext>
            </a:extLst>
          </p:cNvPr>
          <p:cNvSpPr txBox="1"/>
          <p:nvPr/>
        </p:nvSpPr>
        <p:spPr>
          <a:xfrm>
            <a:off x="909852" y="9221569"/>
            <a:ext cx="94715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 IGZO </a:t>
            </a:r>
            <a:r>
              <a:rPr lang="ko-KR" altLang="en-US" sz="18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결정화가 시작되기 직전의 </a:t>
            </a:r>
            <a:r>
              <a:rPr lang="en-US" altLang="ko-KR" sz="18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Annealing </a:t>
            </a:r>
            <a:r>
              <a:rPr lang="ko-KR" altLang="en-US" sz="18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온도</a:t>
            </a:r>
            <a:r>
              <a:rPr lang="ko-KR" altLang="en-US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인 </a:t>
            </a:r>
            <a:r>
              <a:rPr lang="en-US" altLang="ko-KR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500℃</a:t>
            </a:r>
            <a:r>
              <a:rPr lang="ko-KR" altLang="en-US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에서 </a:t>
            </a:r>
            <a:r>
              <a:rPr lang="en-US" altLang="ko-KR" sz="18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Decay time</a:t>
            </a:r>
            <a:r>
              <a:rPr lang="ko-KR" altLang="en-US" sz="18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이 가장 김 </a:t>
            </a:r>
            <a:endParaRPr lang="en-US" altLang="ko-KR" sz="1800" dirty="0">
              <a:solidFill>
                <a:srgbClr val="FF0000"/>
              </a:solidFill>
              <a:latin typeface="TDTD강굴림" panose="020B0600000101010101" charset="-127"/>
              <a:ea typeface="TDTD강굴림" panose="020B0600000101010101" charset="-127"/>
              <a:sym typeface="Wingdings" panose="05000000000000000000" pitchFamily="2" charset="2"/>
            </a:endParaRPr>
          </a:p>
          <a:p>
            <a:r>
              <a:rPr lang="en-US" altLang="ko-KR" sz="1800" baseline="-25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       </a:t>
            </a:r>
            <a:r>
              <a:rPr lang="ko-KR" altLang="en-US" sz="18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결정화가 </a:t>
            </a:r>
            <a:r>
              <a:rPr lang="en-US" altLang="ko-KR" sz="18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PPC </a:t>
            </a:r>
            <a:r>
              <a:rPr lang="ko-KR" altLang="en-US" sz="18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효과에 영향을 주는 것으로 추정</a:t>
            </a:r>
            <a:endParaRPr lang="ko-KR" altLang="en-US" sz="1800" baseline="-25000" dirty="0">
              <a:solidFill>
                <a:srgbClr val="FF0000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1193020-3379-A596-D77C-FD5103A0588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200" y="8032635"/>
            <a:ext cx="7547715" cy="9510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A66DD3-9B8B-9B71-1480-CCDFFAC648A0}"/>
              </a:ext>
            </a:extLst>
          </p:cNvPr>
          <p:cNvSpPr txBox="1"/>
          <p:nvPr/>
        </p:nvSpPr>
        <p:spPr>
          <a:xfrm>
            <a:off x="5388833" y="8915847"/>
            <a:ext cx="2947114" cy="305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dirty="0">
                <a:solidFill>
                  <a:schemeClr val="bg1">
                    <a:lumMod val="65000"/>
                  </a:schemeClr>
                </a:solidFill>
              </a:rPr>
              <a:t>Shin et al., Sci. Rep. 7, 10885 (2017)</a:t>
            </a:r>
            <a:endParaRPr lang="ko-KR" alt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2904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개체 19">
            <a:extLst>
              <a:ext uri="{FF2B5EF4-FFF2-40B4-BE49-F238E27FC236}">
                <a16:creationId xmlns:a16="http://schemas.microsoft.com/office/drawing/2014/main" id="{FD434588-B692-C2CC-336D-3380B7B223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9434706"/>
              </p:ext>
            </p:extLst>
          </p:nvPr>
        </p:nvGraphicFramePr>
        <p:xfrm>
          <a:off x="9251541" y="3552300"/>
          <a:ext cx="6902859" cy="479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3027269" imgH="2101174" progId="Origin50.Graph">
                  <p:embed/>
                </p:oleObj>
              </mc:Choice>
              <mc:Fallback>
                <p:oleObj name="Graph" r:id="rId3" imgW="3027269" imgH="2101174" progId="Origin50.Graph">
                  <p:embed/>
                  <p:pic>
                    <p:nvPicPr>
                      <p:cNvPr id="20" name="개체 19">
                        <a:extLst>
                          <a:ext uri="{FF2B5EF4-FFF2-40B4-BE49-F238E27FC236}">
                            <a16:creationId xmlns:a16="http://schemas.microsoft.com/office/drawing/2014/main" id="{FD434588-B692-C2CC-336D-3380B7B223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251541" y="3552300"/>
                        <a:ext cx="6902859" cy="479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개체 17">
            <a:extLst>
              <a:ext uri="{FF2B5EF4-FFF2-40B4-BE49-F238E27FC236}">
                <a16:creationId xmlns:a16="http://schemas.microsoft.com/office/drawing/2014/main" id="{AA52491B-3B4E-F886-9D1E-F848FD64D6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2008127"/>
              </p:ext>
            </p:extLst>
          </p:nvPr>
        </p:nvGraphicFramePr>
        <p:xfrm>
          <a:off x="2057400" y="3552300"/>
          <a:ext cx="6900396" cy="479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3027269" imgH="2101174" progId="Origin50.Graph">
                  <p:embed/>
                </p:oleObj>
              </mc:Choice>
              <mc:Fallback>
                <p:oleObj name="Graph" r:id="rId5" imgW="3027269" imgH="2101174" progId="Origin50.Graph">
                  <p:embed/>
                  <p:pic>
                    <p:nvPicPr>
                      <p:cNvPr id="18" name="개체 17">
                        <a:extLst>
                          <a:ext uri="{FF2B5EF4-FFF2-40B4-BE49-F238E27FC236}">
                            <a16:creationId xmlns:a16="http://schemas.microsoft.com/office/drawing/2014/main" id="{AA52491B-3B4E-F886-9D1E-F848FD64D6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57400" y="3552300"/>
                        <a:ext cx="6900396" cy="479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67DF38-E320-F438-8915-90E42A86298A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Summary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7CCBCC-15A6-BF29-F534-9914C660CC39}"/>
              </a:ext>
            </a:extLst>
          </p:cNvPr>
          <p:cNvSpPr txBox="1"/>
          <p:nvPr/>
        </p:nvSpPr>
        <p:spPr>
          <a:xfrm>
            <a:off x="410400" y="1486800"/>
            <a:ext cx="17668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(</a:t>
            </a:r>
            <a:r>
              <a:rPr lang="en-US" altLang="ko-KR" sz="4000" dirty="0" err="1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I</a:t>
            </a:r>
            <a:r>
              <a:rPr lang="en-US" altLang="ko-KR" sz="4000" baseline="-25000" dirty="0" err="1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peak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- </a:t>
            </a:r>
            <a:r>
              <a:rPr lang="en-US" altLang="ko-KR" sz="4000" dirty="0" err="1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I</a:t>
            </a:r>
            <a:r>
              <a:rPr lang="en-US" altLang="ko-KR" sz="4000" baseline="-25000" dirty="0" err="1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dark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)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에 따른 </a:t>
            </a:r>
            <a:r>
              <a:rPr lang="el-GR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τ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/ V</a:t>
            </a:r>
            <a:r>
              <a:rPr lang="en-US" altLang="ko-KR" sz="4000" baseline="-25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G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에 따른 </a:t>
            </a:r>
            <a:r>
              <a:rPr lang="el-GR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τ</a:t>
            </a:r>
            <a:endParaRPr lang="en-US" altLang="ko-KR" sz="40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6491734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7CCBCC-15A6-BF29-F534-9914C660CC39}"/>
              </a:ext>
            </a:extLst>
          </p:cNvPr>
          <p:cNvSpPr txBox="1"/>
          <p:nvPr/>
        </p:nvSpPr>
        <p:spPr>
          <a:xfrm>
            <a:off x="410400" y="1486800"/>
            <a:ext cx="17668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결론</a:t>
            </a:r>
            <a:endParaRPr lang="en-US" altLang="ko-KR" sz="40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  <a:sym typeface="Wingdings" panose="05000000000000000000" pitchFamily="2" charset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483B0A-3814-FDCA-2A38-FAFCB7423C2B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①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Summary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729A60-E6EF-B852-83BB-E5C48BA47EE6}"/>
              </a:ext>
            </a:extLst>
          </p:cNvPr>
          <p:cNvSpPr txBox="1"/>
          <p:nvPr/>
        </p:nvSpPr>
        <p:spPr>
          <a:xfrm>
            <a:off x="1066800" y="2231053"/>
            <a:ext cx="1653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395705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7904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70EB79-CF14-52E4-CB7F-3A88F62C3D8C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② 향후 방향성 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(</a:t>
            </a:r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다음 실험</a:t>
            </a:r>
            <a:r>
              <a:rPr lang="en-US" altLang="ko-KR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) </a:t>
            </a:r>
            <a:r>
              <a:rPr lang="en-US" altLang="ko-KR" sz="5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- </a:t>
            </a:r>
            <a:r>
              <a:rPr lang="ko-KR" altLang="en-US" sz="5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미정</a:t>
            </a:r>
            <a:endParaRPr lang="en-US" altLang="ko-KR" sz="5400" dirty="0">
              <a:solidFill>
                <a:srgbClr val="FF0000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69789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38FF22D-1949-4B12-776C-97B9FBC69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B89C2A-95E8-68FA-4800-5AC115B2E042}"/>
              </a:ext>
            </a:extLst>
          </p:cNvPr>
          <p:cNvSpPr txBox="1"/>
          <p:nvPr/>
        </p:nvSpPr>
        <p:spPr>
          <a:xfrm>
            <a:off x="1014882" y="2491456"/>
            <a:ext cx="1645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>
                <a:sym typeface="Wingdings" panose="05000000000000000000" pitchFamily="2" charset="2"/>
              </a:rPr>
              <a:t>--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ACF504-2F51-34C5-B403-E899F148E777}"/>
              </a:ext>
            </a:extLst>
          </p:cNvPr>
          <p:cNvSpPr txBox="1"/>
          <p:nvPr/>
        </p:nvSpPr>
        <p:spPr>
          <a:xfrm>
            <a:off x="381000" y="266700"/>
            <a:ext cx="1539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③ 결론 </a:t>
            </a:r>
            <a:r>
              <a:rPr lang="en-US" altLang="ko-KR" sz="5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- </a:t>
            </a:r>
            <a:r>
              <a:rPr lang="ko-KR" altLang="en-US" sz="5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미정</a:t>
            </a:r>
            <a:endParaRPr lang="en-US" altLang="ko-KR" sz="5400" dirty="0">
              <a:solidFill>
                <a:srgbClr val="FF0000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8DE5D0-7DF2-307C-8C2D-73139FF0CE0A}"/>
              </a:ext>
            </a:extLst>
          </p:cNvPr>
          <p:cNvSpPr txBox="1"/>
          <p:nvPr/>
        </p:nvSpPr>
        <p:spPr>
          <a:xfrm>
            <a:off x="410400" y="1486800"/>
            <a:ext cx="17668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■ </a:t>
            </a:r>
            <a:r>
              <a:rPr lang="ko-KR" altLang="en-US" sz="4000" dirty="0" err="1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안박사님과의</a:t>
            </a:r>
            <a:r>
              <a:rPr lang="ko-KR" altLang="en-US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 미팅 결론 </a:t>
            </a:r>
            <a:r>
              <a:rPr lang="en-US" altLang="ko-KR" sz="4000" dirty="0">
                <a:solidFill>
                  <a:srgbClr val="0F4D8B"/>
                </a:solidFill>
                <a:latin typeface="TDTD강굴림" panose="020B0600000101010101" charset="-127"/>
                <a:ea typeface="TDTD강굴림" panose="020B0600000101010101" charset="-127"/>
              </a:rPr>
              <a:t>(260728)</a:t>
            </a:r>
            <a:endParaRPr lang="en-US" altLang="ko-KR" sz="4000" dirty="0">
              <a:solidFill>
                <a:srgbClr val="0F4D8B"/>
              </a:solidFill>
              <a:latin typeface="TDTD강굴림" panose="020B0600000101010101" charset="-127"/>
              <a:ea typeface="TDTD강굴림" panose="020B0600000101010101" charset="-127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799806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15625</TotalTime>
  <Words>839</Words>
  <Application>Microsoft Office PowerPoint</Application>
  <PresentationFormat>사용자 지정</PresentationFormat>
  <Paragraphs>155</Paragraphs>
  <Slides>17</Slides>
  <Notes>14</Notes>
  <HiddenSlides>1</HiddenSlides>
  <MMClips>0</MMClips>
  <ScaleCrop>false</ScaleCrop>
  <HeadingPairs>
    <vt:vector size="8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5" baseType="lpstr">
      <vt:lpstr>Cambria Math</vt:lpstr>
      <vt:lpstr>TDTD강굴림</vt:lpstr>
      <vt:lpstr>맑은 고딕</vt:lpstr>
      <vt:lpstr>Calibri</vt:lpstr>
      <vt:lpstr>Arial</vt:lpstr>
      <vt:lpstr>Wingdings</vt:lpstr>
      <vt:lpstr>Office Theme</vt:lpstr>
      <vt:lpstr>Graph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검정색 흰색 심플한 일러스트 마케팅 과제 발표 프레젠테이션</dc:title>
  <dc:creator>USER</dc:creator>
  <cp:lastModifiedBy>Minsu Choi</cp:lastModifiedBy>
  <cp:revision>5534</cp:revision>
  <cp:lastPrinted>2026-08-19T04:14:53Z</cp:lastPrinted>
  <dcterms:created xsi:type="dcterms:W3CDTF">2006-08-16T00:00:00Z</dcterms:created>
  <dcterms:modified xsi:type="dcterms:W3CDTF">2026-09-07T06:39:59Z</dcterms:modified>
  <dc:identifier>DAGZXtFwl3k</dc:identifier>
</cp:coreProperties>
</file>