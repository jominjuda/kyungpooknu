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52" r:id="rId2"/>
    <p:sldId id="422" r:id="rId3"/>
    <p:sldId id="380" r:id="rId4"/>
    <p:sldId id="480" r:id="rId5"/>
    <p:sldId id="481" r:id="rId6"/>
    <p:sldId id="482" r:id="rId7"/>
    <p:sldId id="483" r:id="rId8"/>
    <p:sldId id="494" r:id="rId9"/>
    <p:sldId id="497" r:id="rId10"/>
    <p:sldId id="496" r:id="rId11"/>
  </p:sldIdLst>
  <p:sldSz cx="18288000" cy="10287000"/>
  <p:notesSz cx="6797675" cy="9926638"/>
  <p:embeddedFontLst>
    <p:embeddedFont>
      <p:font typeface="TDTD강굴림" panose="020B0600000101010101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Su Choi" initials="MC" lastIdx="1" clrIdx="0">
    <p:extLst>
      <p:ext uri="{19B8F6BF-5375-455C-9EA6-DF929625EA0E}">
        <p15:presenceInfo xmlns:p15="http://schemas.microsoft.com/office/powerpoint/2012/main" userId="f9bc62763eeef2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D8B"/>
    <a:srgbClr val="5E79AC"/>
    <a:srgbClr val="FFFF99"/>
    <a:srgbClr val="FFFFFF"/>
    <a:srgbClr val="E46C0A"/>
    <a:srgbClr val="254061"/>
    <a:srgbClr val="517BAD"/>
    <a:srgbClr val="AB4845"/>
    <a:srgbClr val="FFC000"/>
    <a:srgbClr val="3D5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4358" autoAdjust="0"/>
  </p:normalViewPr>
  <p:slideViewPr>
    <p:cSldViewPr>
      <p:cViewPr varScale="1">
        <p:scale>
          <a:sx n="47" d="100"/>
          <a:sy n="47" d="100"/>
        </p:scale>
        <p:origin x="11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AE9D06-24EE-391D-6892-EA516A89E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6A589B-C093-D8CB-3571-7F728794C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3A9E3-2605-47BD-86D0-ED87F09E58B9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F598F0-25C5-7EE1-00F9-A354552DE4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79E7A6-6205-511C-B773-58BEA4A8FA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A2AD7-A13F-457B-AA13-E5583C405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0715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D372-FF62-40DB-9473-14708D75350A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4312E-9689-48C5-AE4F-AEEE6FEA2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920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818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76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068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100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559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62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664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311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296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F89-6B61-4DE7-AAB1-EC011206E844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E304-63A9-4A62-92FD-FF38AE02D9F4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DBE3-363C-4CE7-BAFA-3B2ADE911C8E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71E4-421E-4E89-B32B-5A801D9C5F78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D736-7DF6-4ED6-8A6F-60159BB0FAD0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9F1E3-2B56-4B8E-925A-59A8BB2F8CE0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A997-1171-4E6F-B46F-1DA7294F1830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697200" y="9426575"/>
            <a:ext cx="2133600" cy="365125"/>
          </a:xfrm>
        </p:spPr>
        <p:txBody>
          <a:bodyPr/>
          <a:lstStyle>
            <a:lvl1pPr>
              <a:defRPr sz="2200" b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A3C5-23E8-4CB7-A85C-B079FAC731C3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AF07-FBA4-4E77-8229-E2BD088F3A72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6C5A-7F47-4C9B-A846-937670938BF3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19">
            <a:extLst>
              <a:ext uri="{FF2B5EF4-FFF2-40B4-BE49-F238E27FC236}">
                <a16:creationId xmlns:a16="http://schemas.microsoft.com/office/drawing/2014/main" id="{DF8B8609-0980-2458-3645-8CADA02B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346A451-AE6D-F5F4-B56F-9860DB351F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1667" r="6666" b="10000"/>
          <a:stretch/>
        </p:blipFill>
        <p:spPr>
          <a:xfrm>
            <a:off x="16154399" y="152400"/>
            <a:ext cx="1981201" cy="1790700"/>
          </a:xfrm>
          <a:prstGeom prst="rect">
            <a:avLst/>
          </a:prstGeom>
        </p:spPr>
      </p:pic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800100" y="4838700"/>
            <a:ext cx="16687800" cy="108000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래픽 10">
            <a:extLst>
              <a:ext uri="{FF2B5EF4-FFF2-40B4-BE49-F238E27FC236}">
                <a16:creationId xmlns:a16="http://schemas.microsoft.com/office/drawing/2014/main" id="{284B9595-ABEF-CFE6-B88E-5CC91FD893D7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5" name="슬라이드 번호 개체 틀 19">
            <a:extLst>
              <a:ext uri="{FF2B5EF4-FFF2-40B4-BE49-F238E27FC236}">
                <a16:creationId xmlns:a16="http://schemas.microsoft.com/office/drawing/2014/main" id="{C2405C96-0007-448F-AEF2-514BF404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803AD-3E7B-B2BA-CF5C-8902DA03B66C}"/>
              </a:ext>
            </a:extLst>
          </p:cNvPr>
          <p:cNvSpPr txBox="1"/>
          <p:nvPr userDrawn="1"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50270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3" name="슬라이드 번호 개체 틀 19">
            <a:extLst>
              <a:ext uri="{FF2B5EF4-FFF2-40B4-BE49-F238E27FC236}">
                <a16:creationId xmlns:a16="http://schemas.microsoft.com/office/drawing/2014/main" id="{D8499AC7-0D0F-669C-ECF4-13A5B31C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4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ABA05-BA52-4C3D-A965-8D10C4A52616}" type="datetime1">
              <a:rPr lang="en-US" altLang="ko-KR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5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5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4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A98829-6BD6-FBDB-0322-9B8FE4CA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B42A1CA-0B92-3306-9FCB-2053913A4CBE}"/>
              </a:ext>
            </a:extLst>
          </p:cNvPr>
          <p:cNvSpPr txBox="1"/>
          <p:nvPr/>
        </p:nvSpPr>
        <p:spPr>
          <a:xfrm>
            <a:off x="4610100" y="6111125"/>
            <a:ext cx="9067800" cy="47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조민주</a:t>
            </a:r>
            <a:endParaRPr lang="en-US" sz="26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cs typeface="Nanum Square Round"/>
              <a:sym typeface="Nanum Square Roun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49CB741-6186-65B6-FCDE-42BC101EC52C}"/>
              </a:ext>
            </a:extLst>
          </p:cNvPr>
          <p:cNvSpPr txBox="1"/>
          <p:nvPr/>
        </p:nvSpPr>
        <p:spPr>
          <a:xfrm>
            <a:off x="800100" y="3162300"/>
            <a:ext cx="16687800" cy="1452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97"/>
              </a:lnSpc>
            </a:pPr>
            <a:r>
              <a:rPr 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IGZO </a:t>
            </a:r>
            <a:r>
              <a:rPr lang="ko-KR" altLang="en-US" sz="6600" dirty="0" err="1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어닐링</a:t>
            </a:r>
            <a:r>
              <a:rPr 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 </a:t>
            </a:r>
            <a:r>
              <a:rPr lang="ko-KR" alt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온도에 따른 </a:t>
            </a:r>
            <a:r>
              <a:rPr lang="en-US" altLang="ko-KR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PSC </a:t>
            </a:r>
            <a:r>
              <a:rPr lang="ko-KR" alt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변화 </a:t>
            </a:r>
            <a:r>
              <a:rPr lang="en-US" altLang="ko-KR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(260916)</a:t>
            </a:r>
            <a:endParaRPr lang="en-US" sz="6600" baseline="-25000" dirty="0">
              <a:solidFill>
                <a:srgbClr val="0F4D8B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</p:spTree>
    <p:extLst>
      <p:ext uri="{BB962C8B-B14F-4D97-AF65-F5344CB8AC3E}">
        <p14:creationId xmlns:p14="http://schemas.microsoft.com/office/powerpoint/2010/main" val="13629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E1734-BB3D-1108-79ED-7BBE6E33A524}"/>
              </a:ext>
            </a:extLst>
          </p:cNvPr>
          <p:cNvSpPr txBox="1"/>
          <p:nvPr/>
        </p:nvSpPr>
        <p:spPr>
          <a:xfrm>
            <a:off x="14310963" y="3896230"/>
            <a:ext cx="3291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모든 소자 </a:t>
            </a:r>
            <a:r>
              <a:rPr lang="en-US" altLang="ko-KR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Al electrode </a:t>
            </a:r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올리고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Oven 200℃ 1h</a:t>
            </a:r>
            <a:endParaRPr lang="en-US" altLang="ko-KR" sz="18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8CBF8C9-EEBD-32DB-067C-61B8C725936B}"/>
              </a:ext>
            </a:extLst>
          </p:cNvPr>
          <p:cNvGrpSpPr/>
          <p:nvPr/>
        </p:nvGrpSpPr>
        <p:grpSpPr>
          <a:xfrm>
            <a:off x="14173200" y="5465163"/>
            <a:ext cx="3810000" cy="2548173"/>
            <a:chOff x="1083946" y="4712957"/>
            <a:chExt cx="8517250" cy="281236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DA3589A-56F6-72B2-4C13-C50758C42C36}"/>
                </a:ext>
              </a:extLst>
            </p:cNvPr>
            <p:cNvSpPr/>
            <p:nvPr/>
          </p:nvSpPr>
          <p:spPr>
            <a:xfrm>
              <a:off x="2652154" y="5236879"/>
              <a:ext cx="5380842" cy="77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SPT IGZO</a:t>
              </a:r>
              <a:endParaRPr lang="ko-KR" altLang="en-US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851D39C-9807-D9A2-01E0-7D1429A5B884}"/>
                </a:ext>
              </a:extLst>
            </p:cNvPr>
            <p:cNvSpPr/>
            <p:nvPr/>
          </p:nvSpPr>
          <p:spPr>
            <a:xfrm>
              <a:off x="1083946" y="5998015"/>
              <a:ext cx="8517250" cy="1527311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P</a:t>
              </a:r>
              <a:r>
                <a:rPr lang="en-US" altLang="ko-KR" sz="2800" baseline="30000" dirty="0">
                  <a:latin typeface="TDTD강굴림" panose="020B0600000101010101" charset="-127"/>
                  <a:ea typeface="TDTD강굴림" panose="020B0600000101010101" charset="-127"/>
                </a:rPr>
                <a:t>++</a:t>
              </a:r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 Si / SiO</a:t>
              </a:r>
              <a:r>
                <a:rPr lang="en-US" altLang="ko-KR" sz="2800" baseline="-25000" dirty="0"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  <a:endParaRPr lang="ko-KR" altLang="en-US" sz="2800" baseline="-250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098395-CF3E-05EC-7D7F-C8FAF071CCB8}"/>
                </a:ext>
              </a:extLst>
            </p:cNvPr>
            <p:cNvSpPr/>
            <p:nvPr/>
          </p:nvSpPr>
          <p:spPr>
            <a:xfrm>
              <a:off x="2652154" y="4712958"/>
              <a:ext cx="1568207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S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0F5A4F-9F55-54D6-2B3F-808CFDAEC00E}"/>
                </a:ext>
              </a:extLst>
            </p:cNvPr>
            <p:cNvSpPr/>
            <p:nvPr/>
          </p:nvSpPr>
          <p:spPr>
            <a:xfrm>
              <a:off x="6464788" y="4712957"/>
              <a:ext cx="1568207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D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F51821-4AD3-B1E4-9140-7C1EBD2B76E3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Fabrication_260916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EA8681C-46DD-7322-A16E-A7F65DBCC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386901"/>
              </p:ext>
            </p:extLst>
          </p:nvPr>
        </p:nvGraphicFramePr>
        <p:xfrm>
          <a:off x="152400" y="2438385"/>
          <a:ext cx="13518811" cy="7048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190">
                  <a:extLst>
                    <a:ext uri="{9D8B030D-6E8A-4147-A177-3AD203B41FA5}">
                      <a16:colId xmlns:a16="http://schemas.microsoft.com/office/drawing/2014/main" val="2486110981"/>
                    </a:ext>
                  </a:extLst>
                </a:gridCol>
                <a:gridCol w="1660712">
                  <a:extLst>
                    <a:ext uri="{9D8B030D-6E8A-4147-A177-3AD203B41FA5}">
                      <a16:colId xmlns:a16="http://schemas.microsoft.com/office/drawing/2014/main" val="1034848132"/>
                    </a:ext>
                  </a:extLst>
                </a:gridCol>
                <a:gridCol w="1660712">
                  <a:extLst>
                    <a:ext uri="{9D8B030D-6E8A-4147-A177-3AD203B41FA5}">
                      <a16:colId xmlns:a16="http://schemas.microsoft.com/office/drawing/2014/main" val="328186170"/>
                    </a:ext>
                  </a:extLst>
                </a:gridCol>
                <a:gridCol w="1660712">
                  <a:extLst>
                    <a:ext uri="{9D8B030D-6E8A-4147-A177-3AD203B41FA5}">
                      <a16:colId xmlns:a16="http://schemas.microsoft.com/office/drawing/2014/main" val="2021267744"/>
                    </a:ext>
                  </a:extLst>
                </a:gridCol>
                <a:gridCol w="1496985">
                  <a:extLst>
                    <a:ext uri="{9D8B030D-6E8A-4147-A177-3AD203B41FA5}">
                      <a16:colId xmlns:a16="http://schemas.microsoft.com/office/drawing/2014/main" val="3203234114"/>
                    </a:ext>
                  </a:extLst>
                </a:gridCol>
                <a:gridCol w="1878132">
                  <a:extLst>
                    <a:ext uri="{9D8B030D-6E8A-4147-A177-3AD203B41FA5}">
                      <a16:colId xmlns:a16="http://schemas.microsoft.com/office/drawing/2014/main" val="667947090"/>
                    </a:ext>
                  </a:extLst>
                </a:gridCol>
                <a:gridCol w="1720184">
                  <a:extLst>
                    <a:ext uri="{9D8B030D-6E8A-4147-A177-3AD203B41FA5}">
                      <a16:colId xmlns:a16="http://schemas.microsoft.com/office/drawing/2014/main" val="1234864674"/>
                    </a:ext>
                  </a:extLst>
                </a:gridCol>
                <a:gridCol w="1720184">
                  <a:extLst>
                    <a:ext uri="{9D8B030D-6E8A-4147-A177-3AD203B41FA5}">
                      <a16:colId xmlns:a16="http://schemas.microsoft.com/office/drawing/2014/main" val="3866502045"/>
                    </a:ext>
                  </a:extLst>
                </a:gridCol>
              </a:tblGrid>
              <a:tr h="555736"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Sub. Cleaning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Ar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gas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sccm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</a:t>
                      </a:r>
                      <a:r>
                        <a:rPr lang="en-US" altLang="ko-KR" sz="1800" b="1" baseline="-25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 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gas [</a:t>
                      </a:r>
                      <a:r>
                        <a:rPr lang="en-US" altLang="ko-KR" sz="1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sccm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APC [</a:t>
                      </a:r>
                      <a:r>
                        <a:rPr lang="en-US" altLang="ko-KR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mTorr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RF PWR</a:t>
                      </a:r>
                      <a:r>
                        <a:rPr lang="en-US" altLang="ko-KR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[W]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Depo.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Annealing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419732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788443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081261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473427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5930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745867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442336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D3-1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09509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D3-2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545787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D3-3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912172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D4-1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540242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D4-2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7882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D4-3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75655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D5-1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93908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D5-2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51805"/>
                  </a:ext>
                </a:extLst>
              </a:tr>
              <a:tr h="42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D5-3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130s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700’C 1h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7682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04CBF8B-F310-CC3F-EF70-CC3EC1962D4D}"/>
              </a:ext>
            </a:extLst>
          </p:cNvPr>
          <p:cNvSpPr txBox="1"/>
          <p:nvPr/>
        </p:nvSpPr>
        <p:spPr>
          <a:xfrm>
            <a:off x="152400" y="1842362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dirty="0"/>
              <a:t>홀더 </a:t>
            </a:r>
            <a:r>
              <a:rPr lang="en-US" altLang="ko-KR" sz="2000" b="1" dirty="0"/>
              <a:t>10</a:t>
            </a:r>
            <a:r>
              <a:rPr lang="ko-KR" altLang="en-US" sz="2000" b="1" dirty="0"/>
              <a:t>번 칸에서만 증착</a:t>
            </a:r>
          </a:p>
        </p:txBody>
      </p:sp>
    </p:spTree>
    <p:extLst>
      <p:ext uri="{BB962C8B-B14F-4D97-AF65-F5344CB8AC3E}">
        <p14:creationId xmlns:p14="http://schemas.microsoft.com/office/powerpoint/2010/main" val="407504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D1~3)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D6C47D-CD8A-DBF4-97C7-4B28A264F182}"/>
              </a:ext>
            </a:extLst>
          </p:cNvPr>
          <p:cNvSpPr/>
          <p:nvPr/>
        </p:nvSpPr>
        <p:spPr>
          <a:xfrm>
            <a:off x="228600" y="2552700"/>
            <a:ext cx="17830800" cy="5485409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4" name="개체 23">
            <a:extLst>
              <a:ext uri="{FF2B5EF4-FFF2-40B4-BE49-F238E27FC236}">
                <a16:creationId xmlns:a16="http://schemas.microsoft.com/office/drawing/2014/main" id="{2311BAD4-D128-6B3A-E435-4278BAE288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297448"/>
              </p:ext>
            </p:extLst>
          </p:nvPr>
        </p:nvGraphicFramePr>
        <p:xfrm>
          <a:off x="76200" y="3216733"/>
          <a:ext cx="4952723" cy="4773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505775" imgH="3603997" progId="Origin50.Graph">
                  <p:embed/>
                </p:oleObj>
              </mc:Choice>
              <mc:Fallback>
                <p:oleObj name="Graph" r:id="rId3" imgW="3505775" imgH="3603997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956A0075-6C2B-5D09-D089-F3288A014B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" y="3216733"/>
                        <a:ext cx="4952723" cy="4773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233F61AA-FD3D-869B-2AE7-F78B41B10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275361"/>
              </p:ext>
            </p:extLst>
          </p:nvPr>
        </p:nvGraphicFramePr>
        <p:xfrm>
          <a:off x="4707267" y="3174106"/>
          <a:ext cx="4639258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505775" imgH="3603997" progId="Origin50.Graph">
                  <p:embed/>
                </p:oleObj>
              </mc:Choice>
              <mc:Fallback>
                <p:oleObj name="Graph" r:id="rId5" imgW="3505775" imgH="3603997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B8C780B2-8E8C-9690-9914-DAEAED3025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07267" y="3174106"/>
                        <a:ext cx="4639258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46BC69E-1B64-1067-CA43-EB7744202D4D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D591B395-CCA0-1C9A-08FC-CBDCF4A93B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212446"/>
              </p:ext>
            </p:extLst>
          </p:nvPr>
        </p:nvGraphicFramePr>
        <p:xfrm>
          <a:off x="9083214" y="3168957"/>
          <a:ext cx="4859126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2589632" imgH="2541421" progId="Origin50.Graph">
                  <p:embed/>
                </p:oleObj>
              </mc:Choice>
              <mc:Fallback>
                <p:oleObj name="Graph" r:id="rId7" imgW="2589632" imgH="2541421" progId="Origin50.Graph">
                  <p:embed/>
                  <p:pic>
                    <p:nvPicPr>
                      <p:cNvPr id="16" name="개체 15">
                        <a:extLst>
                          <a:ext uri="{FF2B5EF4-FFF2-40B4-BE49-F238E27FC236}">
                            <a16:creationId xmlns:a16="http://schemas.microsoft.com/office/drawing/2014/main" id="{67BF9658-D552-4F68-31CF-69B58931D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83214" y="3168957"/>
                        <a:ext cx="4859126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1BBBC5D2-529C-4F45-9FD2-1B65CAB91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514720"/>
              </p:ext>
            </p:extLst>
          </p:nvPr>
        </p:nvGraphicFramePr>
        <p:xfrm>
          <a:off x="13463585" y="3168957"/>
          <a:ext cx="4856874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2589632" imgH="2541421" progId="Origin50.Graph">
                  <p:embed/>
                </p:oleObj>
              </mc:Choice>
              <mc:Fallback>
                <p:oleObj name="Graph" r:id="rId9" imgW="2589632" imgH="2541421" progId="Origin50.Graph">
                  <p:embed/>
                  <p:pic>
                    <p:nvPicPr>
                      <p:cNvPr id="14" name="개체 13">
                        <a:extLst>
                          <a:ext uri="{FF2B5EF4-FFF2-40B4-BE49-F238E27FC236}">
                            <a16:creationId xmlns:a16="http://schemas.microsoft.com/office/drawing/2014/main" id="{00EED8FF-622C-897B-CCAE-46DFF4CB93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463585" y="3168957"/>
                        <a:ext cx="4856874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4D575DD-6073-9787-7EAA-1470FBF6C2D3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E13E9F-2A5C-B494-FC07-E218AAC87F87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DCBE4C-24B1-E726-1882-3A0B79713C6A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CBB8E-DB7D-88B2-FEE2-8226D8C2FF48}"/>
              </a:ext>
            </a:extLst>
          </p:cNvPr>
          <p:cNvSpPr txBox="1"/>
          <p:nvPr/>
        </p:nvSpPr>
        <p:spPr>
          <a:xfrm>
            <a:off x="1295400" y="2782292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8BB33-E3C8-2B77-7494-C45CF57E988A}"/>
              </a:ext>
            </a:extLst>
          </p:cNvPr>
          <p:cNvSpPr txBox="1"/>
          <p:nvPr/>
        </p:nvSpPr>
        <p:spPr>
          <a:xfrm>
            <a:off x="5967166" y="2782292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2233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D4~6)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9A9715-A031-9604-9E9E-8043DC65536F}"/>
              </a:ext>
            </a:extLst>
          </p:cNvPr>
          <p:cNvSpPr/>
          <p:nvPr/>
        </p:nvSpPr>
        <p:spPr>
          <a:xfrm>
            <a:off x="228600" y="2552699"/>
            <a:ext cx="17830800" cy="5486401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B2EF283C-6F53-E344-09CB-F319A7E0B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430644"/>
              </p:ext>
            </p:extLst>
          </p:nvPr>
        </p:nvGraphicFramePr>
        <p:xfrm>
          <a:off x="163653" y="3189300"/>
          <a:ext cx="4954962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505775" imgH="3603997" progId="Origin50.Graph">
                  <p:embed/>
                </p:oleObj>
              </mc:Choice>
              <mc:Fallback>
                <p:oleObj name="Graph" r:id="rId3" imgW="3505775" imgH="3603997" progId="Origin50.Graph">
                  <p:embed/>
                  <p:pic>
                    <p:nvPicPr>
                      <p:cNvPr id="24" name="개체 23">
                        <a:extLst>
                          <a:ext uri="{FF2B5EF4-FFF2-40B4-BE49-F238E27FC236}">
                            <a16:creationId xmlns:a16="http://schemas.microsoft.com/office/drawing/2014/main" id="{2311BAD4-D128-6B3A-E435-4278BAE2889E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653" y="3189300"/>
                        <a:ext cx="4954962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B5AFD446-891D-960C-CF7B-9ADC1F37DE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713018"/>
              </p:ext>
            </p:extLst>
          </p:nvPr>
        </p:nvGraphicFramePr>
        <p:xfrm>
          <a:off x="4742469" y="3189300"/>
          <a:ext cx="4639259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505775" imgH="3603997" progId="Origin50.Graph">
                  <p:embed/>
                </p:oleObj>
              </mc:Choice>
              <mc:Fallback>
                <p:oleObj name="Graph" r:id="rId5" imgW="3505775" imgH="3603997" progId="Origin50.Graph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233F61AA-FD3D-869B-2AE7-F78B41B10E38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2469" y="3189300"/>
                        <a:ext cx="4639259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5BD4987-B920-8CEE-4B6D-AE1CF927B037}"/>
              </a:ext>
            </a:extLst>
          </p:cNvPr>
          <p:cNvSpPr txBox="1"/>
          <p:nvPr/>
        </p:nvSpPr>
        <p:spPr>
          <a:xfrm>
            <a:off x="1295400" y="2782292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41010D-89A7-7EC4-DA18-35B971169874}"/>
              </a:ext>
            </a:extLst>
          </p:cNvPr>
          <p:cNvSpPr txBox="1"/>
          <p:nvPr/>
        </p:nvSpPr>
        <p:spPr>
          <a:xfrm>
            <a:off x="5967166" y="2782292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F1526-2009-81E0-FF0A-97EA69BE2A0E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EABB24A5-0C15-0B8B-2395-567C5E3C4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212446"/>
              </p:ext>
            </p:extLst>
          </p:nvPr>
        </p:nvGraphicFramePr>
        <p:xfrm>
          <a:off x="9083214" y="3168957"/>
          <a:ext cx="4859126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2589632" imgH="2541421" progId="Origin50.Graph">
                  <p:embed/>
                </p:oleObj>
              </mc:Choice>
              <mc:Fallback>
                <p:oleObj name="Graph" r:id="rId7" imgW="2589632" imgH="2541421" progId="Origin50.Graph">
                  <p:embed/>
                  <p:pic>
                    <p:nvPicPr>
                      <p:cNvPr id="16" name="개체 15">
                        <a:extLst>
                          <a:ext uri="{FF2B5EF4-FFF2-40B4-BE49-F238E27FC236}">
                            <a16:creationId xmlns:a16="http://schemas.microsoft.com/office/drawing/2014/main" id="{67BF9658-D552-4F68-31CF-69B58931D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83214" y="3168957"/>
                        <a:ext cx="4859126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C79F0FFC-7CC2-4422-4821-C729C20F15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514720"/>
              </p:ext>
            </p:extLst>
          </p:nvPr>
        </p:nvGraphicFramePr>
        <p:xfrm>
          <a:off x="13463585" y="3168957"/>
          <a:ext cx="4856874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2589632" imgH="2541421" progId="Origin50.Graph">
                  <p:embed/>
                </p:oleObj>
              </mc:Choice>
              <mc:Fallback>
                <p:oleObj name="Graph" r:id="rId9" imgW="2589632" imgH="2541421" progId="Origin50.Graph">
                  <p:embed/>
                  <p:pic>
                    <p:nvPicPr>
                      <p:cNvPr id="14" name="개체 13">
                        <a:extLst>
                          <a:ext uri="{FF2B5EF4-FFF2-40B4-BE49-F238E27FC236}">
                            <a16:creationId xmlns:a16="http://schemas.microsoft.com/office/drawing/2014/main" id="{00EED8FF-622C-897B-CCAE-46DFF4CB93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463585" y="3168957"/>
                        <a:ext cx="4856874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3EFAC4-0A33-65DC-39BE-87F13D86DE2E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8691A-14B0-44EB-2180-A434AEC7A2C2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856D6-316A-602B-98E0-AE5673173247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1548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D7~9)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4BE637-5483-9E2B-CD1C-73C0D3BC41EB}"/>
              </a:ext>
            </a:extLst>
          </p:cNvPr>
          <p:cNvSpPr/>
          <p:nvPr/>
        </p:nvSpPr>
        <p:spPr>
          <a:xfrm>
            <a:off x="228600" y="2552700"/>
            <a:ext cx="17830800" cy="5485409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F4FFAF66-025B-A3E4-FD41-69CA782286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398498"/>
              </p:ext>
            </p:extLst>
          </p:nvPr>
        </p:nvGraphicFramePr>
        <p:xfrm>
          <a:off x="225180" y="3168957"/>
          <a:ext cx="4952722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505775" imgH="3603997" progId="Origin50.Graph">
                  <p:embed/>
                </p:oleObj>
              </mc:Choice>
              <mc:Fallback>
                <p:oleObj name="Graph" r:id="rId3" imgW="3505775" imgH="3603997" progId="Origin50.Graph">
                  <p:embed/>
                  <p:pic>
                    <p:nvPicPr>
                      <p:cNvPr id="24" name="개체 23">
                        <a:extLst>
                          <a:ext uri="{FF2B5EF4-FFF2-40B4-BE49-F238E27FC236}">
                            <a16:creationId xmlns:a16="http://schemas.microsoft.com/office/drawing/2014/main" id="{2311BAD4-D128-6B3A-E435-4278BAE2889E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180" y="3168957"/>
                        <a:ext cx="4952722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67BF9658-D552-4F68-31CF-69B58931D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587311"/>
              </p:ext>
            </p:extLst>
          </p:nvPr>
        </p:nvGraphicFramePr>
        <p:xfrm>
          <a:off x="9083214" y="3168957"/>
          <a:ext cx="4859126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2589632" imgH="2541421" progId="Origin50.Graph">
                  <p:embed/>
                </p:oleObj>
              </mc:Choice>
              <mc:Fallback>
                <p:oleObj name="Graph" r:id="rId5" imgW="2589632" imgH="2541421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3DBFACE1-58D4-27CF-F081-891C880B5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83214" y="3168957"/>
                        <a:ext cx="4859126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>
            <a:extLst>
              <a:ext uri="{FF2B5EF4-FFF2-40B4-BE49-F238E27FC236}">
                <a16:creationId xmlns:a16="http://schemas.microsoft.com/office/drawing/2014/main" id="{00EED8FF-622C-897B-CCAE-46DFF4CB93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737961"/>
              </p:ext>
            </p:extLst>
          </p:nvPr>
        </p:nvGraphicFramePr>
        <p:xfrm>
          <a:off x="13463585" y="3168957"/>
          <a:ext cx="4856874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2589632" imgH="2541421" progId="Origin50.Graph">
                  <p:embed/>
                </p:oleObj>
              </mc:Choice>
              <mc:Fallback>
                <p:oleObj name="Graph" r:id="rId7" imgW="2589632" imgH="2541421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40218A2B-2BF1-ED45-F240-41FB7CBFB5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463585" y="3168957"/>
                        <a:ext cx="4856874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AF9E6B2D-9E57-CDC9-0118-20B703B6C3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301522"/>
              </p:ext>
            </p:extLst>
          </p:nvPr>
        </p:nvGraphicFramePr>
        <p:xfrm>
          <a:off x="4742469" y="3149305"/>
          <a:ext cx="4639259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3505775" imgH="3603997" progId="Origin50.Graph">
                  <p:embed/>
                </p:oleObj>
              </mc:Choice>
              <mc:Fallback>
                <p:oleObj name="Graph" r:id="rId9" imgW="3505775" imgH="3603997" progId="Origin50.Graph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233F61AA-FD3D-869B-2AE7-F78B41B10E38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42469" y="3149305"/>
                        <a:ext cx="4639259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C0659E9-1833-D925-6AB0-418309F96D6D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3972AD-DF40-A04A-9381-61386A391BD2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6A0EF-2369-725E-8B95-9DF493C1574F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C6FCF1-6020-6692-EDB5-3B1794E96A33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60DEB-E6A5-299B-0F56-176869F04D01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E122C-10C5-EB83-9EC5-DA4287CFA3B3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589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D10~12)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1A788F-8BA7-DAA3-E9B1-1ABEE68CB8AA}"/>
              </a:ext>
            </a:extLst>
          </p:cNvPr>
          <p:cNvSpPr/>
          <p:nvPr/>
        </p:nvSpPr>
        <p:spPr>
          <a:xfrm>
            <a:off x="228600" y="2552700"/>
            <a:ext cx="17830800" cy="5485409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13CECFF8-01D1-B3AA-DA80-227F62DF41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259788"/>
              </p:ext>
            </p:extLst>
          </p:nvPr>
        </p:nvGraphicFramePr>
        <p:xfrm>
          <a:off x="-45088" y="3162300"/>
          <a:ext cx="4952722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505775" imgH="3603997" progId="Origin50.Graph">
                  <p:embed/>
                </p:oleObj>
              </mc:Choice>
              <mc:Fallback>
                <p:oleObj name="Graph" r:id="rId3" imgW="3505775" imgH="3603997" progId="Origin50.Graph">
                  <p:embed/>
                  <p:pic>
                    <p:nvPicPr>
                      <p:cNvPr id="24" name="개체 23">
                        <a:extLst>
                          <a:ext uri="{FF2B5EF4-FFF2-40B4-BE49-F238E27FC236}">
                            <a16:creationId xmlns:a16="http://schemas.microsoft.com/office/drawing/2014/main" id="{2311BAD4-D128-6B3A-E435-4278BAE2889E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45088" y="3162300"/>
                        <a:ext cx="4952722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C5E660FF-6EA5-47A2-8F0B-7FBDE4EA66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952751"/>
              </p:ext>
            </p:extLst>
          </p:nvPr>
        </p:nvGraphicFramePr>
        <p:xfrm>
          <a:off x="4769620" y="3189300"/>
          <a:ext cx="4639259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505775" imgH="3603997" progId="Origin50.Graph">
                  <p:embed/>
                </p:oleObj>
              </mc:Choice>
              <mc:Fallback>
                <p:oleObj name="Graph" r:id="rId5" imgW="3505775" imgH="3603997" progId="Origin50.Graph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233F61AA-FD3D-869B-2AE7-F78B41B10E38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69620" y="3189300"/>
                        <a:ext cx="4639259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545F8AE-90B6-2979-2F76-542372FB6D47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6DB57-088A-3EB8-2835-63F66661173F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51DF8-3FB4-3DDD-88C9-2D1C4A9F602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D73138E9-AD25-D1B0-8D6E-F681328B6F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212446"/>
              </p:ext>
            </p:extLst>
          </p:nvPr>
        </p:nvGraphicFramePr>
        <p:xfrm>
          <a:off x="9083214" y="3168957"/>
          <a:ext cx="4859126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2589632" imgH="2541421" progId="Origin50.Graph">
                  <p:embed/>
                </p:oleObj>
              </mc:Choice>
              <mc:Fallback>
                <p:oleObj name="Graph" r:id="rId7" imgW="2589632" imgH="2541421" progId="Origin50.Graph">
                  <p:embed/>
                  <p:pic>
                    <p:nvPicPr>
                      <p:cNvPr id="16" name="개체 15">
                        <a:extLst>
                          <a:ext uri="{FF2B5EF4-FFF2-40B4-BE49-F238E27FC236}">
                            <a16:creationId xmlns:a16="http://schemas.microsoft.com/office/drawing/2014/main" id="{67BF9658-D552-4F68-31CF-69B58931D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83214" y="3168957"/>
                        <a:ext cx="4859126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0B30F633-B088-8BD4-011A-D5BDBACBC5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514720"/>
              </p:ext>
            </p:extLst>
          </p:nvPr>
        </p:nvGraphicFramePr>
        <p:xfrm>
          <a:off x="13463585" y="3168957"/>
          <a:ext cx="4856874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2589632" imgH="2541421" progId="Origin50.Graph">
                  <p:embed/>
                </p:oleObj>
              </mc:Choice>
              <mc:Fallback>
                <p:oleObj name="Graph" r:id="rId9" imgW="2589632" imgH="2541421" progId="Origin50.Graph">
                  <p:embed/>
                  <p:pic>
                    <p:nvPicPr>
                      <p:cNvPr id="14" name="개체 13">
                        <a:extLst>
                          <a:ext uri="{FF2B5EF4-FFF2-40B4-BE49-F238E27FC236}">
                            <a16:creationId xmlns:a16="http://schemas.microsoft.com/office/drawing/2014/main" id="{00EED8FF-622C-897B-CCAE-46DFF4CB93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463585" y="3168957"/>
                        <a:ext cx="4856874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256D2A9-D0E0-29F1-21EA-7445ED651D98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F5246-E7EB-DE74-4022-3CE6F761433F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22627-D920-959A-AC3A-B52BD9D46769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4267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D13~15)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3523CE-98BB-A4F0-3C8D-82DF905873FE}"/>
              </a:ext>
            </a:extLst>
          </p:cNvPr>
          <p:cNvSpPr txBox="1"/>
          <p:nvPr/>
        </p:nvSpPr>
        <p:spPr>
          <a:xfrm>
            <a:off x="228600" y="81153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5C543F-81E8-7B09-C3AD-73220D6C6D0A}"/>
              </a:ext>
            </a:extLst>
          </p:cNvPr>
          <p:cNvSpPr/>
          <p:nvPr/>
        </p:nvSpPr>
        <p:spPr>
          <a:xfrm>
            <a:off x="228600" y="2552700"/>
            <a:ext cx="17830800" cy="5485409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3" name="개체 32">
            <a:extLst>
              <a:ext uri="{FF2B5EF4-FFF2-40B4-BE49-F238E27FC236}">
                <a16:creationId xmlns:a16="http://schemas.microsoft.com/office/drawing/2014/main" id="{C887952D-51FE-006C-FD54-C3FFC71AB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343255"/>
              </p:ext>
            </p:extLst>
          </p:nvPr>
        </p:nvGraphicFramePr>
        <p:xfrm>
          <a:off x="126433" y="3173483"/>
          <a:ext cx="4952722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505775" imgH="3603997" progId="Origin50.Graph">
                  <p:embed/>
                </p:oleObj>
              </mc:Choice>
              <mc:Fallback>
                <p:oleObj name="Graph" r:id="rId3" imgW="3505775" imgH="3603997" progId="Origin50.Graph">
                  <p:embed/>
                  <p:pic>
                    <p:nvPicPr>
                      <p:cNvPr id="24" name="개체 23">
                        <a:extLst>
                          <a:ext uri="{FF2B5EF4-FFF2-40B4-BE49-F238E27FC236}">
                            <a16:creationId xmlns:a16="http://schemas.microsoft.com/office/drawing/2014/main" id="{2311BAD4-D128-6B3A-E435-4278BAE2889E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433" y="3173483"/>
                        <a:ext cx="4952722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개체 23">
            <a:extLst>
              <a:ext uri="{FF2B5EF4-FFF2-40B4-BE49-F238E27FC236}">
                <a16:creationId xmlns:a16="http://schemas.microsoft.com/office/drawing/2014/main" id="{04A1C049-74AA-4272-3BD7-63E47E62C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086514"/>
              </p:ext>
            </p:extLst>
          </p:nvPr>
        </p:nvGraphicFramePr>
        <p:xfrm>
          <a:off x="9083214" y="3168957"/>
          <a:ext cx="4859126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2589632" imgH="2541421" progId="Origin50.Graph">
                  <p:embed/>
                </p:oleObj>
              </mc:Choice>
              <mc:Fallback>
                <p:oleObj name="Graph" r:id="rId5" imgW="2589632" imgH="2541421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3DBFACE1-58D4-27CF-F081-891C880B5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83214" y="3168957"/>
                        <a:ext cx="4859126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5E6496C3-EB24-8B5B-9B72-066758F3D5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47436"/>
              </p:ext>
            </p:extLst>
          </p:nvPr>
        </p:nvGraphicFramePr>
        <p:xfrm>
          <a:off x="13463586" y="3168957"/>
          <a:ext cx="4856874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2589632" imgH="2541421" progId="Origin50.Graph">
                  <p:embed/>
                </p:oleObj>
              </mc:Choice>
              <mc:Fallback>
                <p:oleObj name="Graph" r:id="rId7" imgW="2589632" imgH="2541421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40218A2B-2BF1-ED45-F240-41FB7CBFB5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463586" y="3168957"/>
                        <a:ext cx="4856874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86CDFDAD-05AF-2A9F-4BA4-A57BDBDF0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119957"/>
              </p:ext>
            </p:extLst>
          </p:nvPr>
        </p:nvGraphicFramePr>
        <p:xfrm>
          <a:off x="4887110" y="3168957"/>
          <a:ext cx="4639259" cy="47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3505775" imgH="3603997" progId="Origin50.Graph">
                  <p:embed/>
                </p:oleObj>
              </mc:Choice>
              <mc:Fallback>
                <p:oleObj name="Graph" r:id="rId9" imgW="3505775" imgH="3603997" progId="Origin50.Graph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233F61AA-FD3D-869B-2AE7-F78B41B10E38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87110" y="3168957"/>
                        <a:ext cx="4639259" cy="47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1A28F3B-C398-A025-75B8-2E5CFECACF37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7B223-8AFF-3922-F452-2B9B73C877F7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474926-BAA5-9F5B-E95E-BF4DF819A90B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2956A2-D217-5BF3-8549-2FA9C99162C8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F38AF-1276-C5CA-C42E-D726180614E2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897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E6D12-FEFD-FC25-FA77-AE82E0C6BEF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C84464-AF71-B35B-A498-53328F5E85CA}"/>
              </a:ext>
            </a:extLst>
          </p:cNvPr>
          <p:cNvSpPr txBox="1"/>
          <p:nvPr/>
        </p:nvSpPr>
        <p:spPr>
          <a:xfrm>
            <a:off x="10591200" y="91059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V</a:t>
            </a:r>
            <a:r>
              <a:rPr lang="en-US" altLang="ko-KR" b="1" baseline="-25000" dirty="0"/>
              <a:t>OV</a:t>
            </a:r>
            <a:r>
              <a:rPr lang="en-US" altLang="ko-KR" b="1" dirty="0"/>
              <a:t> = 10 V </a:t>
            </a:r>
            <a:r>
              <a:rPr lang="ko-KR" altLang="en-US" b="1" dirty="0"/>
              <a:t>에서 추출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9C8533-02CC-2E8F-85D9-BD7CD128FD9C}"/>
              </a:ext>
            </a:extLst>
          </p:cNvPr>
          <p:cNvSpPr txBox="1"/>
          <p:nvPr/>
        </p:nvSpPr>
        <p:spPr>
          <a:xfrm>
            <a:off x="419077" y="1509508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 curve</a:t>
            </a:r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B37C112A-2A34-5F70-09FF-E71A68BBF4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4859297"/>
              </p:ext>
            </p:extLst>
          </p:nvPr>
        </p:nvGraphicFramePr>
        <p:xfrm>
          <a:off x="3714877" y="1687321"/>
          <a:ext cx="6591600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099272" imgH="2979683" progId="Origin50.Graph">
                  <p:embed/>
                </p:oleObj>
              </mc:Choice>
              <mc:Fallback>
                <p:oleObj name="Graph" r:id="rId3" imgW="4099272" imgH="2979683" progId="Origin50.Graph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E197EC2A-731C-ED73-3E06-BA9E8AFF97D5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4877" y="1687321"/>
                        <a:ext cx="6591600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A9325F0D-DECC-7E07-7B31-23D1FDC917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3585939"/>
              </p:ext>
            </p:extLst>
          </p:nvPr>
        </p:nvGraphicFramePr>
        <p:xfrm>
          <a:off x="9277477" y="1705464"/>
          <a:ext cx="6591600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099272" imgH="2979683" progId="Origin50.Graph">
                  <p:embed/>
                </p:oleObj>
              </mc:Choice>
              <mc:Fallback>
                <p:oleObj name="Graph" r:id="rId5" imgW="4099272" imgH="2979683" progId="Origin50.Graph">
                  <p:embed/>
                  <p:pic>
                    <p:nvPicPr>
                      <p:cNvPr id="14" name="개체 13">
                        <a:extLst>
                          <a:ext uri="{FF2B5EF4-FFF2-40B4-BE49-F238E27FC236}">
                            <a16:creationId xmlns:a16="http://schemas.microsoft.com/office/drawing/2014/main" id="{9968F647-1D6D-A8DA-B0B9-163CAB7A7BE1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77477" y="1705464"/>
                        <a:ext cx="6591600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10F39832-EF52-69E0-2832-2353C8721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479529"/>
              </p:ext>
            </p:extLst>
          </p:nvPr>
        </p:nvGraphicFramePr>
        <p:xfrm>
          <a:off x="3828877" y="5753100"/>
          <a:ext cx="6591600" cy="4790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099272" imgH="2979683" progId="Origin50.Graph">
                  <p:embed/>
                </p:oleObj>
              </mc:Choice>
              <mc:Fallback>
                <p:oleObj name="Graph" r:id="rId7" imgW="4099272" imgH="2979683" progId="Origin50.Graph">
                  <p:embed/>
                  <p:pic>
                    <p:nvPicPr>
                      <p:cNvPr id="26" name="개체 25">
                        <a:extLst>
                          <a:ext uri="{FF2B5EF4-FFF2-40B4-BE49-F238E27FC236}">
                            <a16:creationId xmlns:a16="http://schemas.microsoft.com/office/drawing/2014/main" id="{DB5DAD41-54B9-5C5B-2C62-2276E71D302C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28877" y="5753100"/>
                        <a:ext cx="6591600" cy="4790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8CA78CA8-12C3-E49D-29DB-D6E5A85D1B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9472916"/>
              </p:ext>
            </p:extLst>
          </p:nvPr>
        </p:nvGraphicFramePr>
        <p:xfrm>
          <a:off x="9329057" y="5738823"/>
          <a:ext cx="6591600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4099272" imgH="2979683" progId="Origin50.Graph">
                  <p:embed/>
                </p:oleObj>
              </mc:Choice>
              <mc:Fallback>
                <p:oleObj name="Graph" r:id="rId9" imgW="4099272" imgH="2979683" progId="Origin50.Graph">
                  <p:embed/>
                  <p:pic>
                    <p:nvPicPr>
                      <p:cNvPr id="8" name="개체 7">
                        <a:extLst>
                          <a:ext uri="{FF2B5EF4-FFF2-40B4-BE49-F238E27FC236}">
                            <a16:creationId xmlns:a16="http://schemas.microsoft.com/office/drawing/2014/main" id="{C5503FE0-6F93-DDC6-7C47-AE071EB3BA7A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329057" y="5738823"/>
                        <a:ext cx="6591600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2818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E6D12-FEFD-FC25-FA77-AE82E0C6BEF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graphicFrame>
        <p:nvGraphicFramePr>
          <p:cNvPr id="20" name="개체 19">
            <a:extLst>
              <a:ext uri="{FF2B5EF4-FFF2-40B4-BE49-F238E27FC236}">
                <a16:creationId xmlns:a16="http://schemas.microsoft.com/office/drawing/2014/main" id="{E1E203A7-F599-3692-B53B-BB050B4E6F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9601179"/>
              </p:ext>
            </p:extLst>
          </p:nvPr>
        </p:nvGraphicFramePr>
        <p:xfrm>
          <a:off x="228602" y="3510571"/>
          <a:ext cx="6591600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986439" imgH="2672846" progId="Origin50.Graph">
                  <p:embed/>
                </p:oleObj>
              </mc:Choice>
              <mc:Fallback>
                <p:oleObj name="Graph" r:id="rId3" imgW="3986439" imgH="2672846" progId="Origin50.Graph">
                  <p:embed/>
                  <p:pic>
                    <p:nvPicPr>
                      <p:cNvPr id="20" name="개체 19">
                        <a:extLst>
                          <a:ext uri="{FF2B5EF4-FFF2-40B4-BE49-F238E27FC236}">
                            <a16:creationId xmlns:a16="http://schemas.microsoft.com/office/drawing/2014/main" id="{E1E203A7-F599-3692-B53B-BB050B4E6F47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2" y="3510571"/>
                        <a:ext cx="6591600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ECAEF1E-5270-002C-59E4-BF24AEB0395C}"/>
              </a:ext>
            </a:extLst>
          </p:cNvPr>
          <p:cNvSpPr txBox="1"/>
          <p:nvPr/>
        </p:nvSpPr>
        <p:spPr>
          <a:xfrm>
            <a:off x="9372600" y="14097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1600" baseline="-25000" dirty="0" err="1"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빛을 인가한 후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최고점</a:t>
            </a:r>
            <a:endParaRPr lang="en-US" altLang="ko-KR" sz="16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 algn="r"/>
            <a:r>
              <a:rPr lang="en-US" altLang="ko-KR" sz="1600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1600" baseline="-25000" dirty="0" err="1"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빛을 인가하기 전의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1600" baseline="-25000" dirty="0">
                <a:latin typeface="TDTD강굴림" panose="020B0600000101010101" charset="-127"/>
                <a:ea typeface="TDTD강굴림" panose="020B0600000101010101" charset="-127"/>
              </a:rPr>
              <a:t>D</a:t>
            </a:r>
          </a:p>
          <a:p>
            <a:pPr algn="r"/>
            <a:r>
              <a:rPr lang="en-US" altLang="ko-KR" sz="1600" dirty="0" err="1">
                <a:latin typeface="TDTD강굴림" panose="020B0600000101010101" charset="-127"/>
                <a:ea typeface="TDTD강굴림" panose="020B0600000101010101" charset="-127"/>
              </a:rPr>
              <a:t>t</a:t>
            </a:r>
            <a:r>
              <a:rPr lang="en-US" altLang="ko-KR" sz="1600" baseline="-25000" dirty="0" err="1">
                <a:latin typeface="TDTD강굴림" panose="020B0600000101010101" charset="-127"/>
                <a:ea typeface="TDTD강굴림" panose="020B0600000101010101" charset="-127"/>
              </a:rPr>
              <a:t>decay,SEF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: Single pulse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에서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PSC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가 </a:t>
            </a:r>
            <a:r>
              <a:rPr lang="en-US" altLang="ko-KR" sz="1600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1600" baseline="-25000" dirty="0" err="1"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/</a:t>
            </a:r>
            <a:r>
              <a:rPr lang="ko-KR" altLang="en-US" sz="1600" dirty="0">
                <a:latin typeface="TDTD강굴림" panose="020B0600000101010101" charset="-127"/>
                <a:ea typeface="TDTD강굴림" panose="020B0600000101010101" charset="-127"/>
              </a:rPr>
              <a:t>𝑒 되기까지의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Decay time (SEF fitting) </a:t>
            </a:r>
          </a:p>
        </p:txBody>
      </p:sp>
      <p:graphicFrame>
        <p:nvGraphicFramePr>
          <p:cNvPr id="25" name="개체 24">
            <a:extLst>
              <a:ext uri="{FF2B5EF4-FFF2-40B4-BE49-F238E27FC236}">
                <a16:creationId xmlns:a16="http://schemas.microsoft.com/office/drawing/2014/main" id="{F7074418-0FCD-26B7-6A65-66B71E34D9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872965"/>
              </p:ext>
            </p:extLst>
          </p:nvPr>
        </p:nvGraphicFramePr>
        <p:xfrm>
          <a:off x="6324600" y="3552300"/>
          <a:ext cx="659132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099272" imgH="2979683" progId="Origin50.Graph">
                  <p:embed/>
                </p:oleObj>
              </mc:Choice>
              <mc:Fallback>
                <p:oleObj name="Graph" r:id="rId5" imgW="4099272" imgH="2979683" progId="Origin50.Graph">
                  <p:embed/>
                  <p:pic>
                    <p:nvPicPr>
                      <p:cNvPr id="25" name="개체 24">
                        <a:extLst>
                          <a:ext uri="{FF2B5EF4-FFF2-40B4-BE49-F238E27FC236}">
                            <a16:creationId xmlns:a16="http://schemas.microsoft.com/office/drawing/2014/main" id="{F7074418-0FCD-26B7-6A65-66B71E34D9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24600" y="3552300"/>
                        <a:ext cx="659132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개체 27">
            <a:extLst>
              <a:ext uri="{FF2B5EF4-FFF2-40B4-BE49-F238E27FC236}">
                <a16:creationId xmlns:a16="http://schemas.microsoft.com/office/drawing/2014/main" id="{D09AB12B-F570-3D06-F547-08B8B4EE93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842235"/>
              </p:ext>
            </p:extLst>
          </p:nvPr>
        </p:nvGraphicFramePr>
        <p:xfrm>
          <a:off x="12115800" y="3552300"/>
          <a:ext cx="659132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099272" imgH="2979683" progId="Origin50.Graph">
                  <p:embed/>
                </p:oleObj>
              </mc:Choice>
              <mc:Fallback>
                <p:oleObj name="Graph" r:id="rId7" imgW="4099272" imgH="2979683" progId="Origin50.Graph">
                  <p:embed/>
                  <p:pic>
                    <p:nvPicPr>
                      <p:cNvPr id="28" name="개체 27">
                        <a:extLst>
                          <a:ext uri="{FF2B5EF4-FFF2-40B4-BE49-F238E27FC236}">
                            <a16:creationId xmlns:a16="http://schemas.microsoft.com/office/drawing/2014/main" id="{D09AB12B-F570-3D06-F547-08B8B4EE93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115800" y="3552300"/>
                        <a:ext cx="659132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DD9C8533-02CC-2E8F-85D9-BD7CD128FD9C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PSC Data</a:t>
            </a:r>
          </a:p>
        </p:txBody>
      </p:sp>
    </p:spTree>
    <p:extLst>
      <p:ext uri="{BB962C8B-B14F-4D97-AF65-F5344CB8AC3E}">
        <p14:creationId xmlns:p14="http://schemas.microsoft.com/office/powerpoint/2010/main" val="432883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D4FE4439-3DE1-EAC9-6234-8213C0D2B5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729895"/>
              </p:ext>
            </p:extLst>
          </p:nvPr>
        </p:nvGraphicFramePr>
        <p:xfrm>
          <a:off x="1933131" y="3292200"/>
          <a:ext cx="7576802" cy="5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098237" imgH="2979683" progId="Origin50.Graph">
                  <p:embed/>
                </p:oleObj>
              </mc:Choice>
              <mc:Fallback>
                <p:oleObj name="Graph" r:id="rId3" imgW="4098237" imgH="2979683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D4FE4439-3DE1-EAC9-6234-8213C0D2B5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33131" y="3292200"/>
                        <a:ext cx="7576802" cy="5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CCBCC-15A6-BF29-F534-9914C660CC39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-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 time / 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Decay time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2E5DCD7F-3E3A-60E3-7369-2A77953986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135579"/>
              </p:ext>
            </p:extLst>
          </p:nvPr>
        </p:nvGraphicFramePr>
        <p:xfrm>
          <a:off x="8803467" y="3367500"/>
          <a:ext cx="7576802" cy="5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098237" imgH="2979683" progId="Origin50.Graph">
                  <p:embed/>
                </p:oleObj>
              </mc:Choice>
              <mc:Fallback>
                <p:oleObj name="Graph" r:id="rId5" imgW="4098237" imgH="2979683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2E5DCD7F-3E3A-60E3-7369-2A77953986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03467" y="3367500"/>
                        <a:ext cx="7576802" cy="5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4B0904C-6C61-C37A-FE6D-25AE8D7D99A6}"/>
              </a:ext>
            </a:extLst>
          </p:cNvPr>
          <p:cNvSpPr txBox="1"/>
          <p:nvPr/>
        </p:nvSpPr>
        <p:spPr>
          <a:xfrm>
            <a:off x="647700" y="2729963"/>
            <a:ext cx="17030700" cy="50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딱히 경향성은 나타나지 않는 듯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7664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18533</TotalTime>
  <Words>463</Words>
  <Application>Microsoft Office PowerPoint</Application>
  <PresentationFormat>사용자 지정</PresentationFormat>
  <Paragraphs>206</Paragraphs>
  <Slides>10</Slides>
  <Notes>9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Arial</vt:lpstr>
      <vt:lpstr>TDTD강굴림</vt:lpstr>
      <vt:lpstr>Wingdings</vt:lpstr>
      <vt:lpstr>맑은 고딕</vt:lpstr>
      <vt:lpstr>Calibri</vt:lpstr>
      <vt:lpstr>Office Theme</vt:lpstr>
      <vt:lpstr>Graph</vt:lpstr>
      <vt:lpstr>Origin 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흰색 심플한 일러스트 마케팅 과제 발표 프레젠테이션</dc:title>
  <dc:creator>USER</dc:creator>
  <cp:lastModifiedBy>배진혁</cp:lastModifiedBy>
  <cp:revision>5557</cp:revision>
  <cp:lastPrinted>2026-08-19T04:14:53Z</cp:lastPrinted>
  <dcterms:created xsi:type="dcterms:W3CDTF">2006-08-16T00:00:00Z</dcterms:created>
  <dcterms:modified xsi:type="dcterms:W3CDTF">2026-09-21T14:40:30Z</dcterms:modified>
  <dc:identifier>DAGZXtFwl3k</dc:identifier>
</cp:coreProperties>
</file>