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52" r:id="rId2"/>
    <p:sldId id="367" r:id="rId3"/>
    <p:sldId id="368" r:id="rId4"/>
    <p:sldId id="422" r:id="rId5"/>
    <p:sldId id="380" r:id="rId6"/>
    <p:sldId id="497" r:id="rId7"/>
    <p:sldId id="498" r:id="rId8"/>
    <p:sldId id="480" r:id="rId9"/>
    <p:sldId id="481" r:id="rId10"/>
    <p:sldId id="482" r:id="rId11"/>
    <p:sldId id="483" r:id="rId12"/>
    <p:sldId id="484" r:id="rId13"/>
    <p:sldId id="494" r:id="rId14"/>
    <p:sldId id="495" r:id="rId15"/>
    <p:sldId id="496" r:id="rId16"/>
    <p:sldId id="493" r:id="rId17"/>
    <p:sldId id="417" r:id="rId18"/>
    <p:sldId id="479" r:id="rId19"/>
  </p:sldIdLst>
  <p:sldSz cx="18288000" cy="10287000"/>
  <p:notesSz cx="6797675" cy="9926638"/>
  <p:embeddedFontLst>
    <p:embeddedFont>
      <p:font typeface="TDTD강굴림" panose="020B0600000101010101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5E79AC"/>
    <a:srgbClr val="FFFF99"/>
    <a:srgbClr val="FFFFFF"/>
    <a:srgbClr val="E46C0A"/>
    <a:srgbClr val="254061"/>
    <a:srgbClr val="517BAD"/>
    <a:srgbClr val="AB4845"/>
    <a:srgbClr val="FFC000"/>
    <a:srgbClr val="3D5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358" autoAdjust="0"/>
  </p:normalViewPr>
  <p:slideViewPr>
    <p:cSldViewPr>
      <p:cViewPr varScale="1">
        <p:scale>
          <a:sx n="70" d="100"/>
          <a:sy n="70" d="100"/>
        </p:scale>
        <p:origin x="11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76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81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7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169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601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068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0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5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2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153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64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91ED-8490-9A18-675B-6CAE3EBB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990D4-155B-B9D0-ACA6-ABE5969D4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60F410-44F3-D574-79C8-D2A9E4677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65BA8-598E-D675-5582-7F27B7480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875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6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33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7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49CB741-6186-65B6-FCDE-42BC101EC52C}"/>
              </a:ext>
            </a:extLst>
          </p:cNvPr>
          <p:cNvSpPr txBox="1"/>
          <p:nvPr/>
        </p:nvSpPr>
        <p:spPr>
          <a:xfrm>
            <a:off x="800100" y="3162300"/>
            <a:ext cx="16687800" cy="1452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IGZO </a:t>
            </a:r>
            <a:r>
              <a:rPr lang="ko-KR" altLang="en-US" sz="6600" dirty="0" err="1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어닐링</a:t>
            </a: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온도에 따른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PSC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변화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(Exp07)</a:t>
            </a:r>
            <a:endParaRPr lang="en-US" sz="66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89495B-DD42-38A9-2B63-5602D05F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9CB154-E4E0-6B15-737A-E8244F5ABB67}"/>
              </a:ext>
            </a:extLst>
          </p:cNvPr>
          <p:cNvGrpSpPr/>
          <p:nvPr/>
        </p:nvGrpSpPr>
        <p:grpSpPr>
          <a:xfrm>
            <a:off x="2133600" y="4000500"/>
            <a:ext cx="15544800" cy="811143"/>
            <a:chOff x="2133600" y="3283364"/>
            <a:chExt cx="15544800" cy="811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47CCB9-903A-C74D-7321-BBBD1E5BC8F0}"/>
                </a:ext>
              </a:extLst>
            </p:cNvPr>
            <p:cNvSpPr txBox="1"/>
            <p:nvPr/>
          </p:nvSpPr>
          <p:spPr>
            <a:xfrm>
              <a:off x="6477000" y="3398536"/>
              <a:ext cx="11201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Transfer curve, PSC, Summary, 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결론</a:t>
              </a:r>
              <a:endParaRPr lang="de-DE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9" name="사각형: 잘린 대각선 방향 모서리 8">
              <a:extLst>
                <a:ext uri="{FF2B5EF4-FFF2-40B4-BE49-F238E27FC236}">
                  <a16:creationId xmlns:a16="http://schemas.microsoft.com/office/drawing/2014/main" id="{4466326B-EBDB-279B-8CF5-A35991FBE91B}"/>
                </a:ext>
              </a:extLst>
            </p:cNvPr>
            <p:cNvSpPr/>
            <p:nvPr/>
          </p:nvSpPr>
          <p:spPr>
            <a:xfrm>
              <a:off x="2133600" y="3283364"/>
              <a:ext cx="4038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1-1. 260917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측정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77873C-D9DB-603C-959D-BABBD06482C8}"/>
              </a:ext>
            </a:extLst>
          </p:cNvPr>
          <p:cNvGrpSpPr/>
          <p:nvPr/>
        </p:nvGrpSpPr>
        <p:grpSpPr>
          <a:xfrm>
            <a:off x="914400" y="8003024"/>
            <a:ext cx="15544800" cy="811143"/>
            <a:chOff x="914400" y="7774827"/>
            <a:chExt cx="15544800" cy="8111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92DE4F-7CEA-4B18-C2D5-BABB27218AF9}"/>
                </a:ext>
              </a:extLst>
            </p:cNvPr>
            <p:cNvSpPr txBox="1"/>
            <p:nvPr/>
          </p:nvSpPr>
          <p:spPr>
            <a:xfrm>
              <a:off x="3276600" y="7889502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 err="1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안박사님과의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미팅 결론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6" name="사각형: 잘린 대각선 방향 모서리 5">
              <a:extLst>
                <a:ext uri="{FF2B5EF4-FFF2-40B4-BE49-F238E27FC236}">
                  <a16:creationId xmlns:a16="http://schemas.microsoft.com/office/drawing/2014/main" id="{EECE41FC-9FCF-7F81-4131-8523E497D0FD}"/>
                </a:ext>
              </a:extLst>
            </p:cNvPr>
            <p:cNvSpPr/>
            <p:nvPr/>
          </p:nvSpPr>
          <p:spPr>
            <a:xfrm>
              <a:off x="914400" y="7774827"/>
              <a:ext cx="20574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3.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결론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2F51E9-E30D-56FE-FCA9-BC5CC2BAAAF9}"/>
              </a:ext>
            </a:extLst>
          </p:cNvPr>
          <p:cNvGrpSpPr/>
          <p:nvPr/>
        </p:nvGrpSpPr>
        <p:grpSpPr>
          <a:xfrm>
            <a:off x="914400" y="6030843"/>
            <a:ext cx="16764000" cy="811143"/>
            <a:chOff x="914400" y="9112289"/>
            <a:chExt cx="16764000" cy="8111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EE5C4-5526-7786-6D8F-B70A7E2F380B}"/>
                </a:ext>
              </a:extLst>
            </p:cNvPr>
            <p:cNvSpPr txBox="1"/>
            <p:nvPr/>
          </p:nvSpPr>
          <p:spPr>
            <a:xfrm>
              <a:off x="4495800" y="922696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공정 방향성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FF5D3269-200D-A652-1BAF-714907DF7244}"/>
                </a:ext>
              </a:extLst>
            </p:cNvPr>
            <p:cNvSpPr/>
            <p:nvPr/>
          </p:nvSpPr>
          <p:spPr>
            <a:xfrm>
              <a:off x="914400" y="9112289"/>
              <a:ext cx="3276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방향성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7776B8D-EC13-1A30-DEBE-FBD4ABA28BA0}"/>
              </a:ext>
            </a:extLst>
          </p:cNvPr>
          <p:cNvGrpSpPr/>
          <p:nvPr/>
        </p:nvGrpSpPr>
        <p:grpSpPr>
          <a:xfrm>
            <a:off x="914400" y="2552700"/>
            <a:ext cx="17221200" cy="811143"/>
            <a:chOff x="914400" y="1790700"/>
            <a:chExt cx="17221200" cy="8111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EF6606-DE61-B775-9885-F8E385A20B3A}"/>
                </a:ext>
              </a:extLst>
            </p:cNvPr>
            <p:cNvSpPr txBox="1"/>
            <p:nvPr/>
          </p:nvSpPr>
          <p:spPr>
            <a:xfrm>
              <a:off x="4953000" y="1903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SPT IGZO 300~700℃</a:t>
              </a:r>
            </a:p>
          </p:txBody>
        </p:sp>
        <p:sp>
          <p:nvSpPr>
            <p:cNvPr id="26" name="사각형: 잘린 대각선 방향 모서리 25">
              <a:extLst>
                <a:ext uri="{FF2B5EF4-FFF2-40B4-BE49-F238E27FC236}">
                  <a16:creationId xmlns:a16="http://schemas.microsoft.com/office/drawing/2014/main" id="{85ED6AA2-CA1F-D329-EAB9-EBE18181818B}"/>
                </a:ext>
              </a:extLst>
            </p:cNvPr>
            <p:cNvSpPr/>
            <p:nvPr/>
          </p:nvSpPr>
          <p:spPr>
            <a:xfrm>
              <a:off x="914400" y="1790700"/>
              <a:ext cx="37338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1. 260916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공정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185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세팅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5480E-FCB3-956D-241C-2A629C2A75BC}"/>
              </a:ext>
            </a:extLst>
          </p:cNvPr>
          <p:cNvSpPr txBox="1"/>
          <p:nvPr/>
        </p:nvSpPr>
        <p:spPr>
          <a:xfrm>
            <a:off x="571500" y="1780282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Transfer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curve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세팅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(Speed: Normal)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: -30 ~ 30 V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= 1 V, 30 V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9A9B8A1-B0D8-19D4-99B3-A976FC2A51E6}"/>
              </a:ext>
            </a:extLst>
          </p:cNvPr>
          <p:cNvGrpSpPr/>
          <p:nvPr/>
        </p:nvGrpSpPr>
        <p:grpSpPr>
          <a:xfrm>
            <a:off x="571500" y="3453704"/>
            <a:ext cx="17106900" cy="1692771"/>
            <a:chOff x="1066800" y="2247900"/>
            <a:chExt cx="17106900" cy="16927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38FB8F-E3E3-8945-0D26-9962F6340B34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Single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Pulse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세팅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6704B0-B901-8B06-84D7-3AFE4005E4FC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1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3CC5CF-30CC-551D-127B-23718A8935B6}"/>
              </a:ext>
            </a:extLst>
          </p:cNvPr>
          <p:cNvGrpSpPr/>
          <p:nvPr/>
        </p:nvGrpSpPr>
        <p:grpSpPr>
          <a:xfrm>
            <a:off x="571500" y="5742679"/>
            <a:ext cx="17106900" cy="1692771"/>
            <a:chOff x="1066800" y="2247900"/>
            <a:chExt cx="17106900" cy="16927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58DBA-CCF4-B788-03E2-972ADEA95FDF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Short-term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593CA0-2CCC-38C5-4526-3B00C6B6019E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CDFF5F-2873-1DCA-4FD1-76C3C956EDB3}"/>
              </a:ext>
            </a:extLst>
          </p:cNvPr>
          <p:cNvGrpSpPr/>
          <p:nvPr/>
        </p:nvGrpSpPr>
        <p:grpSpPr>
          <a:xfrm>
            <a:off x="571500" y="8031653"/>
            <a:ext cx="17106900" cy="1692771"/>
            <a:chOff x="1066800" y="2247900"/>
            <a:chExt cx="17106900" cy="16927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4D9871-296A-10B7-1E05-6179D098180C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Long-term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53A9CB-6C6F-B9BC-5BA4-6E46F3413D51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40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9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E1734-BB3D-1108-79ED-7BBE6E33A524}"/>
              </a:ext>
            </a:extLst>
          </p:cNvPr>
          <p:cNvSpPr txBox="1"/>
          <p:nvPr/>
        </p:nvSpPr>
        <p:spPr>
          <a:xfrm>
            <a:off x="14310963" y="3896230"/>
            <a:ext cx="329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소자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 electrode 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올리고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Oven 200℃ 1h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8CBF8C9-EEBD-32DB-067C-61B8C725936B}"/>
              </a:ext>
            </a:extLst>
          </p:cNvPr>
          <p:cNvGrpSpPr/>
          <p:nvPr/>
        </p:nvGrpSpPr>
        <p:grpSpPr>
          <a:xfrm>
            <a:off x="14173200" y="5465163"/>
            <a:ext cx="3810000" cy="2548173"/>
            <a:chOff x="1083946" y="4712957"/>
            <a:chExt cx="8517250" cy="281236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A3589A-56F6-72B2-4C13-C50758C42C36}"/>
                </a:ext>
              </a:extLst>
            </p:cNvPr>
            <p:cNvSpPr/>
            <p:nvPr/>
          </p:nvSpPr>
          <p:spPr>
            <a:xfrm>
              <a:off x="2652154" y="5236879"/>
              <a:ext cx="5380842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SPT IGZO</a:t>
              </a:r>
              <a:endParaRPr lang="ko-KR" altLang="en-US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51D39C-9807-D9A2-01E0-7D1429A5B884}"/>
                </a:ext>
              </a:extLst>
            </p:cNvPr>
            <p:cNvSpPr/>
            <p:nvPr/>
          </p:nvSpPr>
          <p:spPr>
            <a:xfrm>
              <a:off x="1083946" y="5998015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098395-CF3E-05EC-7D7F-C8FAF071CCB8}"/>
                </a:ext>
              </a:extLst>
            </p:cNvPr>
            <p:cNvSpPr/>
            <p:nvPr/>
          </p:nvSpPr>
          <p:spPr>
            <a:xfrm>
              <a:off x="2652154" y="4712958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S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F5A4F-9F55-54D6-2B3F-808CFDAEC00E}"/>
                </a:ext>
              </a:extLst>
            </p:cNvPr>
            <p:cNvSpPr/>
            <p:nvPr/>
          </p:nvSpPr>
          <p:spPr>
            <a:xfrm>
              <a:off x="6464788" y="4712957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D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Fabrication_260916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EA8681C-46DD-7322-A16E-A7F65DBCC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86901"/>
              </p:ext>
            </p:extLst>
          </p:nvPr>
        </p:nvGraphicFramePr>
        <p:xfrm>
          <a:off x="152400" y="2438385"/>
          <a:ext cx="13518811" cy="7048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190">
                  <a:extLst>
                    <a:ext uri="{9D8B030D-6E8A-4147-A177-3AD203B41FA5}">
                      <a16:colId xmlns:a16="http://schemas.microsoft.com/office/drawing/2014/main" val="2486110981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1034848132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328186170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2021267744"/>
                    </a:ext>
                  </a:extLst>
                </a:gridCol>
                <a:gridCol w="1496985">
                  <a:extLst>
                    <a:ext uri="{9D8B030D-6E8A-4147-A177-3AD203B41FA5}">
                      <a16:colId xmlns:a16="http://schemas.microsoft.com/office/drawing/2014/main" val="3203234114"/>
                    </a:ext>
                  </a:extLst>
                </a:gridCol>
                <a:gridCol w="1878132">
                  <a:extLst>
                    <a:ext uri="{9D8B030D-6E8A-4147-A177-3AD203B41FA5}">
                      <a16:colId xmlns:a16="http://schemas.microsoft.com/office/drawing/2014/main" val="667947090"/>
                    </a:ext>
                  </a:extLst>
                </a:gridCol>
                <a:gridCol w="1720184">
                  <a:extLst>
                    <a:ext uri="{9D8B030D-6E8A-4147-A177-3AD203B41FA5}">
                      <a16:colId xmlns:a16="http://schemas.microsoft.com/office/drawing/2014/main" val="1234864674"/>
                    </a:ext>
                  </a:extLst>
                </a:gridCol>
                <a:gridCol w="1720184">
                  <a:extLst>
                    <a:ext uri="{9D8B030D-6E8A-4147-A177-3AD203B41FA5}">
                      <a16:colId xmlns:a16="http://schemas.microsoft.com/office/drawing/2014/main" val="3866502045"/>
                    </a:ext>
                  </a:extLst>
                </a:gridCol>
              </a:tblGrid>
              <a:tr h="555736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Sub. Cleaning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gas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sccm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en-US" altLang="ko-KR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gas [</a:t>
                      </a:r>
                      <a:r>
                        <a:rPr lang="en-US" altLang="ko-KR" sz="1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sccm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APC [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mTorr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RF PWR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[W]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Depo.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Annealing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1973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88443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081261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47342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5930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74586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442336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9509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4578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1217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54024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788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75655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3908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1805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682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4CBF8B-F310-CC3F-EF70-CC3EC1962D4D}"/>
              </a:ext>
            </a:extLst>
          </p:cNvPr>
          <p:cNvSpPr txBox="1"/>
          <p:nvPr/>
        </p:nvSpPr>
        <p:spPr>
          <a:xfrm>
            <a:off x="152400" y="1842362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/>
              <a:t>홀더 </a:t>
            </a:r>
            <a:r>
              <a:rPr lang="en-US" altLang="ko-KR" sz="2000" b="1" dirty="0"/>
              <a:t>10</a:t>
            </a:r>
            <a:r>
              <a:rPr lang="ko-KR" altLang="en-US" sz="2000" b="1" dirty="0"/>
              <a:t>번 칸에서만 증착</a:t>
            </a:r>
          </a:p>
        </p:txBody>
      </p:sp>
    </p:spTree>
    <p:extLst>
      <p:ext uri="{BB962C8B-B14F-4D97-AF65-F5344CB8AC3E}">
        <p14:creationId xmlns:p14="http://schemas.microsoft.com/office/powerpoint/2010/main" val="407504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D1-1)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3F4170-6A0A-0E50-AA9C-6AB3EFDB9FE4}"/>
              </a:ext>
            </a:extLst>
          </p:cNvPr>
          <p:cNvGrpSpPr/>
          <p:nvPr/>
        </p:nvGrpSpPr>
        <p:grpSpPr>
          <a:xfrm>
            <a:off x="-6118" y="2552700"/>
            <a:ext cx="18350393" cy="5485409"/>
            <a:chOff x="-6118" y="3127462"/>
            <a:chExt cx="18350393" cy="54854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77A7EFE-D173-B24E-0A45-994B5D0560E7}"/>
                </a:ext>
              </a:extLst>
            </p:cNvPr>
            <p:cNvGrpSpPr/>
            <p:nvPr/>
          </p:nvGrpSpPr>
          <p:grpSpPr>
            <a:xfrm>
              <a:off x="-6118" y="3356063"/>
              <a:ext cx="5239416" cy="5161256"/>
              <a:chOff x="1019582" y="4671393"/>
              <a:chExt cx="4404418" cy="4632394"/>
            </a:xfrm>
          </p:grpSpPr>
          <p:graphicFrame>
            <p:nvGraphicFramePr>
              <p:cNvPr id="24" name="개체 23">
                <a:extLst>
                  <a:ext uri="{FF2B5EF4-FFF2-40B4-BE49-F238E27FC236}">
                    <a16:creationId xmlns:a16="http://schemas.microsoft.com/office/drawing/2014/main" id="{2311BAD4-D128-6B3A-E435-4278BAE288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444071"/>
                  </p:ext>
                </p:extLst>
              </p:nvPr>
            </p:nvGraphicFramePr>
            <p:xfrm>
              <a:off x="1019582" y="5019327"/>
              <a:ext cx="4360959" cy="4284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2589632" imgH="2541421" progId="Origin50.Graph">
                      <p:embed/>
                    </p:oleObj>
                  </mc:Choice>
                  <mc:Fallback>
                    <p:oleObj name="Graph" r:id="rId3" imgW="2589632" imgH="2541421" progId="Origin50.Graph">
                      <p:embed/>
                      <p:pic>
                        <p:nvPicPr>
                          <p:cNvPr id="4" name="개체 3">
                            <a:extLst>
                              <a:ext uri="{FF2B5EF4-FFF2-40B4-BE49-F238E27FC236}">
                                <a16:creationId xmlns:a16="http://schemas.microsoft.com/office/drawing/2014/main" id="{956A0075-6C2B-5D09-D089-F3288A014BF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19582" y="5019327"/>
                            <a:ext cx="4360959" cy="42844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89A5F8-2175-CAB5-9426-3A167324F168}"/>
                  </a:ext>
                </a:extLst>
              </p:cNvPr>
              <p:cNvSpPr txBox="1"/>
              <p:nvPr/>
            </p:nvSpPr>
            <p:spPr>
              <a:xfrm>
                <a:off x="2113678" y="4671393"/>
                <a:ext cx="3310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Transfer curve (V</a:t>
                </a:r>
                <a:r>
                  <a:rPr lang="en-US" altLang="ko-KR" sz="2400" b="1" baseline="-25000" dirty="0"/>
                  <a:t>D</a:t>
                </a:r>
                <a:r>
                  <a:rPr lang="en-US" altLang="ko-KR" sz="2400" b="1" dirty="0"/>
                  <a:t>=1V)</a:t>
                </a:r>
                <a:endParaRPr lang="ko-KR" altLang="en-US" sz="2400" b="1" dirty="0"/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59C54BB-F973-3B0C-F6E2-01151486A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99092" y="3356062"/>
              <a:ext cx="4859125" cy="5161257"/>
              <a:chOff x="8694537" y="2449708"/>
              <a:chExt cx="4061806" cy="4314362"/>
            </a:xfrm>
          </p:grpSpPr>
          <p:graphicFrame>
            <p:nvGraphicFramePr>
              <p:cNvPr id="3" name="개체 2">
                <a:extLst>
                  <a:ext uri="{FF2B5EF4-FFF2-40B4-BE49-F238E27FC236}">
                    <a16:creationId xmlns:a16="http://schemas.microsoft.com/office/drawing/2014/main" id="{3DBFACE1-58D4-27CF-F081-891C880B54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0328104"/>
                  </p:ext>
                </p:extLst>
              </p:nvPr>
            </p:nvGraphicFramePr>
            <p:xfrm>
              <a:off x="8694537" y="2773756"/>
              <a:ext cx="4061806" cy="3990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589632" imgH="2541421" progId="Origin50.Graph">
                      <p:embed/>
                    </p:oleObj>
                  </mc:Choice>
                  <mc:Fallback>
                    <p:oleObj name="Graph" r:id="rId5" imgW="2589632" imgH="2541421" progId="Origin50.Graph">
                      <p:embed/>
                      <p:pic>
                        <p:nvPicPr>
                          <p:cNvPr id="9" name="개체 8">
                            <a:extLst>
                              <a:ext uri="{FF2B5EF4-FFF2-40B4-BE49-F238E27FC236}">
                                <a16:creationId xmlns:a16="http://schemas.microsoft.com/office/drawing/2014/main" id="{B98952FE-3212-2128-4D3E-13F10BCB35F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694537" y="2773756"/>
                            <a:ext cx="4061806" cy="399031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211BA-FC0E-5C67-E99A-731AF11C1C7F}"/>
                  </a:ext>
                </a:extLst>
              </p:cNvPr>
              <p:cNvSpPr txBox="1"/>
              <p:nvPr/>
            </p:nvSpPr>
            <p:spPr>
              <a:xfrm>
                <a:off x="9814916" y="24497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STP</a:t>
                </a:r>
                <a:endParaRPr lang="ko-KR" altLang="en-US" sz="2400" b="1" dirty="0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2D5A745-1B54-4D59-FC7D-DD6EC74DE0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487400" y="3356063"/>
              <a:ext cx="4856875" cy="5161257"/>
              <a:chOff x="13098763" y="2448908"/>
              <a:chExt cx="4034027" cy="4286840"/>
            </a:xfrm>
          </p:grpSpPr>
          <p:graphicFrame>
            <p:nvGraphicFramePr>
              <p:cNvPr id="7" name="개체 6">
                <a:extLst>
                  <a:ext uri="{FF2B5EF4-FFF2-40B4-BE49-F238E27FC236}">
                    <a16:creationId xmlns:a16="http://schemas.microsoft.com/office/drawing/2014/main" id="{40218A2B-2BF1-ED45-F240-41FB7CBFB5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8422079"/>
                  </p:ext>
                </p:extLst>
              </p:nvPr>
            </p:nvGraphicFramePr>
            <p:xfrm>
              <a:off x="13098763" y="2770888"/>
              <a:ext cx="4034027" cy="39648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2589632" imgH="2541421" progId="Origin50.Graph">
                      <p:embed/>
                    </p:oleObj>
                  </mc:Choice>
                  <mc:Fallback>
                    <p:oleObj name="Graph" r:id="rId7" imgW="2589632" imgH="2541421" progId="Origin50.Graph">
                      <p:embed/>
                      <p:pic>
                        <p:nvPicPr>
                          <p:cNvPr id="10" name="개체 9">
                            <a:extLst>
                              <a:ext uri="{FF2B5EF4-FFF2-40B4-BE49-F238E27FC236}">
                                <a16:creationId xmlns:a16="http://schemas.microsoft.com/office/drawing/2014/main" id="{78890074-70D4-0DC8-D30F-AED4E11AA51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098763" y="2770888"/>
                            <a:ext cx="4034027" cy="39648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2B83C0-1AC0-550E-1A80-94AA4F1EFA4C}"/>
                  </a:ext>
                </a:extLst>
              </p:cNvPr>
              <p:cNvSpPr txBox="1"/>
              <p:nvPr/>
            </p:nvSpPr>
            <p:spPr>
              <a:xfrm>
                <a:off x="14237984" y="24489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LTP</a:t>
                </a:r>
                <a:endParaRPr lang="ko-KR" altLang="en-US" sz="24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E602041-9512-9F6E-D524-70DE91C0D5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10784" y="3356063"/>
              <a:ext cx="4859124" cy="5161257"/>
              <a:chOff x="4292713" y="2449716"/>
              <a:chExt cx="4062024" cy="4314595"/>
            </a:xfrm>
          </p:grpSpPr>
          <p:graphicFrame>
            <p:nvGraphicFramePr>
              <p:cNvPr id="13" name="개체 12">
                <a:extLst>
                  <a:ext uri="{FF2B5EF4-FFF2-40B4-BE49-F238E27FC236}">
                    <a16:creationId xmlns:a16="http://schemas.microsoft.com/office/drawing/2014/main" id="{233F61AA-FD3D-869B-2AE7-F78B41B10E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231795"/>
                  </p:ext>
                </p:extLst>
              </p:nvPr>
            </p:nvGraphicFramePr>
            <p:xfrm>
              <a:off x="4292713" y="2773781"/>
              <a:ext cx="4062024" cy="3990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9" imgW="2589632" imgH="2541421" progId="Origin50.Graph">
                      <p:embed/>
                    </p:oleObj>
                  </mc:Choice>
                  <mc:Fallback>
                    <p:oleObj name="Graph" r:id="rId9" imgW="2589632" imgH="2541421" progId="Origin50.Graph">
                      <p:embed/>
                      <p:pic>
                        <p:nvPicPr>
                          <p:cNvPr id="3" name="개체 2">
                            <a:extLst>
                              <a:ext uri="{FF2B5EF4-FFF2-40B4-BE49-F238E27FC236}">
                                <a16:creationId xmlns:a16="http://schemas.microsoft.com/office/drawing/2014/main" id="{B8C780B2-8E8C-9690-9914-DAEAED30258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92713" y="2773781"/>
                            <a:ext cx="4062024" cy="39905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869E49-7EA1-85E5-E278-BE77BF71FB86}"/>
                  </a:ext>
                </a:extLst>
              </p:cNvPr>
              <p:cNvSpPr txBox="1"/>
              <p:nvPr/>
            </p:nvSpPr>
            <p:spPr>
              <a:xfrm>
                <a:off x="5342995" y="2449716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Single Pulse</a:t>
                </a:r>
                <a:endParaRPr lang="ko-KR" altLang="en-US" sz="2400" b="1" dirty="0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46BC69E-1B64-1067-CA43-EB7744202D4D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13C75-EF4F-04C6-5C7E-E10F925A6EF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233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D1-2)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3F4170-6A0A-0E50-AA9C-6AB3EFDB9FE4}"/>
              </a:ext>
            </a:extLst>
          </p:cNvPr>
          <p:cNvGrpSpPr/>
          <p:nvPr/>
        </p:nvGrpSpPr>
        <p:grpSpPr>
          <a:xfrm>
            <a:off x="-6118" y="2552700"/>
            <a:ext cx="18350393" cy="5485409"/>
            <a:chOff x="-6118" y="3127462"/>
            <a:chExt cx="18350393" cy="54854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77A7EFE-D173-B24E-0A45-994B5D0560E7}"/>
                </a:ext>
              </a:extLst>
            </p:cNvPr>
            <p:cNvGrpSpPr/>
            <p:nvPr/>
          </p:nvGrpSpPr>
          <p:grpSpPr>
            <a:xfrm>
              <a:off x="-6118" y="3356063"/>
              <a:ext cx="5239416" cy="5161256"/>
              <a:chOff x="1019582" y="4671393"/>
              <a:chExt cx="4404418" cy="4632394"/>
            </a:xfrm>
          </p:grpSpPr>
          <p:graphicFrame>
            <p:nvGraphicFramePr>
              <p:cNvPr id="24" name="개체 23">
                <a:extLst>
                  <a:ext uri="{FF2B5EF4-FFF2-40B4-BE49-F238E27FC236}">
                    <a16:creationId xmlns:a16="http://schemas.microsoft.com/office/drawing/2014/main" id="{2311BAD4-D128-6B3A-E435-4278BAE288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9582" y="5019327"/>
              <a:ext cx="4360959" cy="4284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2589632" imgH="2541421" progId="Origin50.Graph">
                      <p:embed/>
                    </p:oleObj>
                  </mc:Choice>
                  <mc:Fallback>
                    <p:oleObj name="Graph" r:id="rId3" imgW="2589632" imgH="2541421" progId="Origin50.Graph">
                      <p:embed/>
                      <p:pic>
                        <p:nvPicPr>
                          <p:cNvPr id="24" name="개체 23">
                            <a:extLst>
                              <a:ext uri="{FF2B5EF4-FFF2-40B4-BE49-F238E27FC236}">
                                <a16:creationId xmlns:a16="http://schemas.microsoft.com/office/drawing/2014/main" id="{2311BAD4-D128-6B3A-E435-4278BAE2889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19582" y="5019327"/>
                            <a:ext cx="4360959" cy="42844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89A5F8-2175-CAB5-9426-3A167324F168}"/>
                  </a:ext>
                </a:extLst>
              </p:cNvPr>
              <p:cNvSpPr txBox="1"/>
              <p:nvPr/>
            </p:nvSpPr>
            <p:spPr>
              <a:xfrm>
                <a:off x="2113678" y="4671393"/>
                <a:ext cx="3310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Transfer curve (V</a:t>
                </a:r>
                <a:r>
                  <a:rPr lang="en-US" altLang="ko-KR" sz="2400" b="1" baseline="-25000" dirty="0"/>
                  <a:t>D</a:t>
                </a:r>
                <a:r>
                  <a:rPr lang="en-US" altLang="ko-KR" sz="2400" b="1" dirty="0"/>
                  <a:t>=1V)</a:t>
                </a:r>
                <a:endParaRPr lang="ko-KR" altLang="en-US" sz="2400" b="1" dirty="0"/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59C54BB-F973-3B0C-F6E2-01151486A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99092" y="3356062"/>
              <a:ext cx="4859125" cy="5161257"/>
              <a:chOff x="8694537" y="2449708"/>
              <a:chExt cx="4061806" cy="4314362"/>
            </a:xfrm>
          </p:grpSpPr>
          <p:graphicFrame>
            <p:nvGraphicFramePr>
              <p:cNvPr id="3" name="개체 2">
                <a:extLst>
                  <a:ext uri="{FF2B5EF4-FFF2-40B4-BE49-F238E27FC236}">
                    <a16:creationId xmlns:a16="http://schemas.microsoft.com/office/drawing/2014/main" id="{3DBFACE1-58D4-27CF-F081-891C880B54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94537" y="2773756"/>
              <a:ext cx="4061806" cy="3990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589632" imgH="2541421" progId="Origin50.Graph">
                      <p:embed/>
                    </p:oleObj>
                  </mc:Choice>
                  <mc:Fallback>
                    <p:oleObj name="Graph" r:id="rId5" imgW="2589632" imgH="2541421" progId="Origin50.Graph">
                      <p:embed/>
                      <p:pic>
                        <p:nvPicPr>
                          <p:cNvPr id="3" name="개체 2">
                            <a:extLst>
                              <a:ext uri="{FF2B5EF4-FFF2-40B4-BE49-F238E27FC236}">
                                <a16:creationId xmlns:a16="http://schemas.microsoft.com/office/drawing/2014/main" id="{3DBFACE1-58D4-27CF-F081-891C880B549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694537" y="2773756"/>
                            <a:ext cx="4061806" cy="399031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211BA-FC0E-5C67-E99A-731AF11C1C7F}"/>
                  </a:ext>
                </a:extLst>
              </p:cNvPr>
              <p:cNvSpPr txBox="1"/>
              <p:nvPr/>
            </p:nvSpPr>
            <p:spPr>
              <a:xfrm>
                <a:off x="9814916" y="24497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STP</a:t>
                </a:r>
                <a:endParaRPr lang="ko-KR" altLang="en-US" sz="2400" b="1" dirty="0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2D5A745-1B54-4D59-FC7D-DD6EC74DE0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487400" y="3356063"/>
              <a:ext cx="4856875" cy="5161257"/>
              <a:chOff x="13098763" y="2448908"/>
              <a:chExt cx="4034027" cy="4286840"/>
            </a:xfrm>
          </p:grpSpPr>
          <p:graphicFrame>
            <p:nvGraphicFramePr>
              <p:cNvPr id="7" name="개체 6">
                <a:extLst>
                  <a:ext uri="{FF2B5EF4-FFF2-40B4-BE49-F238E27FC236}">
                    <a16:creationId xmlns:a16="http://schemas.microsoft.com/office/drawing/2014/main" id="{40218A2B-2BF1-ED45-F240-41FB7CBFB52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98763" y="2770888"/>
              <a:ext cx="4034027" cy="39648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2589632" imgH="2541421" progId="Origin50.Graph">
                      <p:embed/>
                    </p:oleObj>
                  </mc:Choice>
                  <mc:Fallback>
                    <p:oleObj name="Graph" r:id="rId7" imgW="2589632" imgH="2541421" progId="Origin50.Graph">
                      <p:embed/>
                      <p:pic>
                        <p:nvPicPr>
                          <p:cNvPr id="7" name="개체 6">
                            <a:extLst>
                              <a:ext uri="{FF2B5EF4-FFF2-40B4-BE49-F238E27FC236}">
                                <a16:creationId xmlns:a16="http://schemas.microsoft.com/office/drawing/2014/main" id="{40218A2B-2BF1-ED45-F240-41FB7CBFB52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098763" y="2770888"/>
                            <a:ext cx="4034027" cy="39648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2B83C0-1AC0-550E-1A80-94AA4F1EFA4C}"/>
                  </a:ext>
                </a:extLst>
              </p:cNvPr>
              <p:cNvSpPr txBox="1"/>
              <p:nvPr/>
            </p:nvSpPr>
            <p:spPr>
              <a:xfrm>
                <a:off x="14237984" y="24489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LTP</a:t>
                </a:r>
                <a:endParaRPr lang="ko-KR" altLang="en-US" sz="24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E602041-9512-9F6E-D524-70DE91C0D5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10784" y="3356063"/>
              <a:ext cx="4859124" cy="5161257"/>
              <a:chOff x="4292713" y="2449716"/>
              <a:chExt cx="4062024" cy="4314595"/>
            </a:xfrm>
          </p:grpSpPr>
          <p:graphicFrame>
            <p:nvGraphicFramePr>
              <p:cNvPr id="13" name="개체 12">
                <a:extLst>
                  <a:ext uri="{FF2B5EF4-FFF2-40B4-BE49-F238E27FC236}">
                    <a16:creationId xmlns:a16="http://schemas.microsoft.com/office/drawing/2014/main" id="{233F61AA-FD3D-869B-2AE7-F78B41B10E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2713" y="2773781"/>
              <a:ext cx="4062024" cy="3990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9" imgW="2589632" imgH="2541421" progId="Origin50.Graph">
                      <p:embed/>
                    </p:oleObj>
                  </mc:Choice>
                  <mc:Fallback>
                    <p:oleObj name="Graph" r:id="rId9" imgW="2589632" imgH="2541421" progId="Origin50.Graph">
                      <p:embed/>
                      <p:pic>
                        <p:nvPicPr>
                          <p:cNvPr id="13" name="개체 12">
                            <a:extLst>
                              <a:ext uri="{FF2B5EF4-FFF2-40B4-BE49-F238E27FC236}">
                                <a16:creationId xmlns:a16="http://schemas.microsoft.com/office/drawing/2014/main" id="{233F61AA-FD3D-869B-2AE7-F78B41B10E3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92713" y="2773781"/>
                            <a:ext cx="4062024" cy="39905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869E49-7EA1-85E5-E278-BE77BF71FB86}"/>
                  </a:ext>
                </a:extLst>
              </p:cNvPr>
              <p:cNvSpPr txBox="1"/>
              <p:nvPr/>
            </p:nvSpPr>
            <p:spPr>
              <a:xfrm>
                <a:off x="5342995" y="2449716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Single Pulse</a:t>
                </a:r>
                <a:endParaRPr lang="ko-KR" altLang="en-US" sz="2400" b="1" dirty="0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46BC69E-1B64-1067-CA43-EB7744202D4D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13C75-EF4F-04C6-5C7E-E10F925A6EF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7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D1-3)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3F4170-6A0A-0E50-AA9C-6AB3EFDB9FE4}"/>
              </a:ext>
            </a:extLst>
          </p:cNvPr>
          <p:cNvGrpSpPr/>
          <p:nvPr/>
        </p:nvGrpSpPr>
        <p:grpSpPr>
          <a:xfrm>
            <a:off x="-6118" y="2552700"/>
            <a:ext cx="18350393" cy="5485409"/>
            <a:chOff x="-6118" y="3127462"/>
            <a:chExt cx="18350393" cy="54854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77A7EFE-D173-B24E-0A45-994B5D0560E7}"/>
                </a:ext>
              </a:extLst>
            </p:cNvPr>
            <p:cNvGrpSpPr/>
            <p:nvPr/>
          </p:nvGrpSpPr>
          <p:grpSpPr>
            <a:xfrm>
              <a:off x="-6118" y="3356063"/>
              <a:ext cx="5239416" cy="5161256"/>
              <a:chOff x="1019582" y="4671393"/>
              <a:chExt cx="4404418" cy="4632394"/>
            </a:xfrm>
          </p:grpSpPr>
          <p:graphicFrame>
            <p:nvGraphicFramePr>
              <p:cNvPr id="24" name="개체 23">
                <a:extLst>
                  <a:ext uri="{FF2B5EF4-FFF2-40B4-BE49-F238E27FC236}">
                    <a16:creationId xmlns:a16="http://schemas.microsoft.com/office/drawing/2014/main" id="{2311BAD4-D128-6B3A-E435-4278BAE288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9582" y="5019327"/>
              <a:ext cx="4360959" cy="4284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2589632" imgH="2541421" progId="Origin50.Graph">
                      <p:embed/>
                    </p:oleObj>
                  </mc:Choice>
                  <mc:Fallback>
                    <p:oleObj name="Graph" r:id="rId3" imgW="2589632" imgH="2541421" progId="Origin50.Graph">
                      <p:embed/>
                      <p:pic>
                        <p:nvPicPr>
                          <p:cNvPr id="24" name="개체 23">
                            <a:extLst>
                              <a:ext uri="{FF2B5EF4-FFF2-40B4-BE49-F238E27FC236}">
                                <a16:creationId xmlns:a16="http://schemas.microsoft.com/office/drawing/2014/main" id="{2311BAD4-D128-6B3A-E435-4278BAE2889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19582" y="5019327"/>
                            <a:ext cx="4360959" cy="42844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89A5F8-2175-CAB5-9426-3A167324F168}"/>
                  </a:ext>
                </a:extLst>
              </p:cNvPr>
              <p:cNvSpPr txBox="1"/>
              <p:nvPr/>
            </p:nvSpPr>
            <p:spPr>
              <a:xfrm>
                <a:off x="2113678" y="4671393"/>
                <a:ext cx="3310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Transfer curve (V</a:t>
                </a:r>
                <a:r>
                  <a:rPr lang="en-US" altLang="ko-KR" sz="2400" b="1" baseline="-25000" dirty="0"/>
                  <a:t>D</a:t>
                </a:r>
                <a:r>
                  <a:rPr lang="en-US" altLang="ko-KR" sz="2400" b="1" dirty="0"/>
                  <a:t>=1V)</a:t>
                </a:r>
                <a:endParaRPr lang="ko-KR" altLang="en-US" sz="2400" b="1" dirty="0"/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59C54BB-F973-3B0C-F6E2-01151486A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99092" y="3356062"/>
              <a:ext cx="4859125" cy="5161257"/>
              <a:chOff x="8694537" y="2449708"/>
              <a:chExt cx="4061806" cy="4314362"/>
            </a:xfrm>
          </p:grpSpPr>
          <p:graphicFrame>
            <p:nvGraphicFramePr>
              <p:cNvPr id="3" name="개체 2">
                <a:extLst>
                  <a:ext uri="{FF2B5EF4-FFF2-40B4-BE49-F238E27FC236}">
                    <a16:creationId xmlns:a16="http://schemas.microsoft.com/office/drawing/2014/main" id="{3DBFACE1-58D4-27CF-F081-891C880B54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94537" y="2773756"/>
              <a:ext cx="4061806" cy="3990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589632" imgH="2541421" progId="Origin50.Graph">
                      <p:embed/>
                    </p:oleObj>
                  </mc:Choice>
                  <mc:Fallback>
                    <p:oleObj name="Graph" r:id="rId5" imgW="2589632" imgH="2541421" progId="Origin50.Graph">
                      <p:embed/>
                      <p:pic>
                        <p:nvPicPr>
                          <p:cNvPr id="3" name="개체 2">
                            <a:extLst>
                              <a:ext uri="{FF2B5EF4-FFF2-40B4-BE49-F238E27FC236}">
                                <a16:creationId xmlns:a16="http://schemas.microsoft.com/office/drawing/2014/main" id="{3DBFACE1-58D4-27CF-F081-891C880B549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694537" y="2773756"/>
                            <a:ext cx="4061806" cy="399031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211BA-FC0E-5C67-E99A-731AF11C1C7F}"/>
                  </a:ext>
                </a:extLst>
              </p:cNvPr>
              <p:cNvSpPr txBox="1"/>
              <p:nvPr/>
            </p:nvSpPr>
            <p:spPr>
              <a:xfrm>
                <a:off x="9814916" y="24497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STP</a:t>
                </a:r>
                <a:endParaRPr lang="ko-KR" altLang="en-US" sz="2400" b="1" dirty="0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2D5A745-1B54-4D59-FC7D-DD6EC74DE0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487400" y="3356063"/>
              <a:ext cx="4856875" cy="5161257"/>
              <a:chOff x="13098763" y="2448908"/>
              <a:chExt cx="4034027" cy="4286840"/>
            </a:xfrm>
          </p:grpSpPr>
          <p:graphicFrame>
            <p:nvGraphicFramePr>
              <p:cNvPr id="7" name="개체 6">
                <a:extLst>
                  <a:ext uri="{FF2B5EF4-FFF2-40B4-BE49-F238E27FC236}">
                    <a16:creationId xmlns:a16="http://schemas.microsoft.com/office/drawing/2014/main" id="{40218A2B-2BF1-ED45-F240-41FB7CBFB52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98763" y="2770888"/>
              <a:ext cx="4034027" cy="39648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2589632" imgH="2541421" progId="Origin50.Graph">
                      <p:embed/>
                    </p:oleObj>
                  </mc:Choice>
                  <mc:Fallback>
                    <p:oleObj name="Graph" r:id="rId7" imgW="2589632" imgH="2541421" progId="Origin50.Graph">
                      <p:embed/>
                      <p:pic>
                        <p:nvPicPr>
                          <p:cNvPr id="7" name="개체 6">
                            <a:extLst>
                              <a:ext uri="{FF2B5EF4-FFF2-40B4-BE49-F238E27FC236}">
                                <a16:creationId xmlns:a16="http://schemas.microsoft.com/office/drawing/2014/main" id="{40218A2B-2BF1-ED45-F240-41FB7CBFB52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098763" y="2770888"/>
                            <a:ext cx="4034027" cy="39648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2B83C0-1AC0-550E-1A80-94AA4F1EFA4C}"/>
                  </a:ext>
                </a:extLst>
              </p:cNvPr>
              <p:cNvSpPr txBox="1"/>
              <p:nvPr/>
            </p:nvSpPr>
            <p:spPr>
              <a:xfrm>
                <a:off x="14237984" y="24489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LTP</a:t>
                </a:r>
                <a:endParaRPr lang="ko-KR" altLang="en-US" sz="24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E602041-9512-9F6E-D524-70DE91C0D5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10784" y="3356063"/>
              <a:ext cx="4859124" cy="5161257"/>
              <a:chOff x="4292713" y="2449716"/>
              <a:chExt cx="4062024" cy="4314595"/>
            </a:xfrm>
          </p:grpSpPr>
          <p:graphicFrame>
            <p:nvGraphicFramePr>
              <p:cNvPr id="13" name="개체 12">
                <a:extLst>
                  <a:ext uri="{FF2B5EF4-FFF2-40B4-BE49-F238E27FC236}">
                    <a16:creationId xmlns:a16="http://schemas.microsoft.com/office/drawing/2014/main" id="{233F61AA-FD3D-869B-2AE7-F78B41B10E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2713" y="2773781"/>
              <a:ext cx="4062024" cy="3990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9" imgW="2589632" imgH="2541421" progId="Origin50.Graph">
                      <p:embed/>
                    </p:oleObj>
                  </mc:Choice>
                  <mc:Fallback>
                    <p:oleObj name="Graph" r:id="rId9" imgW="2589632" imgH="2541421" progId="Origin50.Graph">
                      <p:embed/>
                      <p:pic>
                        <p:nvPicPr>
                          <p:cNvPr id="13" name="개체 12">
                            <a:extLst>
                              <a:ext uri="{FF2B5EF4-FFF2-40B4-BE49-F238E27FC236}">
                                <a16:creationId xmlns:a16="http://schemas.microsoft.com/office/drawing/2014/main" id="{233F61AA-FD3D-869B-2AE7-F78B41B10E3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92713" y="2773781"/>
                            <a:ext cx="4062024" cy="39905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869E49-7EA1-85E5-E278-BE77BF71FB86}"/>
                  </a:ext>
                </a:extLst>
              </p:cNvPr>
              <p:cNvSpPr txBox="1"/>
              <p:nvPr/>
            </p:nvSpPr>
            <p:spPr>
              <a:xfrm>
                <a:off x="5342995" y="2449716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Single Pulse</a:t>
                </a:r>
                <a:endParaRPr lang="ko-KR" altLang="en-US" sz="2400" b="1" dirty="0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46BC69E-1B64-1067-CA43-EB7744202D4D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13C75-EF4F-04C6-5C7E-E10F925A6EF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85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B8830A-BECF-0790-6B6D-DEBE0167E506}"/>
              </a:ext>
            </a:extLst>
          </p:cNvPr>
          <p:cNvGrpSpPr/>
          <p:nvPr/>
        </p:nvGrpSpPr>
        <p:grpSpPr>
          <a:xfrm>
            <a:off x="-8563" y="2552699"/>
            <a:ext cx="18352836" cy="5486401"/>
            <a:chOff x="-8563" y="3126470"/>
            <a:chExt cx="18352836" cy="54864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9A9715-A031-9604-9E9E-8043DC65536F}"/>
                </a:ext>
              </a:extLst>
            </p:cNvPr>
            <p:cNvSpPr/>
            <p:nvPr/>
          </p:nvSpPr>
          <p:spPr>
            <a:xfrm>
              <a:off x="228600" y="3126470"/>
              <a:ext cx="17830800" cy="5486401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B2EF283C-6F53-E344-09CB-F319A7E0B0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594221"/>
                </p:ext>
              </p:extLst>
            </p:nvPr>
          </p:nvGraphicFramePr>
          <p:xfrm>
            <a:off x="-8563" y="3743719"/>
            <a:ext cx="519016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8563" y="3743719"/>
                          <a:ext cx="519016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1700FE09-4796-7784-7F0F-2179A471AE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814710"/>
                </p:ext>
              </p:extLst>
            </p:nvPr>
          </p:nvGraphicFramePr>
          <p:xfrm>
            <a:off x="9099091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99091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80852674-6AB5-F658-503F-D6D0D1A27C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562298"/>
                </p:ext>
              </p:extLst>
            </p:nvPr>
          </p:nvGraphicFramePr>
          <p:xfrm>
            <a:off x="13487400" y="3743719"/>
            <a:ext cx="485687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87400" y="3743719"/>
                          <a:ext cx="485687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B5AFD446-891D-960C-CF7B-9ADC1F37DE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923900"/>
                </p:ext>
              </p:extLst>
            </p:nvPr>
          </p:nvGraphicFramePr>
          <p:xfrm>
            <a:off x="4710784" y="3743719"/>
            <a:ext cx="485912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10784" y="3743719"/>
                          <a:ext cx="485912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5BD4987-B920-8CEE-4B6D-AE1CF927B037}"/>
              </a:ext>
            </a:extLst>
          </p:cNvPr>
          <p:cNvSpPr txBox="1"/>
          <p:nvPr/>
        </p:nvSpPr>
        <p:spPr>
          <a:xfrm>
            <a:off x="1295400" y="2782292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57E217-B2AE-F6FA-CD09-5AE1015D2586}"/>
              </a:ext>
            </a:extLst>
          </p:cNvPr>
          <p:cNvSpPr txBox="1"/>
          <p:nvPr/>
        </p:nvSpPr>
        <p:spPr>
          <a:xfrm>
            <a:off x="10439400" y="2782291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6BA869-D849-D427-8935-F2EDF527D92E}"/>
              </a:ext>
            </a:extLst>
          </p:cNvPr>
          <p:cNvSpPr txBox="1"/>
          <p:nvPr/>
        </p:nvSpPr>
        <p:spPr>
          <a:xfrm>
            <a:off x="14859000" y="2782292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41010D-89A7-7EC4-DA18-35B971169874}"/>
              </a:ext>
            </a:extLst>
          </p:cNvPr>
          <p:cNvSpPr txBox="1"/>
          <p:nvPr/>
        </p:nvSpPr>
        <p:spPr>
          <a:xfrm>
            <a:off x="5967166" y="2782292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F1526-2009-81E0-FF0A-97EA69BE2A0E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F3218-A2C6-21C2-7FDE-069C147A8B5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54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CC3C2C-784B-14D4-D2DE-9BCE6ECCA94E}"/>
              </a:ext>
            </a:extLst>
          </p:cNvPr>
          <p:cNvGrpSpPr/>
          <p:nvPr/>
        </p:nvGrpSpPr>
        <p:grpSpPr>
          <a:xfrm>
            <a:off x="-6117" y="2552700"/>
            <a:ext cx="18326576" cy="5485409"/>
            <a:chOff x="-6117" y="3127462"/>
            <a:chExt cx="18326576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4BE637-5483-9E2B-CD1C-73C0D3BC41EB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F4FFAF66-025B-A3E4-FD41-69CA782286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643537"/>
                </p:ext>
              </p:extLst>
            </p:nvPr>
          </p:nvGraphicFramePr>
          <p:xfrm>
            <a:off x="-6117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6117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67BF9658-D552-4F68-31CF-69B58931DE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587311"/>
                </p:ext>
              </p:extLst>
            </p:nvPr>
          </p:nvGraphicFramePr>
          <p:xfrm>
            <a:off x="9083214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3214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00EED8FF-622C-897B-CCAE-46DFF4CB93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737961"/>
                </p:ext>
              </p:extLst>
            </p:nvPr>
          </p:nvGraphicFramePr>
          <p:xfrm>
            <a:off x="13463585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5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AF9E6B2D-9E57-CDC9-0118-20B703B6C3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7638345"/>
                </p:ext>
              </p:extLst>
            </p:nvPr>
          </p:nvGraphicFramePr>
          <p:xfrm>
            <a:off x="4702845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2845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659E9-1833-D925-6AB0-418309F96D6D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972AD-DF40-A04A-9381-61386A391BD2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6A0EF-2369-725E-8B95-9DF493C1574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FCF1-6020-6692-EDB5-3B1794E96A33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60DEB-E6A5-299B-0F56-176869F04D01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8032D-EFA3-02D0-EB63-6EBEB038CEC2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89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7F5A984-09EE-DA37-2596-12824AA2A888}"/>
              </a:ext>
            </a:extLst>
          </p:cNvPr>
          <p:cNvGrpSpPr/>
          <p:nvPr/>
        </p:nvGrpSpPr>
        <p:grpSpPr>
          <a:xfrm>
            <a:off x="0" y="2552700"/>
            <a:ext cx="18320460" cy="5485409"/>
            <a:chOff x="0" y="3127462"/>
            <a:chExt cx="18320460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31A788F-8BA7-DAA3-E9B1-1ABEE68CB8AA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13CECFF8-01D1-B3AA-DA80-227F62DF41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49008"/>
                </p:ext>
              </p:extLst>
            </p:nvPr>
          </p:nvGraphicFramePr>
          <p:xfrm>
            <a:off x="0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37901F57-28BC-2862-6ECD-5B4DE6F7A3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596581"/>
                </p:ext>
              </p:extLst>
            </p:nvPr>
          </p:nvGraphicFramePr>
          <p:xfrm>
            <a:off x="9085253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5253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F15555BD-41D2-982C-BB3C-BE3E3F3844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1345750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C5E660FF-6EA5-47A2-8F0B-7FBDE4EA66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134245"/>
                </p:ext>
              </p:extLst>
            </p:nvPr>
          </p:nvGraphicFramePr>
          <p:xfrm>
            <a:off x="4706923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6923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45F8AE-90B6-2979-2F76-542372FB6D4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73C7A-9642-ECB1-E67B-BC4CE8AD4A3A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CFB8B3-6AAC-1E27-207E-40541E094529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6DB57-088A-3EB8-2835-63F66661173F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51DF8-3FB4-3DDD-88C9-2D1C4A9F602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75E53-75E5-5D44-109A-B498DD5D3EA6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26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3523CE-98BB-A4F0-3C8D-82DF905873FE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1B64E7-54B0-02A9-1B71-94447C09426B}"/>
              </a:ext>
            </a:extLst>
          </p:cNvPr>
          <p:cNvGrpSpPr/>
          <p:nvPr/>
        </p:nvGrpSpPr>
        <p:grpSpPr>
          <a:xfrm>
            <a:off x="-6117" y="2552700"/>
            <a:ext cx="18326577" cy="5485409"/>
            <a:chOff x="-6117" y="3127462"/>
            <a:chExt cx="18326577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5C543F-81E8-7B09-C3AD-73220D6C6D0A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33" name="개체 32">
              <a:extLst>
                <a:ext uri="{FF2B5EF4-FFF2-40B4-BE49-F238E27FC236}">
                  <a16:creationId xmlns:a16="http://schemas.microsoft.com/office/drawing/2014/main" id="{C887952D-51FE-006C-FD54-C3FFC71ABA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6612924"/>
                </p:ext>
              </p:extLst>
            </p:nvPr>
          </p:nvGraphicFramePr>
          <p:xfrm>
            <a:off x="-6117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6117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개체 23">
              <a:extLst>
                <a:ext uri="{FF2B5EF4-FFF2-40B4-BE49-F238E27FC236}">
                  <a16:creationId xmlns:a16="http://schemas.microsoft.com/office/drawing/2014/main" id="{04A1C049-74AA-4272-3BD7-63E47E62CA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086514"/>
                </p:ext>
              </p:extLst>
            </p:nvPr>
          </p:nvGraphicFramePr>
          <p:xfrm>
            <a:off x="9083214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3214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5E6496C3-EB24-8B5B-9B72-066758F3D5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47436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개체 12">
              <a:extLst>
                <a:ext uri="{FF2B5EF4-FFF2-40B4-BE49-F238E27FC236}">
                  <a16:creationId xmlns:a16="http://schemas.microsoft.com/office/drawing/2014/main" id="{86CDFDAD-05AF-2A9F-4BA4-A57BDBDF05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05889"/>
                </p:ext>
              </p:extLst>
            </p:nvPr>
          </p:nvGraphicFramePr>
          <p:xfrm>
            <a:off x="4702845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2845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A28F3B-C398-A025-75B8-2E5CFECACF3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7B223-8AFF-3922-F452-2B9B73C877F7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74926-BAA5-9F5B-E95E-BF4DF819A90B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956A2-D217-5BF3-8549-2FA9C99162C8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F38AF-1276-C5CA-C42E-D726180614E2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97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C593E5-2AEB-6E0B-FD38-B19FFDCEE0CE}"/>
              </a:ext>
            </a:extLst>
          </p:cNvPr>
          <p:cNvGrpSpPr/>
          <p:nvPr/>
        </p:nvGrpSpPr>
        <p:grpSpPr>
          <a:xfrm>
            <a:off x="0" y="2552700"/>
            <a:ext cx="18320460" cy="5485409"/>
            <a:chOff x="0" y="3127462"/>
            <a:chExt cx="18320460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30B004F-F286-BB73-41B9-19807F11A9D0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33" name="개체 32">
              <a:extLst>
                <a:ext uri="{FF2B5EF4-FFF2-40B4-BE49-F238E27FC236}">
                  <a16:creationId xmlns:a16="http://schemas.microsoft.com/office/drawing/2014/main" id="{82EC4046-A6EF-A724-A93A-C582E85BA3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073651"/>
                </p:ext>
              </p:extLst>
            </p:nvPr>
          </p:nvGraphicFramePr>
          <p:xfrm>
            <a:off x="0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개체 23">
              <a:extLst>
                <a:ext uri="{FF2B5EF4-FFF2-40B4-BE49-F238E27FC236}">
                  <a16:creationId xmlns:a16="http://schemas.microsoft.com/office/drawing/2014/main" id="{012FFBCA-4C07-BDA8-1154-73CC89D7E6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456594"/>
                </p:ext>
              </p:extLst>
            </p:nvPr>
          </p:nvGraphicFramePr>
          <p:xfrm>
            <a:off x="9085253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5253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7304AD65-D921-BE0F-768A-730356EF3A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745287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개체 12">
              <a:extLst>
                <a:ext uri="{FF2B5EF4-FFF2-40B4-BE49-F238E27FC236}">
                  <a16:creationId xmlns:a16="http://schemas.microsoft.com/office/drawing/2014/main" id="{02009838-A3D6-5BC8-CAC6-D5B3A623A1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093359"/>
                </p:ext>
              </p:extLst>
            </p:nvPr>
          </p:nvGraphicFramePr>
          <p:xfrm>
            <a:off x="4706923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6923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E6BE89-EE30-D801-3FA3-A4913967D7CD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D1DB9-EA55-275D-D404-0BEDB83532BF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5C6E1-8B4D-C4FF-0C0D-A04850B4FDB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91A2D-3A1C-B534-16DD-8DC42FE65690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612C3-3EEC-E5BB-0986-31E819ACF404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9C8E0-C041-F1BF-133B-2F2F33D49BEC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981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E6D12-FEFD-FC25-FA77-AE82E0C6BEF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46ACF500-5A9D-253A-B22E-87DE01717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077" y="17907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9272" imgH="2979683" progId="Origin50.Graph">
                  <p:embed/>
                </p:oleObj>
              </mc:Choice>
              <mc:Fallback>
                <p:oleObj name="Graph" r:id="rId3" imgW="4099272" imgH="2979683" progId="Origin50.Graph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46ACF500-5A9D-253A-B22E-87DE01717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077" y="17907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FC6DAF70-CE4B-AF3D-4CF4-A80CFFDC2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726280"/>
              </p:ext>
            </p:extLst>
          </p:nvPr>
        </p:nvGraphicFramePr>
        <p:xfrm>
          <a:off x="11925277" y="17907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9272" imgH="2979683" progId="Origin50.Graph">
                  <p:embed/>
                </p:oleObj>
              </mc:Choice>
              <mc:Fallback>
                <p:oleObj name="Graph" r:id="rId5" imgW="4099272" imgH="2979683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FC6DAF70-CE4B-AF3D-4CF4-A80CFFDC2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25277" y="17907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E1E203A7-F599-3692-B53B-BB050B4E6F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143100"/>
          <a:ext cx="6410325" cy="429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986439" imgH="2672846" progId="Origin50.Graph">
                  <p:embed/>
                </p:oleObj>
              </mc:Choice>
              <mc:Fallback>
                <p:oleObj name="Graph" r:id="rId7" imgW="3986439" imgH="2672846" progId="Origin50.Graph">
                  <p:embed/>
                  <p:pic>
                    <p:nvPicPr>
                      <p:cNvPr id="20" name="개체 19">
                        <a:extLst>
                          <a:ext uri="{FF2B5EF4-FFF2-40B4-BE49-F238E27FC236}">
                            <a16:creationId xmlns:a16="http://schemas.microsoft.com/office/drawing/2014/main" id="{E1E203A7-F599-3692-B53B-BB050B4E6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6143100"/>
                        <a:ext cx="6410325" cy="429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ECAEF1E-5270-002C-59E4-BF24AEB0395C}"/>
              </a:ext>
            </a:extLst>
          </p:cNvPr>
          <p:cNvSpPr txBox="1"/>
          <p:nvPr/>
        </p:nvSpPr>
        <p:spPr>
          <a:xfrm>
            <a:off x="9372600" y="14097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빛을 인가한 후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최고점</a:t>
            </a:r>
            <a:endParaRPr lang="en-US" altLang="ko-KR" sz="16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빛을 인가하기 전의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>
                <a:latin typeface="TDTD강굴림" panose="020B0600000101010101" charset="-127"/>
                <a:ea typeface="TDTD강굴림" panose="020B0600000101010101" charset="-127"/>
              </a:rPr>
              <a:t>D</a:t>
            </a:r>
          </a:p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decay,SEF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Single pulse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에서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PSC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가 </a:t>
            </a:r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/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𝑒 되기까지의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Decay time (SEF fitting) </a:t>
            </a:r>
          </a:p>
        </p:txBody>
      </p:sp>
      <p:graphicFrame>
        <p:nvGraphicFramePr>
          <p:cNvPr id="25" name="개체 24">
            <a:extLst>
              <a:ext uri="{FF2B5EF4-FFF2-40B4-BE49-F238E27FC236}">
                <a16:creationId xmlns:a16="http://schemas.microsoft.com/office/drawing/2014/main" id="{F7074418-0FCD-26B7-6A65-66B71E34D9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177" y="58383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099272" imgH="2979683" progId="Origin50.Graph">
                  <p:embed/>
                </p:oleObj>
              </mc:Choice>
              <mc:Fallback>
                <p:oleObj name="Graph" r:id="rId9" imgW="4099272" imgH="2979683" progId="Origin50.Graph">
                  <p:embed/>
                  <p:pic>
                    <p:nvPicPr>
                      <p:cNvPr id="25" name="개체 24">
                        <a:extLst>
                          <a:ext uri="{FF2B5EF4-FFF2-40B4-BE49-F238E27FC236}">
                            <a16:creationId xmlns:a16="http://schemas.microsoft.com/office/drawing/2014/main" id="{F7074418-0FCD-26B7-6A65-66B71E34D9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72177" y="58383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D09AB12B-F570-3D06-F547-08B8B4EE93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25276" y="58383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4099272" imgH="2979683" progId="Origin50.Graph">
                  <p:embed/>
                </p:oleObj>
              </mc:Choice>
              <mc:Fallback>
                <p:oleObj name="Graph" r:id="rId11" imgW="4099272" imgH="2979683" progId="Origin50.Graph">
                  <p:embed/>
                  <p:pic>
                    <p:nvPicPr>
                      <p:cNvPr id="28" name="개체 27">
                        <a:extLst>
                          <a:ext uri="{FF2B5EF4-FFF2-40B4-BE49-F238E27FC236}">
                            <a16:creationId xmlns:a16="http://schemas.microsoft.com/office/drawing/2014/main" id="{D09AB12B-F570-3D06-F547-08B8B4EE93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5276" y="58383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DC84464-AF71-B35B-A498-53328F5E85CA}"/>
              </a:ext>
            </a:extLst>
          </p:cNvPr>
          <p:cNvSpPr txBox="1"/>
          <p:nvPr/>
        </p:nvSpPr>
        <p:spPr>
          <a:xfrm>
            <a:off x="13182600" y="24119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</a:t>
            </a:r>
            <a:r>
              <a:rPr lang="en-US" altLang="ko-KR" b="1" baseline="-25000" dirty="0"/>
              <a:t>OV</a:t>
            </a:r>
            <a:r>
              <a:rPr lang="en-US" altLang="ko-KR" b="1" dirty="0"/>
              <a:t> = 10 V </a:t>
            </a:r>
            <a:r>
              <a:rPr lang="ko-KR" altLang="en-US" b="1" dirty="0"/>
              <a:t>에서 추출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9C8533-02CC-2E8F-85D9-BD7CD128FD9C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 curve &amp; PSC Data</a:t>
            </a: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04A0F4EB-98F9-763F-9608-91AE3D467A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909560"/>
              </p:ext>
            </p:extLst>
          </p:nvPr>
        </p:nvGraphicFramePr>
        <p:xfrm>
          <a:off x="6174000" y="17907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4099272" imgH="2979683" progId="Origin50.Graph">
                  <p:embed/>
                </p:oleObj>
              </mc:Choice>
              <mc:Fallback>
                <p:oleObj name="Graph" r:id="rId13" imgW="4099272" imgH="2979683" progId="Origin50.Graph">
                  <p:embed/>
                  <p:pic>
                    <p:nvPicPr>
                      <p:cNvPr id="26" name="개체 25">
                        <a:extLst>
                          <a:ext uri="{FF2B5EF4-FFF2-40B4-BE49-F238E27FC236}">
                            <a16:creationId xmlns:a16="http://schemas.microsoft.com/office/drawing/2014/main" id="{DB5DAD41-54B9-5C5B-2C62-2276E71D30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74000" y="17907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281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2035-96DB-809B-C4A8-C352802A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6EC28A-EEFD-9DE2-4EA6-9AC176519668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10" name="슬라이드 번호 개체 틀 11">
            <a:extLst>
              <a:ext uri="{FF2B5EF4-FFF2-40B4-BE49-F238E27FC236}">
                <a16:creationId xmlns:a16="http://schemas.microsoft.com/office/drawing/2014/main" id="{D34CFC22-35D2-4803-5B6F-45E56C53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937526-EB13-F615-10E2-C0941C621DBD}"/>
              </a:ext>
            </a:extLst>
          </p:cNvPr>
          <p:cNvSpPr txBox="1"/>
          <p:nvPr/>
        </p:nvSpPr>
        <p:spPr>
          <a:xfrm>
            <a:off x="647700" y="2346999"/>
            <a:ext cx="17030700" cy="96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동일 조건임에도 불구하고 웨이퍼가 달라졌을 때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PSC 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특성이 크게 다름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재현성 이슈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</a:t>
            </a:r>
            <a:r>
              <a:rPr lang="ko-KR" altLang="en-US" sz="1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용액공정의 불안정성이 문제인 것 같아서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앞으로 용액공정이 아닌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SPT IGZO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로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Channel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을 만드는 것이 좋을 듯 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1C641E-74D7-DBB1-7631-D4B93669BFEA}"/>
              </a:ext>
            </a:extLst>
          </p:cNvPr>
          <p:cNvGrpSpPr/>
          <p:nvPr/>
        </p:nvGrpSpPr>
        <p:grpSpPr>
          <a:xfrm>
            <a:off x="1257445" y="3365700"/>
            <a:ext cx="14506990" cy="5511600"/>
            <a:chOff x="2904565" y="3162299"/>
            <a:chExt cx="14506990" cy="5511600"/>
          </a:xfrm>
        </p:grpSpPr>
        <p:graphicFrame>
          <p:nvGraphicFramePr>
            <p:cNvPr id="4" name="개체 3">
              <a:extLst>
                <a:ext uri="{FF2B5EF4-FFF2-40B4-BE49-F238E27FC236}">
                  <a16:creationId xmlns:a16="http://schemas.microsoft.com/office/drawing/2014/main" id="{65FDFD4E-ADD2-0ABF-A986-FA862FA1E6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29800" y="3162299"/>
            <a:ext cx="7581755" cy="551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4098237" imgH="2979683" progId="Origin50.Graph">
                    <p:embed/>
                  </p:oleObj>
                </mc:Choice>
                <mc:Fallback>
                  <p:oleObj name="Graph" r:id="rId3" imgW="4098237" imgH="2979683" progId="Origin50.Graph">
                    <p:embed/>
                    <p:pic>
                      <p:nvPicPr>
                        <p:cNvPr id="4" name="개체 3">
                          <a:extLst>
                            <a:ext uri="{FF2B5EF4-FFF2-40B4-BE49-F238E27FC236}">
                              <a16:creationId xmlns:a16="http://schemas.microsoft.com/office/drawing/2014/main" id="{65FDFD4E-ADD2-0ABF-A986-FA862FA1E6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829800" y="3162299"/>
                          <a:ext cx="7581755" cy="5511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8C2744-37BE-8D3A-0920-8729C3576494}"/>
                </a:ext>
              </a:extLst>
            </p:cNvPr>
            <p:cNvSpPr txBox="1"/>
            <p:nvPr/>
          </p:nvSpPr>
          <p:spPr>
            <a:xfrm>
              <a:off x="15240000" y="3828990"/>
              <a:ext cx="106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(Dx-2)</a:t>
              </a:r>
              <a:endParaRPr lang="ko-KR" altLang="en-US" sz="2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graphicFrame>
          <p:nvGraphicFramePr>
            <p:cNvPr id="21" name="개체 20">
              <a:extLst>
                <a:ext uri="{FF2B5EF4-FFF2-40B4-BE49-F238E27FC236}">
                  <a16:creationId xmlns:a16="http://schemas.microsoft.com/office/drawing/2014/main" id="{0FF967E0-A326-CE23-F741-C96D1F609B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4565" y="3162299"/>
            <a:ext cx="7581755" cy="551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4098237" imgH="2979683" progId="Origin50.Graph">
                    <p:embed/>
                  </p:oleObj>
                </mc:Choice>
                <mc:Fallback>
                  <p:oleObj name="Graph" r:id="rId5" imgW="4098237" imgH="2979683" progId="Origin50.Graph">
                    <p:embed/>
                    <p:pic>
                      <p:nvPicPr>
                        <p:cNvPr id="21" name="개체 20">
                          <a:extLst>
                            <a:ext uri="{FF2B5EF4-FFF2-40B4-BE49-F238E27FC236}">
                              <a16:creationId xmlns:a16="http://schemas.microsoft.com/office/drawing/2014/main" id="{0FF967E0-A326-CE23-F741-C96D1F609B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04565" y="3162299"/>
                          <a:ext cx="7581755" cy="5511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7B0B4C7-65ED-CADC-8270-B4A8D1AC9411}"/>
              </a:ext>
            </a:extLst>
          </p:cNvPr>
          <p:cNvSpPr txBox="1"/>
          <p:nvPr/>
        </p:nvSpPr>
        <p:spPr>
          <a:xfrm>
            <a:off x="6667500" y="4036438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(Dx-1)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E737CD-965E-C65C-C60F-CCD93117916B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동일 조건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,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다른 웨이퍼에 </a:t>
            </a:r>
            <a:r>
              <a:rPr lang="ko-KR" altLang="en-US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증착된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소자의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6354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D4FE4439-3DE1-EAC9-6234-8213C0D2B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3922" y="3367500"/>
          <a:ext cx="7576802" cy="5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8237" imgH="2979683" progId="Origin50.Graph">
                  <p:embed/>
                </p:oleObj>
              </mc:Choice>
              <mc:Fallback>
                <p:oleObj name="Graph" r:id="rId3" imgW="4098237" imgH="2979683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D4FE4439-3DE1-EAC9-6234-8213C0D2B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3922" y="3367500"/>
                        <a:ext cx="7576802" cy="5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 / 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2E5DCD7F-3E3A-60E3-7369-2A77953986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6598" y="3367500"/>
          <a:ext cx="7576802" cy="5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8237" imgH="2979683" progId="Origin50.Graph">
                  <p:embed/>
                </p:oleObj>
              </mc:Choice>
              <mc:Fallback>
                <p:oleObj name="Graph" r:id="rId5" imgW="4098237" imgH="2979683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2E5DCD7F-3E3A-60E3-7369-2A77953986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96598" y="3367500"/>
                        <a:ext cx="7576802" cy="5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4B0904C-6C61-C37A-FE6D-25AE8D7D99A6}"/>
              </a:ext>
            </a:extLst>
          </p:cNvPr>
          <p:cNvSpPr txBox="1"/>
          <p:nvPr/>
        </p:nvSpPr>
        <p:spPr>
          <a:xfrm>
            <a:off x="647700" y="2729963"/>
            <a:ext cx="17030700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딱히 경향성은 나타나지 않는 듯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6645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결론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83B0A-3814-FDCA-2A38-FAFCB7423C2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29A60-E6EF-B852-83BB-E5C48BA47EE6}"/>
              </a:ext>
            </a:extLst>
          </p:cNvPr>
          <p:cNvSpPr txBox="1"/>
          <p:nvPr/>
        </p:nvSpPr>
        <p:spPr>
          <a:xfrm>
            <a:off x="1066800" y="2231053"/>
            <a:ext cx="1653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9570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향후 방향성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다음 실험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 </a:t>
            </a:r>
            <a:r>
              <a:rPr lang="en-US" altLang="ko-KR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ko-KR" altLang="en-US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미정</a:t>
            </a:r>
            <a:endParaRPr lang="en-US" altLang="ko-KR" sz="5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697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8FF22D-1949-4B12-776C-97B9FBC6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89C2A-95E8-68FA-4800-5AC115B2E042}"/>
              </a:ext>
            </a:extLst>
          </p:cNvPr>
          <p:cNvSpPr txBox="1"/>
          <p:nvPr/>
        </p:nvSpPr>
        <p:spPr>
          <a:xfrm>
            <a:off x="1014882" y="2491456"/>
            <a:ext cx="1645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ym typeface="Wingdings" panose="05000000000000000000" pitchFamily="2" charset="2"/>
              </a:rPr>
              <a:t>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F504-2F51-34C5-B403-E899F148E777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③ 결론 </a:t>
            </a:r>
            <a:r>
              <a:rPr lang="en-US" altLang="ko-KR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ko-KR" altLang="en-US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미정</a:t>
            </a:r>
            <a:endParaRPr lang="en-US" altLang="ko-KR" sz="5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DE5D0-7DF2-307C-8C2D-73139FF0CE0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ko-KR" altLang="en-US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안박사님과의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미팅 결론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(260728)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980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15636</TotalTime>
  <Words>940</Words>
  <Application>Microsoft Office PowerPoint</Application>
  <PresentationFormat>사용자 지정</PresentationFormat>
  <Paragraphs>294</Paragraphs>
  <Slides>18</Slides>
  <Notes>15</Notes>
  <HiddenSlides>1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Calibri</vt:lpstr>
      <vt:lpstr>Arial</vt:lpstr>
      <vt:lpstr>Wingdings</vt:lpstr>
      <vt:lpstr>TDTD강굴림</vt:lpstr>
      <vt:lpstr>맑은 고딕</vt:lpstr>
      <vt:lpstr>Office Theme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5553</cp:revision>
  <cp:lastPrinted>2026-08-19T04:14:53Z</cp:lastPrinted>
  <dcterms:created xsi:type="dcterms:W3CDTF">2006-08-16T00:00:00Z</dcterms:created>
  <dcterms:modified xsi:type="dcterms:W3CDTF">2026-09-18T07:26:33Z</dcterms:modified>
  <dc:identifier>DAGZXtFwl3k</dc:identifier>
</cp:coreProperties>
</file>