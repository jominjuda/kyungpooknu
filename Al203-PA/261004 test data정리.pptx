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427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750E6D-3E6F-424A-B494-FBB39F4E03B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EB642F-73E9-468F-A6C7-EC287BAD8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9800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37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1DD813-176C-AB4A-B14D-7244595EF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7D121E-731B-EC02-511B-F131FE126B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81365B-69E3-ED1B-0C0A-19F85817F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1C3-67F8-42CE-AA0B-142A5B4FA31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83B1B1-E8A2-FCF0-8EF3-94AD3DF8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853779-A965-F8C6-9111-71FE989D3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3674-2534-4F5F-A8AB-1474978F66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5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26653D-C034-3CA8-D0AC-B3D7D8C70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0EC426-90C5-C4E9-FF73-6103B73BF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291671-6321-FE4C-6E63-A9F0EE74D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1C3-67F8-42CE-AA0B-142A5B4FA31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AC629-D492-0A8B-6166-E2B124CD0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E4A99E-3653-8C49-6AE0-E3B001596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3674-2534-4F5F-A8AB-1474978F66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614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C182D0-A978-D8D3-ED8F-06E6AD7F0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BFBD24-A552-7B1C-9665-329642119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CBA87A-3F61-A342-D027-FBC4C0CDC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1C3-67F8-42CE-AA0B-142A5B4FA31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3951C6-DFA7-1880-5E10-69F0CB208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603DF6-F52B-CDC9-1B8D-1A51CC771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3674-2534-4F5F-A8AB-1474978F66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697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8D38F8-708E-12C3-9274-0BA678A6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2E03DC-7201-1B07-2710-890F02CB19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01DE2B-2A13-A305-5E8C-315BCE676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F0E62D-9B5B-7846-FFD3-B3B774FA2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1C3-67F8-42CE-AA0B-142A5B4FA31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2D1110-95EE-97BA-41D3-0DB1161AB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1114FD-82DC-5EC4-A9EF-D2B6AAAAD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3674-2534-4F5F-A8AB-1474978F66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177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88EF2D-6998-6E6B-048B-ADFBDE18F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AA2908-BAB0-882F-103B-9E69B0B8C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D4F8609-9F85-6290-52C4-0D5C20CE05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33CF47-4B50-E95C-852D-E33053E42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756DD44-DF4D-6CCA-D3AE-A625F599A0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5D37350-199B-182E-F3F6-0404DBC19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1C3-67F8-42CE-AA0B-142A5B4FA31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ACF0FD-026B-7680-7ACD-40E0CDC9E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3A7878F-F7B2-1BB7-A30E-1F0C5B42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3674-2534-4F5F-A8AB-1474978F66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3413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BED40C-5BD8-D368-48C4-1C97F2FA2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D4B983-AAD0-1FF3-409D-046695E44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1C3-67F8-42CE-AA0B-142A5B4FA31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7F17592-B8F1-A146-E1B0-0F92E97F6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456346-E44F-BE6C-9941-B8D438C4F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3674-2534-4F5F-A8AB-1474978F66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7252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728DB36-A0AA-18C0-2100-D6E9EB170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1C3-67F8-42CE-AA0B-142A5B4FA31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54AB27-47EF-66B4-6A44-58DDF2102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336B9F-2617-6EB2-9647-478D0EEDE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3674-2534-4F5F-A8AB-1474978F66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7413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EF2C07-408D-D2BA-F4C3-E55C856D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E2F7E2-D9C7-9648-C092-542C978E4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697BDC-3FBA-D8BC-C556-CCFE3DED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4E2618-72EE-822D-3F7E-2B1CD4BE5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1C3-67F8-42CE-AA0B-142A5B4FA31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8B58D4-7DC5-3EA5-DF1B-059AC5D27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A418CA-B0EC-E5AE-20EB-758B4C0CE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3674-2534-4F5F-A8AB-1474978F66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420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65C273-94F7-0E70-3463-EA8CA7622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E8A3530-0BAA-74EA-9179-D4152288EDF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359F1C-3978-BE97-B688-CEEF8769F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88DFD1-1A13-5245-153B-F810805F9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1C3-67F8-42CE-AA0B-142A5B4FA31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B11045-BBE3-B91D-7EAD-3B9EB5DF5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A7CDED-EFAB-A7FF-3E1D-3C158BB37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3674-2534-4F5F-A8AB-1474978F66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957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9B8698-2CDB-B6B0-860A-5DA07AFED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0B6AAE-11F6-F616-0273-6D3650F48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A56248-0B06-C3D7-B98B-CE363A088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1C3-67F8-42CE-AA0B-142A5B4FA31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9723C7-27D7-4666-2952-47BF99E07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76765A-6BD3-2812-1873-55EAF5FC9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3674-2534-4F5F-A8AB-1474978F66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4602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5AB6C0E-50FB-C543-BBD8-69E0C431B1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A91E96-3BEF-15E4-AD85-AFD07FC98F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EBF0E6-4E82-923D-B63F-A563C3C6B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1C3-67F8-42CE-AA0B-142A5B4FA31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733AB5-7F98-214E-F955-64A40DA29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47E507-58BE-8C10-BD93-E2DD3FAE9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3674-2534-4F5F-A8AB-1474978F66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844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그래픽 10">
            <a:extLst>
              <a:ext uri="{FF2B5EF4-FFF2-40B4-BE49-F238E27FC236}">
                <a16:creationId xmlns:a16="http://schemas.microsoft.com/office/drawing/2014/main" id="{73545BBE-5D1D-B9C9-5FDE-6E659BBF8EB6}"/>
              </a:ext>
            </a:extLst>
          </p:cNvPr>
          <p:cNvSpPr/>
          <p:nvPr userDrawn="1"/>
        </p:nvSpPr>
        <p:spPr>
          <a:xfrm rot="10800000">
            <a:off x="0" y="838201"/>
            <a:ext cx="12192000" cy="72001"/>
          </a:xfrm>
          <a:custGeom>
            <a:avLst/>
            <a:gdLst>
              <a:gd name="connsiteX0" fmla="*/ 0 w 12272260"/>
              <a:gd name="connsiteY0" fmla="*/ 0 h 6434320"/>
              <a:gd name="connsiteX1" fmla="*/ 12272261 w 12272260"/>
              <a:gd name="connsiteY1" fmla="*/ 0 h 6434320"/>
              <a:gd name="connsiteX2" fmla="*/ 12272261 w 12272260"/>
              <a:gd name="connsiteY2" fmla="*/ 6434321 h 6434320"/>
              <a:gd name="connsiteX3" fmla="*/ 0 w 12272260"/>
              <a:gd name="connsiteY3" fmla="*/ 6434321 h 643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72260" h="6434320">
                <a:moveTo>
                  <a:pt x="0" y="0"/>
                </a:moveTo>
                <a:lnTo>
                  <a:pt x="12272261" y="0"/>
                </a:lnTo>
                <a:lnTo>
                  <a:pt x="12272261" y="6434321"/>
                </a:lnTo>
                <a:lnTo>
                  <a:pt x="0" y="6434321"/>
                </a:lnTo>
                <a:close/>
              </a:path>
            </a:pathLst>
          </a:custGeom>
          <a:gradFill>
            <a:gsLst>
              <a:gs pos="0">
                <a:srgbClr val="768CBC"/>
              </a:gs>
              <a:gs pos="50000">
                <a:srgbClr val="3E6098"/>
              </a:gs>
              <a:gs pos="100000">
                <a:srgbClr val="354E87"/>
              </a:gs>
            </a:gsLst>
            <a:lin ang="2700000" scaled="1"/>
          </a:gradFill>
          <a:ln w="23813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ko-KR" altLang="en-US" sz="900"/>
          </a:p>
        </p:txBody>
      </p:sp>
      <p:sp>
        <p:nvSpPr>
          <p:cNvPr id="3" name="슬라이드 번호 개체 틀 19">
            <a:extLst>
              <a:ext uri="{FF2B5EF4-FFF2-40B4-BE49-F238E27FC236}">
                <a16:creationId xmlns:a16="http://schemas.microsoft.com/office/drawing/2014/main" id="{D8499AC7-0D0F-669C-ECF4-13A5B31C9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6526978"/>
            <a:ext cx="1422400" cy="243417"/>
          </a:xfrm>
        </p:spPr>
        <p:txBody>
          <a:bodyPr/>
          <a:lstStyle>
            <a:lvl1pPr>
              <a:defRPr sz="1600" b="0">
                <a:solidFill>
                  <a:srgbClr val="0C3D6E"/>
                </a:solidFill>
                <a:latin typeface="TDTD강굴림" panose="020B0600000101010101" charset="-127"/>
                <a:ea typeface="TDTD강굴림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74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939D27-7964-7991-C96B-585F4D872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0096F3-3EA2-762C-612A-7725A298F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5AB333-C811-E3C5-A65E-BED8814AC8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4051C3-67F8-42CE-AA0B-142A5B4FA31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310583-8DB4-53C0-ED4D-6E8C72ED00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E681FF-16A3-0B69-54FA-C9C1C8A348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7B3674-2534-4F5F-A8AB-1474978F66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595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6526978"/>
            <a:ext cx="1422400" cy="243417"/>
          </a:xfrm>
        </p:spPr>
        <p:txBody>
          <a:bodyPr/>
          <a:lstStyle/>
          <a:p>
            <a:fld id="{B6F15528-21DE-4FAA-801E-634DDDAF4B2B}" type="slidenum">
              <a:rPr lang="en-US" b="1" smtClean="0">
                <a:latin typeface="+mn-ea"/>
                <a:ea typeface="+mn-ea"/>
              </a:rPr>
              <a:pPr/>
              <a:t>1</a:t>
            </a:fld>
            <a:endParaRPr lang="en-US" b="1"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0459E0-CB88-84F1-40C6-43A368C4D210}"/>
              </a:ext>
            </a:extLst>
          </p:cNvPr>
          <p:cNvSpPr txBox="1"/>
          <p:nvPr/>
        </p:nvSpPr>
        <p:spPr>
          <a:xfrm>
            <a:off x="317386" y="1030543"/>
            <a:ext cx="5612157" cy="5362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100" b="1" dirty="0">
                <a:latin typeface="+mn-ea"/>
              </a:rPr>
              <a:t>D1) Al </a:t>
            </a:r>
            <a:r>
              <a:rPr lang="en-US" altLang="ko-KR" sz="2100" b="1" dirty="0">
                <a:solidFill>
                  <a:schemeClr val="accent1"/>
                </a:solidFill>
                <a:latin typeface="+mn-ea"/>
              </a:rPr>
              <a:t>0.8M</a:t>
            </a:r>
            <a:r>
              <a:rPr lang="en-US" altLang="ko-KR" sz="2100" b="1" dirty="0">
                <a:latin typeface="+mn-ea"/>
              </a:rPr>
              <a:t> </a:t>
            </a:r>
            <a:r>
              <a:rPr lang="en-US" altLang="ko-KR" sz="2100" b="1" dirty="0">
                <a:solidFill>
                  <a:srgbClr val="FF0000"/>
                </a:solidFill>
                <a:latin typeface="+mn-ea"/>
              </a:rPr>
              <a:t>Furnace 150℃ </a:t>
            </a:r>
            <a:r>
              <a:rPr lang="en-US" altLang="ko-KR" sz="2100" b="1" dirty="0">
                <a:latin typeface="+mn-ea"/>
              </a:rPr>
              <a:t>1h</a:t>
            </a:r>
          </a:p>
          <a:p>
            <a:pPr>
              <a:lnSpc>
                <a:spcPct val="150000"/>
              </a:lnSpc>
            </a:pPr>
            <a:r>
              <a:rPr lang="en-US" altLang="ko-KR" sz="2100" b="1" dirty="0"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2100" b="1" dirty="0">
                <a:latin typeface="+mn-ea"/>
              </a:rPr>
              <a:t>D2) Al </a:t>
            </a:r>
            <a:r>
              <a:rPr lang="en-US" altLang="ko-KR" sz="2100" b="1" dirty="0">
                <a:solidFill>
                  <a:schemeClr val="accent1"/>
                </a:solidFill>
                <a:latin typeface="+mn-ea"/>
              </a:rPr>
              <a:t>0.8M</a:t>
            </a:r>
            <a:r>
              <a:rPr lang="en-US" altLang="ko-KR" sz="2100" b="1" dirty="0">
                <a:latin typeface="+mn-ea"/>
              </a:rPr>
              <a:t> </a:t>
            </a:r>
            <a:r>
              <a:rPr lang="en-US" altLang="ko-KR" sz="2100" b="1" dirty="0">
                <a:solidFill>
                  <a:srgbClr val="FF0000"/>
                </a:solidFill>
                <a:latin typeface="+mn-ea"/>
              </a:rPr>
              <a:t>Furnace 300℃ </a:t>
            </a:r>
            <a:r>
              <a:rPr lang="en-US" altLang="ko-KR" sz="2100" b="1" dirty="0">
                <a:latin typeface="+mn-ea"/>
              </a:rPr>
              <a:t>1h</a:t>
            </a:r>
          </a:p>
          <a:p>
            <a:pPr>
              <a:lnSpc>
                <a:spcPct val="150000"/>
              </a:lnSpc>
            </a:pPr>
            <a:endParaRPr lang="en-US" altLang="ko-KR" sz="21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100" b="1" dirty="0">
                <a:latin typeface="+mn-ea"/>
              </a:rPr>
              <a:t>D3) Al </a:t>
            </a:r>
            <a:r>
              <a:rPr lang="en-US" altLang="ko-KR" sz="2100" b="1" dirty="0">
                <a:solidFill>
                  <a:schemeClr val="accent1"/>
                </a:solidFill>
                <a:latin typeface="+mn-ea"/>
              </a:rPr>
              <a:t>0.8M</a:t>
            </a:r>
            <a:r>
              <a:rPr lang="en-US" altLang="ko-KR" sz="2100" b="1" dirty="0">
                <a:latin typeface="+mn-ea"/>
              </a:rPr>
              <a:t> </a:t>
            </a:r>
            <a:r>
              <a:rPr lang="en-US" altLang="ko-KR" sz="2100" b="1" dirty="0">
                <a:solidFill>
                  <a:srgbClr val="FF0000"/>
                </a:solidFill>
                <a:latin typeface="+mn-ea"/>
              </a:rPr>
              <a:t>Furnace 500℃ </a:t>
            </a:r>
            <a:r>
              <a:rPr lang="en-US" altLang="ko-KR" sz="2100" b="1" dirty="0">
                <a:latin typeface="+mn-ea"/>
              </a:rPr>
              <a:t>1h</a:t>
            </a:r>
          </a:p>
          <a:p>
            <a:pPr>
              <a:lnSpc>
                <a:spcPct val="150000"/>
              </a:lnSpc>
            </a:pPr>
            <a:endParaRPr lang="en-US" altLang="ko-KR" sz="21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100" b="1" dirty="0">
                <a:latin typeface="+mn-ea"/>
              </a:rPr>
              <a:t>D4) In </a:t>
            </a:r>
            <a:r>
              <a:rPr lang="en-US" altLang="ko-KR" sz="2100" b="1" dirty="0">
                <a:solidFill>
                  <a:schemeClr val="accent1"/>
                </a:solidFill>
                <a:latin typeface="+mn-ea"/>
              </a:rPr>
              <a:t>0.1M</a:t>
            </a:r>
            <a:r>
              <a:rPr lang="en-US" altLang="ko-KR" sz="2100" b="1" dirty="0">
                <a:latin typeface="+mn-ea"/>
              </a:rPr>
              <a:t> </a:t>
            </a:r>
            <a:r>
              <a:rPr lang="en-US" altLang="ko-KR" sz="2100" b="1" dirty="0">
                <a:solidFill>
                  <a:srgbClr val="FF0000"/>
                </a:solidFill>
                <a:latin typeface="+mn-ea"/>
              </a:rPr>
              <a:t>Furnace 150℃ </a:t>
            </a:r>
            <a:r>
              <a:rPr lang="en-US" altLang="ko-KR" sz="2100" b="1" dirty="0">
                <a:latin typeface="+mn-ea"/>
              </a:rPr>
              <a:t>1h</a:t>
            </a:r>
          </a:p>
          <a:p>
            <a:pPr>
              <a:lnSpc>
                <a:spcPct val="150000"/>
              </a:lnSpc>
            </a:pPr>
            <a:r>
              <a:rPr lang="en-US" altLang="ko-KR" sz="2100" b="1" dirty="0"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2100" b="1" dirty="0">
                <a:latin typeface="+mn-ea"/>
              </a:rPr>
              <a:t>D5) In </a:t>
            </a:r>
            <a:r>
              <a:rPr lang="en-US" altLang="ko-KR" sz="2100" b="1" dirty="0">
                <a:solidFill>
                  <a:schemeClr val="accent1"/>
                </a:solidFill>
                <a:latin typeface="+mn-ea"/>
              </a:rPr>
              <a:t>0.1M</a:t>
            </a:r>
            <a:r>
              <a:rPr lang="en-US" altLang="ko-KR" sz="2100" b="1" dirty="0">
                <a:latin typeface="+mn-ea"/>
              </a:rPr>
              <a:t> </a:t>
            </a:r>
            <a:r>
              <a:rPr lang="en-US" altLang="ko-KR" sz="2100" b="1" dirty="0">
                <a:solidFill>
                  <a:srgbClr val="FF0000"/>
                </a:solidFill>
                <a:latin typeface="+mn-ea"/>
              </a:rPr>
              <a:t>Furnace 300℃ </a:t>
            </a:r>
            <a:r>
              <a:rPr lang="en-US" altLang="ko-KR" sz="2100" b="1" dirty="0">
                <a:latin typeface="+mn-ea"/>
              </a:rPr>
              <a:t>1h</a:t>
            </a:r>
          </a:p>
          <a:p>
            <a:pPr>
              <a:lnSpc>
                <a:spcPct val="150000"/>
              </a:lnSpc>
            </a:pPr>
            <a:endParaRPr lang="en-US" altLang="ko-KR" sz="21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100" b="1" dirty="0">
                <a:latin typeface="+mn-ea"/>
              </a:rPr>
              <a:t>D6) In </a:t>
            </a:r>
            <a:r>
              <a:rPr lang="en-US" altLang="ko-KR" sz="2100" b="1" dirty="0">
                <a:solidFill>
                  <a:schemeClr val="accent1"/>
                </a:solidFill>
                <a:latin typeface="+mn-ea"/>
              </a:rPr>
              <a:t>0.1M</a:t>
            </a:r>
            <a:r>
              <a:rPr lang="en-US" altLang="ko-KR" sz="2100" b="1" dirty="0">
                <a:latin typeface="+mn-ea"/>
              </a:rPr>
              <a:t> </a:t>
            </a:r>
            <a:r>
              <a:rPr lang="en-US" altLang="ko-KR" sz="2100" b="1" dirty="0">
                <a:solidFill>
                  <a:srgbClr val="FF0000"/>
                </a:solidFill>
                <a:latin typeface="+mn-ea"/>
              </a:rPr>
              <a:t>Furnace 500℃ </a:t>
            </a:r>
            <a:r>
              <a:rPr lang="en-US" altLang="ko-KR" sz="2100" b="1" dirty="0">
                <a:latin typeface="+mn-ea"/>
              </a:rPr>
              <a:t>1h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F51821-4AD3-B1E4-9140-7C1EBD2B76E3}"/>
              </a:ext>
            </a:extLst>
          </p:cNvPr>
          <p:cNvSpPr txBox="1"/>
          <p:nvPr/>
        </p:nvSpPr>
        <p:spPr>
          <a:xfrm>
            <a:off x="129712" y="177801"/>
            <a:ext cx="1026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0F4D8B"/>
                </a:solidFill>
                <a:latin typeface="+mn-ea"/>
              </a:rPr>
              <a:t>Fabrication_261004(</a:t>
            </a:r>
            <a:r>
              <a:rPr lang="ko-KR" altLang="en-US" sz="3600" b="1" dirty="0">
                <a:solidFill>
                  <a:srgbClr val="0F4D8B"/>
                </a:solidFill>
                <a:latin typeface="+mn-ea"/>
              </a:rPr>
              <a:t>일 오후 </a:t>
            </a:r>
            <a:r>
              <a:rPr lang="en-US" altLang="ko-KR" sz="3600" b="1" dirty="0">
                <a:solidFill>
                  <a:srgbClr val="0F4D8B"/>
                </a:solidFill>
                <a:latin typeface="+mn-ea"/>
              </a:rPr>
              <a:t>2</a:t>
            </a:r>
            <a:r>
              <a:rPr lang="ko-KR" altLang="en-US" sz="3600" b="1" dirty="0">
                <a:solidFill>
                  <a:srgbClr val="0F4D8B"/>
                </a:solidFill>
                <a:latin typeface="+mn-ea"/>
              </a:rPr>
              <a:t>시</a:t>
            </a:r>
            <a:r>
              <a:rPr lang="en-US" altLang="ko-KR" sz="3600" b="1" dirty="0">
                <a:solidFill>
                  <a:srgbClr val="0F4D8B"/>
                </a:solidFill>
                <a:latin typeface="+mn-ea"/>
              </a:rPr>
              <a:t>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062EE3-927A-8625-0F9E-E7E240F0B0E3}"/>
              </a:ext>
            </a:extLst>
          </p:cNvPr>
          <p:cNvSpPr/>
          <p:nvPr/>
        </p:nvSpPr>
        <p:spPr>
          <a:xfrm>
            <a:off x="7832191" y="6094876"/>
            <a:ext cx="3652735" cy="3693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Glass</a:t>
            </a:r>
            <a:endParaRPr lang="ko-KR" altLang="en-US" dirty="0"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955659-D883-8F72-1179-CF48CD941E09}"/>
              </a:ext>
            </a:extLst>
          </p:cNvPr>
          <p:cNvSpPr/>
          <p:nvPr/>
        </p:nvSpPr>
        <p:spPr>
          <a:xfrm>
            <a:off x="9670473" y="5725544"/>
            <a:ext cx="1814453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Al2O3</a:t>
            </a:r>
            <a:endParaRPr lang="ko-KR" altLang="en-US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E10E3B-D4FA-ABB7-7CB1-4CC64CAC96AE}"/>
              </a:ext>
            </a:extLst>
          </p:cNvPr>
          <p:cNvSpPr txBox="1"/>
          <p:nvPr/>
        </p:nvSpPr>
        <p:spPr>
          <a:xfrm>
            <a:off x="8814785" y="3100748"/>
            <a:ext cx="2326471" cy="414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0B050"/>
                </a:solidFill>
                <a:highlight>
                  <a:srgbClr val="FFFF00"/>
                </a:highlight>
                <a:latin typeface="+mn-ea"/>
              </a:rPr>
              <a:t>#post-anneal</a:t>
            </a:r>
            <a:r>
              <a:rPr lang="en-US" altLang="ko-KR" sz="16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[Furnace]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4BDDDB-1AFD-4269-FBE4-70BB4C91DE73}"/>
              </a:ext>
            </a:extLst>
          </p:cNvPr>
          <p:cNvSpPr txBox="1"/>
          <p:nvPr/>
        </p:nvSpPr>
        <p:spPr>
          <a:xfrm>
            <a:off x="6453132" y="1768702"/>
            <a:ext cx="2230354" cy="7029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2. </a:t>
            </a:r>
            <a:r>
              <a:rPr lang="en-US" altLang="ko-KR" sz="1600" dirty="0">
                <a:highlight>
                  <a:srgbClr val="FFFF00"/>
                </a:highlight>
                <a:latin typeface="+mn-ea"/>
              </a:rPr>
              <a:t>Surface </a:t>
            </a:r>
            <a:r>
              <a:rPr lang="en-US" altLang="ko-KR" sz="1600" dirty="0" err="1">
                <a:highlight>
                  <a:srgbClr val="FFFF00"/>
                </a:highlight>
                <a:latin typeface="+mn-ea"/>
              </a:rPr>
              <a:t>Hydrophil</a:t>
            </a:r>
            <a:r>
              <a:rPr lang="en-US" altLang="ko-KR" sz="1600" dirty="0">
                <a:highlight>
                  <a:srgbClr val="FFFF00"/>
                </a:highlight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UV</a:t>
            </a:r>
            <a:r>
              <a:rPr lang="ko-KR" altLang="en-US" sz="1200" dirty="0">
                <a:latin typeface="+mn-ea"/>
              </a:rPr>
              <a:t>처리 </a:t>
            </a:r>
            <a:r>
              <a:rPr lang="en-US" altLang="ko-KR" sz="1200" dirty="0">
                <a:latin typeface="+mn-ea"/>
              </a:rPr>
              <a:t>1200s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C8FEA5-DA92-F5AB-9A8D-55D8602C8468}"/>
              </a:ext>
            </a:extLst>
          </p:cNvPr>
          <p:cNvSpPr txBox="1"/>
          <p:nvPr/>
        </p:nvSpPr>
        <p:spPr>
          <a:xfrm>
            <a:off x="4740590" y="1745989"/>
            <a:ext cx="1756443" cy="933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 1. 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Wafer Cleaning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아세톤</a:t>
            </a:r>
            <a:r>
              <a:rPr lang="en-US" altLang="ko-KR" sz="1200" dirty="0">
                <a:latin typeface="+mn-ea"/>
              </a:rPr>
              <a:t>- IPA –DIW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hot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plate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90’C 10min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8A08C3-0AA3-D717-915A-DA4538A459B2}"/>
              </a:ext>
            </a:extLst>
          </p:cNvPr>
          <p:cNvSpPr txBox="1"/>
          <p:nvPr/>
        </p:nvSpPr>
        <p:spPr>
          <a:xfrm>
            <a:off x="8639584" y="1716950"/>
            <a:ext cx="3614516" cy="16262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3. </a:t>
            </a:r>
            <a:r>
              <a:rPr lang="en-US" altLang="ko-KR" sz="1600" dirty="0">
                <a:highlight>
                  <a:srgbClr val="FFFF00"/>
                </a:highlight>
                <a:latin typeface="+mn-ea"/>
              </a:rPr>
              <a:t>Al</a:t>
            </a:r>
            <a:r>
              <a:rPr lang="en-US" altLang="ko-KR" sz="1600" baseline="-25000" dirty="0">
                <a:highlight>
                  <a:srgbClr val="FFFF00"/>
                </a:highlight>
                <a:latin typeface="+mn-ea"/>
              </a:rPr>
              <a:t>2</a:t>
            </a:r>
            <a:r>
              <a:rPr lang="en-US" altLang="ko-KR" sz="1600" dirty="0">
                <a:highlight>
                  <a:srgbClr val="FFFF00"/>
                </a:highlight>
                <a:latin typeface="+mn-ea"/>
              </a:rPr>
              <a:t>O</a:t>
            </a:r>
            <a:r>
              <a:rPr lang="en-US" altLang="ko-KR" sz="1600" baseline="-25000" dirty="0">
                <a:highlight>
                  <a:srgbClr val="FFFF00"/>
                </a:highlight>
                <a:latin typeface="+mn-ea"/>
              </a:rPr>
              <a:t>3</a:t>
            </a:r>
            <a:r>
              <a:rPr lang="en-US" altLang="ko-KR" sz="1600" dirty="0">
                <a:highlight>
                  <a:srgbClr val="FFFF00"/>
                </a:highlight>
                <a:latin typeface="+mn-ea"/>
              </a:rPr>
              <a:t> Coating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용액 </a:t>
            </a:r>
            <a:r>
              <a:rPr lang="en-US" altLang="ko-KR" sz="1200" dirty="0">
                <a:latin typeface="+mn-ea"/>
              </a:rPr>
              <a:t>0.8M </a:t>
            </a:r>
            <a:r>
              <a:rPr lang="ko-KR" altLang="en-US" sz="1200" dirty="0">
                <a:latin typeface="+mn-ea"/>
              </a:rPr>
              <a:t>사용 </a:t>
            </a:r>
            <a:r>
              <a:rPr lang="en-US" altLang="ko-KR" sz="1200" dirty="0">
                <a:latin typeface="+mn-ea"/>
              </a:rPr>
              <a:t>/soft back 120’C 2min (</a:t>
            </a:r>
            <a:r>
              <a:rPr lang="ko-KR" altLang="en-US" sz="1200" dirty="0">
                <a:latin typeface="+mn-ea"/>
              </a:rPr>
              <a:t>표시기준</a:t>
            </a:r>
            <a:r>
              <a:rPr lang="en-US" altLang="ko-KR" sz="120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3. </a:t>
            </a:r>
            <a:r>
              <a:rPr lang="en-US" altLang="ko-KR" sz="1600" dirty="0" err="1">
                <a:highlight>
                  <a:srgbClr val="FFFF00"/>
                </a:highlight>
                <a:latin typeface="+mn-ea"/>
              </a:rPr>
              <a:t>InOx</a:t>
            </a:r>
            <a:r>
              <a:rPr lang="en-US" altLang="ko-KR" sz="1600" dirty="0">
                <a:highlight>
                  <a:srgbClr val="FFFF00"/>
                </a:highlight>
                <a:latin typeface="+mn-ea"/>
              </a:rPr>
              <a:t> Coating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용액 </a:t>
            </a:r>
            <a:r>
              <a:rPr lang="en-US" altLang="ko-KR" sz="1200" dirty="0">
                <a:latin typeface="+mn-ea"/>
              </a:rPr>
              <a:t>0.1M </a:t>
            </a:r>
            <a:r>
              <a:rPr lang="ko-KR" altLang="en-US" sz="1200" dirty="0">
                <a:latin typeface="+mn-ea"/>
              </a:rPr>
              <a:t>사용 </a:t>
            </a:r>
            <a:r>
              <a:rPr lang="en-US" altLang="ko-KR" sz="1200" dirty="0">
                <a:latin typeface="+mn-ea"/>
              </a:rPr>
              <a:t>/soft back 100’C 20s (</a:t>
            </a:r>
            <a:r>
              <a:rPr lang="ko-KR" altLang="en-US" sz="1200" dirty="0">
                <a:latin typeface="+mn-ea"/>
              </a:rPr>
              <a:t>표시기준</a:t>
            </a:r>
            <a:r>
              <a:rPr lang="en-US" altLang="ko-KR" sz="120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667E84-8329-4870-1925-7D55DA74A211}"/>
              </a:ext>
            </a:extLst>
          </p:cNvPr>
          <p:cNvSpPr txBox="1"/>
          <p:nvPr/>
        </p:nvSpPr>
        <p:spPr>
          <a:xfrm>
            <a:off x="6880867" y="3085805"/>
            <a:ext cx="1789272" cy="979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4. </a:t>
            </a:r>
            <a:r>
              <a:rPr lang="en-US" altLang="ko-KR" sz="1600" dirty="0">
                <a:highlight>
                  <a:srgbClr val="FFFF00"/>
                </a:highlight>
                <a:latin typeface="+mn-ea"/>
              </a:rPr>
              <a:t>Pre-Anneal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hot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plate(</a:t>
            </a:r>
            <a:r>
              <a:rPr lang="ko-KR" altLang="en-US" sz="1200" dirty="0">
                <a:latin typeface="+mn-ea"/>
              </a:rPr>
              <a:t>실제 기준</a:t>
            </a:r>
            <a:r>
              <a:rPr lang="en-US" altLang="ko-KR" sz="1200" dirty="0">
                <a:latin typeface="+mn-ea"/>
              </a:rPr>
              <a:t>)</a:t>
            </a:r>
            <a:r>
              <a:rPr lang="ko-KR" altLang="en-US" sz="1200" dirty="0">
                <a:latin typeface="+mn-ea"/>
              </a:rPr>
              <a:t> 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90’C 5min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D6BA5C-469A-9C08-3A54-F4EF2F2C1A5C}"/>
              </a:ext>
            </a:extLst>
          </p:cNvPr>
          <p:cNvSpPr txBox="1"/>
          <p:nvPr/>
        </p:nvSpPr>
        <p:spPr>
          <a:xfrm>
            <a:off x="4641796" y="3185388"/>
            <a:ext cx="2111475" cy="461665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Al2O3 SB 2min UV</a:t>
            </a:r>
            <a:r>
              <a:rPr lang="ko-KR" altLang="en-US" sz="1200" dirty="0" err="1"/>
              <a:t>패터닝</a:t>
            </a:r>
            <a:r>
              <a:rPr lang="ko-KR" altLang="en-US" sz="1200" dirty="0"/>
              <a:t> </a:t>
            </a:r>
            <a:r>
              <a:rPr lang="en-US" altLang="ko-KR" sz="1200" dirty="0"/>
              <a:t>X</a:t>
            </a:r>
          </a:p>
          <a:p>
            <a:r>
              <a:rPr lang="en-US" altLang="ko-KR" sz="1200" dirty="0" err="1"/>
              <a:t>InOx</a:t>
            </a:r>
            <a:r>
              <a:rPr lang="en-US" altLang="ko-KR" sz="1200" dirty="0"/>
              <a:t> SB 20s UV</a:t>
            </a:r>
            <a:r>
              <a:rPr lang="ko-KR" altLang="en-US" sz="1200" dirty="0" err="1"/>
              <a:t>패터닝</a:t>
            </a:r>
            <a:r>
              <a:rPr lang="ko-KR" altLang="en-US" sz="1200" dirty="0"/>
              <a:t> </a:t>
            </a:r>
            <a:r>
              <a:rPr lang="en-US" altLang="ko-KR" sz="1200" dirty="0"/>
              <a:t>X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08043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8" name="TextBox 3067">
            <a:extLst>
              <a:ext uri="{FF2B5EF4-FFF2-40B4-BE49-F238E27FC236}">
                <a16:creationId xmlns:a16="http://schemas.microsoft.com/office/drawing/2014/main" id="{35EAE14D-C370-0DB5-9748-058974DB9EA3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/>
              <a:t>2mm by 2mm </a:t>
            </a:r>
            <a:r>
              <a:rPr lang="ko-KR" altLang="en-US" dirty="0"/>
              <a:t>영역임</a:t>
            </a:r>
            <a:r>
              <a:rPr lang="en-US" altLang="ko-KR" dirty="0"/>
              <a:t>. </a:t>
            </a:r>
            <a:r>
              <a:rPr lang="ko-KR" altLang="en-US" dirty="0"/>
              <a:t>점 찍은 부분이 관심 영역이라고</a:t>
            </a:r>
            <a:r>
              <a:rPr lang="en-US" altLang="ko-KR" dirty="0"/>
              <a:t> </a:t>
            </a:r>
            <a:r>
              <a:rPr lang="ko-KR" altLang="en-US" dirty="0"/>
              <a:t>했을 때 신호가 약하지만 </a:t>
            </a:r>
            <a:r>
              <a:rPr lang="en-US" altLang="ko-KR" dirty="0"/>
              <a:t>D1, D4</a:t>
            </a:r>
            <a:r>
              <a:rPr lang="ko-KR" altLang="en-US" dirty="0"/>
              <a:t>는 구분 되긴 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349" name="Picture 325">
            <a:extLst>
              <a:ext uri="{FF2B5EF4-FFF2-40B4-BE49-F238E27FC236}">
                <a16:creationId xmlns:a16="http://schemas.microsoft.com/office/drawing/2014/main" id="{A4B9FB12-1471-9729-A655-E2F8DD68CD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474" b="37024"/>
          <a:stretch>
            <a:fillRect/>
          </a:stretch>
        </p:blipFill>
        <p:spPr bwMode="auto">
          <a:xfrm>
            <a:off x="2924029" y="2886777"/>
            <a:ext cx="2160000" cy="56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93" name="Picture 469">
            <a:extLst>
              <a:ext uri="{FF2B5EF4-FFF2-40B4-BE49-F238E27FC236}">
                <a16:creationId xmlns:a16="http://schemas.microsoft.com/office/drawing/2014/main" id="{86BF7F74-2A84-2BCD-3EFA-C30A9567D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029" y="478563"/>
            <a:ext cx="2160000" cy="2161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66" name="Picture 642">
            <a:extLst>
              <a:ext uri="{FF2B5EF4-FFF2-40B4-BE49-F238E27FC236}">
                <a16:creationId xmlns:a16="http://schemas.microsoft.com/office/drawing/2014/main" id="{CF4EF09D-DD58-CC01-7944-AB98721B19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87" b="36911"/>
          <a:stretch>
            <a:fillRect/>
          </a:stretch>
        </p:blipFill>
        <p:spPr bwMode="auto">
          <a:xfrm>
            <a:off x="6135791" y="2886777"/>
            <a:ext cx="2160000" cy="56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10" name="Picture 786">
            <a:extLst>
              <a:ext uri="{FF2B5EF4-FFF2-40B4-BE49-F238E27FC236}">
                <a16:creationId xmlns:a16="http://schemas.microsoft.com/office/drawing/2014/main" id="{56272396-E4C1-B248-2993-D15A6B2E0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5791" y="478564"/>
            <a:ext cx="2160000" cy="2161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28" name="Picture 959">
            <a:extLst>
              <a:ext uri="{FF2B5EF4-FFF2-40B4-BE49-F238E27FC236}">
                <a16:creationId xmlns:a16="http://schemas.microsoft.com/office/drawing/2014/main" id="{30945A65-38A6-CB11-3253-E84E5CE2A4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87" b="36911"/>
          <a:stretch>
            <a:fillRect/>
          </a:stretch>
        </p:blipFill>
        <p:spPr bwMode="auto">
          <a:xfrm>
            <a:off x="9347553" y="2886777"/>
            <a:ext cx="2160000" cy="56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27" name="Picture 1103">
            <a:extLst>
              <a:ext uri="{FF2B5EF4-FFF2-40B4-BE49-F238E27FC236}">
                <a16:creationId xmlns:a16="http://schemas.microsoft.com/office/drawing/2014/main" id="{8D16F89E-9037-232A-860B-8BABCD6A6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553" y="473008"/>
            <a:ext cx="2160000" cy="2161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46" name="Picture 1276">
            <a:extLst>
              <a:ext uri="{FF2B5EF4-FFF2-40B4-BE49-F238E27FC236}">
                <a16:creationId xmlns:a16="http://schemas.microsoft.com/office/drawing/2014/main" id="{592DAC49-8158-E08E-B545-8C0D963CDA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36" b="35862"/>
          <a:stretch>
            <a:fillRect/>
          </a:stretch>
        </p:blipFill>
        <p:spPr bwMode="auto">
          <a:xfrm>
            <a:off x="6135791" y="6114843"/>
            <a:ext cx="2160000" cy="56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44" name="Picture 1420">
            <a:extLst>
              <a:ext uri="{FF2B5EF4-FFF2-40B4-BE49-F238E27FC236}">
                <a16:creationId xmlns:a16="http://schemas.microsoft.com/office/drawing/2014/main" id="{2968C561-2F81-8D5D-5005-59F21FDFE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5791" y="3895157"/>
            <a:ext cx="2160000" cy="2161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4" name="Picture 1593">
            <a:extLst>
              <a:ext uri="{FF2B5EF4-FFF2-40B4-BE49-F238E27FC236}">
                <a16:creationId xmlns:a16="http://schemas.microsoft.com/office/drawing/2014/main" id="{76816449-E2A6-4BA2-969B-61C602C52C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235" b="36263"/>
          <a:stretch>
            <a:fillRect/>
          </a:stretch>
        </p:blipFill>
        <p:spPr bwMode="auto">
          <a:xfrm>
            <a:off x="2924029" y="6114843"/>
            <a:ext cx="2160000" cy="56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1" name="Picture 1737">
            <a:extLst>
              <a:ext uri="{FF2B5EF4-FFF2-40B4-BE49-F238E27FC236}">
                <a16:creationId xmlns:a16="http://schemas.microsoft.com/office/drawing/2014/main" id="{6468F9F8-CD86-4D84-8630-2EEC48AA1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029" y="3895157"/>
            <a:ext cx="2160000" cy="2161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82" name="Picture 1910">
            <a:extLst>
              <a:ext uri="{FF2B5EF4-FFF2-40B4-BE49-F238E27FC236}">
                <a16:creationId xmlns:a16="http://schemas.microsoft.com/office/drawing/2014/main" id="{5AA809DE-BC36-0A70-7354-0F3CAA4423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36" b="35862"/>
          <a:stretch>
            <a:fillRect/>
          </a:stretch>
        </p:blipFill>
        <p:spPr bwMode="auto">
          <a:xfrm>
            <a:off x="9347553" y="6114843"/>
            <a:ext cx="2160000" cy="56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2054">
            <a:extLst>
              <a:ext uri="{FF2B5EF4-FFF2-40B4-BE49-F238E27FC236}">
                <a16:creationId xmlns:a16="http://schemas.microsoft.com/office/drawing/2014/main" id="{5C728687-4859-30A9-25ED-25E8DBAA3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553" y="3895157"/>
            <a:ext cx="2160000" cy="2161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060" name="직선 연결선 3059">
            <a:extLst>
              <a:ext uri="{FF2B5EF4-FFF2-40B4-BE49-F238E27FC236}">
                <a16:creationId xmlns:a16="http://schemas.microsoft.com/office/drawing/2014/main" id="{2589265E-6E36-8382-A0C4-9C6BB45317A7}"/>
              </a:ext>
            </a:extLst>
          </p:cNvPr>
          <p:cNvCxnSpPr>
            <a:cxnSpLocks/>
            <a:stCxn id="1493" idx="1"/>
            <a:endCxn id="1493" idx="3"/>
          </p:cNvCxnSpPr>
          <p:nvPr/>
        </p:nvCxnSpPr>
        <p:spPr>
          <a:xfrm>
            <a:off x="2924029" y="1559242"/>
            <a:ext cx="2160000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62" name="TextBox 3061">
            <a:extLst>
              <a:ext uri="{FF2B5EF4-FFF2-40B4-BE49-F238E27FC236}">
                <a16:creationId xmlns:a16="http://schemas.microsoft.com/office/drawing/2014/main" id="{F0B9A80C-8147-4922-D431-3F03E3560895}"/>
              </a:ext>
            </a:extLst>
          </p:cNvPr>
          <p:cNvSpPr txBox="1"/>
          <p:nvPr/>
        </p:nvSpPr>
        <p:spPr>
          <a:xfrm>
            <a:off x="2924029" y="473008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D1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063" name="TextBox 3062">
            <a:extLst>
              <a:ext uri="{FF2B5EF4-FFF2-40B4-BE49-F238E27FC236}">
                <a16:creationId xmlns:a16="http://schemas.microsoft.com/office/drawing/2014/main" id="{729DF453-3CF6-DAD6-4C0B-E10B04B6541D}"/>
              </a:ext>
            </a:extLst>
          </p:cNvPr>
          <p:cNvSpPr txBox="1"/>
          <p:nvPr/>
        </p:nvSpPr>
        <p:spPr>
          <a:xfrm>
            <a:off x="6135791" y="473008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D2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064" name="TextBox 3063">
            <a:extLst>
              <a:ext uri="{FF2B5EF4-FFF2-40B4-BE49-F238E27FC236}">
                <a16:creationId xmlns:a16="http://schemas.microsoft.com/office/drawing/2014/main" id="{4823C738-84BE-2489-4ACB-224A816ABB78}"/>
              </a:ext>
            </a:extLst>
          </p:cNvPr>
          <p:cNvSpPr txBox="1"/>
          <p:nvPr/>
        </p:nvSpPr>
        <p:spPr>
          <a:xfrm>
            <a:off x="9347553" y="473008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D3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065" name="TextBox 3064">
            <a:extLst>
              <a:ext uri="{FF2B5EF4-FFF2-40B4-BE49-F238E27FC236}">
                <a16:creationId xmlns:a16="http://schemas.microsoft.com/office/drawing/2014/main" id="{AF5242E9-FB73-7600-2E99-820D6599C5C6}"/>
              </a:ext>
            </a:extLst>
          </p:cNvPr>
          <p:cNvSpPr txBox="1"/>
          <p:nvPr/>
        </p:nvSpPr>
        <p:spPr>
          <a:xfrm>
            <a:off x="2924029" y="3895157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D4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066" name="TextBox 3065">
            <a:extLst>
              <a:ext uri="{FF2B5EF4-FFF2-40B4-BE49-F238E27FC236}">
                <a16:creationId xmlns:a16="http://schemas.microsoft.com/office/drawing/2014/main" id="{7403503B-3E5D-F250-CD99-A5AFDC419CB2}"/>
              </a:ext>
            </a:extLst>
          </p:cNvPr>
          <p:cNvSpPr txBox="1"/>
          <p:nvPr/>
        </p:nvSpPr>
        <p:spPr>
          <a:xfrm>
            <a:off x="6135791" y="3895157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D5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067" name="TextBox 3066">
            <a:extLst>
              <a:ext uri="{FF2B5EF4-FFF2-40B4-BE49-F238E27FC236}">
                <a16:creationId xmlns:a16="http://schemas.microsoft.com/office/drawing/2014/main" id="{0041DDA6-A5A8-7203-73BF-8E06CDEE6E9C}"/>
              </a:ext>
            </a:extLst>
          </p:cNvPr>
          <p:cNvSpPr txBox="1"/>
          <p:nvPr/>
        </p:nvSpPr>
        <p:spPr>
          <a:xfrm>
            <a:off x="9347553" y="3895157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D6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069" name="왼쪽 중괄호 3068">
            <a:extLst>
              <a:ext uri="{FF2B5EF4-FFF2-40B4-BE49-F238E27FC236}">
                <a16:creationId xmlns:a16="http://schemas.microsoft.com/office/drawing/2014/main" id="{83D612C7-AD49-39A3-E78A-5DAAD03002C8}"/>
              </a:ext>
            </a:extLst>
          </p:cNvPr>
          <p:cNvSpPr/>
          <p:nvPr/>
        </p:nvSpPr>
        <p:spPr>
          <a:xfrm>
            <a:off x="2201649" y="1563212"/>
            <a:ext cx="742331" cy="1663076"/>
          </a:xfrm>
          <a:prstGeom prst="leftBrace">
            <a:avLst>
              <a:gd name="adj1" fmla="val 0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70" name="직선 연결선 3069">
            <a:extLst>
              <a:ext uri="{FF2B5EF4-FFF2-40B4-BE49-F238E27FC236}">
                <a16:creationId xmlns:a16="http://schemas.microsoft.com/office/drawing/2014/main" id="{73181021-BC47-C8B8-21EE-2751AD03D0F6}"/>
              </a:ext>
            </a:extLst>
          </p:cNvPr>
          <p:cNvCxnSpPr>
            <a:cxnSpLocks/>
            <a:stCxn id="1810" idx="1"/>
            <a:endCxn id="1810" idx="3"/>
          </p:cNvCxnSpPr>
          <p:nvPr/>
        </p:nvCxnSpPr>
        <p:spPr>
          <a:xfrm>
            <a:off x="6135791" y="1559243"/>
            <a:ext cx="2160000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71" name="직선 연결선 3070">
            <a:extLst>
              <a:ext uri="{FF2B5EF4-FFF2-40B4-BE49-F238E27FC236}">
                <a16:creationId xmlns:a16="http://schemas.microsoft.com/office/drawing/2014/main" id="{D202923E-00C9-42E9-2F95-158064E3846A}"/>
              </a:ext>
            </a:extLst>
          </p:cNvPr>
          <p:cNvCxnSpPr>
            <a:cxnSpLocks/>
            <a:stCxn id="2127" idx="1"/>
            <a:endCxn id="2127" idx="3"/>
          </p:cNvCxnSpPr>
          <p:nvPr/>
        </p:nvCxnSpPr>
        <p:spPr>
          <a:xfrm>
            <a:off x="9347553" y="1553687"/>
            <a:ext cx="2160000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72" name="직선 연결선 3071">
            <a:extLst>
              <a:ext uri="{FF2B5EF4-FFF2-40B4-BE49-F238E27FC236}">
                <a16:creationId xmlns:a16="http://schemas.microsoft.com/office/drawing/2014/main" id="{8BB094AE-F72E-08B0-1C65-501A3E3CC91B}"/>
              </a:ext>
            </a:extLst>
          </p:cNvPr>
          <p:cNvCxnSpPr>
            <a:cxnSpLocks/>
            <a:stCxn id="2761" idx="1"/>
            <a:endCxn id="2761" idx="3"/>
          </p:cNvCxnSpPr>
          <p:nvPr/>
        </p:nvCxnSpPr>
        <p:spPr>
          <a:xfrm>
            <a:off x="2924029" y="4975836"/>
            <a:ext cx="2160000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73" name="직선 연결선 3072">
            <a:extLst>
              <a:ext uri="{FF2B5EF4-FFF2-40B4-BE49-F238E27FC236}">
                <a16:creationId xmlns:a16="http://schemas.microsoft.com/office/drawing/2014/main" id="{94BF7632-943E-E250-9E91-DA7EF9BD9D53}"/>
              </a:ext>
            </a:extLst>
          </p:cNvPr>
          <p:cNvCxnSpPr>
            <a:cxnSpLocks/>
            <a:stCxn id="2444" idx="1"/>
            <a:endCxn id="2444" idx="3"/>
          </p:cNvCxnSpPr>
          <p:nvPr/>
        </p:nvCxnSpPr>
        <p:spPr>
          <a:xfrm>
            <a:off x="6135791" y="4975836"/>
            <a:ext cx="2160000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74" name="직선 연결선 3073">
            <a:extLst>
              <a:ext uri="{FF2B5EF4-FFF2-40B4-BE49-F238E27FC236}">
                <a16:creationId xmlns:a16="http://schemas.microsoft.com/office/drawing/2014/main" id="{49ABBF6A-1491-AEDC-729B-D025D7EB2EC6}"/>
              </a:ext>
            </a:extLst>
          </p:cNvPr>
          <p:cNvCxnSpPr>
            <a:cxnSpLocks/>
            <a:stCxn id="3078" idx="1"/>
            <a:endCxn id="3078" idx="3"/>
          </p:cNvCxnSpPr>
          <p:nvPr/>
        </p:nvCxnSpPr>
        <p:spPr>
          <a:xfrm>
            <a:off x="9347553" y="4975836"/>
            <a:ext cx="2160000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88" name="TextBox 3087">
            <a:extLst>
              <a:ext uri="{FF2B5EF4-FFF2-40B4-BE49-F238E27FC236}">
                <a16:creationId xmlns:a16="http://schemas.microsoft.com/office/drawing/2014/main" id="{926C40C1-5F60-0CEB-AC64-7C74F42363AD}"/>
              </a:ext>
            </a:extLst>
          </p:cNvPr>
          <p:cNvSpPr txBox="1"/>
          <p:nvPr/>
        </p:nvSpPr>
        <p:spPr>
          <a:xfrm>
            <a:off x="507877" y="2062059"/>
            <a:ext cx="1651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해당 부분의 </a:t>
            </a:r>
            <a:endParaRPr lang="en-US" altLang="ko-KR" dirty="0"/>
          </a:p>
          <a:p>
            <a:r>
              <a:rPr lang="ko-KR" altLang="en-US" dirty="0"/>
              <a:t>단면 이미지임</a:t>
            </a:r>
          </a:p>
        </p:txBody>
      </p:sp>
      <p:sp>
        <p:nvSpPr>
          <p:cNvPr id="3089" name="타원 3088">
            <a:extLst>
              <a:ext uri="{FF2B5EF4-FFF2-40B4-BE49-F238E27FC236}">
                <a16:creationId xmlns:a16="http://schemas.microsoft.com/office/drawing/2014/main" id="{7F210ED6-CFEC-7C92-3273-033313D561D2}"/>
              </a:ext>
            </a:extLst>
          </p:cNvPr>
          <p:cNvSpPr/>
          <p:nvPr/>
        </p:nvSpPr>
        <p:spPr>
          <a:xfrm>
            <a:off x="3413265" y="719867"/>
            <a:ext cx="360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90" name="타원 3089">
            <a:extLst>
              <a:ext uri="{FF2B5EF4-FFF2-40B4-BE49-F238E27FC236}">
                <a16:creationId xmlns:a16="http://schemas.microsoft.com/office/drawing/2014/main" id="{9C475D33-FADD-41FC-9272-8BB0CA021E66}"/>
              </a:ext>
            </a:extLst>
          </p:cNvPr>
          <p:cNvSpPr/>
          <p:nvPr/>
        </p:nvSpPr>
        <p:spPr>
          <a:xfrm>
            <a:off x="4412810" y="719867"/>
            <a:ext cx="360000" cy="36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91" name="타원 3090">
            <a:extLst>
              <a:ext uri="{FF2B5EF4-FFF2-40B4-BE49-F238E27FC236}">
                <a16:creationId xmlns:a16="http://schemas.microsoft.com/office/drawing/2014/main" id="{1AF8462D-7867-DAD3-3C0E-CE4144E7A504}"/>
              </a:ext>
            </a:extLst>
          </p:cNvPr>
          <p:cNvSpPr/>
          <p:nvPr/>
        </p:nvSpPr>
        <p:spPr>
          <a:xfrm>
            <a:off x="6551067" y="719867"/>
            <a:ext cx="360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92" name="타원 3091">
            <a:extLst>
              <a:ext uri="{FF2B5EF4-FFF2-40B4-BE49-F238E27FC236}">
                <a16:creationId xmlns:a16="http://schemas.microsoft.com/office/drawing/2014/main" id="{E278C280-DEAC-1381-99F1-9DEF801DC047}"/>
              </a:ext>
            </a:extLst>
          </p:cNvPr>
          <p:cNvSpPr/>
          <p:nvPr/>
        </p:nvSpPr>
        <p:spPr>
          <a:xfrm>
            <a:off x="7550612" y="719867"/>
            <a:ext cx="360000" cy="36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93" name="타원 3092">
            <a:extLst>
              <a:ext uri="{FF2B5EF4-FFF2-40B4-BE49-F238E27FC236}">
                <a16:creationId xmlns:a16="http://schemas.microsoft.com/office/drawing/2014/main" id="{FFEEEEFD-7B11-CAA1-7BF8-109323A4FEBF}"/>
              </a:ext>
            </a:extLst>
          </p:cNvPr>
          <p:cNvSpPr/>
          <p:nvPr/>
        </p:nvSpPr>
        <p:spPr>
          <a:xfrm>
            <a:off x="9836789" y="719867"/>
            <a:ext cx="360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94" name="타원 3093">
            <a:extLst>
              <a:ext uri="{FF2B5EF4-FFF2-40B4-BE49-F238E27FC236}">
                <a16:creationId xmlns:a16="http://schemas.microsoft.com/office/drawing/2014/main" id="{87183E2B-A683-B28C-FBC4-FA4594007E7C}"/>
              </a:ext>
            </a:extLst>
          </p:cNvPr>
          <p:cNvSpPr/>
          <p:nvPr/>
        </p:nvSpPr>
        <p:spPr>
          <a:xfrm>
            <a:off x="10836334" y="719867"/>
            <a:ext cx="360000" cy="36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95" name="타원 3094">
            <a:extLst>
              <a:ext uri="{FF2B5EF4-FFF2-40B4-BE49-F238E27FC236}">
                <a16:creationId xmlns:a16="http://schemas.microsoft.com/office/drawing/2014/main" id="{59130ED1-BE8F-1BE1-99BB-74DC8F3F16FE}"/>
              </a:ext>
            </a:extLst>
          </p:cNvPr>
          <p:cNvSpPr/>
          <p:nvPr/>
        </p:nvSpPr>
        <p:spPr>
          <a:xfrm>
            <a:off x="3307225" y="4215118"/>
            <a:ext cx="360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96" name="타원 3095">
            <a:extLst>
              <a:ext uri="{FF2B5EF4-FFF2-40B4-BE49-F238E27FC236}">
                <a16:creationId xmlns:a16="http://schemas.microsoft.com/office/drawing/2014/main" id="{2DFF328A-D229-2E8E-8686-82CB56BAF7F4}"/>
              </a:ext>
            </a:extLst>
          </p:cNvPr>
          <p:cNvSpPr/>
          <p:nvPr/>
        </p:nvSpPr>
        <p:spPr>
          <a:xfrm>
            <a:off x="4412810" y="4215118"/>
            <a:ext cx="360000" cy="36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97" name="타원 3096">
            <a:extLst>
              <a:ext uri="{FF2B5EF4-FFF2-40B4-BE49-F238E27FC236}">
                <a16:creationId xmlns:a16="http://schemas.microsoft.com/office/drawing/2014/main" id="{B0BF4217-B5EE-5EB4-6098-0FD2C9B543EE}"/>
              </a:ext>
            </a:extLst>
          </p:cNvPr>
          <p:cNvSpPr/>
          <p:nvPr/>
        </p:nvSpPr>
        <p:spPr>
          <a:xfrm>
            <a:off x="6551067" y="4215118"/>
            <a:ext cx="360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98" name="타원 3097">
            <a:extLst>
              <a:ext uri="{FF2B5EF4-FFF2-40B4-BE49-F238E27FC236}">
                <a16:creationId xmlns:a16="http://schemas.microsoft.com/office/drawing/2014/main" id="{CA4EDED7-8CA5-C851-68ED-96022DD74066}"/>
              </a:ext>
            </a:extLst>
          </p:cNvPr>
          <p:cNvSpPr/>
          <p:nvPr/>
        </p:nvSpPr>
        <p:spPr>
          <a:xfrm>
            <a:off x="7550612" y="4215118"/>
            <a:ext cx="360000" cy="36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99" name="타원 3098">
            <a:extLst>
              <a:ext uri="{FF2B5EF4-FFF2-40B4-BE49-F238E27FC236}">
                <a16:creationId xmlns:a16="http://schemas.microsoft.com/office/drawing/2014/main" id="{04489C4A-2298-8066-B5AC-AE6EFA1AC3F9}"/>
              </a:ext>
            </a:extLst>
          </p:cNvPr>
          <p:cNvSpPr/>
          <p:nvPr/>
        </p:nvSpPr>
        <p:spPr>
          <a:xfrm>
            <a:off x="9836789" y="4215118"/>
            <a:ext cx="360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00" name="타원 3099">
            <a:extLst>
              <a:ext uri="{FF2B5EF4-FFF2-40B4-BE49-F238E27FC236}">
                <a16:creationId xmlns:a16="http://schemas.microsoft.com/office/drawing/2014/main" id="{41C19AA5-5EFB-F051-B045-DA72FAB8D0E4}"/>
              </a:ext>
            </a:extLst>
          </p:cNvPr>
          <p:cNvSpPr/>
          <p:nvPr/>
        </p:nvSpPr>
        <p:spPr>
          <a:xfrm>
            <a:off x="10836334" y="4215118"/>
            <a:ext cx="360000" cy="36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01" name="타원 3100">
            <a:extLst>
              <a:ext uri="{FF2B5EF4-FFF2-40B4-BE49-F238E27FC236}">
                <a16:creationId xmlns:a16="http://schemas.microsoft.com/office/drawing/2014/main" id="{AB9F3EE9-6CDE-0941-F1BA-8AA4BE02A5ED}"/>
              </a:ext>
            </a:extLst>
          </p:cNvPr>
          <p:cNvSpPr/>
          <p:nvPr/>
        </p:nvSpPr>
        <p:spPr>
          <a:xfrm>
            <a:off x="462659" y="529178"/>
            <a:ext cx="360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02" name="타원 3101">
            <a:extLst>
              <a:ext uri="{FF2B5EF4-FFF2-40B4-BE49-F238E27FC236}">
                <a16:creationId xmlns:a16="http://schemas.microsoft.com/office/drawing/2014/main" id="{8AF7BEF0-B75D-995D-850F-9061DA011A3F}"/>
              </a:ext>
            </a:extLst>
          </p:cNvPr>
          <p:cNvSpPr/>
          <p:nvPr/>
        </p:nvSpPr>
        <p:spPr>
          <a:xfrm>
            <a:off x="462659" y="1060342"/>
            <a:ext cx="360000" cy="36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03" name="TextBox 3102">
            <a:extLst>
              <a:ext uri="{FF2B5EF4-FFF2-40B4-BE49-F238E27FC236}">
                <a16:creationId xmlns:a16="http://schemas.microsoft.com/office/drawing/2014/main" id="{E2B01390-5009-344A-462A-89636F8D6D32}"/>
              </a:ext>
            </a:extLst>
          </p:cNvPr>
          <p:cNvSpPr txBox="1"/>
          <p:nvPr/>
        </p:nvSpPr>
        <p:spPr>
          <a:xfrm>
            <a:off x="869196" y="524512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점 찍은 부분</a:t>
            </a:r>
          </a:p>
        </p:txBody>
      </p:sp>
      <p:sp>
        <p:nvSpPr>
          <p:cNvPr id="3104" name="TextBox 3103">
            <a:extLst>
              <a:ext uri="{FF2B5EF4-FFF2-40B4-BE49-F238E27FC236}">
                <a16:creationId xmlns:a16="http://schemas.microsoft.com/office/drawing/2014/main" id="{F1ABAEA7-CC1E-36AE-3112-DFEEB8B928D8}"/>
              </a:ext>
            </a:extLst>
          </p:cNvPr>
          <p:cNvSpPr txBox="1"/>
          <p:nvPr/>
        </p:nvSpPr>
        <p:spPr>
          <a:xfrm>
            <a:off x="869196" y="1055676"/>
            <a:ext cx="181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점 안 찍은 부분</a:t>
            </a:r>
          </a:p>
        </p:txBody>
      </p:sp>
      <p:pic>
        <p:nvPicPr>
          <p:cNvPr id="3458" name="Picture 2434">
            <a:extLst>
              <a:ext uri="{FF2B5EF4-FFF2-40B4-BE49-F238E27FC236}">
                <a16:creationId xmlns:a16="http://schemas.microsoft.com/office/drawing/2014/main" id="{1E006B12-0BFE-BC9C-53F5-A21760962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903757" y="2553528"/>
            <a:ext cx="200544" cy="21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58" name="TextBox 3357">
            <a:extLst>
              <a:ext uri="{FF2B5EF4-FFF2-40B4-BE49-F238E27FC236}">
                <a16:creationId xmlns:a16="http://schemas.microsoft.com/office/drawing/2014/main" id="{51C76DFE-2FF2-7915-56DD-E8234B92A738}"/>
              </a:ext>
            </a:extLst>
          </p:cNvPr>
          <p:cNvSpPr txBox="1"/>
          <p:nvPr/>
        </p:nvSpPr>
        <p:spPr>
          <a:xfrm>
            <a:off x="2823686" y="3438082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Min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359" name="TextBox 3358">
            <a:extLst>
              <a:ext uri="{FF2B5EF4-FFF2-40B4-BE49-F238E27FC236}">
                <a16:creationId xmlns:a16="http://schemas.microsoft.com/office/drawing/2014/main" id="{F3C97949-1F42-73C8-E492-4937A0F1B917}"/>
              </a:ext>
            </a:extLst>
          </p:cNvPr>
          <p:cNvSpPr txBox="1"/>
          <p:nvPr/>
        </p:nvSpPr>
        <p:spPr>
          <a:xfrm>
            <a:off x="4547783" y="3438082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Max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362" name="TextBox 3361">
            <a:extLst>
              <a:ext uri="{FF2B5EF4-FFF2-40B4-BE49-F238E27FC236}">
                <a16:creationId xmlns:a16="http://schemas.microsoft.com/office/drawing/2014/main" id="{A18456C5-092C-A5C1-2722-68627B1F35E3}"/>
              </a:ext>
            </a:extLst>
          </p:cNvPr>
          <p:cNvSpPr txBox="1"/>
          <p:nvPr/>
        </p:nvSpPr>
        <p:spPr>
          <a:xfrm>
            <a:off x="24725" y="3891952"/>
            <a:ext cx="279896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800" dirty="0"/>
              <a:t>이미지에 있는 흰색 점들은 노이즈임</a:t>
            </a:r>
            <a:r>
              <a:rPr lang="en-US" altLang="ko-KR" sz="1800" dirty="0"/>
              <a:t>.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D5</a:t>
            </a:r>
            <a:r>
              <a:rPr lang="ko-KR" altLang="en-US" dirty="0"/>
              <a:t>에서 구분은 안 되지만 신호는 희미하게 보임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4156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1030</TotalTime>
  <Words>198</Words>
  <Application>Microsoft Office PowerPoint</Application>
  <PresentationFormat>와이드스크린</PresentationFormat>
  <Paragraphs>46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TDTD강굴림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jinwoohyun</dc:creator>
  <cp:lastModifiedBy>배진혁</cp:lastModifiedBy>
  <cp:revision>6</cp:revision>
  <dcterms:created xsi:type="dcterms:W3CDTF">2026-10-05T13:26:17Z</dcterms:created>
  <dcterms:modified xsi:type="dcterms:W3CDTF">2026-10-06T13:04:52Z</dcterms:modified>
</cp:coreProperties>
</file>